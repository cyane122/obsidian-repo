
<file path=[Content_Types].xml><?xml version="1.0" encoding="utf-8"?>
<Types xmlns="http://schemas.openxmlformats.org/package/2006/content-types">
  <Default Extension="emf" ContentType="image/x-emf"/>
  <Default Extension="gif" ContentType="image/gif"/>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54"/>
  </p:notesMasterIdLst>
  <p:handoutMasterIdLst>
    <p:handoutMasterId r:id="rId55"/>
  </p:handoutMasterIdLst>
  <p:sldIdLst>
    <p:sldId id="409" r:id="rId2"/>
    <p:sldId id="401" r:id="rId3"/>
    <p:sldId id="411" r:id="rId4"/>
    <p:sldId id="457" r:id="rId5"/>
    <p:sldId id="469" r:id="rId6"/>
    <p:sldId id="471" r:id="rId7"/>
    <p:sldId id="472" r:id="rId8"/>
    <p:sldId id="477" r:id="rId9"/>
    <p:sldId id="410" r:id="rId10"/>
    <p:sldId id="412" r:id="rId11"/>
    <p:sldId id="413" r:id="rId12"/>
    <p:sldId id="416" r:id="rId13"/>
    <p:sldId id="473" r:id="rId14"/>
    <p:sldId id="475" r:id="rId15"/>
    <p:sldId id="478" r:id="rId16"/>
    <p:sldId id="414" r:id="rId17"/>
    <p:sldId id="417" r:id="rId18"/>
    <p:sldId id="415" r:id="rId19"/>
    <p:sldId id="464" r:id="rId20"/>
    <p:sldId id="476" r:id="rId21"/>
    <p:sldId id="418" r:id="rId22"/>
    <p:sldId id="420" r:id="rId23"/>
    <p:sldId id="463" r:id="rId24"/>
    <p:sldId id="424" r:id="rId25"/>
    <p:sldId id="423" r:id="rId26"/>
    <p:sldId id="479" r:id="rId27"/>
    <p:sldId id="426" r:id="rId28"/>
    <p:sldId id="429" r:id="rId29"/>
    <p:sldId id="432" r:id="rId30"/>
    <p:sldId id="430" r:id="rId31"/>
    <p:sldId id="470" r:id="rId32"/>
    <p:sldId id="433" r:id="rId33"/>
    <p:sldId id="435" r:id="rId34"/>
    <p:sldId id="436" r:id="rId35"/>
    <p:sldId id="437" r:id="rId36"/>
    <p:sldId id="438" r:id="rId37"/>
    <p:sldId id="439" r:id="rId38"/>
    <p:sldId id="465" r:id="rId39"/>
    <p:sldId id="441" r:id="rId40"/>
    <p:sldId id="466" r:id="rId41"/>
    <p:sldId id="442" r:id="rId42"/>
    <p:sldId id="443" r:id="rId43"/>
    <p:sldId id="445" r:id="rId44"/>
    <p:sldId id="444" r:id="rId45"/>
    <p:sldId id="446" r:id="rId46"/>
    <p:sldId id="460" r:id="rId47"/>
    <p:sldId id="456" r:id="rId48"/>
    <p:sldId id="452" r:id="rId49"/>
    <p:sldId id="448" r:id="rId50"/>
    <p:sldId id="468" r:id="rId51"/>
    <p:sldId id="449" r:id="rId52"/>
    <p:sldId id="402" r:id="rId5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3537"/>
    <a:srgbClr val="0E2841"/>
    <a:srgbClr val="6884FC"/>
    <a:srgbClr val="649BFF"/>
    <a:srgbClr val="558E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4867" autoAdjust="0"/>
  </p:normalViewPr>
  <p:slideViewPr>
    <p:cSldViewPr>
      <p:cViewPr varScale="1">
        <p:scale>
          <a:sx n="94" d="100"/>
          <a:sy n="94" d="100"/>
        </p:scale>
        <p:origin x="1230" y="78"/>
      </p:cViewPr>
      <p:guideLst>
        <p:guide orient="horz" pos="2880"/>
        <p:guide pos="2160"/>
      </p:guideLst>
    </p:cSldViewPr>
  </p:slideViewPr>
  <p:notesTextViewPr>
    <p:cViewPr>
      <p:scale>
        <a:sx n="3" d="2"/>
        <a:sy n="3" d="2"/>
      </p:scale>
      <p:origin x="0" y="0"/>
    </p:cViewPr>
  </p:notesTextViewPr>
  <p:notesViewPr>
    <p:cSldViewPr>
      <p:cViewPr varScale="1">
        <p:scale>
          <a:sx n="64" d="100"/>
          <a:sy n="64" d="100"/>
        </p:scale>
        <p:origin x="576" y="5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085F0A-1719-4411-B51B-0F834414859A}" type="doc">
      <dgm:prSet loTypeId="urn:microsoft.com/office/officeart/2005/8/layout/balance1" loCatId="relationship" qsTypeId="urn:microsoft.com/office/officeart/2005/8/quickstyle/3d2#1" qsCatId="3D" csTypeId="urn:microsoft.com/office/officeart/2005/8/colors/colorful2#1" csCatId="colorful" phldr="1"/>
      <dgm:spPr/>
      <dgm:t>
        <a:bodyPr/>
        <a:lstStyle/>
        <a:p>
          <a:endParaRPr lang="en-US"/>
        </a:p>
      </dgm:t>
    </dgm:pt>
    <dgm:pt modelId="{136A3D1F-A6E9-44EC-B16E-E646C1BF88B4}">
      <dgm:prSet phldrT="[Text]" phldr="0">
        <dgm:style>
          <a:lnRef idx="0">
            <a:scrgbClr r="0" g="0" b="0"/>
          </a:lnRef>
          <a:fillRef idx="0">
            <a:scrgbClr r="0" g="0" b="0"/>
          </a:fillRef>
          <a:effectRef idx="0">
            <a:scrgbClr r="0" g="0" b="0"/>
          </a:effectRef>
          <a:fontRef idx="minor">
            <a:schemeClr val="dk1"/>
          </a:fontRef>
        </dgm:style>
      </dgm:prSet>
      <dgm:spPr>
        <a:noFill/>
        <a:ln>
          <a:noFill/>
        </a:ln>
      </dgm:spPr>
      <dgm:t>
        <a:bodyPr/>
        <a:lstStyle/>
        <a:p>
          <a:r>
            <a:rPr lang="en-US" dirty="0">
              <a:latin typeface="Calibri" panose="020F0502020204030204" pitchFamily="34" charset="0"/>
              <a:cs typeface="Calibri" panose="020F0502020204030204" pitchFamily="34" charset="0"/>
            </a:rPr>
            <a:t>Attention </a:t>
          </a:r>
        </a:p>
      </dgm:t>
    </dgm:pt>
    <dgm:pt modelId="{C7DAABD3-ED1E-4831-815B-403CF163DA26}" type="parTrans" cxnId="{75EBB633-CFF7-4E20-B64F-590D0DACE12A}">
      <dgm:prSet/>
      <dgm:spPr/>
      <dgm:t>
        <a:bodyPr/>
        <a:lstStyle/>
        <a:p>
          <a:endParaRPr lang="en-US"/>
        </a:p>
      </dgm:t>
    </dgm:pt>
    <dgm:pt modelId="{53129B37-9E1A-4F91-9DB7-4DE0D0170319}" type="sibTrans" cxnId="{75EBB633-CFF7-4E20-B64F-590D0DACE12A}">
      <dgm:prSet/>
      <dgm:spPr/>
      <dgm:t>
        <a:bodyPr/>
        <a:lstStyle/>
        <a:p>
          <a:endParaRPr lang="en-US"/>
        </a:p>
      </dgm:t>
    </dgm:pt>
    <dgm:pt modelId="{5ECA9B69-9298-4578-A3CC-5DB26ED7E173}">
      <dgm:prSet phldrT="[Text]" phldr="0"/>
      <dgm:spPr/>
      <dgm:t>
        <a:bodyPr/>
        <a:lstStyle/>
        <a:p>
          <a:r>
            <a:rPr lang="en-US" dirty="0"/>
            <a:t>Equal Importance</a:t>
          </a:r>
        </a:p>
      </dgm:t>
    </dgm:pt>
    <dgm:pt modelId="{11CC21FC-6934-4A3E-8F15-661D6096EB0E}" type="parTrans" cxnId="{2F6F3E2A-68DC-488C-AC36-E052B5ABFD86}">
      <dgm:prSet/>
      <dgm:spPr/>
      <dgm:t>
        <a:bodyPr/>
        <a:lstStyle/>
        <a:p>
          <a:endParaRPr lang="en-US"/>
        </a:p>
      </dgm:t>
    </dgm:pt>
    <dgm:pt modelId="{0CA8DD9E-0570-4A66-B86A-045B6DE22AFA}" type="sibTrans" cxnId="{2F6F3E2A-68DC-488C-AC36-E052B5ABFD86}">
      <dgm:prSet/>
      <dgm:spPr/>
      <dgm:t>
        <a:bodyPr/>
        <a:lstStyle/>
        <a:p>
          <a:endParaRPr lang="en-US"/>
        </a:p>
      </dgm:t>
    </dgm:pt>
    <dgm:pt modelId="{09B256BB-9D3C-45B4-8701-EF3E33948987}">
      <dgm:prSet phldrT="[Text]" phldr="0">
        <dgm:style>
          <a:lnRef idx="0">
            <a:scrgbClr r="0" g="0" b="0"/>
          </a:lnRef>
          <a:fillRef idx="0">
            <a:scrgbClr r="0" g="0" b="0"/>
          </a:fillRef>
          <a:effectRef idx="0">
            <a:scrgbClr r="0" g="0" b="0"/>
          </a:effectRef>
          <a:fontRef idx="minor">
            <a:schemeClr val="dk1"/>
          </a:fontRef>
        </dgm:style>
      </dgm:prSet>
      <dgm:spPr>
        <a:noFill/>
        <a:ln>
          <a:noFill/>
        </a:ln>
      </dgm:spPr>
      <dgm:t>
        <a:bodyPr/>
        <a:lstStyle/>
        <a:p>
          <a:r>
            <a:rPr lang="en-US" dirty="0">
              <a:latin typeface="Calibri" panose="020F0502020204030204" pitchFamily="34" charset="0"/>
              <a:cs typeface="Calibri" panose="020F0502020204030204" pitchFamily="34" charset="0"/>
            </a:rPr>
            <a:t>Attention</a:t>
          </a:r>
        </a:p>
      </dgm:t>
    </dgm:pt>
    <dgm:pt modelId="{B6106FC0-EC82-4F18-9557-854EF491ED82}" type="parTrans" cxnId="{982BF1BF-7690-4AC9-B171-49A82656C7F0}">
      <dgm:prSet/>
      <dgm:spPr/>
      <dgm:t>
        <a:bodyPr/>
        <a:lstStyle/>
        <a:p>
          <a:endParaRPr lang="en-US"/>
        </a:p>
      </dgm:t>
    </dgm:pt>
    <dgm:pt modelId="{E9B67971-3BE8-4812-9E67-A8BB8703E440}" type="sibTrans" cxnId="{982BF1BF-7690-4AC9-B171-49A82656C7F0}">
      <dgm:prSet/>
      <dgm:spPr/>
      <dgm:t>
        <a:bodyPr/>
        <a:lstStyle/>
        <a:p>
          <a:endParaRPr lang="en-US"/>
        </a:p>
      </dgm:t>
    </dgm:pt>
    <dgm:pt modelId="{977F835C-3636-41B2-AD46-46473B43A4C5}">
      <dgm:prSet phldrT="[Text]" phldr="0"/>
      <dgm:spPr/>
      <dgm:t>
        <a:bodyPr/>
        <a:lstStyle/>
        <a:p>
          <a:r>
            <a:rPr lang="en-US" dirty="0"/>
            <a:t>Focused on what matters</a:t>
          </a:r>
        </a:p>
      </dgm:t>
    </dgm:pt>
    <dgm:pt modelId="{38A6AC9D-A6BA-4B89-B62C-4C4D239D393E}" type="parTrans" cxnId="{CEE0B7BF-DA91-4640-945F-680FABA36841}">
      <dgm:prSet/>
      <dgm:spPr/>
      <dgm:t>
        <a:bodyPr/>
        <a:lstStyle/>
        <a:p>
          <a:endParaRPr lang="en-US"/>
        </a:p>
      </dgm:t>
    </dgm:pt>
    <dgm:pt modelId="{1B97B5F5-1104-4D33-83F4-B09347AAC73B}" type="sibTrans" cxnId="{CEE0B7BF-DA91-4640-945F-680FABA36841}">
      <dgm:prSet/>
      <dgm:spPr/>
      <dgm:t>
        <a:bodyPr/>
        <a:lstStyle/>
        <a:p>
          <a:endParaRPr lang="en-US"/>
        </a:p>
      </dgm:t>
    </dgm:pt>
    <dgm:pt modelId="{0B2893C4-59EC-4DC0-B949-9097F17AB262}">
      <dgm:prSet phldrT="[Text]" phldr="0"/>
      <dgm:spPr/>
      <dgm:t>
        <a:bodyPr/>
        <a:lstStyle/>
        <a:p>
          <a:r>
            <a:rPr lang="en-US" dirty="0"/>
            <a:t>Higher Weights</a:t>
          </a:r>
        </a:p>
      </dgm:t>
    </dgm:pt>
    <dgm:pt modelId="{C226B265-EAB7-4EB9-9CD2-65B94383E273}" type="parTrans" cxnId="{4EBA64A7-F9B7-4F0C-8778-BA407C95DC6A}">
      <dgm:prSet/>
      <dgm:spPr/>
      <dgm:t>
        <a:bodyPr/>
        <a:lstStyle/>
        <a:p>
          <a:endParaRPr lang="en-US"/>
        </a:p>
      </dgm:t>
    </dgm:pt>
    <dgm:pt modelId="{20877FDD-695C-46C1-A706-EC0F7A379AF6}" type="sibTrans" cxnId="{4EBA64A7-F9B7-4F0C-8778-BA407C95DC6A}">
      <dgm:prSet/>
      <dgm:spPr/>
      <dgm:t>
        <a:bodyPr/>
        <a:lstStyle/>
        <a:p>
          <a:endParaRPr lang="en-US"/>
        </a:p>
      </dgm:t>
    </dgm:pt>
    <dgm:pt modelId="{7DEE7F4C-035B-49D3-A301-D285DE1F2285}">
      <dgm:prSet phldrT="[Text]" phldr="0"/>
      <dgm:spPr/>
      <dgm:t>
        <a:bodyPr/>
        <a:lstStyle/>
        <a:p>
          <a:r>
            <a:rPr lang="en-US" dirty="0"/>
            <a:t>Find Relevance</a:t>
          </a:r>
        </a:p>
      </dgm:t>
    </dgm:pt>
    <dgm:pt modelId="{3DC69364-61B8-4BD4-8217-BCD1AB1EA4AA}" type="parTrans" cxnId="{4206E840-5481-481C-843F-CD75B03097E1}">
      <dgm:prSet/>
      <dgm:spPr/>
      <dgm:t>
        <a:bodyPr/>
        <a:lstStyle/>
        <a:p>
          <a:endParaRPr lang="en-US"/>
        </a:p>
      </dgm:t>
    </dgm:pt>
    <dgm:pt modelId="{94BD3069-29E0-42DB-8688-7CDB88D56905}" type="sibTrans" cxnId="{4206E840-5481-481C-843F-CD75B03097E1}">
      <dgm:prSet/>
      <dgm:spPr/>
      <dgm:t>
        <a:bodyPr/>
        <a:lstStyle/>
        <a:p>
          <a:endParaRPr lang="en-US"/>
        </a:p>
      </dgm:t>
    </dgm:pt>
    <dgm:pt modelId="{46F55330-CFDA-44B5-8461-8CCF3A460C24}">
      <dgm:prSet phldrT="[Text]" phldr="0"/>
      <dgm:spPr/>
      <dgm:t>
        <a:bodyPr/>
        <a:lstStyle/>
        <a:p>
          <a:r>
            <a:rPr lang="en-US" dirty="0"/>
            <a:t>No Focus</a:t>
          </a:r>
        </a:p>
      </dgm:t>
    </dgm:pt>
    <dgm:pt modelId="{9C514D5B-C0F7-45F8-B675-E71223AD0648}" type="sibTrans" cxnId="{CDCAB2C3-B02D-4D42-BD8A-E6E37E8F7A09}">
      <dgm:prSet/>
      <dgm:spPr/>
      <dgm:t>
        <a:bodyPr/>
        <a:lstStyle/>
        <a:p>
          <a:endParaRPr lang="en-US"/>
        </a:p>
      </dgm:t>
    </dgm:pt>
    <dgm:pt modelId="{03524BFE-7254-45AC-9A7D-F539994E60A7}" type="parTrans" cxnId="{CDCAB2C3-B02D-4D42-BD8A-E6E37E8F7A09}">
      <dgm:prSet/>
      <dgm:spPr/>
      <dgm:t>
        <a:bodyPr/>
        <a:lstStyle/>
        <a:p>
          <a:endParaRPr lang="en-US"/>
        </a:p>
      </dgm:t>
    </dgm:pt>
    <dgm:pt modelId="{B0F47E8B-FC85-4198-9852-8EC9584CE463}" type="pres">
      <dgm:prSet presAssocID="{20085F0A-1719-4411-B51B-0F834414859A}" presName="outerComposite" presStyleCnt="0">
        <dgm:presLayoutVars>
          <dgm:chMax val="2"/>
          <dgm:animLvl val="lvl"/>
          <dgm:resizeHandles val="exact"/>
        </dgm:presLayoutVars>
      </dgm:prSet>
      <dgm:spPr/>
    </dgm:pt>
    <dgm:pt modelId="{6AB73BDE-F0E4-4972-A377-EB318EA8636A}" type="pres">
      <dgm:prSet presAssocID="{20085F0A-1719-4411-B51B-0F834414859A}" presName="dummyMaxCanvas" presStyleCnt="0"/>
      <dgm:spPr/>
    </dgm:pt>
    <dgm:pt modelId="{1D548B80-CEFC-4755-94B8-1FB9EC8B34B6}" type="pres">
      <dgm:prSet presAssocID="{20085F0A-1719-4411-B51B-0F834414859A}" presName="parentComposite" presStyleCnt="0"/>
      <dgm:spPr/>
    </dgm:pt>
    <dgm:pt modelId="{A71C5DC3-972A-4FE7-B5D1-077988F4289C}" type="pres">
      <dgm:prSet presAssocID="{20085F0A-1719-4411-B51B-0F834414859A}" presName="parent1" presStyleLbl="alignAccFollowNode1" presStyleIdx="0" presStyleCnt="4" custLinFactNeighborX="1799" custLinFactNeighborY="25944">
        <dgm:presLayoutVars>
          <dgm:chMax val="4"/>
        </dgm:presLayoutVars>
      </dgm:prSet>
      <dgm:spPr/>
    </dgm:pt>
    <dgm:pt modelId="{094A07D8-05EB-487D-A9AD-4B5461006393}" type="pres">
      <dgm:prSet presAssocID="{20085F0A-1719-4411-B51B-0F834414859A}" presName="parent2" presStyleLbl="alignAccFollowNode1" presStyleIdx="1" presStyleCnt="4" custLinFactNeighborX="11263" custLinFactNeighborY="25944">
        <dgm:presLayoutVars>
          <dgm:chMax val="4"/>
        </dgm:presLayoutVars>
      </dgm:prSet>
      <dgm:spPr/>
    </dgm:pt>
    <dgm:pt modelId="{4B2946A2-E108-4E60-9719-8E30514919C0}" type="pres">
      <dgm:prSet presAssocID="{20085F0A-1719-4411-B51B-0F834414859A}" presName="childrenComposite" presStyleCnt="0"/>
      <dgm:spPr/>
    </dgm:pt>
    <dgm:pt modelId="{2FAFD298-64B2-4DE5-AB67-4EB30F4E9E97}" type="pres">
      <dgm:prSet presAssocID="{20085F0A-1719-4411-B51B-0F834414859A}" presName="dummyMaxCanvas_ChildArea" presStyleCnt="0"/>
      <dgm:spPr/>
    </dgm:pt>
    <dgm:pt modelId="{6C50F8F3-6C66-420F-B4B4-BCEF48E9A94A}" type="pres">
      <dgm:prSet presAssocID="{20085F0A-1719-4411-B51B-0F834414859A}" presName="fulcrum" presStyleLbl="alignAccFollowNode1" presStyleIdx="2" presStyleCnt="4"/>
      <dgm:spPr/>
    </dgm:pt>
    <dgm:pt modelId="{7B02DF45-D6E6-41F2-9176-AB60F8E3D5A3}" type="pres">
      <dgm:prSet presAssocID="{20085F0A-1719-4411-B51B-0F834414859A}" presName="balance_23" presStyleLbl="alignAccFollowNode1" presStyleIdx="3" presStyleCnt="4">
        <dgm:presLayoutVars>
          <dgm:bulletEnabled val="1"/>
        </dgm:presLayoutVars>
      </dgm:prSet>
      <dgm:spPr/>
    </dgm:pt>
    <dgm:pt modelId="{0AFF6B16-344A-4DBA-91BE-5B47DF9000C3}" type="pres">
      <dgm:prSet presAssocID="{20085F0A-1719-4411-B51B-0F834414859A}" presName="right_23_1" presStyleLbl="node1" presStyleIdx="0" presStyleCnt="5">
        <dgm:presLayoutVars>
          <dgm:bulletEnabled val="1"/>
        </dgm:presLayoutVars>
      </dgm:prSet>
      <dgm:spPr/>
    </dgm:pt>
    <dgm:pt modelId="{D3507FF0-5B96-403B-A5FE-3A5F8B79FCB1}" type="pres">
      <dgm:prSet presAssocID="{20085F0A-1719-4411-B51B-0F834414859A}" presName="right_23_2" presStyleLbl="node1" presStyleIdx="1" presStyleCnt="5">
        <dgm:presLayoutVars>
          <dgm:bulletEnabled val="1"/>
        </dgm:presLayoutVars>
      </dgm:prSet>
      <dgm:spPr/>
    </dgm:pt>
    <dgm:pt modelId="{3105105C-0685-46C9-BF01-5426BAA87337}" type="pres">
      <dgm:prSet presAssocID="{20085F0A-1719-4411-B51B-0F834414859A}" presName="right_23_3" presStyleLbl="node1" presStyleIdx="2" presStyleCnt="5">
        <dgm:presLayoutVars>
          <dgm:bulletEnabled val="1"/>
        </dgm:presLayoutVars>
      </dgm:prSet>
      <dgm:spPr/>
    </dgm:pt>
    <dgm:pt modelId="{907E5107-EC0E-42C3-9E2D-4C7A6FECB441}" type="pres">
      <dgm:prSet presAssocID="{20085F0A-1719-4411-B51B-0F834414859A}" presName="left_23_1" presStyleLbl="node1" presStyleIdx="3" presStyleCnt="5">
        <dgm:presLayoutVars>
          <dgm:bulletEnabled val="1"/>
        </dgm:presLayoutVars>
      </dgm:prSet>
      <dgm:spPr/>
    </dgm:pt>
    <dgm:pt modelId="{443C1C80-694B-41E8-983E-F3DD04896978}" type="pres">
      <dgm:prSet presAssocID="{20085F0A-1719-4411-B51B-0F834414859A}" presName="left_23_2" presStyleLbl="node1" presStyleIdx="4" presStyleCnt="5">
        <dgm:presLayoutVars>
          <dgm:bulletEnabled val="1"/>
        </dgm:presLayoutVars>
      </dgm:prSet>
      <dgm:spPr/>
    </dgm:pt>
  </dgm:ptLst>
  <dgm:cxnLst>
    <dgm:cxn modelId="{1EE4E700-676A-434B-B09D-ED26347B3DA9}" type="presOf" srcId="{20085F0A-1719-4411-B51B-0F834414859A}" destId="{B0F47E8B-FC85-4198-9852-8EC9584CE463}" srcOrd="0" destOrd="0" presId="urn:microsoft.com/office/officeart/2005/8/layout/balance1"/>
    <dgm:cxn modelId="{F1FD6702-B954-4B34-B670-3AB9731643A9}" type="presOf" srcId="{46F55330-CFDA-44B5-8461-8CCF3A460C24}" destId="{907E5107-EC0E-42C3-9E2D-4C7A6FECB441}" srcOrd="0" destOrd="0" presId="urn:microsoft.com/office/officeart/2005/8/layout/balance1"/>
    <dgm:cxn modelId="{2F6F3E2A-68DC-488C-AC36-E052B5ABFD86}" srcId="{136A3D1F-A6E9-44EC-B16E-E646C1BF88B4}" destId="{5ECA9B69-9298-4578-A3CC-5DB26ED7E173}" srcOrd="1" destOrd="0" parTransId="{11CC21FC-6934-4A3E-8F15-661D6096EB0E}" sibTransId="{0CA8DD9E-0570-4A66-B86A-045B6DE22AFA}"/>
    <dgm:cxn modelId="{75EBB633-CFF7-4E20-B64F-590D0DACE12A}" srcId="{20085F0A-1719-4411-B51B-0F834414859A}" destId="{136A3D1F-A6E9-44EC-B16E-E646C1BF88B4}" srcOrd="0" destOrd="0" parTransId="{C7DAABD3-ED1E-4831-815B-403CF163DA26}" sibTransId="{53129B37-9E1A-4F91-9DB7-4DE0D0170319}"/>
    <dgm:cxn modelId="{67601934-AD66-4172-B390-AB189B555A2B}" type="presOf" srcId="{0B2893C4-59EC-4DC0-B949-9097F17AB262}" destId="{D3507FF0-5B96-403B-A5FE-3A5F8B79FCB1}" srcOrd="0" destOrd="0" presId="urn:microsoft.com/office/officeart/2005/8/layout/balance1"/>
    <dgm:cxn modelId="{4206E840-5481-481C-843F-CD75B03097E1}" srcId="{09B256BB-9D3C-45B4-8701-EF3E33948987}" destId="{7DEE7F4C-035B-49D3-A301-D285DE1F2285}" srcOrd="2" destOrd="0" parTransId="{3DC69364-61B8-4BD4-8217-BCD1AB1EA4AA}" sibTransId="{94BD3069-29E0-42DB-8688-7CDB88D56905}"/>
    <dgm:cxn modelId="{A81FA441-CCB9-4EB8-B7F8-0C3241082C85}" type="presOf" srcId="{09B256BB-9D3C-45B4-8701-EF3E33948987}" destId="{094A07D8-05EB-487D-A9AD-4B5461006393}" srcOrd="0" destOrd="0" presId="urn:microsoft.com/office/officeart/2005/8/layout/balance1"/>
    <dgm:cxn modelId="{8D298F6C-E987-4AAC-92CD-E1313FCCE27F}" type="presOf" srcId="{136A3D1F-A6E9-44EC-B16E-E646C1BF88B4}" destId="{A71C5DC3-972A-4FE7-B5D1-077988F4289C}" srcOrd="0" destOrd="0" presId="urn:microsoft.com/office/officeart/2005/8/layout/balance1"/>
    <dgm:cxn modelId="{85D07F8E-6998-4948-84A4-0A217EE1B9EB}" type="presOf" srcId="{977F835C-3636-41B2-AD46-46473B43A4C5}" destId="{0AFF6B16-344A-4DBA-91BE-5B47DF9000C3}" srcOrd="0" destOrd="0" presId="urn:microsoft.com/office/officeart/2005/8/layout/balance1"/>
    <dgm:cxn modelId="{6EC4BB9A-B970-4103-8E51-6B056E6E0A16}" type="presOf" srcId="{5ECA9B69-9298-4578-A3CC-5DB26ED7E173}" destId="{443C1C80-694B-41E8-983E-F3DD04896978}" srcOrd="0" destOrd="0" presId="urn:microsoft.com/office/officeart/2005/8/layout/balance1"/>
    <dgm:cxn modelId="{4EBA64A7-F9B7-4F0C-8778-BA407C95DC6A}" srcId="{09B256BB-9D3C-45B4-8701-EF3E33948987}" destId="{0B2893C4-59EC-4DC0-B949-9097F17AB262}" srcOrd="1" destOrd="0" parTransId="{C226B265-EAB7-4EB9-9CD2-65B94383E273}" sibTransId="{20877FDD-695C-46C1-A706-EC0F7A379AF6}"/>
    <dgm:cxn modelId="{CEE0B7BF-DA91-4640-945F-680FABA36841}" srcId="{09B256BB-9D3C-45B4-8701-EF3E33948987}" destId="{977F835C-3636-41B2-AD46-46473B43A4C5}" srcOrd="0" destOrd="0" parTransId="{38A6AC9D-A6BA-4B89-B62C-4C4D239D393E}" sibTransId="{1B97B5F5-1104-4D33-83F4-B09347AAC73B}"/>
    <dgm:cxn modelId="{982BF1BF-7690-4AC9-B171-49A82656C7F0}" srcId="{20085F0A-1719-4411-B51B-0F834414859A}" destId="{09B256BB-9D3C-45B4-8701-EF3E33948987}" srcOrd="1" destOrd="0" parTransId="{B6106FC0-EC82-4F18-9557-854EF491ED82}" sibTransId="{E9B67971-3BE8-4812-9E67-A8BB8703E440}"/>
    <dgm:cxn modelId="{CDCAB2C3-B02D-4D42-BD8A-E6E37E8F7A09}" srcId="{136A3D1F-A6E9-44EC-B16E-E646C1BF88B4}" destId="{46F55330-CFDA-44B5-8461-8CCF3A460C24}" srcOrd="0" destOrd="0" parTransId="{03524BFE-7254-45AC-9A7D-F539994E60A7}" sibTransId="{9C514D5B-C0F7-45F8-B675-E71223AD0648}"/>
    <dgm:cxn modelId="{8D17EEF2-DC43-458E-B40D-1F8CFC4794AD}" type="presOf" srcId="{7DEE7F4C-035B-49D3-A301-D285DE1F2285}" destId="{3105105C-0685-46C9-BF01-5426BAA87337}" srcOrd="0" destOrd="0" presId="urn:microsoft.com/office/officeart/2005/8/layout/balance1"/>
    <dgm:cxn modelId="{FB3893B5-7BD4-4F33-B445-27403F8B4CE9}" type="presParOf" srcId="{B0F47E8B-FC85-4198-9852-8EC9584CE463}" destId="{6AB73BDE-F0E4-4972-A377-EB318EA8636A}" srcOrd="0" destOrd="0" presId="urn:microsoft.com/office/officeart/2005/8/layout/balance1"/>
    <dgm:cxn modelId="{2FC7C314-46F1-44DF-85EC-A8D5D2A07C62}" type="presParOf" srcId="{B0F47E8B-FC85-4198-9852-8EC9584CE463}" destId="{1D548B80-CEFC-4755-94B8-1FB9EC8B34B6}" srcOrd="1" destOrd="0" presId="urn:microsoft.com/office/officeart/2005/8/layout/balance1"/>
    <dgm:cxn modelId="{3F1BF368-9643-4FA3-BD92-267B1E9B24ED}" type="presParOf" srcId="{1D548B80-CEFC-4755-94B8-1FB9EC8B34B6}" destId="{A71C5DC3-972A-4FE7-B5D1-077988F4289C}" srcOrd="0" destOrd="0" presId="urn:microsoft.com/office/officeart/2005/8/layout/balance1"/>
    <dgm:cxn modelId="{5C4323E4-FA16-46C8-8BD4-3AB94928E919}" type="presParOf" srcId="{1D548B80-CEFC-4755-94B8-1FB9EC8B34B6}" destId="{094A07D8-05EB-487D-A9AD-4B5461006393}" srcOrd="1" destOrd="0" presId="urn:microsoft.com/office/officeart/2005/8/layout/balance1"/>
    <dgm:cxn modelId="{95B0213A-ABD8-4B5F-909C-328B362CC116}" type="presParOf" srcId="{B0F47E8B-FC85-4198-9852-8EC9584CE463}" destId="{4B2946A2-E108-4E60-9719-8E30514919C0}" srcOrd="2" destOrd="0" presId="urn:microsoft.com/office/officeart/2005/8/layout/balance1"/>
    <dgm:cxn modelId="{285D2D1B-D842-4403-A868-382D64F47709}" type="presParOf" srcId="{4B2946A2-E108-4E60-9719-8E30514919C0}" destId="{2FAFD298-64B2-4DE5-AB67-4EB30F4E9E97}" srcOrd="0" destOrd="0" presId="urn:microsoft.com/office/officeart/2005/8/layout/balance1"/>
    <dgm:cxn modelId="{8A2CC2FE-E93A-4B99-BA5A-417E71C0E78E}" type="presParOf" srcId="{4B2946A2-E108-4E60-9719-8E30514919C0}" destId="{6C50F8F3-6C66-420F-B4B4-BCEF48E9A94A}" srcOrd="1" destOrd="0" presId="urn:microsoft.com/office/officeart/2005/8/layout/balance1"/>
    <dgm:cxn modelId="{400EDA5D-5832-4236-A55E-6620446FC92E}" type="presParOf" srcId="{4B2946A2-E108-4E60-9719-8E30514919C0}" destId="{7B02DF45-D6E6-41F2-9176-AB60F8E3D5A3}" srcOrd="2" destOrd="0" presId="urn:microsoft.com/office/officeart/2005/8/layout/balance1"/>
    <dgm:cxn modelId="{5716BAE0-F9AF-4805-AD8A-74B078E65C33}" type="presParOf" srcId="{4B2946A2-E108-4E60-9719-8E30514919C0}" destId="{0AFF6B16-344A-4DBA-91BE-5B47DF9000C3}" srcOrd="3" destOrd="0" presId="urn:microsoft.com/office/officeart/2005/8/layout/balance1"/>
    <dgm:cxn modelId="{2853FFE7-D2BC-43DB-BF3A-E0E73828253C}" type="presParOf" srcId="{4B2946A2-E108-4E60-9719-8E30514919C0}" destId="{D3507FF0-5B96-403B-A5FE-3A5F8B79FCB1}" srcOrd="4" destOrd="0" presId="urn:microsoft.com/office/officeart/2005/8/layout/balance1"/>
    <dgm:cxn modelId="{E3D173E7-F7DC-4540-B876-9960AC47B111}" type="presParOf" srcId="{4B2946A2-E108-4E60-9719-8E30514919C0}" destId="{3105105C-0685-46C9-BF01-5426BAA87337}" srcOrd="5" destOrd="0" presId="urn:microsoft.com/office/officeart/2005/8/layout/balance1"/>
    <dgm:cxn modelId="{770C06BB-ED01-4841-B338-492FB223F1BE}" type="presParOf" srcId="{4B2946A2-E108-4E60-9719-8E30514919C0}" destId="{907E5107-EC0E-42C3-9E2D-4C7A6FECB441}" srcOrd="6" destOrd="0" presId="urn:microsoft.com/office/officeart/2005/8/layout/balance1"/>
    <dgm:cxn modelId="{ED3283E7-BE86-4089-8A13-51124C351867}" type="presParOf" srcId="{4B2946A2-E108-4E60-9719-8E30514919C0}" destId="{443C1C80-694B-41E8-983E-F3DD04896978}" srcOrd="7"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AB4BFDB-C9EC-4671-9946-F49417049F95}" type="doc">
      <dgm:prSet loTypeId="urn:microsoft.com/office/officeart/2005/8/layout/radial3" loCatId="cycle" qsTypeId="urn:microsoft.com/office/officeart/2005/8/quickstyle/simple1#1" qsCatId="simple" csTypeId="urn:microsoft.com/office/officeart/2005/8/colors/accent1_2#1" csCatId="accent1" phldr="1"/>
      <dgm:spPr/>
      <dgm:t>
        <a:bodyPr/>
        <a:lstStyle/>
        <a:p>
          <a:endParaRPr lang="en-US"/>
        </a:p>
      </dgm:t>
    </dgm:pt>
    <dgm:pt modelId="{5F256E6F-503C-4440-B993-36E44C8982DB}">
      <dgm:prSet phldrT="[Text]" phldr="0">
        <dgm:style>
          <a:lnRef idx="3">
            <a:schemeClr val="lt1"/>
          </a:lnRef>
          <a:fillRef idx="1">
            <a:schemeClr val="accent3"/>
          </a:fillRef>
          <a:effectRef idx="1">
            <a:schemeClr val="accent3"/>
          </a:effectRef>
          <a:fontRef idx="minor">
            <a:schemeClr val="lt1"/>
          </a:fontRef>
        </dgm:style>
      </dgm:prSet>
      <dgm:spPr>
        <a:ln/>
      </dgm:spPr>
      <dgm:t>
        <a:bodyPr/>
        <a:lstStyle/>
        <a:p>
          <a:r>
            <a:rPr lang="en-US" dirty="0"/>
            <a:t>Modalities</a:t>
          </a:r>
        </a:p>
      </dgm:t>
    </dgm:pt>
    <dgm:pt modelId="{3F1501EF-51A9-4EE8-B172-8684068C0268}" type="parTrans" cxnId="{5640489B-E6CB-4A30-831A-3A73B6D847F9}">
      <dgm:prSet/>
      <dgm:spPr/>
      <dgm:t>
        <a:bodyPr/>
        <a:lstStyle/>
        <a:p>
          <a:endParaRPr lang="en-US"/>
        </a:p>
      </dgm:t>
    </dgm:pt>
    <dgm:pt modelId="{7E2A7CF1-4D98-4CF3-BAC8-9181F884BC81}" type="sibTrans" cxnId="{5640489B-E6CB-4A30-831A-3A73B6D847F9}">
      <dgm:prSet/>
      <dgm:spPr/>
      <dgm:t>
        <a:bodyPr/>
        <a:lstStyle/>
        <a:p>
          <a:endParaRPr lang="en-US"/>
        </a:p>
      </dgm:t>
    </dgm:pt>
    <dgm:pt modelId="{025144F6-8420-4B92-9C71-50165B1932C9}">
      <dgm:prSet phldrT="[Text]" phldr="0">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dgm:spPr>
      <dgm:t>
        <a:bodyPr/>
        <a:lstStyle/>
        <a:p>
          <a:r>
            <a:rPr lang="en-US" dirty="0"/>
            <a:t>Images</a:t>
          </a:r>
        </a:p>
      </dgm:t>
    </dgm:pt>
    <dgm:pt modelId="{0E5A212A-2B59-4F6E-95A7-21A5145BB60E}" type="parTrans" cxnId="{15388611-1C42-42C8-BEC2-AAEAD10EA592}">
      <dgm:prSet/>
      <dgm:spPr/>
      <dgm:t>
        <a:bodyPr/>
        <a:lstStyle/>
        <a:p>
          <a:endParaRPr lang="en-US"/>
        </a:p>
      </dgm:t>
    </dgm:pt>
    <dgm:pt modelId="{F052BC8D-F480-4BCB-9FC5-A944F19B3C96}" type="sibTrans" cxnId="{15388611-1C42-42C8-BEC2-AAEAD10EA592}">
      <dgm:prSet/>
      <dgm:spPr/>
      <dgm:t>
        <a:bodyPr/>
        <a:lstStyle/>
        <a:p>
          <a:endParaRPr lang="en-US"/>
        </a:p>
      </dgm:t>
    </dgm:pt>
    <dgm:pt modelId="{7D0B089F-9A73-4097-9264-88F7D7B67E85}">
      <dgm:prSet phldrT="[Text]" phldr="0">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dgm:spPr>
      <dgm:t>
        <a:bodyPr/>
        <a:lstStyle/>
        <a:p>
          <a:r>
            <a:rPr lang="en-US" dirty="0"/>
            <a:t>Audio</a:t>
          </a:r>
        </a:p>
      </dgm:t>
    </dgm:pt>
    <dgm:pt modelId="{EBA67F58-4A4F-4A85-84A9-F70164338046}" type="parTrans" cxnId="{09CE4611-2079-48F6-AAAB-A327B79A006F}">
      <dgm:prSet/>
      <dgm:spPr/>
      <dgm:t>
        <a:bodyPr/>
        <a:lstStyle/>
        <a:p>
          <a:endParaRPr lang="en-US"/>
        </a:p>
      </dgm:t>
    </dgm:pt>
    <dgm:pt modelId="{04148966-FFF7-41BF-8D35-86FA1B4AE01C}" type="sibTrans" cxnId="{09CE4611-2079-48F6-AAAB-A327B79A006F}">
      <dgm:prSet/>
      <dgm:spPr/>
      <dgm:t>
        <a:bodyPr/>
        <a:lstStyle/>
        <a:p>
          <a:endParaRPr lang="en-US"/>
        </a:p>
      </dgm:t>
    </dgm:pt>
    <dgm:pt modelId="{A07B59F2-B47C-4D5B-9F0D-FBCCCDDDDE65}">
      <dgm:prSet phldrT="[Text]" phldr="0">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dgm:spPr>
      <dgm:t>
        <a:bodyPr/>
        <a:lstStyle/>
        <a:p>
          <a:r>
            <a:rPr lang="en-US" dirty="0"/>
            <a:t>Video</a:t>
          </a:r>
        </a:p>
      </dgm:t>
    </dgm:pt>
    <dgm:pt modelId="{560B2F05-3166-4F62-A62B-77CED855650D}" type="parTrans" cxnId="{8F64983F-7DF5-40B6-8185-0741E7552191}">
      <dgm:prSet/>
      <dgm:spPr/>
      <dgm:t>
        <a:bodyPr/>
        <a:lstStyle/>
        <a:p>
          <a:endParaRPr lang="en-US"/>
        </a:p>
      </dgm:t>
    </dgm:pt>
    <dgm:pt modelId="{B8D3A5E8-DF42-48A4-AE8C-B86361838B1B}" type="sibTrans" cxnId="{8F64983F-7DF5-40B6-8185-0741E7552191}">
      <dgm:prSet/>
      <dgm:spPr/>
      <dgm:t>
        <a:bodyPr/>
        <a:lstStyle/>
        <a:p>
          <a:endParaRPr lang="en-US"/>
        </a:p>
      </dgm:t>
    </dgm:pt>
    <dgm:pt modelId="{C6B2F397-F2DF-49D3-A2AE-6C4CA149DDA6}">
      <dgm:prSet phldrT="[Text]" phldr="0">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dgm:spPr>
      <dgm:t>
        <a:bodyPr/>
        <a:lstStyle/>
        <a:p>
          <a:r>
            <a:rPr lang="en-US" dirty="0"/>
            <a:t>Text</a:t>
          </a:r>
        </a:p>
      </dgm:t>
    </dgm:pt>
    <dgm:pt modelId="{B8EDC44B-40EB-44A5-A1CB-744DEDDB811A}" type="parTrans" cxnId="{2FA5644D-3656-4A00-B8EC-A7AA156D33A6}">
      <dgm:prSet/>
      <dgm:spPr/>
      <dgm:t>
        <a:bodyPr/>
        <a:lstStyle/>
        <a:p>
          <a:endParaRPr lang="en-US"/>
        </a:p>
      </dgm:t>
    </dgm:pt>
    <dgm:pt modelId="{E6A5E7CC-5942-4078-9190-DA2B4FB21BC2}" type="sibTrans" cxnId="{2FA5644D-3656-4A00-B8EC-A7AA156D33A6}">
      <dgm:prSet/>
      <dgm:spPr/>
      <dgm:t>
        <a:bodyPr/>
        <a:lstStyle/>
        <a:p>
          <a:endParaRPr lang="en-US"/>
        </a:p>
      </dgm:t>
    </dgm:pt>
    <dgm:pt modelId="{2D50041B-88B5-4510-B328-BCBC233327A4}" type="pres">
      <dgm:prSet presAssocID="{DAB4BFDB-C9EC-4671-9946-F49417049F95}" presName="composite" presStyleCnt="0">
        <dgm:presLayoutVars>
          <dgm:chMax val="1"/>
          <dgm:dir/>
          <dgm:resizeHandles val="exact"/>
        </dgm:presLayoutVars>
      </dgm:prSet>
      <dgm:spPr/>
    </dgm:pt>
    <dgm:pt modelId="{E0B5579E-E1F3-4451-8608-C87F413BEDAB}" type="pres">
      <dgm:prSet presAssocID="{DAB4BFDB-C9EC-4671-9946-F49417049F95}" presName="radial" presStyleCnt="0">
        <dgm:presLayoutVars>
          <dgm:animLvl val="ctr"/>
        </dgm:presLayoutVars>
      </dgm:prSet>
      <dgm:spPr/>
    </dgm:pt>
    <dgm:pt modelId="{08A4C40D-F221-45B7-8E56-D231C0989048}" type="pres">
      <dgm:prSet presAssocID="{5F256E6F-503C-4440-B993-36E44C8982DB}" presName="centerShape" presStyleLbl="vennNode1" presStyleIdx="0" presStyleCnt="5"/>
      <dgm:spPr/>
    </dgm:pt>
    <dgm:pt modelId="{0F3E12BA-71A5-4C47-9CE9-9A682772E9C7}" type="pres">
      <dgm:prSet presAssocID="{025144F6-8420-4B92-9C71-50165B1932C9}" presName="node" presStyleLbl="vennNode1" presStyleIdx="1" presStyleCnt="5" custRadScaleRad="105952">
        <dgm:presLayoutVars>
          <dgm:bulletEnabled val="1"/>
        </dgm:presLayoutVars>
      </dgm:prSet>
      <dgm:spPr/>
    </dgm:pt>
    <dgm:pt modelId="{EDECFB3A-43B0-4820-9B7B-C6AD98B240DF}" type="pres">
      <dgm:prSet presAssocID="{7D0B089F-9A73-4097-9264-88F7D7B67E85}" presName="node" presStyleLbl="vennNode1" presStyleIdx="2" presStyleCnt="5">
        <dgm:presLayoutVars>
          <dgm:bulletEnabled val="1"/>
        </dgm:presLayoutVars>
      </dgm:prSet>
      <dgm:spPr/>
    </dgm:pt>
    <dgm:pt modelId="{A6EFC904-BD1C-4264-8D74-8E27E0F5A4F6}" type="pres">
      <dgm:prSet presAssocID="{A07B59F2-B47C-4D5B-9F0D-FBCCCDDDDE65}" presName="node" presStyleLbl="vennNode1" presStyleIdx="3" presStyleCnt="5">
        <dgm:presLayoutVars>
          <dgm:bulletEnabled val="1"/>
        </dgm:presLayoutVars>
      </dgm:prSet>
      <dgm:spPr/>
    </dgm:pt>
    <dgm:pt modelId="{F2788FFC-E713-4871-ABF8-07BEB739C8AB}" type="pres">
      <dgm:prSet presAssocID="{C6B2F397-F2DF-49D3-A2AE-6C4CA149DDA6}" presName="node" presStyleLbl="vennNode1" presStyleIdx="4" presStyleCnt="5" custRadScaleRad="98974" custRadScaleInc="0">
        <dgm:presLayoutVars>
          <dgm:bulletEnabled val="1"/>
        </dgm:presLayoutVars>
      </dgm:prSet>
      <dgm:spPr/>
    </dgm:pt>
  </dgm:ptLst>
  <dgm:cxnLst>
    <dgm:cxn modelId="{09CE4611-2079-48F6-AAAB-A327B79A006F}" srcId="{5F256E6F-503C-4440-B993-36E44C8982DB}" destId="{7D0B089F-9A73-4097-9264-88F7D7B67E85}" srcOrd="1" destOrd="0" parTransId="{EBA67F58-4A4F-4A85-84A9-F70164338046}" sibTransId="{04148966-FFF7-41BF-8D35-86FA1B4AE01C}"/>
    <dgm:cxn modelId="{15388611-1C42-42C8-BEC2-AAEAD10EA592}" srcId="{5F256E6F-503C-4440-B993-36E44C8982DB}" destId="{025144F6-8420-4B92-9C71-50165B1932C9}" srcOrd="0" destOrd="0" parTransId="{0E5A212A-2B59-4F6E-95A7-21A5145BB60E}" sibTransId="{F052BC8D-F480-4BCB-9FC5-A944F19B3C96}"/>
    <dgm:cxn modelId="{25B3192F-A5FF-483A-8DB0-4D75A66F2AB1}" type="presOf" srcId="{C6B2F397-F2DF-49D3-A2AE-6C4CA149DDA6}" destId="{F2788FFC-E713-4871-ABF8-07BEB739C8AB}" srcOrd="0" destOrd="0" presId="urn:microsoft.com/office/officeart/2005/8/layout/radial3"/>
    <dgm:cxn modelId="{8F64983F-7DF5-40B6-8185-0741E7552191}" srcId="{5F256E6F-503C-4440-B993-36E44C8982DB}" destId="{A07B59F2-B47C-4D5B-9F0D-FBCCCDDDDE65}" srcOrd="2" destOrd="0" parTransId="{560B2F05-3166-4F62-A62B-77CED855650D}" sibTransId="{B8D3A5E8-DF42-48A4-AE8C-B86361838B1B}"/>
    <dgm:cxn modelId="{2FA5644D-3656-4A00-B8EC-A7AA156D33A6}" srcId="{5F256E6F-503C-4440-B993-36E44C8982DB}" destId="{C6B2F397-F2DF-49D3-A2AE-6C4CA149DDA6}" srcOrd="3" destOrd="0" parTransId="{B8EDC44B-40EB-44A5-A1CB-744DEDDB811A}" sibTransId="{E6A5E7CC-5942-4078-9190-DA2B4FB21BC2}"/>
    <dgm:cxn modelId="{5BFE704D-A53D-4307-8001-0BD27999C0EB}" type="presOf" srcId="{025144F6-8420-4B92-9C71-50165B1932C9}" destId="{0F3E12BA-71A5-4C47-9CE9-9A682772E9C7}" srcOrd="0" destOrd="0" presId="urn:microsoft.com/office/officeart/2005/8/layout/radial3"/>
    <dgm:cxn modelId="{D8294E4E-CEF3-4C9A-9951-DEB419E0F638}" type="presOf" srcId="{DAB4BFDB-C9EC-4671-9946-F49417049F95}" destId="{2D50041B-88B5-4510-B328-BCBC233327A4}" srcOrd="0" destOrd="0" presId="urn:microsoft.com/office/officeart/2005/8/layout/radial3"/>
    <dgm:cxn modelId="{E2C9627E-BB67-47B8-85A5-EB3A0F742AAC}" type="presOf" srcId="{7D0B089F-9A73-4097-9264-88F7D7B67E85}" destId="{EDECFB3A-43B0-4820-9B7B-C6AD98B240DF}" srcOrd="0" destOrd="0" presId="urn:microsoft.com/office/officeart/2005/8/layout/radial3"/>
    <dgm:cxn modelId="{A7E9697F-E2DF-42E9-BD2D-6D7A2FDD5F56}" type="presOf" srcId="{A07B59F2-B47C-4D5B-9F0D-FBCCCDDDDE65}" destId="{A6EFC904-BD1C-4264-8D74-8E27E0F5A4F6}" srcOrd="0" destOrd="0" presId="urn:microsoft.com/office/officeart/2005/8/layout/radial3"/>
    <dgm:cxn modelId="{5640489B-E6CB-4A30-831A-3A73B6D847F9}" srcId="{DAB4BFDB-C9EC-4671-9946-F49417049F95}" destId="{5F256E6F-503C-4440-B993-36E44C8982DB}" srcOrd="0" destOrd="0" parTransId="{3F1501EF-51A9-4EE8-B172-8684068C0268}" sibTransId="{7E2A7CF1-4D98-4CF3-BAC8-9181F884BC81}"/>
    <dgm:cxn modelId="{4BC0FFCD-9D96-4FBD-84F6-845C1D553158}" type="presOf" srcId="{5F256E6F-503C-4440-B993-36E44C8982DB}" destId="{08A4C40D-F221-45B7-8E56-D231C0989048}" srcOrd="0" destOrd="0" presId="urn:microsoft.com/office/officeart/2005/8/layout/radial3"/>
    <dgm:cxn modelId="{AD01C697-2602-4CBA-8937-0CC4D34A5FD8}" type="presParOf" srcId="{2D50041B-88B5-4510-B328-BCBC233327A4}" destId="{E0B5579E-E1F3-4451-8608-C87F413BEDAB}" srcOrd="0" destOrd="0" presId="urn:microsoft.com/office/officeart/2005/8/layout/radial3"/>
    <dgm:cxn modelId="{C7DD01A3-C04B-4C90-8A68-E5CA83FD784B}" type="presParOf" srcId="{E0B5579E-E1F3-4451-8608-C87F413BEDAB}" destId="{08A4C40D-F221-45B7-8E56-D231C0989048}" srcOrd="0" destOrd="0" presId="urn:microsoft.com/office/officeart/2005/8/layout/radial3"/>
    <dgm:cxn modelId="{F3A25E28-B8D0-4F4C-BB3E-8758467AD685}" type="presParOf" srcId="{E0B5579E-E1F3-4451-8608-C87F413BEDAB}" destId="{0F3E12BA-71A5-4C47-9CE9-9A682772E9C7}" srcOrd="1" destOrd="0" presId="urn:microsoft.com/office/officeart/2005/8/layout/radial3"/>
    <dgm:cxn modelId="{50C39401-BD9F-4FEE-92A2-F7237E4546F3}" type="presParOf" srcId="{E0B5579E-E1F3-4451-8608-C87F413BEDAB}" destId="{EDECFB3A-43B0-4820-9B7B-C6AD98B240DF}" srcOrd="2" destOrd="0" presId="urn:microsoft.com/office/officeart/2005/8/layout/radial3"/>
    <dgm:cxn modelId="{BD96FD41-91A2-4B00-A99E-45BCEAF49D99}" type="presParOf" srcId="{E0B5579E-E1F3-4451-8608-C87F413BEDAB}" destId="{A6EFC904-BD1C-4264-8D74-8E27E0F5A4F6}" srcOrd="3" destOrd="0" presId="urn:microsoft.com/office/officeart/2005/8/layout/radial3"/>
    <dgm:cxn modelId="{72DDA9CA-5F93-4972-AED9-C3EEBA15A645}" type="presParOf" srcId="{E0B5579E-E1F3-4451-8608-C87F413BEDAB}" destId="{F2788FFC-E713-4871-ABF8-07BEB739C8AB}" srcOrd="4"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C5DC3-972A-4FE7-B5D1-077988F4289C}">
      <dsp:nvSpPr>
        <dsp:cNvPr id="0" name=""/>
        <dsp:cNvSpPr/>
      </dsp:nvSpPr>
      <dsp:spPr>
        <a:xfrm>
          <a:off x="728798" y="194063"/>
          <a:ext cx="1346416" cy="748009"/>
        </a:xfrm>
        <a:prstGeom prst="roundRect">
          <a:avLst>
            <a:gd name="adj" fmla="val 10000"/>
          </a:avLst>
        </a:prstGeom>
        <a:noFill/>
        <a:ln>
          <a:noFill/>
        </a:ln>
        <a:effectLst/>
        <a:scene3d>
          <a:camera prst="orthographicFront"/>
          <a:lightRig rig="threePt" dir="t">
            <a:rot lat="0" lon="0" rev="7500000"/>
          </a:lightRig>
        </a:scene3d>
        <a:sp3d extrusionH="190500"/>
      </dsp:spPr>
      <dsp:style>
        <a:lnRef idx="0">
          <a:scrgbClr r="0" g="0" b="0"/>
        </a:lnRef>
        <a:fillRef idx="0">
          <a:scrgbClr r="0" g="0" b="0"/>
        </a:fillRef>
        <a:effectRef idx="0">
          <a:scrgbClr r="0" g="0" b="0"/>
        </a:effectRef>
        <a:fontRef idx="minor">
          <a:schemeClr val="dk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Calibri" panose="020F0502020204030204" pitchFamily="34" charset="0"/>
              <a:cs typeface="Calibri" panose="020F0502020204030204" pitchFamily="34" charset="0"/>
            </a:rPr>
            <a:t>Attention </a:t>
          </a:r>
        </a:p>
      </dsp:txBody>
      <dsp:txXfrm>
        <a:off x="750706" y="215971"/>
        <a:ext cx="1302600" cy="704193"/>
      </dsp:txXfrm>
    </dsp:sp>
    <dsp:sp modelId="{094A07D8-05EB-487D-A9AD-4B5461006393}">
      <dsp:nvSpPr>
        <dsp:cNvPr id="0" name=""/>
        <dsp:cNvSpPr/>
      </dsp:nvSpPr>
      <dsp:spPr>
        <a:xfrm>
          <a:off x="2801047" y="194063"/>
          <a:ext cx="1346416" cy="748009"/>
        </a:xfrm>
        <a:prstGeom prst="roundRect">
          <a:avLst>
            <a:gd name="adj" fmla="val 10000"/>
          </a:avLst>
        </a:prstGeom>
        <a:noFill/>
        <a:ln>
          <a:noFill/>
        </a:ln>
        <a:effectLst/>
        <a:scene3d>
          <a:camera prst="orthographicFront"/>
          <a:lightRig rig="threePt" dir="t">
            <a:rot lat="0" lon="0" rev="7500000"/>
          </a:lightRig>
        </a:scene3d>
        <a:sp3d extrusionH="190500"/>
      </dsp:spPr>
      <dsp:style>
        <a:lnRef idx="0">
          <a:scrgbClr r="0" g="0" b="0"/>
        </a:lnRef>
        <a:fillRef idx="0">
          <a:scrgbClr r="0" g="0" b="0"/>
        </a:fillRef>
        <a:effectRef idx="0">
          <a:scrgbClr r="0" g="0" b="0"/>
        </a:effectRef>
        <a:fontRef idx="minor">
          <a:schemeClr val="dk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Calibri" panose="020F0502020204030204" pitchFamily="34" charset="0"/>
              <a:cs typeface="Calibri" panose="020F0502020204030204" pitchFamily="34" charset="0"/>
            </a:rPr>
            <a:t>Attention</a:t>
          </a:r>
        </a:p>
      </dsp:txBody>
      <dsp:txXfrm>
        <a:off x="2822955" y="215971"/>
        <a:ext cx="1302600" cy="704193"/>
      </dsp:txXfrm>
    </dsp:sp>
    <dsp:sp modelId="{6C50F8F3-6C66-420F-B4B4-BCEF48E9A94A}">
      <dsp:nvSpPr>
        <dsp:cNvPr id="0" name=""/>
        <dsp:cNvSpPr/>
      </dsp:nvSpPr>
      <dsp:spPr>
        <a:xfrm>
          <a:off x="2069693" y="3179039"/>
          <a:ext cx="561006" cy="561006"/>
        </a:xfrm>
        <a:prstGeom prst="triangle">
          <a:avLst/>
        </a:prstGeom>
        <a:solidFill>
          <a:schemeClr val="accent2">
            <a:tint val="40000"/>
            <a:alpha val="90000"/>
            <a:hueOff val="46722"/>
            <a:satOff val="-17359"/>
            <a:lumOff val="-2535"/>
            <a:alphaOff val="0"/>
          </a:schemeClr>
        </a:solidFill>
        <a:ln w="6350" cap="flat" cmpd="sng" algn="ctr">
          <a:solidFill>
            <a:schemeClr val="accent2">
              <a:tint val="40000"/>
              <a:alpha val="90000"/>
              <a:hueOff val="46722"/>
              <a:satOff val="-17359"/>
              <a:lumOff val="-2535"/>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sp>
    <dsp:sp modelId="{7B02DF45-D6E6-41F2-9176-AB60F8E3D5A3}">
      <dsp:nvSpPr>
        <dsp:cNvPr id="0" name=""/>
        <dsp:cNvSpPr/>
      </dsp:nvSpPr>
      <dsp:spPr>
        <a:xfrm rot="240000">
          <a:off x="666661" y="2938641"/>
          <a:ext cx="3367069" cy="235448"/>
        </a:xfrm>
        <a:prstGeom prst="rect">
          <a:avLst/>
        </a:prstGeom>
        <a:solidFill>
          <a:schemeClr val="accent2">
            <a:tint val="40000"/>
            <a:alpha val="90000"/>
            <a:hueOff val="70083"/>
            <a:satOff val="-26039"/>
            <a:lumOff val="-3803"/>
            <a:alphaOff val="0"/>
          </a:schemeClr>
        </a:solidFill>
        <a:ln w="6350" cap="flat" cmpd="sng" algn="ctr">
          <a:solidFill>
            <a:schemeClr val="accent2">
              <a:tint val="40000"/>
              <a:alpha val="90000"/>
              <a:hueOff val="70083"/>
              <a:satOff val="-26039"/>
              <a:lumOff val="-3803"/>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sp>
    <dsp:sp modelId="{0AFF6B16-344A-4DBA-91BE-5B47DF9000C3}">
      <dsp:nvSpPr>
        <dsp:cNvPr id="0" name=""/>
        <dsp:cNvSpPr/>
      </dsp:nvSpPr>
      <dsp:spPr>
        <a:xfrm rot="240000">
          <a:off x="2688294" y="2349962"/>
          <a:ext cx="1343428" cy="6259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Focused on what matters</a:t>
          </a:r>
        </a:p>
      </dsp:txBody>
      <dsp:txXfrm>
        <a:off x="2718848" y="2380516"/>
        <a:ext cx="1282320" cy="564792"/>
      </dsp:txXfrm>
    </dsp:sp>
    <dsp:sp modelId="{D3507FF0-5B96-403B-A5FE-3A5F8B79FCB1}">
      <dsp:nvSpPr>
        <dsp:cNvPr id="0" name=""/>
        <dsp:cNvSpPr/>
      </dsp:nvSpPr>
      <dsp:spPr>
        <a:xfrm rot="240000">
          <a:off x="2736915" y="1676754"/>
          <a:ext cx="1343428" cy="625900"/>
        </a:xfrm>
        <a:prstGeom prst="roundRect">
          <a:avLst/>
        </a:prstGeom>
        <a:gradFill rotWithShape="0">
          <a:gsLst>
            <a:gs pos="0">
              <a:schemeClr val="accent2">
                <a:hueOff val="33541"/>
                <a:satOff val="1181"/>
                <a:lumOff val="-4657"/>
                <a:alphaOff val="0"/>
                <a:satMod val="103000"/>
                <a:lumMod val="102000"/>
                <a:tint val="94000"/>
              </a:schemeClr>
            </a:gs>
            <a:gs pos="50000">
              <a:schemeClr val="accent2">
                <a:hueOff val="33541"/>
                <a:satOff val="1181"/>
                <a:lumOff val="-4657"/>
                <a:alphaOff val="0"/>
                <a:satMod val="110000"/>
                <a:lumMod val="100000"/>
                <a:shade val="100000"/>
              </a:schemeClr>
            </a:gs>
            <a:gs pos="100000">
              <a:schemeClr val="accent2">
                <a:hueOff val="33541"/>
                <a:satOff val="1181"/>
                <a:lumOff val="-4657"/>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Higher Weights</a:t>
          </a:r>
        </a:p>
      </dsp:txBody>
      <dsp:txXfrm>
        <a:off x="2767469" y="1707308"/>
        <a:ext cx="1282320" cy="564792"/>
      </dsp:txXfrm>
    </dsp:sp>
    <dsp:sp modelId="{3105105C-0685-46C9-BF01-5426BAA87337}">
      <dsp:nvSpPr>
        <dsp:cNvPr id="0" name=""/>
        <dsp:cNvSpPr/>
      </dsp:nvSpPr>
      <dsp:spPr>
        <a:xfrm rot="240000">
          <a:off x="2785535" y="1018506"/>
          <a:ext cx="1343428" cy="625900"/>
        </a:xfrm>
        <a:prstGeom prst="roundRect">
          <a:avLst/>
        </a:prstGeom>
        <a:gradFill rotWithShape="0">
          <a:gsLst>
            <a:gs pos="0">
              <a:schemeClr val="accent2">
                <a:hueOff val="67083"/>
                <a:satOff val="2362"/>
                <a:lumOff val="-9314"/>
                <a:alphaOff val="0"/>
                <a:satMod val="103000"/>
                <a:lumMod val="102000"/>
                <a:tint val="94000"/>
              </a:schemeClr>
            </a:gs>
            <a:gs pos="50000">
              <a:schemeClr val="accent2">
                <a:hueOff val="67083"/>
                <a:satOff val="2362"/>
                <a:lumOff val="-9314"/>
                <a:alphaOff val="0"/>
                <a:satMod val="110000"/>
                <a:lumMod val="100000"/>
                <a:shade val="100000"/>
              </a:schemeClr>
            </a:gs>
            <a:gs pos="100000">
              <a:schemeClr val="accent2">
                <a:hueOff val="67083"/>
                <a:satOff val="2362"/>
                <a:lumOff val="-931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Find Relevance</a:t>
          </a:r>
        </a:p>
      </dsp:txBody>
      <dsp:txXfrm>
        <a:off x="2816089" y="1049060"/>
        <a:ext cx="1282320" cy="564792"/>
      </dsp:txXfrm>
    </dsp:sp>
    <dsp:sp modelId="{907E5107-EC0E-42C3-9E2D-4C7A6FECB441}">
      <dsp:nvSpPr>
        <dsp:cNvPr id="0" name=""/>
        <dsp:cNvSpPr/>
      </dsp:nvSpPr>
      <dsp:spPr>
        <a:xfrm rot="240000">
          <a:off x="762170" y="2215320"/>
          <a:ext cx="1343428" cy="625900"/>
        </a:xfrm>
        <a:prstGeom prst="roundRect">
          <a:avLst/>
        </a:prstGeom>
        <a:gradFill rotWithShape="0">
          <a:gsLst>
            <a:gs pos="0">
              <a:schemeClr val="accent2">
                <a:hueOff val="100624"/>
                <a:satOff val="3544"/>
                <a:lumOff val="-13971"/>
                <a:alphaOff val="0"/>
                <a:satMod val="103000"/>
                <a:lumMod val="102000"/>
                <a:tint val="94000"/>
              </a:schemeClr>
            </a:gs>
            <a:gs pos="50000">
              <a:schemeClr val="accent2">
                <a:hueOff val="100624"/>
                <a:satOff val="3544"/>
                <a:lumOff val="-13971"/>
                <a:alphaOff val="0"/>
                <a:satMod val="110000"/>
                <a:lumMod val="100000"/>
                <a:shade val="100000"/>
              </a:schemeClr>
            </a:gs>
            <a:gs pos="100000">
              <a:schemeClr val="accent2">
                <a:hueOff val="100624"/>
                <a:satOff val="3544"/>
                <a:lumOff val="-13971"/>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No Focus</a:t>
          </a:r>
        </a:p>
      </dsp:txBody>
      <dsp:txXfrm>
        <a:off x="792724" y="2245874"/>
        <a:ext cx="1282320" cy="564792"/>
      </dsp:txXfrm>
    </dsp:sp>
    <dsp:sp modelId="{443C1C80-694B-41E8-983E-F3DD04896978}">
      <dsp:nvSpPr>
        <dsp:cNvPr id="0" name=""/>
        <dsp:cNvSpPr/>
      </dsp:nvSpPr>
      <dsp:spPr>
        <a:xfrm rot="240000">
          <a:off x="810791" y="1542112"/>
          <a:ext cx="1343428" cy="625900"/>
        </a:xfrm>
        <a:prstGeom prst="roundRect">
          <a:avLst/>
        </a:prstGeom>
        <a:gradFill rotWithShape="0">
          <a:gsLst>
            <a:gs pos="0">
              <a:schemeClr val="accent2">
                <a:hueOff val="134165"/>
                <a:satOff val="4725"/>
                <a:lumOff val="-18628"/>
                <a:alphaOff val="0"/>
                <a:satMod val="103000"/>
                <a:lumMod val="102000"/>
                <a:tint val="94000"/>
              </a:schemeClr>
            </a:gs>
            <a:gs pos="50000">
              <a:schemeClr val="accent2">
                <a:hueOff val="134165"/>
                <a:satOff val="4725"/>
                <a:lumOff val="-18628"/>
                <a:alphaOff val="0"/>
                <a:satMod val="110000"/>
                <a:lumMod val="100000"/>
                <a:shade val="100000"/>
              </a:schemeClr>
            </a:gs>
            <a:gs pos="100000">
              <a:schemeClr val="accent2">
                <a:hueOff val="134165"/>
                <a:satOff val="4725"/>
                <a:lumOff val="-1862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Equal Importance</a:t>
          </a:r>
        </a:p>
      </dsp:txBody>
      <dsp:txXfrm>
        <a:off x="841345" y="1572666"/>
        <a:ext cx="1282320" cy="5647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A4C40D-F221-45B7-8E56-D231C0989048}">
      <dsp:nvSpPr>
        <dsp:cNvPr id="0" name=""/>
        <dsp:cNvSpPr/>
      </dsp:nvSpPr>
      <dsp:spPr>
        <a:xfrm>
          <a:off x="1092635" y="796155"/>
          <a:ext cx="1983403" cy="1983403"/>
        </a:xfrm>
        <a:prstGeom prst="ellipse">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t>Modalities</a:t>
          </a:r>
        </a:p>
      </dsp:txBody>
      <dsp:txXfrm>
        <a:off x="1383098" y="1086618"/>
        <a:ext cx="1402477" cy="1402477"/>
      </dsp:txXfrm>
    </dsp:sp>
    <dsp:sp modelId="{0F3E12BA-71A5-4C47-9CE9-9A682772E9C7}">
      <dsp:nvSpPr>
        <dsp:cNvPr id="0" name=""/>
        <dsp:cNvSpPr/>
      </dsp:nvSpPr>
      <dsp:spPr>
        <a:xfrm>
          <a:off x="1588486" y="0"/>
          <a:ext cx="991701" cy="991701"/>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Images</a:t>
          </a:r>
        </a:p>
      </dsp:txBody>
      <dsp:txXfrm>
        <a:off x="1733717" y="145231"/>
        <a:ext cx="701239" cy="701239"/>
      </dsp:txXfrm>
    </dsp:sp>
    <dsp:sp modelId="{EDECFB3A-43B0-4820-9B7B-C6AD98B240DF}">
      <dsp:nvSpPr>
        <dsp:cNvPr id="0" name=""/>
        <dsp:cNvSpPr/>
      </dsp:nvSpPr>
      <dsp:spPr>
        <a:xfrm>
          <a:off x="2880138" y="1292006"/>
          <a:ext cx="991701" cy="991701"/>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Audio</a:t>
          </a:r>
        </a:p>
      </dsp:txBody>
      <dsp:txXfrm>
        <a:off x="3025369" y="1437237"/>
        <a:ext cx="701239" cy="701239"/>
      </dsp:txXfrm>
    </dsp:sp>
    <dsp:sp modelId="{A6EFC904-BD1C-4264-8D74-8E27E0F5A4F6}">
      <dsp:nvSpPr>
        <dsp:cNvPr id="0" name=""/>
        <dsp:cNvSpPr/>
      </dsp:nvSpPr>
      <dsp:spPr>
        <a:xfrm>
          <a:off x="1588486" y="2583658"/>
          <a:ext cx="991701" cy="991701"/>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Video</a:t>
          </a:r>
        </a:p>
      </dsp:txBody>
      <dsp:txXfrm>
        <a:off x="1733717" y="2728889"/>
        <a:ext cx="701239" cy="701239"/>
      </dsp:txXfrm>
    </dsp:sp>
    <dsp:sp modelId="{F2788FFC-E713-4871-ABF8-07BEB739C8AB}">
      <dsp:nvSpPr>
        <dsp:cNvPr id="0" name=""/>
        <dsp:cNvSpPr/>
      </dsp:nvSpPr>
      <dsp:spPr>
        <a:xfrm>
          <a:off x="310086" y="1292006"/>
          <a:ext cx="991701" cy="991701"/>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Text</a:t>
          </a:r>
        </a:p>
      </dsp:txBody>
      <dsp:txXfrm>
        <a:off x="455317" y="1437237"/>
        <a:ext cx="701239" cy="701239"/>
      </dsp:txXfrm>
    </dsp:sp>
  </dsp:spTree>
</dsp:drawing>
</file>

<file path=ppt/diagrams/layout1.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654E5B-0E19-65D0-FE6C-D1CD014B9040}"/>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EBF710-0A34-BA4B-AF45-D6916F69835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049D40C6-81BF-42D7-B0F8-90A31835367C}" type="datetimeFigureOut">
              <a:rPr lang="en-US" smtClean="0"/>
              <a:t>10/1/2026</a:t>
            </a:fld>
            <a:endParaRPr lang="en-US"/>
          </a:p>
        </p:txBody>
      </p:sp>
      <p:sp>
        <p:nvSpPr>
          <p:cNvPr id="4" name="Footer Placeholder 3">
            <a:extLst>
              <a:ext uri="{FF2B5EF4-FFF2-40B4-BE49-F238E27FC236}">
                <a16:creationId xmlns:a16="http://schemas.microsoft.com/office/drawing/2014/main" id="{A6B3CBEF-CD8D-A118-0968-D3A2DE727EA9}"/>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BB366A1-F021-5C72-441B-C0BA3E5E04C2}"/>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6A83EB6D-060E-4CA0-830E-AACDF146C9C4}" type="slidenum">
              <a:rPr lang="en-US" smtClean="0"/>
              <a:t>‹#›</a:t>
            </a:fld>
            <a:endParaRPr lang="en-US"/>
          </a:p>
        </p:txBody>
      </p:sp>
    </p:spTree>
    <p:extLst>
      <p:ext uri="{BB962C8B-B14F-4D97-AF65-F5344CB8AC3E}">
        <p14:creationId xmlns:p14="http://schemas.microsoft.com/office/powerpoint/2010/main" val="59487377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9T06:28:05.402"/>
    </inkml:context>
    <inkml:brush xml:id="br0">
      <inkml:brushProperty name="width" value="0.1" units="cm"/>
      <inkml:brushProperty name="height" value="0.1" units="cm"/>
      <inkml:brushProperty name="color" value="#66CC00"/>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871C29D-22E9-409F-99DA-EDB7E80BBC8E}" type="datetimeFigureOut">
              <a:rPr lang="en-US" smtClean="0"/>
              <a:t>10/1/2026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978199A-2CA8-47D4-96B8-19D924289139}" type="slidenum">
              <a:rPr lang="en-US" smtClean="0"/>
              <a:t>‹#›</a:t>
            </a:fld>
            <a:endParaRPr lang="en-US"/>
          </a:p>
        </p:txBody>
      </p:sp>
    </p:spTree>
    <p:extLst>
      <p:ext uri="{BB962C8B-B14F-4D97-AF65-F5344CB8AC3E}">
        <p14:creationId xmlns:p14="http://schemas.microsoft.com/office/powerpoint/2010/main" val="24448587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a:t>
            </a:r>
            <a:r>
              <a:rPr lang="en-US" dirty="0"/>
              <a:t>: Latent dimensions are numerical features learned by the model to represent the input. A latent representation may contain hundreds of dimensions, but we often visualize it using only two dimensions (x-axis and y-axis). For example, the actual latent vector might have 128, 512, or 768 dimensions, but we cannot draw 512 dimensions on a normal graph. A dimensionality-reduction method such as Principal Component Analysis (PCA) or Uniform Manifold Approximation and Projection (UMAP) can map those representations into 2 dimensions for visualization.</a:t>
            </a:r>
          </a:p>
        </p:txBody>
      </p:sp>
      <p:sp>
        <p:nvSpPr>
          <p:cNvPr id="4" name="Slide Number Placeholder 3"/>
          <p:cNvSpPr>
            <a:spLocks noGrp="1"/>
          </p:cNvSpPr>
          <p:nvPr>
            <p:ph type="sldNum" sz="quarter" idx="5"/>
          </p:nvPr>
        </p:nvSpPr>
        <p:spPr/>
        <p:txBody>
          <a:bodyPr/>
          <a:lstStyle/>
          <a:p>
            <a:fld id="{9978199A-2CA8-47D4-96B8-19D924289139}" type="slidenum">
              <a:rPr lang="en-US" smtClean="0"/>
              <a:t>3</a:t>
            </a:fld>
            <a:endParaRPr lang="en-US"/>
          </a:p>
        </p:txBody>
      </p:sp>
    </p:spTree>
    <p:extLst>
      <p:ext uri="{BB962C8B-B14F-4D97-AF65-F5344CB8AC3E}">
        <p14:creationId xmlns:p14="http://schemas.microsoft.com/office/powerpoint/2010/main" val="1912879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78199A-2CA8-47D4-96B8-19D924289139}" type="slidenum">
              <a:rPr lang="en-US" smtClean="0"/>
              <a:t>12</a:t>
            </a:fld>
            <a:endParaRPr lang="en-US"/>
          </a:p>
        </p:txBody>
      </p:sp>
    </p:spTree>
    <p:extLst>
      <p:ext uri="{BB962C8B-B14F-4D97-AF65-F5344CB8AC3E}">
        <p14:creationId xmlns:p14="http://schemas.microsoft.com/office/powerpoint/2010/main" val="2738896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D4C57-8603-631A-F5F8-B03D59571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91696-3BE6-9396-F4A0-0121C10C3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8D5D5-DF6E-C438-14D2-5B2D553F88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7B0B16-4E02-2CC1-5DF6-516536BD0147}"/>
              </a:ext>
            </a:extLst>
          </p:cNvPr>
          <p:cNvSpPr>
            <a:spLocks noGrp="1"/>
          </p:cNvSpPr>
          <p:nvPr>
            <p:ph type="sldNum" sz="quarter" idx="5"/>
          </p:nvPr>
        </p:nvSpPr>
        <p:spPr/>
        <p:txBody>
          <a:bodyPr/>
          <a:lstStyle/>
          <a:p>
            <a:fld id="{9978199A-2CA8-47D4-96B8-19D924289139}" type="slidenum">
              <a:rPr lang="en-US" smtClean="0"/>
              <a:t>13</a:t>
            </a:fld>
            <a:endParaRPr lang="en-US"/>
          </a:p>
        </p:txBody>
      </p:sp>
    </p:spTree>
    <p:extLst>
      <p:ext uri="{BB962C8B-B14F-4D97-AF65-F5344CB8AC3E}">
        <p14:creationId xmlns:p14="http://schemas.microsoft.com/office/powerpoint/2010/main" val="4173670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33F1A-502A-98DF-4990-E3DAB91C1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16B8F-FEDE-4D79-39BA-23121B002F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78248-B2D2-2E2C-7F6F-E6121DFAF8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886EDA-BEF7-E3BF-9B9F-088572237D12}"/>
              </a:ext>
            </a:extLst>
          </p:cNvPr>
          <p:cNvSpPr>
            <a:spLocks noGrp="1"/>
          </p:cNvSpPr>
          <p:nvPr>
            <p:ph type="sldNum" sz="quarter" idx="5"/>
          </p:nvPr>
        </p:nvSpPr>
        <p:spPr/>
        <p:txBody>
          <a:bodyPr/>
          <a:lstStyle/>
          <a:p>
            <a:fld id="{9978199A-2CA8-47D4-96B8-19D924289139}" type="slidenum">
              <a:rPr lang="en-US" smtClean="0"/>
              <a:t>14</a:t>
            </a:fld>
            <a:endParaRPr lang="en-US"/>
          </a:p>
        </p:txBody>
      </p:sp>
    </p:spTree>
    <p:extLst>
      <p:ext uri="{BB962C8B-B14F-4D97-AF65-F5344CB8AC3E}">
        <p14:creationId xmlns:p14="http://schemas.microsoft.com/office/powerpoint/2010/main" val="1035577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162B8-4A23-6C5E-A36F-53418CE1F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9667E-AC99-C514-FB1B-A36996C15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C7467-2186-4C4A-27B4-198DE70C61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A80785-55E5-12FA-14CC-BE4B4C5025F9}"/>
              </a:ext>
            </a:extLst>
          </p:cNvPr>
          <p:cNvSpPr>
            <a:spLocks noGrp="1"/>
          </p:cNvSpPr>
          <p:nvPr>
            <p:ph type="sldNum" sz="quarter" idx="5"/>
          </p:nvPr>
        </p:nvSpPr>
        <p:spPr/>
        <p:txBody>
          <a:bodyPr/>
          <a:lstStyle/>
          <a:p>
            <a:fld id="{9978199A-2CA8-47D4-96B8-19D924289139}" type="slidenum">
              <a:rPr lang="en-US" smtClean="0"/>
              <a:t>15</a:t>
            </a:fld>
            <a:endParaRPr lang="en-US"/>
          </a:p>
        </p:txBody>
      </p:sp>
    </p:spTree>
    <p:extLst>
      <p:ext uri="{BB962C8B-B14F-4D97-AF65-F5344CB8AC3E}">
        <p14:creationId xmlns:p14="http://schemas.microsoft.com/office/powerpoint/2010/main" val="3471941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100" b="1" dirty="0"/>
              <a:t>C = Channels</a:t>
            </a:r>
            <a:r>
              <a:rPr lang="en-US" sz="1100" dirty="0"/>
              <a:t> → how many feature maps the model has learned. </a:t>
            </a:r>
          </a:p>
          <a:p>
            <a:pPr lvl="0"/>
            <a:r>
              <a:rPr lang="en-US" sz="1100" b="1" dirty="0"/>
              <a:t>H = Height</a:t>
            </a:r>
            <a:r>
              <a:rPr lang="en-US" sz="1100" dirty="0"/>
              <a:t> → number of rows in the feature map. </a:t>
            </a:r>
          </a:p>
          <a:p>
            <a:pPr lvl="0"/>
            <a:r>
              <a:rPr lang="en-US" sz="1100" b="1" dirty="0"/>
              <a:t>W = Width</a:t>
            </a:r>
            <a:r>
              <a:rPr lang="en-US" sz="1100" dirty="0"/>
              <a:t> → number of columns in the feature map.</a:t>
            </a:r>
          </a:p>
          <a:p>
            <a:r>
              <a:rPr lang="en-US" dirty="0"/>
              <a:t>The process is: </a:t>
            </a:r>
            <a:r>
              <a:rPr lang="en-US" b="1" dirty="0"/>
              <a:t>Input Feature → Q, K, V → Attention Weights → Weighted V → Output Feature</a:t>
            </a:r>
            <a:endParaRPr lang="en-US" dirty="0"/>
          </a:p>
          <a:p>
            <a:r>
              <a:rPr lang="en-US" b="1" dirty="0"/>
              <a:t>Step 1: Input feature</a:t>
            </a:r>
          </a:p>
          <a:p>
            <a:r>
              <a:rPr lang="en-US" dirty="0"/>
              <a:t>The input is a feature map: </a:t>
            </a:r>
            <a:r>
              <a:rPr lang="en-US" b="1" dirty="0"/>
              <a:t>C × H × W. </a:t>
            </a:r>
            <a:r>
              <a:rPr lang="en-US" dirty="0"/>
              <a:t>It contains visual information extracted from an image.</a:t>
            </a:r>
          </a:p>
          <a:p>
            <a:r>
              <a:rPr lang="en-US" b="1" dirty="0"/>
              <a:t>Step 2: Create Q, K, and V: </a:t>
            </a:r>
            <a:r>
              <a:rPr lang="en-US" dirty="0"/>
              <a:t>The input is transformed into three representations:</a:t>
            </a:r>
          </a:p>
          <a:p>
            <a:pPr lvl="0"/>
            <a:r>
              <a:rPr lang="en-US" b="1" dirty="0"/>
              <a:t>Q (Query):</a:t>
            </a:r>
            <a:r>
              <a:rPr lang="en-US" dirty="0"/>
              <a:t> What information am I looking for? </a:t>
            </a:r>
          </a:p>
          <a:p>
            <a:pPr lvl="0"/>
            <a:r>
              <a:rPr lang="en-US" b="1" dirty="0"/>
              <a:t>K (Key):</a:t>
            </a:r>
            <a:r>
              <a:rPr lang="en-US" dirty="0"/>
              <a:t> What information do I contain / how can I be matched? </a:t>
            </a:r>
          </a:p>
          <a:p>
            <a:pPr lvl="0"/>
            <a:r>
              <a:rPr lang="en-US" b="1" dirty="0"/>
              <a:t>V (Value):</a:t>
            </a:r>
            <a:r>
              <a:rPr lang="en-US" dirty="0"/>
              <a:t> What information should I provide if I am relevant? </a:t>
            </a:r>
          </a:p>
          <a:p>
            <a:r>
              <a:rPr lang="en-US" b="1" dirty="0"/>
              <a:t>Step 3: Compare Q and K:  </a:t>
            </a:r>
            <a:r>
              <a:rPr lang="en-US" dirty="0"/>
              <a:t>The model calculates how strongly each position is related to the other positions.</a:t>
            </a:r>
          </a:p>
          <a:p>
            <a:r>
              <a:rPr lang="en-US" b="1" dirty="0"/>
              <a:t>Step 4: </a:t>
            </a:r>
            <a:r>
              <a:rPr lang="en-US" b="1" dirty="0" err="1"/>
              <a:t>Softmax</a:t>
            </a:r>
            <a:r>
              <a:rPr lang="en-US" b="1" dirty="0"/>
              <a:t>: </a:t>
            </a:r>
            <a:r>
              <a:rPr lang="en-US" dirty="0"/>
              <a:t>The similarity scores are converted into </a:t>
            </a:r>
            <a:r>
              <a:rPr lang="en-US" b="1" dirty="0"/>
              <a:t>attention weights</a:t>
            </a:r>
            <a:r>
              <a:rPr lang="en-US" dirty="0"/>
              <a:t>.</a:t>
            </a:r>
          </a:p>
          <a:p>
            <a:r>
              <a:rPr lang="en-US" b="1" dirty="0"/>
              <a:t>Step 5: Use V: </a:t>
            </a:r>
            <a:r>
              <a:rPr lang="en-US" dirty="0"/>
              <a:t>The attention weights are applied to the </a:t>
            </a:r>
            <a:r>
              <a:rPr lang="en-US" b="1" dirty="0"/>
              <a:t>Value (V)</a:t>
            </a:r>
            <a:r>
              <a:rPr lang="en-US" dirty="0"/>
              <a:t> representations. So, the model combines information from relevant positions, with more relevant positions contributing more.</a:t>
            </a:r>
          </a:p>
          <a:p>
            <a:r>
              <a:rPr lang="en-US" b="1" dirty="0"/>
              <a:t>Step 6: Output feature: </a:t>
            </a:r>
            <a:r>
              <a:rPr lang="en-US" dirty="0"/>
              <a:t>The result is a new feature representation that contains </a:t>
            </a:r>
            <a:r>
              <a:rPr lang="en-US" b="1" dirty="0"/>
              <a:t>contextual information from other positions</a:t>
            </a:r>
            <a:r>
              <a:rPr lang="en-US" dirty="0"/>
              <a:t>.</a:t>
            </a:r>
          </a:p>
          <a:p>
            <a:endParaRPr lang="en-US" dirty="0"/>
          </a:p>
        </p:txBody>
      </p:sp>
      <p:sp>
        <p:nvSpPr>
          <p:cNvPr id="4" name="Slide Number Placeholder 3"/>
          <p:cNvSpPr>
            <a:spLocks noGrp="1"/>
          </p:cNvSpPr>
          <p:nvPr>
            <p:ph type="sldNum" sz="quarter" idx="5"/>
          </p:nvPr>
        </p:nvSpPr>
        <p:spPr/>
        <p:txBody>
          <a:bodyPr/>
          <a:lstStyle/>
          <a:p>
            <a:fld id="{9978199A-2CA8-47D4-96B8-19D924289139}" type="slidenum">
              <a:rPr lang="en-US" smtClean="0"/>
              <a:t>17</a:t>
            </a:fld>
            <a:endParaRPr lang="en-US"/>
          </a:p>
        </p:txBody>
      </p:sp>
    </p:spTree>
    <p:extLst>
      <p:ext uri="{BB962C8B-B14F-4D97-AF65-F5344CB8AC3E}">
        <p14:creationId xmlns:p14="http://schemas.microsoft.com/office/powerpoint/2010/main" val="162214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dirty="0"/>
              <a:t>d = </a:t>
            </a:r>
            <a:r>
              <a:rPr lang="en-US" sz="1100" b="0" dirty="0"/>
              <a:t>how many positional numbers each token gets.</a:t>
            </a:r>
            <a:br>
              <a:rPr lang="en-US" sz="1100" b="0" dirty="0"/>
            </a:br>
            <a:r>
              <a:rPr lang="en-US" sz="1100" b="1" dirty="0"/>
              <a:t>n = </a:t>
            </a:r>
            <a:r>
              <a:rPr lang="en-US" sz="1100" b="0" dirty="0"/>
              <a:t>controls the scale/frequency of the sinusoidal patterns.</a:t>
            </a:r>
            <a:br>
              <a:rPr lang="en-US" sz="1100" b="0" dirty="0"/>
            </a:br>
            <a:r>
              <a:rPr lang="en-US" sz="1100" b="1" dirty="0" err="1"/>
              <a:t>i</a:t>
            </a:r>
            <a:r>
              <a:rPr lang="en-US" sz="1100" b="1" dirty="0"/>
              <a:t> = </a:t>
            </a:r>
            <a:r>
              <a:rPr lang="en-US" sz="1100" b="0" dirty="0"/>
              <a:t>identifies each sine-cosine pair.</a:t>
            </a:r>
            <a:br>
              <a:rPr lang="en-US" sz="1100" b="0" dirty="0"/>
            </a:br>
            <a:r>
              <a:rPr lang="en-US" sz="1100" b="1" dirty="0"/>
              <a:t>position = </a:t>
            </a:r>
            <a:r>
              <a:rPr lang="en-US" sz="1100" b="0" dirty="0"/>
              <a:t>tells us which token we are encoding.</a:t>
            </a:r>
            <a:br>
              <a:rPr lang="en-US" sz="1100" b="0" dirty="0"/>
            </a:br>
            <a:r>
              <a:rPr lang="en-US" sz="1100" b="1" dirty="0"/>
              <a:t>sin and cos = </a:t>
            </a:r>
            <a:r>
              <a:rPr lang="en-US" sz="1100" b="0" dirty="0"/>
              <a:t>create the distinctive positional pattern.</a:t>
            </a:r>
          </a:p>
          <a:p>
            <a:endParaRPr lang="en-US" sz="1100" b="0" dirty="0"/>
          </a:p>
          <a:p>
            <a:r>
              <a:rPr lang="en-US" sz="1100" dirty="0"/>
              <a:t>Don't focus too much on the individual calculations. The main purpose is: </a:t>
            </a:r>
            <a:r>
              <a:rPr lang="en-US" sz="1100" b="1" dirty="0"/>
              <a:t>Each position gets a unique numerical pattern.</a:t>
            </a:r>
            <a:endParaRPr lang="en-US" sz="1100" dirty="0"/>
          </a:p>
          <a:p>
            <a:r>
              <a:rPr lang="en-US" sz="1100" dirty="0"/>
              <a:t>For example:</a:t>
            </a:r>
          </a:p>
          <a:p>
            <a:r>
              <a:rPr lang="en-US" sz="1100" b="1" dirty="0"/>
              <a:t>“I” → position 0 → [0, 1, 0, 1]</a:t>
            </a:r>
            <a:endParaRPr lang="en-US" sz="1100" dirty="0"/>
          </a:p>
          <a:p>
            <a:r>
              <a:rPr lang="en-US" sz="1100" b="1" dirty="0"/>
              <a:t>“am” → position 1 → [0.84, 0.54, 0.10, 1.00]</a:t>
            </a:r>
            <a:endParaRPr lang="en-US" sz="1100" dirty="0"/>
          </a:p>
          <a:p>
            <a:r>
              <a:rPr lang="en-US" sz="1100" b="1" dirty="0"/>
              <a:t>“a” → position 2 → [0.91, −0.42, 0.20, 0.98]</a:t>
            </a:r>
            <a:endParaRPr lang="en-US" sz="1100" dirty="0"/>
          </a:p>
          <a:p>
            <a:r>
              <a:rPr lang="en-US" sz="1100" b="1" dirty="0"/>
              <a:t>“Robot” → position 3 → [0.14, −0.99, 0.30, 0.96]</a:t>
            </a:r>
            <a:endParaRPr lang="en-US" sz="1100" dirty="0"/>
          </a:p>
          <a:p>
            <a:r>
              <a:rPr lang="en-US" sz="1100" dirty="0"/>
              <a:t>The Transformer can then use these patterns to understand </a:t>
            </a:r>
            <a:r>
              <a:rPr lang="en-US" sz="1100" b="1" dirty="0"/>
              <a:t>where each token occurs in the sequence</a:t>
            </a:r>
            <a:r>
              <a:rPr lang="en-US" sz="1100" dirty="0"/>
              <a:t>.</a:t>
            </a:r>
          </a:p>
          <a:p>
            <a:endParaRPr lang="en-US" sz="1100" b="0" dirty="0"/>
          </a:p>
        </p:txBody>
      </p:sp>
      <p:sp>
        <p:nvSpPr>
          <p:cNvPr id="4" name="Slide Number Placeholder 3"/>
          <p:cNvSpPr>
            <a:spLocks noGrp="1"/>
          </p:cNvSpPr>
          <p:nvPr>
            <p:ph type="sldNum" sz="quarter" idx="5"/>
          </p:nvPr>
        </p:nvSpPr>
        <p:spPr/>
        <p:txBody>
          <a:bodyPr/>
          <a:lstStyle/>
          <a:p>
            <a:fld id="{9978199A-2CA8-47D4-96B8-19D924289139}" type="slidenum">
              <a:rPr lang="en-US" smtClean="0"/>
              <a:t>31</a:t>
            </a:fld>
            <a:endParaRPr lang="en-US"/>
          </a:p>
        </p:txBody>
      </p:sp>
    </p:spTree>
    <p:extLst>
      <p:ext uri="{BB962C8B-B14F-4D97-AF65-F5344CB8AC3E}">
        <p14:creationId xmlns:p14="http://schemas.microsoft.com/office/powerpoint/2010/main" val="3807551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78199A-2CA8-47D4-96B8-19D924289139}" type="slidenum">
              <a:rPr lang="en-US" smtClean="0"/>
              <a:t>52</a:t>
            </a:fld>
            <a:endParaRPr lang="en-US"/>
          </a:p>
        </p:txBody>
      </p:sp>
    </p:spTree>
    <p:extLst>
      <p:ext uri="{BB962C8B-B14F-4D97-AF65-F5344CB8AC3E}">
        <p14:creationId xmlns:p14="http://schemas.microsoft.com/office/powerpoint/2010/main" val="36771248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7586346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186DFA25-4E9E-4E65-98AE-02CC2D3DE89A}" type="datetime1">
              <a:rPr lang="en-US" smtClean="0"/>
              <a:t>10/1/2026</a:t>
            </a:fld>
            <a:endParaRPr lang="en-US"/>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731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19980442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C90DF61A-EC2E-4BBE-A9EA-69B04FF9E24D}" type="datetime1">
              <a:rPr lang="en-US" smtClean="0"/>
              <a:t>10/1/2026</a:t>
            </a:fld>
            <a:endParaRPr lang="en-US"/>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6103273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8615320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1866679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31969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8463FB2A-015B-48E2-B7FB-60970F4607EA}" type="datetime1">
              <a:rPr lang="en-US" smtClean="0"/>
              <a:t>10/1/2026</a:t>
            </a:fld>
            <a:endParaRPr lang="en-US"/>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5782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83C6B41C-9A0C-4CA2-BE20-914797E70822}" type="datetime1">
              <a:rPr lang="en-US" smtClean="0"/>
              <a:t>10/1/2026</a:t>
            </a:fld>
            <a:endParaRPr lang="en-US"/>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07569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3962188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US"/>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8F6D9204-B537-4318-A1B1-7B64436C4C3C}" type="datetime1">
              <a:rPr lang="en-US" smtClean="0"/>
              <a:t>10/1/2026</a:t>
            </a:fld>
            <a:endParaRPr lang="en-US"/>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37305662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US"/>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5E0650EF-441C-49F7-8D91-4DE7110C0653}" type="datetime1">
              <a:rPr lang="en-US" smtClean="0"/>
              <a:t>10/1/2026</a:t>
            </a:fld>
            <a:endParaRPr lang="en-US"/>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1574735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2685704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4248181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US"/>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1292721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A24438B0-5F5F-4BAA-B0CD-F732385282C4}" type="datetime1">
              <a:rPr lang="en-US" smtClean="0"/>
              <a:t>10/1/2026</a:t>
            </a:fld>
            <a:endParaRPr lang="en-US"/>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4452832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US"/>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30435931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2C6DC544-254B-40EE-8BC7-08830E167F7C}" type="datetime1">
              <a:rPr lang="en-US" smtClean="0"/>
              <a:t>10/1/2026</a:t>
            </a:fld>
            <a:endParaRPr lang="en-US"/>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2169246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22047527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7382E885-C4A9-4E67-B775-84DB741E8B3C}" type="datetime1">
              <a:rPr lang="en-US" smtClean="0"/>
              <a:t>10/1/2026</a:t>
            </a:fld>
            <a:endParaRPr lang="en-US"/>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80341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US"/>
          </a:p>
        </p:txBody>
      </p:sp>
    </p:spTree>
    <p:extLst>
      <p:ext uri="{BB962C8B-B14F-4D97-AF65-F5344CB8AC3E}">
        <p14:creationId xmlns:p14="http://schemas.microsoft.com/office/powerpoint/2010/main" val="5772080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US"/>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09BEDBBC-4914-4EE8-8787-554DE2FAD1CF}" type="datetime1">
              <a:rPr lang="en-US" smtClean="0"/>
              <a:t>10/1/2026</a:t>
            </a:fld>
            <a:endParaRPr lang="en-US"/>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252313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US"/>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BDF78647-8C2F-4A69-A87D-DCAF2713AFEF}" type="datetime1">
              <a:rPr lang="en-US" smtClean="0"/>
              <a:t>10/1/2026</a:t>
            </a:fld>
            <a:endParaRPr lang="en-US"/>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857631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B249D222-6C3F-49F7-A5C6-7FAA3A01489A}" type="datetime1">
              <a:rPr lang="en-US" smtClean="0"/>
              <a:t>10/1/2026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23930737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B0FC3C71-62F5-409D-8361-A94F6474342E}" type="datetime1">
              <a:rPr lang="en-US" smtClean="0"/>
              <a:t>10/1/2026</a:t>
            </a:fld>
            <a:endParaRPr lang="en-US"/>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39306562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C9C62599-B755-4327-8677-5304D948665F}" type="datetime1">
              <a:rPr lang="en-US" smtClean="0"/>
              <a:t>10/1/2026</a:t>
            </a:fld>
            <a:endParaRPr lang="en-US"/>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extLst>
      <p:ext uri="{BB962C8B-B14F-4D97-AF65-F5344CB8AC3E}">
        <p14:creationId xmlns:p14="http://schemas.microsoft.com/office/powerpoint/2010/main" val="1427283310"/>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9318C9C8-4881-4DC9-B4AF-5F3D7125D264}" type="datetime1">
              <a:rPr lang="en-US" smtClean="0"/>
              <a:t>10/1/2026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9723556"/>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280CF71-4654-4BB3-8A2D-899B6407A3F1}" type="datetime1">
              <a:rPr lang="en-US" smtClean="0"/>
              <a:t>10/1/2026</a:t>
            </a:fld>
            <a:endParaRPr lang="en-US"/>
          </a:p>
        </p:txBody>
      </p:sp>
      <p:sp>
        <p:nvSpPr>
          <p:cNvPr id="6" name="Holder 6"/>
          <p:cNvSpPr>
            <a:spLocks noGrp="1"/>
          </p:cNvSpPr>
          <p:nvPr>
            <p:ph type="sldNum" sz="quarter" idx="7"/>
          </p:nvPr>
        </p:nvSpPr>
        <p:spPr/>
        <p:txBody>
          <a:bodyPr lIns="0" tIns="0" rIns="0" bIns="0"/>
          <a:lstStyle>
            <a:lvl1pPr>
              <a:defRPr sz="3600" b="0" i="0">
                <a:solidFill>
                  <a:srgbClr val="8E8E93"/>
                </a:solidFill>
                <a:latin typeface="Cambria"/>
                <a:cs typeface="Cambria"/>
              </a:defRPr>
            </a:lvl1pPr>
          </a:lstStyle>
          <a:p>
            <a:pPr marL="164465">
              <a:lnSpc>
                <a:spcPct val="100000"/>
              </a:lnSpc>
              <a:spcBef>
                <a:spcPts val="50"/>
              </a:spcBef>
            </a:pPr>
            <a:fld id="{81D60167-4931-47E6-BA6A-407CBD079E47}" type="slidenum">
              <a:rPr spc="-50" dirty="0">
                <a:solidFill>
                  <a:srgbClr val="A6A6A6"/>
                </a:solidFill>
              </a:rPr>
              <a:t>‹#›</a:t>
            </a:fld>
            <a:endParaRPr spc="-50" dirty="0">
              <a:solidFill>
                <a:srgbClr val="A6A6A6"/>
              </a:solidFill>
            </a:endParaRPr>
          </a:p>
        </p:txBody>
      </p:sp>
    </p:spTree>
    <p:extLst>
      <p:ext uri="{BB962C8B-B14F-4D97-AF65-F5344CB8AC3E}">
        <p14:creationId xmlns:p14="http://schemas.microsoft.com/office/powerpoint/2010/main" val="3213855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AB6272EB-1640-40A0-A8A5-F65C73E6B87C}" type="datetime1">
              <a:rPr lang="en-US" smtClean="0"/>
              <a:t>10/1/2026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368522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Lst>
  <p:hf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7.svg"/><Relationship Id="rId3" Type="http://schemas.openxmlformats.org/officeDocument/2006/relationships/image" Target="../media/image8.svg"/><Relationship Id="rId7" Type="http://schemas.openxmlformats.org/officeDocument/2006/relationships/image" Target="../media/image12.jpeg"/><Relationship Id="rId12" Type="http://schemas.openxmlformats.org/officeDocument/2006/relationships/image" Target="../media/image16.svg"/><Relationship Id="rId17" Type="http://schemas.openxmlformats.org/officeDocument/2006/relationships/image" Target="../media/image20.png"/><Relationship Id="rId2" Type="http://schemas.openxmlformats.org/officeDocument/2006/relationships/notesSlide" Target="../notesSlides/notesSlide1.xml"/><Relationship Id="rId16" Type="http://schemas.microsoft.com/office/2007/relationships/hdphoto" Target="../media/hdphoto1.wdp"/><Relationship Id="rId1" Type="http://schemas.openxmlformats.org/officeDocument/2006/relationships/slideLayout" Target="../slideLayouts/slideLayout28.xml"/><Relationship Id="rId6" Type="http://schemas.openxmlformats.org/officeDocument/2006/relationships/image" Target="../media/image11.png"/><Relationship Id="rId11" Type="http://schemas.openxmlformats.org/officeDocument/2006/relationships/image" Target="../media/image15.emf"/><Relationship Id="rId5" Type="http://schemas.openxmlformats.org/officeDocument/2006/relationships/image" Target="../media/image10.svg"/><Relationship Id="rId15" Type="http://schemas.openxmlformats.org/officeDocument/2006/relationships/image" Target="../media/image19.png"/><Relationship Id="rId10" Type="http://schemas.openxmlformats.org/officeDocument/2006/relationships/package" Target="../embeddings/Microsoft_Excel_Worksheet.xlsx"/><Relationship Id="rId4" Type="http://schemas.openxmlformats.org/officeDocument/2006/relationships/image" Target="../media/image9.svg"/><Relationship Id="rId9" Type="http://schemas.openxmlformats.org/officeDocument/2006/relationships/image" Target="../media/image14.sv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svg"/><Relationship Id="rId18" Type="http://schemas.openxmlformats.org/officeDocument/2006/relationships/hyperlink" Target="https://www.lyzr.ai/glossaries/attention-mechanism/" TargetMode="External"/><Relationship Id="rId3" Type="http://schemas.openxmlformats.org/officeDocument/2006/relationships/image" Target="../media/image8.png"/><Relationship Id="rId7" Type="http://schemas.openxmlformats.org/officeDocument/2006/relationships/image" Target="../media/image24.png"/><Relationship Id="rId12" Type="http://schemas.openxmlformats.org/officeDocument/2006/relationships/image" Target="../media/image29.svg"/><Relationship Id="rId17" Type="http://schemas.microsoft.com/office/2007/relationships/hdphoto" Target="../media/hdphoto2.wdp"/><Relationship Id="rId2" Type="http://schemas.openxmlformats.org/officeDocument/2006/relationships/customXml" Target="../ink/ink1.xml"/><Relationship Id="rId16" Type="http://schemas.openxmlformats.org/officeDocument/2006/relationships/image" Target="../media/image33.png"/><Relationship Id="rId1" Type="http://schemas.openxmlformats.org/officeDocument/2006/relationships/slideLayout" Target="../slideLayouts/slideLayout28.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sv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31.svg"/></Relationships>
</file>

<file path=ppt/slides/_rels/slide5.xml.rels><?xml version="1.0" encoding="UTF-8" standalone="yes"?>
<Relationships xmlns="http://schemas.openxmlformats.org/package/2006/relationships"><Relationship Id="rId3" Type="http://schemas.openxmlformats.org/officeDocument/2006/relationships/image" Target="../media/image35.jfif"/><Relationship Id="rId2" Type="http://schemas.openxmlformats.org/officeDocument/2006/relationships/image" Target="../media/image34.png"/><Relationship Id="rId1" Type="http://schemas.openxmlformats.org/officeDocument/2006/relationships/slideLayout" Target="../slideLayouts/slideLayout28.xml"/><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arxiv.org/pdf/1706.03762" TargetMode="Externa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www.lyzr.ai/glossaries/attention-mechanism/" TargetMode="Externa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g"/><Relationship Id="rId1" Type="http://schemas.openxmlformats.org/officeDocument/2006/relationships/slideLayout" Target="../slideLayouts/slideLayout28.xml"/><Relationship Id="rId6" Type="http://schemas.openxmlformats.org/officeDocument/2006/relationships/image" Target="../media/image44.svg"/><Relationship Id="rId5" Type="http://schemas.openxmlformats.org/officeDocument/2006/relationships/image" Target="../media/image43.jpeg"/><Relationship Id="rId4" Type="http://schemas.openxmlformats.org/officeDocument/2006/relationships/image" Target="../media/image42.svg"/></Relationships>
</file>

<file path=ppt/slides/_rels/slide1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diagramLayout" Target="../diagrams/layout1.xml"/><Relationship Id="rId7" Type="http://schemas.openxmlformats.org/officeDocument/2006/relationships/image" Target="../media/image45.svg"/><Relationship Id="rId2" Type="http://schemas.openxmlformats.org/officeDocument/2006/relationships/diagramData" Target="../diagrams/data1.xml"/><Relationship Id="rId1" Type="http://schemas.openxmlformats.org/officeDocument/2006/relationships/slideLayout" Target="../slideLayouts/slideLayout2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49.jpe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hyperlink" Target="https://huggingface.co/blog/Esmail-AGumaan/attention-is-all-you-need#self-attention-mechanism" TargetMode="External"/><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52.png"/><Relationship Id="rId4" Type="http://schemas.openxmlformats.org/officeDocument/2006/relationships/hyperlink" Target="https://www.researchgate.net/publication/377366166_End-to-End_Convolutional_Network_and_Spectral-Spatial_Transformer_Architecture_for_Hyperspectral_Image_Classification"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pdf/1706.03762" TargetMode="External"/><Relationship Id="rId2" Type="http://schemas.openxmlformats.org/officeDocument/2006/relationships/image" Target="../media/image49.png"/><Relationship Id="rId1" Type="http://schemas.openxmlformats.org/officeDocument/2006/relationships/slideLayout" Target="../slideLayouts/slideLayout28.xml"/><Relationship Id="rId4" Type="http://schemas.openxmlformats.org/officeDocument/2006/relationships/hyperlink" Target="https://huggingface.co/blog/Esmail-AGumaan/attention-is-all-you-need#self-attention-mechanis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huggingface.co/blog/Esmail-AGumaan/attention-is-all-you-need#self-attention-mechanism" TargetMode="External"/><Relationship Id="rId2" Type="http://schemas.openxmlformats.org/officeDocument/2006/relationships/image" Target="../media/image53.pn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8.xml"/><Relationship Id="rId4" Type="http://schemas.openxmlformats.org/officeDocument/2006/relationships/image" Target="../media/image57.jpg"/></Relationships>
</file>

<file path=ppt/slides/_rels/slide23.xml.rels><?xml version="1.0" encoding="UTF-8" standalone="yes"?>
<Relationships xmlns="http://schemas.openxmlformats.org/package/2006/relationships"><Relationship Id="rId3" Type="http://schemas.openxmlformats.org/officeDocument/2006/relationships/hyperlink" Target="https://learnopencv.com/attention-mechanism-in-transformer-neural-networks/" TargetMode="External"/><Relationship Id="rId2" Type="http://schemas.openxmlformats.org/officeDocument/2006/relationships/image" Target="../media/image58.png"/><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www.geeksforgeeks.org/nlp/cross-attention-mechanism-in-transformers/" TargetMode="External"/><Relationship Id="rId1" Type="http://schemas.openxmlformats.org/officeDocument/2006/relationships/slideLayout" Target="../slideLayouts/slideLayout28.xml"/><Relationship Id="rId4" Type="http://schemas.openxmlformats.org/officeDocument/2006/relationships/hyperlink" Target="https://www.researchgate.net/publication/381501781_An_Enhanced_Feature_Extraction_Framework_for_Cross-Modal_Image-Text_Retrieval"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hyperlink" Target="https://machinelearningmastery.com/a-gentle-introduction-to-positional-encoding-in-transformer-models-part-1/" TargetMode="External"/><Relationship Id="rId2" Type="http://schemas.openxmlformats.org/officeDocument/2006/relationships/notesSlide" Target="../notesSlides/notesSlide7.xml"/><Relationship Id="rId1" Type="http://schemas.openxmlformats.org/officeDocument/2006/relationships/slideLayout" Target="../slideLayouts/slideLayout28.xml"/><Relationship Id="rId5" Type="http://schemas.openxmlformats.org/officeDocument/2006/relationships/image" Target="../media/image64.png"/><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abs/1912.05911" TargetMode="External"/><Relationship Id="rId2" Type="http://schemas.openxmlformats.org/officeDocument/2006/relationships/hyperlink" Target="https://arxiv.org/pdf/1706.03762" TargetMode="External"/><Relationship Id="rId1" Type="http://schemas.openxmlformats.org/officeDocument/2006/relationships/slideLayout" Target="../slideLayouts/slideLayout28.xml"/><Relationship Id="rId5" Type="http://schemas.openxmlformats.org/officeDocument/2006/relationships/image" Target="../media/image66.png"/><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3" Type="http://schemas.openxmlformats.org/officeDocument/2006/relationships/hyperlink" Target="https://arxiv.org/pdf/1706.03762" TargetMode="External"/><Relationship Id="rId2" Type="http://schemas.openxmlformats.org/officeDocument/2006/relationships/image" Target="../media/image67.png"/><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hyperlink" Target="https://www.geeksforgeeks.org/deep-learning/architecture-and-working-of-transformers-in-deep-learning/" TargetMode="External"/><Relationship Id="rId2" Type="http://schemas.openxmlformats.org/officeDocument/2006/relationships/image" Target="../media/image68.png"/><Relationship Id="rId1" Type="http://schemas.openxmlformats.org/officeDocument/2006/relationships/slideLayout" Target="../slideLayouts/slideLayout28.xml"/><Relationship Id="rId4" Type="http://schemas.openxmlformats.org/officeDocument/2006/relationships/hyperlink" Target="https://youtu.be/X_lyR0ZPQv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image" Target="../media/image70.gif"/><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2" Type="http://schemas.openxmlformats.org/officeDocument/2006/relationships/image" Target="../media/image72.jfif"/><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28.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30.svg"/></Relationships>
</file>

<file path=ppt/slides/_rels/slide4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30.svg"/><Relationship Id="rId1" Type="http://schemas.openxmlformats.org/officeDocument/2006/relationships/slideLayout" Target="../slideLayouts/slideLayout28.xml"/><Relationship Id="rId5" Type="http://schemas.openxmlformats.org/officeDocument/2006/relationships/image" Target="../media/image79.png"/><Relationship Id="rId4" Type="http://schemas.openxmlformats.org/officeDocument/2006/relationships/image" Target="../media/image77.png"/></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30.svg"/><Relationship Id="rId1" Type="http://schemas.openxmlformats.org/officeDocument/2006/relationships/slideLayout" Target="../slideLayouts/slideLayout28.xml"/><Relationship Id="rId5" Type="http://schemas.openxmlformats.org/officeDocument/2006/relationships/image" Target="../media/image81.jfif"/><Relationship Id="rId4" Type="http://schemas.openxmlformats.org/officeDocument/2006/relationships/image" Target="../media/image80.jpeg"/></Relationships>
</file>

<file path=ppt/slides/_rels/slide4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fif"/><Relationship Id="rId1" Type="http://schemas.openxmlformats.org/officeDocument/2006/relationships/slideLayout" Target="../slideLayouts/slideLayout28.xml"/><Relationship Id="rId5" Type="http://schemas.openxmlformats.org/officeDocument/2006/relationships/image" Target="../media/image87.jpeg"/><Relationship Id="rId4" Type="http://schemas.openxmlformats.org/officeDocument/2006/relationships/image" Target="../media/image86.png"/></Relationships>
</file>

<file path=ppt/slides/_rels/slide4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8.xml"/></Relationships>
</file>

<file path=ppt/slides/_rels/slide51.xml.rels><?xml version="1.0" encoding="UTF-8" standalone="yes"?>
<Relationships xmlns="http://schemas.openxmlformats.org/package/2006/relationships"><Relationship Id="rId2" Type="http://schemas.openxmlformats.org/officeDocument/2006/relationships/image" Target="../media/image90.jfif"/><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rgbClr val="353537"/>
            </a:solidFill>
          </p:spPr>
          <p:txBody>
            <a:bodyPr wrap="square" lIns="0" tIns="0" rIns="0" bIns="0" rtlCol="0"/>
            <a:lstStyle/>
            <a:p>
              <a:pPr rtl="0"/>
              <a:endParaRPr dirty="0">
                <a:latin typeface="Calibri" panose="020F0502020204030204" pitchFamily="34" charset="0"/>
                <a:cs typeface="Calibri" panose="020F0502020204030204" pitchFamily="34" charset="0"/>
              </a:endParaRPr>
            </a:p>
          </p:txBody>
        </p:sp>
        <p:sp>
          <p:nvSpPr>
            <p:cNvPr id="4" name="object 4"/>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pPr rtl="0"/>
              <a:endParaRPr>
                <a:latin typeface="Calibri" panose="020F0502020204030204" pitchFamily="34" charset="0"/>
                <a:cs typeface="Calibri" panose="020F0502020204030204" pitchFamily="34" charset="0"/>
              </a:endParaRPr>
            </a:p>
          </p:txBody>
        </p:sp>
      </p:grpSp>
      <p:sp>
        <p:nvSpPr>
          <p:cNvPr id="9" name="object 9"/>
          <p:cNvSpPr/>
          <p:nvPr/>
        </p:nvSpPr>
        <p:spPr>
          <a:xfrm>
            <a:off x="1918017" y="3123565"/>
            <a:ext cx="8508365" cy="635"/>
          </a:xfrm>
          <a:custGeom>
            <a:avLst/>
            <a:gdLst/>
            <a:ahLst/>
            <a:cxnLst/>
            <a:rect l="l" t="t" r="r" b="b"/>
            <a:pathLst>
              <a:path w="8508365" h="635">
                <a:moveTo>
                  <a:pt x="0" y="0"/>
                </a:moveTo>
                <a:lnTo>
                  <a:pt x="8507984" y="507"/>
                </a:lnTo>
              </a:path>
            </a:pathLst>
          </a:custGeom>
          <a:ln w="13970">
            <a:solidFill>
              <a:srgbClr val="6E6E74"/>
            </a:solidFill>
          </a:ln>
        </p:spPr>
        <p:txBody>
          <a:bodyPr wrap="square" lIns="0" tIns="0" rIns="0" bIns="0" rtlCol="0"/>
          <a:lstStyle/>
          <a:p>
            <a:pPr rtl="0"/>
            <a:endParaRPr>
              <a:latin typeface="Calibri" panose="020F0502020204030204" pitchFamily="34" charset="0"/>
              <a:cs typeface="Calibri" panose="020F0502020204030204" pitchFamily="34" charset="0"/>
            </a:endParaRPr>
          </a:p>
        </p:txBody>
      </p:sp>
      <p:sp>
        <p:nvSpPr>
          <p:cNvPr id="23" name="object 11">
            <a:extLst>
              <a:ext uri="{FF2B5EF4-FFF2-40B4-BE49-F238E27FC236}">
                <a16:creationId xmlns:a16="http://schemas.microsoft.com/office/drawing/2014/main" id="{1AE34D30-BCBA-5D93-72C3-C971B33386E6}"/>
              </a:ext>
            </a:extLst>
          </p:cNvPr>
          <p:cNvSpPr txBox="1"/>
          <p:nvPr/>
        </p:nvSpPr>
        <p:spPr>
          <a:xfrm>
            <a:off x="457199" y="2743199"/>
            <a:ext cx="11734800" cy="259045"/>
          </a:xfrm>
          <a:prstGeom prst="rect">
            <a:avLst/>
          </a:prstGeom>
        </p:spPr>
        <p:txBody>
          <a:bodyPr vert="horz" wrap="square" lIns="0" tIns="12700" rIns="0" bIns="0" rtlCol="0">
            <a:spAutoFit/>
          </a:bodyPr>
          <a:lstStyle/>
          <a:p>
            <a:pPr marL="12700" algn="ctr">
              <a:spcBef>
                <a:spcPts val="100"/>
              </a:spcBef>
            </a:pPr>
            <a:r>
              <a:rPr lang="en-US" sz="1600" spc="85" dirty="0">
                <a:solidFill>
                  <a:srgbClr val="FFFFFF"/>
                </a:solidFill>
                <a:latin typeface="Calibri" panose="020F0502020204030204" pitchFamily="34" charset="0"/>
                <a:cs typeface="Calibri" panose="020F0502020204030204" pitchFamily="34" charset="0"/>
              </a:rPr>
              <a:t>Self-Attention → Cross-Attention → Transformers → Vision • Language • Audio</a:t>
            </a:r>
            <a:endParaRPr sz="1600" spc="85" dirty="0">
              <a:solidFill>
                <a:srgbClr val="FFFFFF"/>
              </a:solidFill>
              <a:latin typeface="Calibri" panose="020F0502020204030204" pitchFamily="34" charset="0"/>
              <a:cs typeface="Calibri" panose="020F0502020204030204" pitchFamily="34" charset="0"/>
            </a:endParaRPr>
          </a:p>
        </p:txBody>
      </p:sp>
      <p:grpSp>
        <p:nvGrpSpPr>
          <p:cNvPr id="29" name="Group 28">
            <a:extLst>
              <a:ext uri="{FF2B5EF4-FFF2-40B4-BE49-F238E27FC236}">
                <a16:creationId xmlns:a16="http://schemas.microsoft.com/office/drawing/2014/main" id="{1CBC74CB-0235-DD28-533A-30FCEAA8920A}"/>
              </a:ext>
            </a:extLst>
          </p:cNvPr>
          <p:cNvGrpSpPr/>
          <p:nvPr/>
        </p:nvGrpSpPr>
        <p:grpSpPr>
          <a:xfrm>
            <a:off x="4114799" y="4552481"/>
            <a:ext cx="4419600" cy="1318321"/>
            <a:chOff x="4114800" y="4495800"/>
            <a:chExt cx="4419600" cy="1318321"/>
          </a:xfrm>
        </p:grpSpPr>
        <p:sp>
          <p:nvSpPr>
            <p:cNvPr id="24" name="Subtitle 2">
              <a:extLst>
                <a:ext uri="{FF2B5EF4-FFF2-40B4-BE49-F238E27FC236}">
                  <a16:creationId xmlns:a16="http://schemas.microsoft.com/office/drawing/2014/main" id="{FD6F658E-86B8-B892-B0CB-8DC92644E649}"/>
                </a:ext>
              </a:extLst>
            </p:cNvPr>
            <p:cNvSpPr txBox="1">
              <a:spLocks/>
            </p:cNvSpPr>
            <p:nvPr/>
          </p:nvSpPr>
          <p:spPr>
            <a:xfrm>
              <a:off x="4114800" y="4495800"/>
              <a:ext cx="4419600" cy="4572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rtl="0">
                <a:defRPr/>
              </a:pPr>
              <a:r>
                <a:rPr lang="en-US" sz="2000" dirty="0">
                  <a:solidFill>
                    <a:schemeClr val="bg1"/>
                  </a:solidFill>
                  <a:latin typeface="Calibri" panose="020F0502020204030204" pitchFamily="34" charset="0"/>
                  <a:cs typeface="Calibri" panose="020F0502020204030204" pitchFamily="34" charset="0"/>
                </a:rPr>
                <a:t>Dr. Khan Muhammad (</a:t>
              </a:r>
              <a:r>
                <a:rPr lang="ko-KR" altLang="en-US" sz="2000" dirty="0">
                  <a:solidFill>
                    <a:schemeClr val="bg1"/>
                  </a:solidFill>
                  <a:latin typeface="Calibri" panose="020F0502020204030204" pitchFamily="34" charset="0"/>
                  <a:cs typeface="Calibri" panose="020F0502020204030204" pitchFamily="34" charset="0"/>
                </a:rPr>
                <a:t>칸 무하마드</a:t>
              </a:r>
              <a:r>
                <a:rPr lang="en-US" altLang="ko-KR" sz="2000" dirty="0">
                  <a:solidFill>
                    <a:schemeClr val="bg1"/>
                  </a:solidFill>
                  <a:latin typeface="Calibri" panose="020F0502020204030204" pitchFamily="34" charset="0"/>
                  <a:cs typeface="Calibri" panose="020F0502020204030204" pitchFamily="34" charset="0"/>
                </a:rPr>
                <a:t>)</a:t>
              </a:r>
              <a:endParaRPr lang="en-US" sz="2000" dirty="0">
                <a:solidFill>
                  <a:schemeClr val="bg1"/>
                </a:solidFill>
                <a:latin typeface="Calibri" panose="020F0502020204030204" pitchFamily="34" charset="0"/>
                <a:cs typeface="Calibri" panose="020F0502020204030204" pitchFamily="34" charset="0"/>
              </a:endParaRPr>
            </a:p>
          </p:txBody>
        </p:sp>
        <p:sp>
          <p:nvSpPr>
            <p:cNvPr id="25" name="Subtitle 2">
              <a:extLst>
                <a:ext uri="{FF2B5EF4-FFF2-40B4-BE49-F238E27FC236}">
                  <a16:creationId xmlns:a16="http://schemas.microsoft.com/office/drawing/2014/main" id="{9E95A862-3FB2-0614-EDCA-C8E79F4D19E5}"/>
                </a:ext>
              </a:extLst>
            </p:cNvPr>
            <p:cNvSpPr txBox="1"/>
            <p:nvPr/>
          </p:nvSpPr>
          <p:spPr>
            <a:xfrm>
              <a:off x="4243104" y="5230570"/>
              <a:ext cx="3952873" cy="457199"/>
            </a:xfrm>
            <a:prstGeom prst="rect">
              <a:avLst/>
            </a:prstGeom>
          </p:spPr>
          <p:txBody>
            <a:bodyPr>
              <a:normAutofit fontScale="77500" lnSpcReduction="20000"/>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buClr>
                  <a:srgbClr val="D34817"/>
                </a:buClr>
                <a:defRPr/>
              </a:pPr>
              <a:r>
                <a:rPr lang="en-US" sz="2000" dirty="0">
                  <a:solidFill>
                    <a:schemeClr val="bg1"/>
                  </a:solidFill>
                  <a:latin typeface="Calibri" panose="020F0502020204030204" pitchFamily="34" charset="0"/>
                  <a:cs typeface="Calibri" panose="020F0502020204030204" pitchFamily="34" charset="0"/>
                </a:rPr>
                <a:t>Department of Applied Artificial Intelligence</a:t>
              </a:r>
            </a:p>
          </p:txBody>
        </p:sp>
        <p:sp>
          <p:nvSpPr>
            <p:cNvPr id="26" name="Rectangle 25">
              <a:extLst>
                <a:ext uri="{FF2B5EF4-FFF2-40B4-BE49-F238E27FC236}">
                  <a16:creationId xmlns:a16="http://schemas.microsoft.com/office/drawing/2014/main" id="{732C2A65-E3CF-0798-7132-DC980E46CC68}"/>
                </a:ext>
              </a:extLst>
            </p:cNvPr>
            <p:cNvSpPr/>
            <p:nvPr/>
          </p:nvSpPr>
          <p:spPr>
            <a:xfrm>
              <a:off x="4761512" y="5444789"/>
              <a:ext cx="3126177" cy="369332"/>
            </a:xfrm>
            <a:prstGeom prst="rect">
              <a:avLst/>
            </a:prstGeom>
          </p:spPr>
          <p:txBody>
            <a:bodyPr wrap="square">
              <a:spAutoFit/>
            </a:bodyPr>
            <a:lstStyle/>
            <a:p>
              <a:pPr rtl="0" latinLnBrk="0">
                <a:defRPr/>
              </a:pPr>
              <a:r>
                <a:rPr lang="en-US" dirty="0">
                  <a:solidFill>
                    <a:schemeClr val="bg1"/>
                  </a:solidFill>
                  <a:latin typeface="Calibri" panose="020F0502020204030204" pitchFamily="34" charset="0"/>
                  <a:cs typeface="Calibri" panose="020F0502020204030204" pitchFamily="34" charset="0"/>
                </a:rPr>
                <a:t>Sungkyunkwan University </a:t>
              </a:r>
            </a:p>
          </p:txBody>
        </p:sp>
        <p:sp>
          <p:nvSpPr>
            <p:cNvPr id="27" name="Subtitle 2">
              <a:extLst>
                <a:ext uri="{FF2B5EF4-FFF2-40B4-BE49-F238E27FC236}">
                  <a16:creationId xmlns:a16="http://schemas.microsoft.com/office/drawing/2014/main" id="{5A3D0DDB-858E-8F04-1BA9-53432B6D321C}"/>
                </a:ext>
              </a:extLst>
            </p:cNvPr>
            <p:cNvSpPr txBox="1">
              <a:spLocks/>
            </p:cNvSpPr>
            <p:nvPr/>
          </p:nvSpPr>
          <p:spPr>
            <a:xfrm>
              <a:off x="4951850" y="4842970"/>
              <a:ext cx="2286000" cy="503878"/>
            </a:xfrm>
            <a:prstGeom prst="rect">
              <a:avLst/>
            </a:prstGeom>
          </p:spPr>
          <p:txBody>
            <a:bodyPr>
              <a:normAutofit/>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buClr>
                  <a:srgbClr val="D34817"/>
                </a:buClr>
                <a:defRPr/>
              </a:pPr>
              <a:r>
                <a:rPr lang="en-US" sz="2000" dirty="0">
                  <a:solidFill>
                    <a:schemeClr val="bg1"/>
                  </a:solidFill>
                  <a:latin typeface="Calibri" panose="020F0502020204030204" pitchFamily="34" charset="0"/>
                  <a:cs typeface="Calibri" panose="020F0502020204030204" pitchFamily="34" charset="0"/>
                </a:rPr>
                <a:t>Associate Professor</a:t>
              </a:r>
            </a:p>
          </p:txBody>
        </p:sp>
      </p:grpSp>
      <p:sp>
        <p:nvSpPr>
          <p:cNvPr id="28" name="object 5" descr="$PPTXTitle">
            <a:extLst>
              <a:ext uri="{FF2B5EF4-FFF2-40B4-BE49-F238E27FC236}">
                <a16:creationId xmlns:a16="http://schemas.microsoft.com/office/drawing/2014/main" id="{633C903A-6C20-3507-88D5-9F1B29F274A7}"/>
              </a:ext>
            </a:extLst>
          </p:cNvPr>
          <p:cNvSpPr txBox="1">
            <a:spLocks noGrp="1"/>
          </p:cNvSpPr>
          <p:nvPr>
            <p:ph type="title"/>
          </p:nvPr>
        </p:nvSpPr>
        <p:spPr>
          <a:xfrm>
            <a:off x="457200" y="995159"/>
            <a:ext cx="11734800" cy="1367041"/>
          </a:xfrm>
          <a:prstGeom prst="rect">
            <a:avLst/>
          </a:prstGeom>
        </p:spPr>
        <p:txBody>
          <a:bodyPr vert="horz" wrap="square" lIns="0" tIns="12700" rIns="0" bIns="0" rtlCol="0">
            <a:spAutoFit/>
          </a:bodyPr>
          <a:lstStyle/>
          <a:p>
            <a:pPr marL="12700" algn="ctr">
              <a:lnSpc>
                <a:spcPct val="100000"/>
              </a:lnSpc>
              <a:spcBef>
                <a:spcPts val="100"/>
              </a:spcBef>
            </a:pPr>
            <a:r>
              <a:rPr lang="en-US" sz="4400" b="0" spc="160" dirty="0">
                <a:solidFill>
                  <a:srgbClr val="FFFFFF"/>
                </a:solidFill>
                <a:latin typeface="Calibri" panose="020F0502020204030204" pitchFamily="34" charset="0"/>
                <a:cs typeface="Calibri" panose="020F0502020204030204" pitchFamily="34" charset="0"/>
              </a:rPr>
              <a:t>Attention &amp; Transformers as the Multimodal Backbone</a:t>
            </a:r>
            <a:endParaRPr lang="en-US" sz="4400" dirty="0">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97CA25-9218-F6DB-04F2-060CD7AA0312}"/>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endParaRPr lang="en-US" sz="3200" b="1" dirty="0">
              <a:latin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B050215D-903B-4DCE-93B3-16EB6FFCFBD3}"/>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24C7F1E9-0136-FF09-9EB0-ACBC864BC383}"/>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D8FC6714-FBED-8AED-F2F1-24ED04DC1A44}"/>
              </a:ext>
            </a:extLst>
          </p:cNvPr>
          <p:cNvSpPr txBox="1"/>
          <p:nvPr/>
        </p:nvSpPr>
        <p:spPr>
          <a:xfrm>
            <a:off x="762001" y="1105287"/>
            <a:ext cx="4569725" cy="4770537"/>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wrap="square">
            <a:spAutoFit/>
          </a:bodyPr>
          <a:lstStyle/>
          <a:p>
            <a:pPr marL="457200" lvl="0" indent="-457200" algn="just">
              <a:buFont typeface="+mj-lt"/>
              <a:buAutoNum type="arabicPeriod"/>
            </a:pPr>
            <a:r>
              <a:rPr lang="en-US" sz="1600" b="1" dirty="0">
                <a:latin typeface="Calibri" panose="020F0502020204030204" pitchFamily="34" charset="0"/>
                <a:cs typeface="Calibri" panose="020F0502020204030204" pitchFamily="34" charset="0"/>
              </a:rPr>
              <a:t>From Representations to Attention</a:t>
            </a:r>
          </a:p>
          <a:p>
            <a:pPr marL="457200" lvl="0" indent="-457200" algn="just">
              <a:buFont typeface="+mj-lt"/>
              <a:buAutoNum type="arabicPeriod"/>
            </a:pPr>
            <a:r>
              <a:rPr lang="en-US" sz="1600" b="1" dirty="0">
                <a:latin typeface="Calibri" panose="020F0502020204030204" pitchFamily="34" charset="0"/>
                <a:cs typeface="Calibri" panose="020F0502020204030204" pitchFamily="34" charset="0"/>
              </a:rPr>
              <a:t>Why Do We Need Attention ?</a:t>
            </a:r>
            <a:endParaRPr lang="en-US" sz="1600" dirty="0">
              <a:latin typeface="Calibri" panose="020F0502020204030204" pitchFamily="34" charset="0"/>
              <a:cs typeface="Calibri" panose="020F0502020204030204" pitchFamily="34" charset="0"/>
            </a:endParaRP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The importance of the relevant information</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Context and relationships </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Attention as a mechanism for weighting information</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Saliency Detection vs Attention</a:t>
            </a:r>
          </a:p>
          <a:p>
            <a:pPr marL="457200" lvl="0" indent="-457200" algn="just">
              <a:buFont typeface="+mj-lt"/>
              <a:buAutoNum type="arabicPeriod"/>
            </a:pPr>
            <a:r>
              <a:rPr lang="en-US" sz="1600" b="1" dirty="0">
                <a:latin typeface="Calibri" panose="020F0502020204030204" pitchFamily="34" charset="0"/>
                <a:cs typeface="Calibri" panose="020F0502020204030204" pitchFamily="34" charset="0"/>
              </a:rPr>
              <a:t>Self-Attention</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Basic Intuition</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Query, Key &amp; Value</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Attention scores &amp; weights</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How information interacts with the same input</a:t>
            </a:r>
          </a:p>
          <a:p>
            <a:pPr marL="457200" lvl="0" indent="-457200" algn="just">
              <a:buFont typeface="+mj-lt"/>
              <a:buAutoNum type="arabicPeriod"/>
            </a:pPr>
            <a:r>
              <a:rPr lang="en-US" sz="1600" b="1" dirty="0">
                <a:latin typeface="Calibri" panose="020F0502020204030204" pitchFamily="34" charset="0"/>
                <a:cs typeface="Calibri" panose="020F0502020204030204" pitchFamily="34" charset="0"/>
              </a:rPr>
              <a:t>Cross-Attention</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Self vs. Cross-Attention</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How information interacts across different inputs</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Connecting different modalities</a:t>
            </a:r>
          </a:p>
        </p:txBody>
      </p:sp>
      <p:sp>
        <p:nvSpPr>
          <p:cNvPr id="66" name="TextBox 65">
            <a:extLst>
              <a:ext uri="{FF2B5EF4-FFF2-40B4-BE49-F238E27FC236}">
                <a16:creationId xmlns:a16="http://schemas.microsoft.com/office/drawing/2014/main" id="{73FDF01D-25B1-576C-C42B-2078ED9513D0}"/>
              </a:ext>
            </a:extLst>
          </p:cNvPr>
          <p:cNvSpPr txBox="1"/>
          <p:nvPr/>
        </p:nvSpPr>
        <p:spPr>
          <a:xfrm>
            <a:off x="2286000" y="-31745"/>
            <a:ext cx="6134668" cy="769441"/>
          </a:xfrm>
          <a:prstGeom prst="rect">
            <a:avLst/>
          </a:prstGeom>
          <a:noFill/>
        </p:spPr>
        <p:txBody>
          <a:bodyPr wrap="square">
            <a:spAutoFit/>
          </a:bodyPr>
          <a:lstStyle/>
          <a:p>
            <a:pPr algn="ctr"/>
            <a:r>
              <a:rPr lang="en-US" sz="4400" b="1" dirty="0">
                <a:solidFill>
                  <a:schemeClr val="bg1"/>
                </a:solidFill>
                <a:latin typeface="Calibri" panose="020F0502020204030204" pitchFamily="34" charset="0"/>
                <a:cs typeface="Calibri" panose="020F0502020204030204" pitchFamily="34" charset="0"/>
              </a:rPr>
              <a:t>Main contents</a:t>
            </a:r>
            <a:endParaRPr lang="en-PK" sz="4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737336E-69F9-7566-252C-4584413D7BBF}"/>
              </a:ext>
            </a:extLst>
          </p:cNvPr>
          <p:cNvSpPr txBox="1"/>
          <p:nvPr/>
        </p:nvSpPr>
        <p:spPr>
          <a:xfrm>
            <a:off x="6092925" y="1105287"/>
            <a:ext cx="5337074" cy="501675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wrap="square">
            <a:spAutoFit/>
          </a:bodyPr>
          <a:lstStyle/>
          <a:p>
            <a:pPr marL="457200" lvl="0" indent="-457200" algn="just">
              <a:buFont typeface="+mj-lt"/>
              <a:buAutoNum type="arabicPeriod" startAt="5"/>
            </a:pPr>
            <a:r>
              <a:rPr lang="en-US" sz="1600" b="1" dirty="0">
                <a:latin typeface="Calibri" panose="020F0502020204030204" pitchFamily="34" charset="0"/>
                <a:cs typeface="Calibri" panose="020F0502020204030204" pitchFamily="34" charset="0"/>
              </a:rPr>
              <a:t>From Attention to Transformers</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Positional Encoding</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Why Transformers use attention as a core mechanism</a:t>
            </a:r>
            <a:endParaRPr lang="en-US" sz="1600" b="1" dirty="0">
              <a:latin typeface="Calibri" panose="020F0502020204030204" pitchFamily="34" charset="0"/>
              <a:cs typeface="Calibri" panose="020F0502020204030204" pitchFamily="34" charset="0"/>
            </a:endParaRP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Multi-Head Attention</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Transformer Architecture</a:t>
            </a:r>
          </a:p>
          <a:p>
            <a:pPr marL="457200" lvl="0" indent="-457200" algn="just">
              <a:buFont typeface="+mj-lt"/>
              <a:buAutoNum type="arabicPeriod" startAt="5"/>
            </a:pPr>
            <a:r>
              <a:rPr lang="en-US" sz="1600" b="1" dirty="0">
                <a:latin typeface="Calibri" panose="020F0502020204030204" pitchFamily="34" charset="0"/>
                <a:cs typeface="Calibri" panose="020F0502020204030204" pitchFamily="34" charset="0"/>
              </a:rPr>
              <a:t>Transformers Across Modalities</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Text </a:t>
            </a:r>
            <a:r>
              <a:rPr lang="en-US" sz="1600" dirty="0">
                <a:latin typeface="Calibri" panose="020F0502020204030204" pitchFamily="34" charset="0"/>
                <a:cs typeface="Calibri" panose="020F0502020204030204" pitchFamily="34" charset="0"/>
                <a:sym typeface="Wingdings" panose="05000000000000000000" pitchFamily="2" charset="2"/>
              </a:rPr>
              <a:t> Tokens</a:t>
            </a:r>
            <a:endParaRPr lang="en-US" sz="1600" dirty="0">
              <a:latin typeface="Calibri" panose="020F0502020204030204" pitchFamily="34" charset="0"/>
              <a:cs typeface="Calibri" panose="020F0502020204030204" pitchFamily="34" charset="0"/>
            </a:endParaRP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Images </a:t>
            </a:r>
            <a:r>
              <a:rPr lang="en-US" sz="1600" dirty="0">
                <a:latin typeface="Calibri" panose="020F0502020204030204" pitchFamily="34" charset="0"/>
                <a:cs typeface="Calibri" panose="020F0502020204030204" pitchFamily="34" charset="0"/>
                <a:sym typeface="Wingdings" panose="05000000000000000000" pitchFamily="2" charset="2"/>
              </a:rPr>
              <a:t> Patches</a:t>
            </a:r>
            <a:endParaRPr lang="en-US" sz="1600" dirty="0">
              <a:latin typeface="Calibri" panose="020F0502020204030204" pitchFamily="34" charset="0"/>
              <a:cs typeface="Calibri" panose="020F0502020204030204" pitchFamily="34" charset="0"/>
            </a:endParaRP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Audio </a:t>
            </a:r>
            <a:r>
              <a:rPr lang="en-US" sz="1600" dirty="0">
                <a:latin typeface="Calibri" panose="020F0502020204030204" pitchFamily="34" charset="0"/>
                <a:cs typeface="Calibri" panose="020F0502020204030204" pitchFamily="34" charset="0"/>
                <a:sym typeface="Wingdings" panose="05000000000000000000" pitchFamily="2" charset="2"/>
              </a:rPr>
              <a:t> Segments/Representations</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sym typeface="Wingdings" panose="05000000000000000000" pitchFamily="2" charset="2"/>
              </a:rPr>
              <a:t>A common attention-based architecture across different inputs</a:t>
            </a:r>
            <a:endParaRPr lang="en-US" sz="1600" b="1" dirty="0">
              <a:latin typeface="Calibri" panose="020F0502020204030204" pitchFamily="34" charset="0"/>
              <a:cs typeface="Calibri" panose="020F0502020204030204" pitchFamily="34" charset="0"/>
            </a:endParaRPr>
          </a:p>
          <a:p>
            <a:pPr marL="457200" lvl="0" indent="-457200" algn="just">
              <a:buFont typeface="+mj-lt"/>
              <a:buAutoNum type="arabicPeriod" startAt="5"/>
            </a:pPr>
            <a:r>
              <a:rPr lang="en-US" sz="1600" b="1" dirty="0">
                <a:latin typeface="Calibri" panose="020F0502020204030204" pitchFamily="34" charset="0"/>
                <a:cs typeface="Calibri" panose="020F0502020204030204" pitchFamily="34" charset="0"/>
              </a:rPr>
              <a:t>Transformers for Multimodal AI</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Vision + Language</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Audio + Language</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Video + Language</a:t>
            </a:r>
          </a:p>
          <a:p>
            <a:pPr marL="914400" lvl="1" indent="-4572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Cross-modal interaction and understanding</a:t>
            </a:r>
          </a:p>
          <a:p>
            <a:pPr marL="457200" indent="-457200" algn="just">
              <a:buFont typeface="+mj-lt"/>
              <a:buAutoNum type="arabicPeriod" startAt="5"/>
            </a:pPr>
            <a:r>
              <a:rPr lang="en-US" sz="1600" b="1" dirty="0">
                <a:latin typeface="Calibri" panose="020F0502020204030204" pitchFamily="34" charset="0"/>
                <a:cs typeface="Calibri" panose="020F0502020204030204" pitchFamily="34" charset="0"/>
              </a:rPr>
              <a:t>Case study</a:t>
            </a:r>
            <a:r>
              <a:rPr lang="en-US" sz="1600" dirty="0">
                <a:latin typeface="Calibri" panose="020F0502020204030204" pitchFamily="34" charset="0"/>
                <a:cs typeface="Calibri" panose="020F0502020204030204" pitchFamily="34" charset="0"/>
              </a:rPr>
              <a:t>: how a single architecture family underlies vision, text, and audio</a:t>
            </a:r>
          </a:p>
          <a:p>
            <a:pPr marL="457200" indent="-457200" algn="just">
              <a:buFont typeface="+mj-lt"/>
              <a:buAutoNum type="arabicPeriod" startAt="5"/>
            </a:pPr>
            <a:r>
              <a:rPr lang="en-US" sz="1600" b="1" dirty="0">
                <a:latin typeface="Calibri" panose="020F0502020204030204" pitchFamily="34" charset="0"/>
                <a:cs typeface="Calibri" panose="020F0502020204030204" pitchFamily="34" charset="0"/>
              </a:rPr>
              <a:t>Summary &amp; Key Takeaways</a:t>
            </a:r>
          </a:p>
        </p:txBody>
      </p:sp>
    </p:spTree>
    <p:extLst>
      <p:ext uri="{BB962C8B-B14F-4D97-AF65-F5344CB8AC3E}">
        <p14:creationId xmlns:p14="http://schemas.microsoft.com/office/powerpoint/2010/main" val="294900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11E78-2144-9B92-4F89-F657174A5A6D}"/>
            </a:ext>
          </a:extLst>
        </p:cNvPr>
        <p:cNvGrpSpPr/>
        <p:nvPr/>
      </p:nvGrpSpPr>
      <p:grpSpPr>
        <a:xfrm>
          <a:off x="0" y="0"/>
          <a:ext cx="0" cy="0"/>
          <a:chOff x="0" y="0"/>
          <a:chExt cx="0" cy="0"/>
        </a:xfrm>
      </p:grpSpPr>
      <p:grpSp>
        <p:nvGrpSpPr>
          <p:cNvPr id="131" name="Group 130">
            <a:extLst>
              <a:ext uri="{FF2B5EF4-FFF2-40B4-BE49-F238E27FC236}">
                <a16:creationId xmlns:a16="http://schemas.microsoft.com/office/drawing/2014/main" id="{001B8F30-70CC-D73E-1ADB-84969462B4E1}"/>
              </a:ext>
            </a:extLst>
          </p:cNvPr>
          <p:cNvGrpSpPr/>
          <p:nvPr/>
        </p:nvGrpSpPr>
        <p:grpSpPr>
          <a:xfrm>
            <a:off x="8089377" y="1062038"/>
            <a:ext cx="4099548" cy="773091"/>
            <a:chOff x="7417353" y="1046591"/>
            <a:chExt cx="4701207" cy="718610"/>
          </a:xfrm>
        </p:grpSpPr>
        <p:sp>
          <p:nvSpPr>
            <p:cNvPr id="121" name="Rectangle: Rounded Corners 120">
              <a:extLst>
                <a:ext uri="{FF2B5EF4-FFF2-40B4-BE49-F238E27FC236}">
                  <a16:creationId xmlns:a16="http://schemas.microsoft.com/office/drawing/2014/main" id="{9A1A7A33-DD4B-23F7-26E5-6FA308020282}"/>
                </a:ext>
              </a:extLst>
            </p:cNvPr>
            <p:cNvSpPr/>
            <p:nvPr/>
          </p:nvSpPr>
          <p:spPr>
            <a:xfrm>
              <a:off x="7417353" y="1046591"/>
              <a:ext cx="4401817" cy="71861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grpSp>
          <p:nvGrpSpPr>
            <p:cNvPr id="122" name="Group 121">
              <a:extLst>
                <a:ext uri="{FF2B5EF4-FFF2-40B4-BE49-F238E27FC236}">
                  <a16:creationId xmlns:a16="http://schemas.microsoft.com/office/drawing/2014/main" id="{B40BB954-0C84-8E8E-5F78-2A4A66FE7450}"/>
                </a:ext>
              </a:extLst>
            </p:cNvPr>
            <p:cNvGrpSpPr/>
            <p:nvPr/>
          </p:nvGrpSpPr>
          <p:grpSpPr>
            <a:xfrm>
              <a:off x="7781081" y="1052822"/>
              <a:ext cx="4337479" cy="653656"/>
              <a:chOff x="7322781" y="894732"/>
              <a:chExt cx="3409829" cy="634308"/>
            </a:xfrm>
          </p:grpSpPr>
          <p:pic>
            <p:nvPicPr>
              <p:cNvPr id="123" name="Graphic 122" descr="Database with solid fill">
                <a:extLst>
                  <a:ext uri="{FF2B5EF4-FFF2-40B4-BE49-F238E27FC236}">
                    <a16:creationId xmlns:a16="http://schemas.microsoft.com/office/drawing/2014/main" id="{97925BEE-737A-6894-E221-B07D836984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86213" y="962196"/>
                <a:ext cx="375323" cy="375323"/>
              </a:xfrm>
              <a:prstGeom prst="rect">
                <a:avLst/>
              </a:prstGeom>
            </p:spPr>
          </p:pic>
          <p:pic>
            <p:nvPicPr>
              <p:cNvPr id="124" name="Graphic 123" descr="Brain with solid fill">
                <a:extLst>
                  <a:ext uri="{FF2B5EF4-FFF2-40B4-BE49-F238E27FC236}">
                    <a16:creationId xmlns:a16="http://schemas.microsoft.com/office/drawing/2014/main" id="{6023FF6C-A733-878A-7399-6B2871F2D0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04977" y="902359"/>
                <a:ext cx="420193" cy="420193"/>
              </a:xfrm>
              <a:prstGeom prst="rect">
                <a:avLst/>
              </a:prstGeom>
            </p:spPr>
          </p:pic>
          <p:pic>
            <p:nvPicPr>
              <p:cNvPr id="125" name="Graphic 124" descr="Bullseye with solid fill">
                <a:extLst>
                  <a:ext uri="{FF2B5EF4-FFF2-40B4-BE49-F238E27FC236}">
                    <a16:creationId xmlns:a16="http://schemas.microsoft.com/office/drawing/2014/main" id="{F52FE1E3-5ACD-2399-CEB0-A6329ACE38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8158" y="894732"/>
                <a:ext cx="486174" cy="486174"/>
              </a:xfrm>
              <a:prstGeom prst="rect">
                <a:avLst/>
              </a:prstGeom>
            </p:spPr>
          </p:pic>
          <p:sp>
            <p:nvSpPr>
              <p:cNvPr id="126" name="TextBox 125">
                <a:extLst>
                  <a:ext uri="{FF2B5EF4-FFF2-40B4-BE49-F238E27FC236}">
                    <a16:creationId xmlns:a16="http://schemas.microsoft.com/office/drawing/2014/main" id="{CC6FA17C-BD89-09E4-A374-28BEAC39A489}"/>
                  </a:ext>
                </a:extLst>
              </p:cNvPr>
              <p:cNvSpPr txBox="1"/>
              <p:nvPr/>
            </p:nvSpPr>
            <p:spPr>
              <a:xfrm>
                <a:off x="7322781" y="1348588"/>
                <a:ext cx="547828" cy="180452"/>
              </a:xfrm>
              <a:prstGeom prst="rect">
                <a:avLst/>
              </a:prstGeom>
              <a:noFill/>
            </p:spPr>
            <p:txBody>
              <a:bodyPr wrap="square">
                <a:spAutoFit/>
              </a:bodyPr>
              <a:lstStyle/>
              <a:p>
                <a:r>
                  <a:rPr lang="en-US" sz="700" dirty="0">
                    <a:latin typeface="Calibri" panose="020F0502020204030204" pitchFamily="34" charset="0"/>
                    <a:cs typeface="Calibri" panose="020F0502020204030204" pitchFamily="34" charset="0"/>
                  </a:rPr>
                  <a:t>Raw Data</a:t>
                </a:r>
              </a:p>
            </p:txBody>
          </p:sp>
          <p:sp>
            <p:nvSpPr>
              <p:cNvPr id="127" name="TextBox 126">
                <a:extLst>
                  <a:ext uri="{FF2B5EF4-FFF2-40B4-BE49-F238E27FC236}">
                    <a16:creationId xmlns:a16="http://schemas.microsoft.com/office/drawing/2014/main" id="{0C6199E7-29B1-539B-276F-278C2E60B440}"/>
                  </a:ext>
                </a:extLst>
              </p:cNvPr>
              <p:cNvSpPr txBox="1"/>
              <p:nvPr/>
            </p:nvSpPr>
            <p:spPr>
              <a:xfrm>
                <a:off x="8228151" y="1346842"/>
                <a:ext cx="1052973" cy="180453"/>
              </a:xfrm>
              <a:prstGeom prst="rect">
                <a:avLst/>
              </a:prstGeom>
              <a:noFill/>
            </p:spPr>
            <p:txBody>
              <a:bodyPr wrap="square">
                <a:spAutoFit/>
              </a:bodyPr>
              <a:lstStyle/>
              <a:p>
                <a:r>
                  <a:rPr lang="en-US" sz="700" dirty="0">
                    <a:latin typeface="Calibri" panose="020F0502020204030204" pitchFamily="34" charset="0"/>
                    <a:cs typeface="Calibri" panose="020F0502020204030204" pitchFamily="34" charset="0"/>
                  </a:rPr>
                  <a:t>Deep Learning Model</a:t>
                </a:r>
                <a:endParaRPr lang="en-US" sz="1600" dirty="0">
                  <a:latin typeface="Calibri" panose="020F0502020204030204" pitchFamily="34" charset="0"/>
                  <a:cs typeface="Calibri" panose="020F0502020204030204" pitchFamily="34" charset="0"/>
                </a:endParaRPr>
              </a:p>
            </p:txBody>
          </p:sp>
          <p:sp>
            <p:nvSpPr>
              <p:cNvPr id="128" name="TextBox 127">
                <a:extLst>
                  <a:ext uri="{FF2B5EF4-FFF2-40B4-BE49-F238E27FC236}">
                    <a16:creationId xmlns:a16="http://schemas.microsoft.com/office/drawing/2014/main" id="{CF39E80F-C9A6-28AB-D98D-6D4A71011BE4}"/>
                  </a:ext>
                </a:extLst>
              </p:cNvPr>
              <p:cNvSpPr txBox="1"/>
              <p:nvPr/>
            </p:nvSpPr>
            <p:spPr>
              <a:xfrm>
                <a:off x="9456053" y="1341438"/>
                <a:ext cx="1276557" cy="180453"/>
              </a:xfrm>
              <a:prstGeom prst="rect">
                <a:avLst/>
              </a:prstGeom>
              <a:noFill/>
            </p:spPr>
            <p:txBody>
              <a:bodyPr wrap="square">
                <a:spAutoFit/>
              </a:bodyPr>
              <a:lstStyle/>
              <a:p>
                <a:r>
                  <a:rPr lang="en-US" sz="700" dirty="0">
                    <a:latin typeface="Calibri" panose="020F0502020204030204" pitchFamily="34" charset="0"/>
                    <a:cs typeface="Calibri" panose="020F0502020204030204" pitchFamily="34" charset="0"/>
                  </a:rPr>
                  <a:t>Actionable Information</a:t>
                </a:r>
              </a:p>
            </p:txBody>
          </p:sp>
          <p:cxnSp>
            <p:nvCxnSpPr>
              <p:cNvPr id="129" name="Straight Arrow Connector 128">
                <a:extLst>
                  <a:ext uri="{FF2B5EF4-FFF2-40B4-BE49-F238E27FC236}">
                    <a16:creationId xmlns:a16="http://schemas.microsoft.com/office/drawing/2014/main" id="{7AD380C0-1A3A-EF69-7E4D-CCD46F26FEDC}"/>
                  </a:ext>
                </a:extLst>
              </p:cNvPr>
              <p:cNvCxnSpPr>
                <a:cxnSpLocks/>
              </p:cNvCxnSpPr>
              <p:nvPr/>
            </p:nvCxnSpPr>
            <p:spPr>
              <a:xfrm>
                <a:off x="7818277" y="1133104"/>
                <a:ext cx="401197"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0" name="Straight Arrow Connector 129">
                <a:extLst>
                  <a:ext uri="{FF2B5EF4-FFF2-40B4-BE49-F238E27FC236}">
                    <a16:creationId xmlns:a16="http://schemas.microsoft.com/office/drawing/2014/main" id="{D2F6892B-393B-B89F-517A-EC7172228AA7}"/>
                  </a:ext>
                </a:extLst>
              </p:cNvPr>
              <p:cNvCxnSpPr>
                <a:cxnSpLocks/>
              </p:cNvCxnSpPr>
              <p:nvPr/>
            </p:nvCxnSpPr>
            <p:spPr>
              <a:xfrm>
                <a:off x="9080526" y="1133104"/>
                <a:ext cx="401197"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grpSp>
      <p:sp>
        <p:nvSpPr>
          <p:cNvPr id="5" name="Rectangle 4">
            <a:extLst>
              <a:ext uri="{FF2B5EF4-FFF2-40B4-BE49-F238E27FC236}">
                <a16:creationId xmlns:a16="http://schemas.microsoft.com/office/drawing/2014/main" id="{2D0255A4-080F-1252-B21C-B623A11D720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buNone/>
            </a:pPr>
            <a:r>
              <a:rPr lang="en-US" sz="3200" b="1" dirty="0">
                <a:latin typeface="Calibri" panose="020F0502020204030204" pitchFamily="34" charset="0"/>
                <a:cs typeface="Calibri" panose="020F0502020204030204" pitchFamily="34" charset="0"/>
              </a:rPr>
              <a:t>1. What Did We Learn in Previous Lecture (s)?</a:t>
            </a:r>
          </a:p>
        </p:txBody>
      </p:sp>
      <p:sp>
        <p:nvSpPr>
          <p:cNvPr id="9" name="Rectangle 4">
            <a:extLst>
              <a:ext uri="{FF2B5EF4-FFF2-40B4-BE49-F238E27FC236}">
                <a16:creationId xmlns:a16="http://schemas.microsoft.com/office/drawing/2014/main" id="{DE39F41C-C0D8-DACF-A796-8D4939804E14}"/>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A474916F-D1CD-4F5B-5C7B-18903710432B}"/>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F22D87C-5C25-93BF-C187-AC5314AF0246}"/>
              </a:ext>
            </a:extLst>
          </p:cNvPr>
          <p:cNvSpPr txBox="1"/>
          <p:nvPr/>
        </p:nvSpPr>
        <p:spPr>
          <a:xfrm>
            <a:off x="103992" y="958583"/>
            <a:ext cx="7905958" cy="738664"/>
          </a:xfrm>
          <a:prstGeom prst="rect">
            <a:avLst/>
          </a:prstGeom>
          <a:noFill/>
        </p:spPr>
        <p:txBody>
          <a:bodyPr wrap="square" rtlCol="0">
            <a:spAutoFit/>
          </a:bodyPr>
          <a:lstStyle/>
          <a:p>
            <a:pPr marL="285750" indent="-285750" algn="just">
              <a:buFont typeface="Wingdings" panose="05000000000000000000" pitchFamily="2" charset="2"/>
              <a:buChar char="ü"/>
            </a:pPr>
            <a:r>
              <a:rPr lang="en-US" sz="1400" dirty="0">
                <a:latin typeface="Calibri" panose="020F0502020204030204" pitchFamily="34" charset="0"/>
                <a:cs typeface="Calibri" panose="020F0502020204030204" pitchFamily="34" charset="0"/>
              </a:rPr>
              <a:t>Deep Learning turns raw data into useful information. </a:t>
            </a:r>
          </a:p>
          <a:p>
            <a:pPr marL="285750" indent="-285750" algn="just">
              <a:buFont typeface="Wingdings" panose="05000000000000000000" pitchFamily="2" charset="2"/>
              <a:buChar char="ü"/>
            </a:pPr>
            <a:r>
              <a:rPr lang="en-US" sz="1400" dirty="0">
                <a:latin typeface="Calibri" panose="020F0502020204030204" pitchFamily="34" charset="0"/>
                <a:cs typeface="Calibri" panose="020F0502020204030204" pitchFamily="34" charset="0"/>
              </a:rPr>
              <a:t>Neural networks, embeddings, and latent spaces convert raw data into meaningful vectors </a:t>
            </a:r>
          </a:p>
          <a:p>
            <a:pPr marL="285750" indent="-285750" algn="just">
              <a:buFont typeface="Wingdings" panose="05000000000000000000" pitchFamily="2" charset="2"/>
              <a:buChar char="ü"/>
            </a:pPr>
            <a:r>
              <a:rPr lang="en-US" sz="1400" dirty="0">
                <a:latin typeface="Calibri" panose="020F0502020204030204" pitchFamily="34" charset="0"/>
                <a:cs typeface="Calibri" panose="020F0502020204030204" pitchFamily="34" charset="0"/>
              </a:rPr>
              <a:t>CNNs and Transformers provide architectural ways to process these representations</a:t>
            </a:r>
          </a:p>
        </p:txBody>
      </p:sp>
      <p:sp>
        <p:nvSpPr>
          <p:cNvPr id="24" name="TextBox 23">
            <a:extLst>
              <a:ext uri="{FF2B5EF4-FFF2-40B4-BE49-F238E27FC236}">
                <a16:creationId xmlns:a16="http://schemas.microsoft.com/office/drawing/2014/main" id="{551ED13C-132E-644D-3C5D-62DD8CE8BFE7}"/>
              </a:ext>
            </a:extLst>
          </p:cNvPr>
          <p:cNvSpPr txBox="1"/>
          <p:nvPr/>
        </p:nvSpPr>
        <p:spPr>
          <a:xfrm>
            <a:off x="-3074" y="1839538"/>
            <a:ext cx="6441102" cy="338554"/>
          </a:xfrm>
          <a:prstGeom prst="rect">
            <a:avLst/>
          </a:prstGeom>
          <a:solidFill>
            <a:schemeClr val="tx2">
              <a:lumMod val="90000"/>
              <a:lumOff val="1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sz="1600" dirty="0">
                <a:latin typeface="Calibri" panose="020F0502020204030204" pitchFamily="34" charset="0"/>
                <a:cs typeface="Calibri" panose="020F0502020204030204" pitchFamily="34" charset="0"/>
              </a:rPr>
              <a:t>1. Raw Data </a:t>
            </a:r>
            <a:r>
              <a:rPr lang="en-US" sz="1600" dirty="0">
                <a:latin typeface="Calibri" panose="020F0502020204030204" pitchFamily="34" charset="0"/>
                <a:cs typeface="Calibri" panose="020F0502020204030204" pitchFamily="34" charset="0"/>
                <a:sym typeface="Wingdings" panose="05000000000000000000" pitchFamily="2" charset="2"/>
              </a:rPr>
              <a:t> Meaningful Representation</a:t>
            </a:r>
            <a:endParaRPr lang="en-US" sz="1600" dirty="0">
              <a:latin typeface="Calibri" panose="020F0502020204030204" pitchFamily="34" charset="0"/>
              <a:cs typeface="Calibri" panose="020F0502020204030204" pitchFamily="34" charset="0"/>
            </a:endParaRPr>
          </a:p>
        </p:txBody>
      </p:sp>
      <p:grpSp>
        <p:nvGrpSpPr>
          <p:cNvPr id="144" name="Group 143">
            <a:extLst>
              <a:ext uri="{FF2B5EF4-FFF2-40B4-BE49-F238E27FC236}">
                <a16:creationId xmlns:a16="http://schemas.microsoft.com/office/drawing/2014/main" id="{69F95F23-3754-8DF7-7E72-717BB146A241}"/>
              </a:ext>
            </a:extLst>
          </p:cNvPr>
          <p:cNvGrpSpPr/>
          <p:nvPr/>
        </p:nvGrpSpPr>
        <p:grpSpPr>
          <a:xfrm>
            <a:off x="755119" y="2514600"/>
            <a:ext cx="6331481" cy="3437130"/>
            <a:chOff x="168977" y="2362691"/>
            <a:chExt cx="7276932" cy="3989708"/>
          </a:xfrm>
        </p:grpSpPr>
        <p:grpSp>
          <p:nvGrpSpPr>
            <p:cNvPr id="103" name="Group 102">
              <a:extLst>
                <a:ext uri="{FF2B5EF4-FFF2-40B4-BE49-F238E27FC236}">
                  <a16:creationId xmlns:a16="http://schemas.microsoft.com/office/drawing/2014/main" id="{0177BF25-B293-B1AB-617A-C94F369D641C}"/>
                </a:ext>
              </a:extLst>
            </p:cNvPr>
            <p:cNvGrpSpPr/>
            <p:nvPr/>
          </p:nvGrpSpPr>
          <p:grpSpPr>
            <a:xfrm>
              <a:off x="168977" y="2362691"/>
              <a:ext cx="7190685" cy="3989708"/>
              <a:chOff x="202870" y="2362691"/>
              <a:chExt cx="7190685" cy="3989708"/>
            </a:xfrm>
          </p:grpSpPr>
          <p:grpSp>
            <p:nvGrpSpPr>
              <p:cNvPr id="101" name="Group 100">
                <a:extLst>
                  <a:ext uri="{FF2B5EF4-FFF2-40B4-BE49-F238E27FC236}">
                    <a16:creationId xmlns:a16="http://schemas.microsoft.com/office/drawing/2014/main" id="{1EB37A9C-1C7E-B011-E7B7-8ECB28E69CD7}"/>
                  </a:ext>
                </a:extLst>
              </p:cNvPr>
              <p:cNvGrpSpPr/>
              <p:nvPr/>
            </p:nvGrpSpPr>
            <p:grpSpPr>
              <a:xfrm>
                <a:off x="331672" y="2362691"/>
                <a:ext cx="6839130" cy="607549"/>
                <a:chOff x="242892" y="2325679"/>
                <a:chExt cx="6839130" cy="607549"/>
              </a:xfrm>
            </p:grpSpPr>
            <p:sp>
              <p:nvSpPr>
                <p:cNvPr id="26" name="TextBox 25">
                  <a:extLst>
                    <a:ext uri="{FF2B5EF4-FFF2-40B4-BE49-F238E27FC236}">
                      <a16:creationId xmlns:a16="http://schemas.microsoft.com/office/drawing/2014/main" id="{3AAC632A-D57D-8C72-10D9-D3E9F88D08D2}"/>
                    </a:ext>
                  </a:extLst>
                </p:cNvPr>
                <p:cNvSpPr txBox="1"/>
                <p:nvPr/>
              </p:nvSpPr>
              <p:spPr>
                <a:xfrm>
                  <a:off x="242892" y="2414155"/>
                  <a:ext cx="1145513" cy="392983"/>
                </a:xfrm>
                <a:prstGeom prst="rect">
                  <a:avLst/>
                </a:prstGeom>
                <a:noFill/>
              </p:spPr>
              <p:txBody>
                <a:bodyPr wrap="none" rtlCol="0">
                  <a:spAutoFit/>
                </a:bodyPr>
                <a:lstStyle/>
                <a:p>
                  <a:pPr algn="ctr"/>
                  <a:r>
                    <a:rPr lang="en-US" sz="1600" b="1" dirty="0">
                      <a:solidFill>
                        <a:srgbClr val="0070C0"/>
                      </a:solidFill>
                      <a:latin typeface="Calibri" panose="020F0502020204030204" pitchFamily="34" charset="0"/>
                      <a:cs typeface="Calibri" panose="020F0502020204030204" pitchFamily="34" charset="0"/>
                    </a:rPr>
                    <a:t>Raw Data</a:t>
                  </a:r>
                </a:p>
              </p:txBody>
            </p:sp>
            <p:sp>
              <p:nvSpPr>
                <p:cNvPr id="28" name="TextBox 27">
                  <a:extLst>
                    <a:ext uri="{FF2B5EF4-FFF2-40B4-BE49-F238E27FC236}">
                      <a16:creationId xmlns:a16="http://schemas.microsoft.com/office/drawing/2014/main" id="{B02394FB-D467-D2BE-335A-5DC4D9B6A35C}"/>
                    </a:ext>
                  </a:extLst>
                </p:cNvPr>
                <p:cNvSpPr txBox="1"/>
                <p:nvPr/>
              </p:nvSpPr>
              <p:spPr>
                <a:xfrm>
                  <a:off x="2392706" y="2401295"/>
                  <a:ext cx="1248465" cy="392983"/>
                </a:xfrm>
                <a:prstGeom prst="rect">
                  <a:avLst/>
                </a:prstGeom>
                <a:noFill/>
              </p:spPr>
              <p:txBody>
                <a:bodyPr wrap="none" rtlCol="0">
                  <a:spAutoFit/>
                </a:bodyPr>
                <a:lstStyle/>
                <a:p>
                  <a:pPr algn="ctr"/>
                  <a:r>
                    <a:rPr lang="en-US" sz="1600" b="1" dirty="0">
                      <a:solidFill>
                        <a:srgbClr val="0070C0"/>
                      </a:solidFill>
                      <a:latin typeface="Calibri" panose="020F0502020204030204" pitchFamily="34" charset="0"/>
                      <a:cs typeface="Calibri" panose="020F0502020204030204" pitchFamily="34" charset="0"/>
                    </a:rPr>
                    <a:t>Processing</a:t>
                  </a:r>
                </a:p>
              </p:txBody>
            </p:sp>
            <p:sp>
              <p:nvSpPr>
                <p:cNvPr id="30" name="TextBox 29">
                  <a:extLst>
                    <a:ext uri="{FF2B5EF4-FFF2-40B4-BE49-F238E27FC236}">
                      <a16:creationId xmlns:a16="http://schemas.microsoft.com/office/drawing/2014/main" id="{E32EF96B-CA15-05FD-9FB2-4161D9C3E136}"/>
                    </a:ext>
                  </a:extLst>
                </p:cNvPr>
                <p:cNvSpPr txBox="1"/>
                <p:nvPr/>
              </p:nvSpPr>
              <p:spPr>
                <a:xfrm>
                  <a:off x="4041712" y="2325891"/>
                  <a:ext cx="1578175" cy="607337"/>
                </a:xfrm>
                <a:prstGeom prst="rect">
                  <a:avLst/>
                </a:prstGeom>
                <a:noFill/>
              </p:spPr>
              <p:txBody>
                <a:bodyPr wrap="square" rtlCol="0">
                  <a:spAutoFit/>
                </a:bodyPr>
                <a:lstStyle/>
                <a:p>
                  <a:pPr algn="ctr"/>
                  <a:r>
                    <a:rPr lang="en-US" sz="1400" b="1" dirty="0">
                      <a:solidFill>
                        <a:srgbClr val="0070C0"/>
                      </a:solidFill>
                      <a:latin typeface="Calibri" panose="020F0502020204030204" pitchFamily="34" charset="0"/>
                      <a:cs typeface="Calibri" panose="020F0502020204030204" pitchFamily="34" charset="0"/>
                    </a:rPr>
                    <a:t>Meaningful </a:t>
                  </a:r>
                </a:p>
                <a:p>
                  <a:pPr algn="ctr"/>
                  <a:r>
                    <a:rPr lang="en-US" sz="1400" b="1" dirty="0">
                      <a:solidFill>
                        <a:srgbClr val="0070C0"/>
                      </a:solidFill>
                      <a:latin typeface="Calibri" panose="020F0502020204030204" pitchFamily="34" charset="0"/>
                      <a:cs typeface="Calibri" panose="020F0502020204030204" pitchFamily="34" charset="0"/>
                    </a:rPr>
                    <a:t>Representation</a:t>
                  </a:r>
                </a:p>
              </p:txBody>
            </p:sp>
            <p:sp>
              <p:nvSpPr>
                <p:cNvPr id="31" name="TextBox 30">
                  <a:extLst>
                    <a:ext uri="{FF2B5EF4-FFF2-40B4-BE49-F238E27FC236}">
                      <a16:creationId xmlns:a16="http://schemas.microsoft.com/office/drawing/2014/main" id="{83169475-F664-4F4B-3F69-A433EF6E105C}"/>
                    </a:ext>
                  </a:extLst>
                </p:cNvPr>
                <p:cNvSpPr txBox="1"/>
                <p:nvPr/>
              </p:nvSpPr>
              <p:spPr>
                <a:xfrm>
                  <a:off x="5847853" y="2325679"/>
                  <a:ext cx="1234169" cy="607337"/>
                </a:xfrm>
                <a:prstGeom prst="rect">
                  <a:avLst/>
                </a:prstGeom>
                <a:noFill/>
              </p:spPr>
              <p:txBody>
                <a:bodyPr wrap="none" rtlCol="0">
                  <a:spAutoFit/>
                </a:bodyPr>
                <a:lstStyle/>
                <a:p>
                  <a:pPr algn="ctr"/>
                  <a:r>
                    <a:rPr lang="en-US" sz="1400" b="1" dirty="0">
                      <a:solidFill>
                        <a:srgbClr val="0070C0"/>
                      </a:solidFill>
                      <a:latin typeface="Calibri" panose="020F0502020204030204" pitchFamily="34" charset="0"/>
                      <a:cs typeface="Calibri" panose="020F0502020204030204" pitchFamily="34" charset="0"/>
                    </a:rPr>
                    <a:t>Useful</a:t>
                  </a:r>
                </a:p>
                <a:p>
                  <a:pPr algn="ctr"/>
                  <a:r>
                    <a:rPr lang="en-US" sz="1400" b="1" dirty="0">
                      <a:solidFill>
                        <a:srgbClr val="0070C0"/>
                      </a:solidFill>
                      <a:latin typeface="Calibri" panose="020F0502020204030204" pitchFamily="34" charset="0"/>
                      <a:cs typeface="Calibri" panose="020F0502020204030204" pitchFamily="34" charset="0"/>
                    </a:rPr>
                    <a:t>Information</a:t>
                  </a:r>
                </a:p>
              </p:txBody>
            </p:sp>
          </p:grpSp>
          <p:grpSp>
            <p:nvGrpSpPr>
              <p:cNvPr id="100" name="Group 99">
                <a:extLst>
                  <a:ext uri="{FF2B5EF4-FFF2-40B4-BE49-F238E27FC236}">
                    <a16:creationId xmlns:a16="http://schemas.microsoft.com/office/drawing/2014/main" id="{A633EBBC-A7C4-F6CC-DDBF-682BA7865579}"/>
                  </a:ext>
                </a:extLst>
              </p:cNvPr>
              <p:cNvGrpSpPr/>
              <p:nvPr/>
            </p:nvGrpSpPr>
            <p:grpSpPr>
              <a:xfrm>
                <a:off x="202870" y="2822246"/>
                <a:ext cx="7190685" cy="3530153"/>
                <a:chOff x="171701" y="2822246"/>
                <a:chExt cx="7190685" cy="3530153"/>
              </a:xfrm>
            </p:grpSpPr>
            <p:sp>
              <p:nvSpPr>
                <p:cNvPr id="91" name="Rectangle 90">
                  <a:extLst>
                    <a:ext uri="{FF2B5EF4-FFF2-40B4-BE49-F238E27FC236}">
                      <a16:creationId xmlns:a16="http://schemas.microsoft.com/office/drawing/2014/main" id="{1940637A-0772-9932-99DF-55939982FFAE}"/>
                    </a:ext>
                  </a:extLst>
                </p:cNvPr>
                <p:cNvSpPr/>
                <p:nvPr/>
              </p:nvSpPr>
              <p:spPr>
                <a:xfrm>
                  <a:off x="5741665" y="3072398"/>
                  <a:ext cx="1620721" cy="2898730"/>
                </a:xfrm>
                <a:prstGeom prst="rect">
                  <a:avLst/>
                </a:prstGeom>
                <a:solidFill>
                  <a:schemeClr val="tx2">
                    <a:lumMod val="10000"/>
                    <a:lumOff val="90000"/>
                  </a:schemeClr>
                </a:solidFill>
                <a:ln>
                  <a:solidFill>
                    <a:schemeClr val="tx2">
                      <a:lumMod val="25000"/>
                      <a:lumOff val="75000"/>
                    </a:schemeClr>
                  </a:solidFill>
                </a:ln>
                <a:scene3d>
                  <a:camera prst="orthographicFront"/>
                  <a:lightRig rig="threePt" dir="t"/>
                </a:scene3d>
                <a:sp3d>
                  <a:bevelT w="165100" prst="coolSlan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EC474EE9-6171-A4DA-3275-46608985783E}"/>
                    </a:ext>
                  </a:extLst>
                </p:cNvPr>
                <p:cNvGrpSpPr/>
                <p:nvPr/>
              </p:nvGrpSpPr>
              <p:grpSpPr>
                <a:xfrm>
                  <a:off x="171701" y="2822246"/>
                  <a:ext cx="1199899" cy="3530153"/>
                  <a:chOff x="134021" y="2672316"/>
                  <a:chExt cx="1226618" cy="3580544"/>
                </a:xfrm>
              </p:grpSpPr>
              <p:grpSp>
                <p:nvGrpSpPr>
                  <p:cNvPr id="54" name="Group 53">
                    <a:extLst>
                      <a:ext uri="{FF2B5EF4-FFF2-40B4-BE49-F238E27FC236}">
                        <a16:creationId xmlns:a16="http://schemas.microsoft.com/office/drawing/2014/main" id="{D5CAC6D3-16C3-3D9F-78B4-A5B77CF386C6}"/>
                      </a:ext>
                    </a:extLst>
                  </p:cNvPr>
                  <p:cNvGrpSpPr/>
                  <p:nvPr/>
                </p:nvGrpSpPr>
                <p:grpSpPr>
                  <a:xfrm>
                    <a:off x="262210" y="2672316"/>
                    <a:ext cx="974410" cy="849899"/>
                    <a:chOff x="215698" y="2529083"/>
                    <a:chExt cx="974410" cy="849899"/>
                  </a:xfrm>
                </p:grpSpPr>
                <p:pic>
                  <p:nvPicPr>
                    <p:cNvPr id="33" name="Picture 32">
                      <a:extLst>
                        <a:ext uri="{FF2B5EF4-FFF2-40B4-BE49-F238E27FC236}">
                          <a16:creationId xmlns:a16="http://schemas.microsoft.com/office/drawing/2014/main" id="{48D47283-00DF-C6FA-DDF6-E568FDA20F7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5698" y="2819982"/>
                      <a:ext cx="974410" cy="559000"/>
                    </a:xfrm>
                    <a:prstGeom prst="rect">
                      <a:avLst/>
                    </a:prstGeom>
                  </p:spPr>
                </p:pic>
                <p:sp>
                  <p:nvSpPr>
                    <p:cNvPr id="10" name="TextBox 9">
                      <a:extLst>
                        <a:ext uri="{FF2B5EF4-FFF2-40B4-BE49-F238E27FC236}">
                          <a16:creationId xmlns:a16="http://schemas.microsoft.com/office/drawing/2014/main" id="{EA057777-CE6B-C77C-271D-AA424F3EC14E}"/>
                        </a:ext>
                      </a:extLst>
                    </p:cNvPr>
                    <p:cNvSpPr txBox="1"/>
                    <p:nvPr/>
                  </p:nvSpPr>
                  <p:spPr>
                    <a:xfrm>
                      <a:off x="390542" y="2529083"/>
                      <a:ext cx="704767" cy="308003"/>
                    </a:xfrm>
                    <a:prstGeom prst="rect">
                      <a:avLst/>
                    </a:prstGeom>
                    <a:noFill/>
                  </p:spPr>
                  <p:txBody>
                    <a:bodyPr wrap="none" rtlCol="0">
                      <a:spAutoFit/>
                    </a:bodyPr>
                    <a:lstStyle/>
                    <a:p>
                      <a:r>
                        <a:rPr lang="en-US" sz="1100" b="1" dirty="0">
                          <a:latin typeface="Calibri" panose="020F0502020204030204" pitchFamily="34" charset="0"/>
                          <a:cs typeface="Calibri" panose="020F0502020204030204" pitchFamily="34" charset="0"/>
                        </a:rPr>
                        <a:t>Images</a:t>
                      </a:r>
                    </a:p>
                  </p:txBody>
                </p:sp>
              </p:grpSp>
              <p:grpSp>
                <p:nvGrpSpPr>
                  <p:cNvPr id="55" name="Group 54">
                    <a:extLst>
                      <a:ext uri="{FF2B5EF4-FFF2-40B4-BE49-F238E27FC236}">
                        <a16:creationId xmlns:a16="http://schemas.microsoft.com/office/drawing/2014/main" id="{9976B550-2C31-30DA-A27F-B556F941F722}"/>
                      </a:ext>
                    </a:extLst>
                  </p:cNvPr>
                  <p:cNvGrpSpPr/>
                  <p:nvPr/>
                </p:nvGrpSpPr>
                <p:grpSpPr>
                  <a:xfrm>
                    <a:off x="134021" y="3588464"/>
                    <a:ext cx="1226618" cy="706697"/>
                    <a:chOff x="134021" y="3588464"/>
                    <a:chExt cx="1226618" cy="706697"/>
                  </a:xfrm>
                </p:grpSpPr>
                <p:sp>
                  <p:nvSpPr>
                    <p:cNvPr id="34" name="TextBox 33">
                      <a:extLst>
                        <a:ext uri="{FF2B5EF4-FFF2-40B4-BE49-F238E27FC236}">
                          <a16:creationId xmlns:a16="http://schemas.microsoft.com/office/drawing/2014/main" id="{4F531207-1602-B9ED-DC4A-9AA3A88792FA}"/>
                        </a:ext>
                      </a:extLst>
                    </p:cNvPr>
                    <p:cNvSpPr txBox="1"/>
                    <p:nvPr/>
                  </p:nvSpPr>
                  <p:spPr>
                    <a:xfrm>
                      <a:off x="134021" y="3860333"/>
                      <a:ext cx="1226618" cy="434828"/>
                    </a:xfrm>
                    <a:prstGeom prst="rect">
                      <a:avLst/>
                    </a:prstGeom>
                    <a:ln>
                      <a:noFill/>
                    </a:ln>
                    <a:effectLst>
                      <a:softEdge rad="63500"/>
                    </a:effectLst>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900" dirty="0">
                          <a:latin typeface="Calibri" panose="020F0502020204030204" pitchFamily="34" charset="0"/>
                          <a:cs typeface="Calibri" panose="020F0502020204030204" pitchFamily="34" charset="0"/>
                        </a:rPr>
                        <a:t>Deep Learning is powerful</a:t>
                      </a:r>
                    </a:p>
                  </p:txBody>
                </p:sp>
                <p:sp>
                  <p:nvSpPr>
                    <p:cNvPr id="12" name="TextBox 11">
                      <a:extLst>
                        <a:ext uri="{FF2B5EF4-FFF2-40B4-BE49-F238E27FC236}">
                          <a16:creationId xmlns:a16="http://schemas.microsoft.com/office/drawing/2014/main" id="{85F56B72-F71A-C1D5-905B-98C0A9E92C4A}"/>
                        </a:ext>
                      </a:extLst>
                    </p:cNvPr>
                    <p:cNvSpPr txBox="1"/>
                    <p:nvPr/>
                  </p:nvSpPr>
                  <p:spPr>
                    <a:xfrm>
                      <a:off x="477522" y="3588464"/>
                      <a:ext cx="516428" cy="308003"/>
                    </a:xfrm>
                    <a:prstGeom prst="rect">
                      <a:avLst/>
                    </a:prstGeom>
                    <a:noFill/>
                    <a:ln>
                      <a:noFill/>
                    </a:ln>
                  </p:spPr>
                  <p:txBody>
                    <a:bodyPr wrap="none" rtlCol="0">
                      <a:spAutoFit/>
                    </a:bodyPr>
                    <a:lstStyle/>
                    <a:p>
                      <a:r>
                        <a:rPr lang="en-US" sz="1100" b="1" dirty="0">
                          <a:latin typeface="Calibri" panose="020F0502020204030204" pitchFamily="34" charset="0"/>
                          <a:cs typeface="Calibri" panose="020F0502020204030204" pitchFamily="34" charset="0"/>
                        </a:rPr>
                        <a:t>Text</a:t>
                      </a:r>
                    </a:p>
                  </p:txBody>
                </p:sp>
              </p:grpSp>
              <p:grpSp>
                <p:nvGrpSpPr>
                  <p:cNvPr id="56" name="Group 55">
                    <a:extLst>
                      <a:ext uri="{FF2B5EF4-FFF2-40B4-BE49-F238E27FC236}">
                        <a16:creationId xmlns:a16="http://schemas.microsoft.com/office/drawing/2014/main" id="{D8F9D253-C880-EF49-EECF-BD621645FB0A}"/>
                      </a:ext>
                    </a:extLst>
                  </p:cNvPr>
                  <p:cNvGrpSpPr/>
                  <p:nvPr/>
                </p:nvGrpSpPr>
                <p:grpSpPr>
                  <a:xfrm>
                    <a:off x="248736" y="4367276"/>
                    <a:ext cx="953781" cy="580272"/>
                    <a:chOff x="210001" y="4367126"/>
                    <a:chExt cx="953781" cy="580272"/>
                  </a:xfrm>
                </p:grpSpPr>
                <p:pic>
                  <p:nvPicPr>
                    <p:cNvPr id="6" name="Picture 5">
                      <a:extLst>
                        <a:ext uri="{FF2B5EF4-FFF2-40B4-BE49-F238E27FC236}">
                          <a16:creationId xmlns:a16="http://schemas.microsoft.com/office/drawing/2014/main" id="{90EB677C-EE7D-5158-D3AD-19771DF4104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0001" y="4673772"/>
                      <a:ext cx="953781" cy="273626"/>
                    </a:xfrm>
                    <a:prstGeom prst="rect">
                      <a:avLst/>
                    </a:prstGeom>
                  </p:spPr>
                </p:pic>
                <p:sp>
                  <p:nvSpPr>
                    <p:cNvPr id="13" name="TextBox 12">
                      <a:extLst>
                        <a:ext uri="{FF2B5EF4-FFF2-40B4-BE49-F238E27FC236}">
                          <a16:creationId xmlns:a16="http://schemas.microsoft.com/office/drawing/2014/main" id="{7375B44C-11DF-BBF3-B8FB-EB34D65EDBD7}"/>
                        </a:ext>
                      </a:extLst>
                    </p:cNvPr>
                    <p:cNvSpPr txBox="1"/>
                    <p:nvPr/>
                  </p:nvSpPr>
                  <p:spPr>
                    <a:xfrm>
                      <a:off x="421673" y="4367126"/>
                      <a:ext cx="623782" cy="308003"/>
                    </a:xfrm>
                    <a:prstGeom prst="rect">
                      <a:avLst/>
                    </a:prstGeom>
                    <a:noFill/>
                  </p:spPr>
                  <p:txBody>
                    <a:bodyPr wrap="none" rtlCol="0">
                      <a:spAutoFit/>
                    </a:bodyPr>
                    <a:lstStyle/>
                    <a:p>
                      <a:r>
                        <a:rPr lang="en-US" sz="1100" b="1" dirty="0">
                          <a:latin typeface="Calibri" panose="020F0502020204030204" pitchFamily="34" charset="0"/>
                          <a:cs typeface="Calibri" panose="020F0502020204030204" pitchFamily="34" charset="0"/>
                        </a:rPr>
                        <a:t>Audio</a:t>
                      </a:r>
                    </a:p>
                  </p:txBody>
                </p:sp>
              </p:grpSp>
              <p:grpSp>
                <p:nvGrpSpPr>
                  <p:cNvPr id="59" name="Group 58">
                    <a:extLst>
                      <a:ext uri="{FF2B5EF4-FFF2-40B4-BE49-F238E27FC236}">
                        <a16:creationId xmlns:a16="http://schemas.microsoft.com/office/drawing/2014/main" id="{F7C845C0-3CF0-6740-45E1-9D8C5E198A1E}"/>
                      </a:ext>
                    </a:extLst>
                  </p:cNvPr>
                  <p:cNvGrpSpPr/>
                  <p:nvPr/>
                </p:nvGrpSpPr>
                <p:grpSpPr>
                  <a:xfrm>
                    <a:off x="228600" y="5079895"/>
                    <a:ext cx="1100282" cy="1172965"/>
                    <a:chOff x="228600" y="5079895"/>
                    <a:chExt cx="1100282" cy="1172965"/>
                  </a:xfrm>
                </p:grpSpPr>
                <p:sp>
                  <p:nvSpPr>
                    <p:cNvPr id="14" name="TextBox 13">
                      <a:extLst>
                        <a:ext uri="{FF2B5EF4-FFF2-40B4-BE49-F238E27FC236}">
                          <a16:creationId xmlns:a16="http://schemas.microsoft.com/office/drawing/2014/main" id="{9BA6D836-92C0-85D6-4A0B-9E9ADA19F87D}"/>
                        </a:ext>
                      </a:extLst>
                    </p:cNvPr>
                    <p:cNvSpPr txBox="1"/>
                    <p:nvPr/>
                  </p:nvSpPr>
                  <p:spPr>
                    <a:xfrm>
                      <a:off x="228600" y="5079895"/>
                      <a:ext cx="1100282" cy="308003"/>
                    </a:xfrm>
                    <a:prstGeom prst="rect">
                      <a:avLst/>
                    </a:prstGeom>
                    <a:noFill/>
                  </p:spPr>
                  <p:txBody>
                    <a:bodyPr wrap="none" rtlCol="0">
                      <a:spAutoFit/>
                    </a:bodyPr>
                    <a:lstStyle/>
                    <a:p>
                      <a:r>
                        <a:rPr lang="en-US" sz="1100" b="1" dirty="0">
                          <a:latin typeface="Calibri" panose="020F0502020204030204" pitchFamily="34" charset="0"/>
                          <a:cs typeface="Calibri" panose="020F0502020204030204" pitchFamily="34" charset="0"/>
                        </a:rPr>
                        <a:t>Tabular Data</a:t>
                      </a:r>
                    </a:p>
                  </p:txBody>
                </p:sp>
                <p:pic>
                  <p:nvPicPr>
                    <p:cNvPr id="58" name="Picture 57">
                      <a:extLst>
                        <a:ext uri="{FF2B5EF4-FFF2-40B4-BE49-F238E27FC236}">
                          <a16:creationId xmlns:a16="http://schemas.microsoft.com/office/drawing/2014/main" id="{6C777A7A-C9DA-DAB3-72DE-41329ED4BEF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97912" y="5345927"/>
                      <a:ext cx="906933" cy="906933"/>
                    </a:xfrm>
                    <a:prstGeom prst="rect">
                      <a:avLst/>
                    </a:prstGeom>
                  </p:spPr>
                </p:pic>
              </p:grpSp>
            </p:grpSp>
            <p:grpSp>
              <p:nvGrpSpPr>
                <p:cNvPr id="86" name="Group 85">
                  <a:extLst>
                    <a:ext uri="{FF2B5EF4-FFF2-40B4-BE49-F238E27FC236}">
                      <a16:creationId xmlns:a16="http://schemas.microsoft.com/office/drawing/2014/main" id="{5CBF4832-D18B-69AC-0201-12B61B49182B}"/>
                    </a:ext>
                  </a:extLst>
                </p:cNvPr>
                <p:cNvGrpSpPr/>
                <p:nvPr/>
              </p:nvGrpSpPr>
              <p:grpSpPr>
                <a:xfrm>
                  <a:off x="1330490" y="3258478"/>
                  <a:ext cx="702204" cy="2842837"/>
                  <a:chOff x="1330490" y="3258478"/>
                  <a:chExt cx="803110" cy="2842837"/>
                </a:xfrm>
              </p:grpSpPr>
              <p:grpSp>
                <p:nvGrpSpPr>
                  <p:cNvPr id="63" name="Group 62">
                    <a:extLst>
                      <a:ext uri="{FF2B5EF4-FFF2-40B4-BE49-F238E27FC236}">
                        <a16:creationId xmlns:a16="http://schemas.microsoft.com/office/drawing/2014/main" id="{8C8B9503-6D92-60FD-D6B2-419ED50E27AB}"/>
                      </a:ext>
                    </a:extLst>
                  </p:cNvPr>
                  <p:cNvGrpSpPr/>
                  <p:nvPr/>
                </p:nvGrpSpPr>
                <p:grpSpPr>
                  <a:xfrm>
                    <a:off x="1330490" y="3258478"/>
                    <a:ext cx="317683" cy="2842837"/>
                    <a:chOff x="1592531" y="3109051"/>
                    <a:chExt cx="526974" cy="2986949"/>
                  </a:xfrm>
                </p:grpSpPr>
                <p:cxnSp>
                  <p:nvCxnSpPr>
                    <p:cNvPr id="52" name="Straight Arrow Connector 51">
                      <a:extLst>
                        <a:ext uri="{FF2B5EF4-FFF2-40B4-BE49-F238E27FC236}">
                          <a16:creationId xmlns:a16="http://schemas.microsoft.com/office/drawing/2014/main" id="{69DF7687-EC32-5F3E-50A8-BBD9A091094F}"/>
                        </a:ext>
                      </a:extLst>
                    </p:cNvPr>
                    <p:cNvCxnSpPr/>
                    <p:nvPr/>
                  </p:nvCxnSpPr>
                  <p:spPr>
                    <a:xfrm flipH="1">
                      <a:off x="1592531" y="3113009"/>
                      <a:ext cx="526974"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3CEA0D6C-8D7F-C826-FB46-191DF68E48F6}"/>
                        </a:ext>
                      </a:extLst>
                    </p:cNvPr>
                    <p:cNvCxnSpPr/>
                    <p:nvPr/>
                  </p:nvCxnSpPr>
                  <p:spPr>
                    <a:xfrm flipH="1">
                      <a:off x="1592531" y="6095010"/>
                      <a:ext cx="526974"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CC63206C-5683-D0D3-2E27-C60ABC380588}"/>
                        </a:ext>
                      </a:extLst>
                    </p:cNvPr>
                    <p:cNvCxnSpPr/>
                    <p:nvPr/>
                  </p:nvCxnSpPr>
                  <p:spPr>
                    <a:xfrm>
                      <a:off x="2119505" y="3109051"/>
                      <a:ext cx="0" cy="2986949"/>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grpSp>
              <p:cxnSp>
                <p:nvCxnSpPr>
                  <p:cNvPr id="65" name="Straight Arrow Connector 64">
                    <a:extLst>
                      <a:ext uri="{FF2B5EF4-FFF2-40B4-BE49-F238E27FC236}">
                        <a16:creationId xmlns:a16="http://schemas.microsoft.com/office/drawing/2014/main" id="{ED1DBD7B-D536-0BB1-81EC-5BD8147EF598}"/>
                      </a:ext>
                    </a:extLst>
                  </p:cNvPr>
                  <p:cNvCxnSpPr>
                    <a:cxnSpLocks/>
                  </p:cNvCxnSpPr>
                  <p:nvPr/>
                </p:nvCxnSpPr>
                <p:spPr>
                  <a:xfrm>
                    <a:off x="1648173" y="4575572"/>
                    <a:ext cx="485427"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pic>
              <p:nvPicPr>
                <p:cNvPr id="68" name="Graphic 67">
                  <a:extLst>
                    <a:ext uri="{FF2B5EF4-FFF2-40B4-BE49-F238E27FC236}">
                      <a16:creationId xmlns:a16="http://schemas.microsoft.com/office/drawing/2014/main" id="{C5ECCB3D-E5A6-6F18-4502-9AAF813C95A1}"/>
                    </a:ext>
                  </a:extLst>
                </p:cNvPr>
                <p:cNvPicPr>
                  <a:picLocks noChangeAspect="1"/>
                </p:cNvPicPr>
                <p:nvPr/>
              </p:nvPicPr>
              <p:blipFill>
                <a:blip>
                  <a:extLst>
                    <a:ext uri="{96DAC541-7B7A-43D3-8B79-37D633B846F1}">
                      <asvg:svgBlip xmlns:asvg="http://schemas.microsoft.com/office/drawing/2016/SVG/main" r:embed="rId9"/>
                    </a:ext>
                  </a:extLst>
                </a:blip>
                <a:srcRect l="1" r="35562"/>
                <a:stretch>
                  <a:fillRect/>
                </a:stretch>
              </p:blipFill>
              <p:spPr>
                <a:xfrm>
                  <a:off x="1843603" y="3866349"/>
                  <a:ext cx="2058139" cy="1534658"/>
                </a:xfrm>
                <a:prstGeom prst="rect">
                  <a:avLst/>
                </a:prstGeom>
              </p:spPr>
            </p:pic>
            <p:graphicFrame>
              <p:nvGraphicFramePr>
                <p:cNvPr id="69" name="Object 68">
                  <a:extLst>
                    <a:ext uri="{FF2B5EF4-FFF2-40B4-BE49-F238E27FC236}">
                      <a16:creationId xmlns:a16="http://schemas.microsoft.com/office/drawing/2014/main" id="{A4FB3586-4039-23CC-5BD0-F15D8336B435}"/>
                    </a:ext>
                  </a:extLst>
                </p:cNvPr>
                <p:cNvGraphicFramePr>
                  <a:graphicFrameLocks noChangeAspect="1"/>
                </p:cNvGraphicFramePr>
                <p:nvPr>
                  <p:extLst>
                    <p:ext uri="{D42A27DB-BD31-4B8C-83A1-F6EECF244321}">
                      <p14:modId xmlns:p14="http://schemas.microsoft.com/office/powerpoint/2010/main" val="3322177424"/>
                    </p:ext>
                  </p:extLst>
                </p:nvPr>
              </p:nvGraphicFramePr>
              <p:xfrm>
                <a:off x="4449738" y="3220401"/>
                <a:ext cx="698042" cy="2602724"/>
              </p:xfrm>
              <a:graphic>
                <a:graphicData uri="http://schemas.openxmlformats.org/presentationml/2006/ole">
                  <mc:AlternateContent xmlns:mc="http://schemas.openxmlformats.org/markup-compatibility/2006">
                    <mc:Choice xmlns:v="urn:schemas-microsoft-com:vml" Requires="v">
                      <p:oleObj name="Worksheet" r:id="rId10" imgW="619086" imgH="1533378" progId="Excel.Sheet.12">
                        <p:embed/>
                      </p:oleObj>
                    </mc:Choice>
                    <mc:Fallback>
                      <p:oleObj name="Worksheet" r:id="rId10" imgW="619086" imgH="1533378" progId="Excel.Sheet.12">
                        <p:embed/>
                        <p:pic>
                          <p:nvPicPr>
                            <p:cNvPr id="69" name="Object 68">
                              <a:extLst>
                                <a:ext uri="{FF2B5EF4-FFF2-40B4-BE49-F238E27FC236}">
                                  <a16:creationId xmlns:a16="http://schemas.microsoft.com/office/drawing/2014/main" id="{A4FB3586-4039-23CC-5BD0-F15D8336B435}"/>
                                </a:ext>
                              </a:extLst>
                            </p:cNvPr>
                            <p:cNvPicPr/>
                            <p:nvPr/>
                          </p:nvPicPr>
                          <p:blipFill>
                            <a:blip r:embed="rId11"/>
                            <a:stretch>
                              <a:fillRect/>
                            </a:stretch>
                          </p:blipFill>
                          <p:spPr>
                            <a:xfrm>
                              <a:off x="4449738" y="3220401"/>
                              <a:ext cx="698042" cy="2602724"/>
                            </a:xfrm>
                            <a:prstGeom prst="rect">
                              <a:avLst/>
                            </a:prstGeom>
                            <a:ln>
                              <a:solidFill>
                                <a:schemeClr val="tx1"/>
                              </a:solidFill>
                            </a:ln>
                          </p:spPr>
                        </p:pic>
                      </p:oleObj>
                    </mc:Fallback>
                  </mc:AlternateContent>
                </a:graphicData>
              </a:graphic>
            </p:graphicFrame>
            <p:cxnSp>
              <p:nvCxnSpPr>
                <p:cNvPr id="87" name="Straight Arrow Connector 86">
                  <a:extLst>
                    <a:ext uri="{FF2B5EF4-FFF2-40B4-BE49-F238E27FC236}">
                      <a16:creationId xmlns:a16="http://schemas.microsoft.com/office/drawing/2014/main" id="{CB2A712D-060E-54B7-23C1-1CD00697CF5B}"/>
                    </a:ext>
                  </a:extLst>
                </p:cNvPr>
                <p:cNvCxnSpPr>
                  <a:cxnSpLocks/>
                </p:cNvCxnSpPr>
                <p:nvPr/>
              </p:nvCxnSpPr>
              <p:spPr>
                <a:xfrm>
                  <a:off x="3926821" y="4538299"/>
                  <a:ext cx="401197"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0" name="Straight Arrow Connector 89">
                  <a:extLst>
                    <a:ext uri="{FF2B5EF4-FFF2-40B4-BE49-F238E27FC236}">
                      <a16:creationId xmlns:a16="http://schemas.microsoft.com/office/drawing/2014/main" id="{80DF182A-56E7-F141-DCDA-9C93780D1BD3}"/>
                    </a:ext>
                  </a:extLst>
                </p:cNvPr>
                <p:cNvCxnSpPr>
                  <a:cxnSpLocks/>
                </p:cNvCxnSpPr>
                <p:nvPr/>
              </p:nvCxnSpPr>
              <p:spPr>
                <a:xfrm>
                  <a:off x="5147780" y="4521763"/>
                  <a:ext cx="401197"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grpSp>
        <p:grpSp>
          <p:nvGrpSpPr>
            <p:cNvPr id="143" name="Group 142">
              <a:extLst>
                <a:ext uri="{FF2B5EF4-FFF2-40B4-BE49-F238E27FC236}">
                  <a16:creationId xmlns:a16="http://schemas.microsoft.com/office/drawing/2014/main" id="{983F1592-BBC2-EC27-3730-E7B9A8592F2F}"/>
                </a:ext>
              </a:extLst>
            </p:cNvPr>
            <p:cNvGrpSpPr/>
            <p:nvPr/>
          </p:nvGrpSpPr>
          <p:grpSpPr>
            <a:xfrm>
              <a:off x="5867400" y="3095346"/>
              <a:ext cx="1578509" cy="2673810"/>
              <a:chOff x="5867400" y="3095346"/>
              <a:chExt cx="1578509" cy="2673810"/>
            </a:xfrm>
          </p:grpSpPr>
          <p:grpSp>
            <p:nvGrpSpPr>
              <p:cNvPr id="89" name="Group 88">
                <a:extLst>
                  <a:ext uri="{FF2B5EF4-FFF2-40B4-BE49-F238E27FC236}">
                    <a16:creationId xmlns:a16="http://schemas.microsoft.com/office/drawing/2014/main" id="{DBF42E24-6B28-2438-7781-94A61A41C8F8}"/>
                  </a:ext>
                </a:extLst>
              </p:cNvPr>
              <p:cNvGrpSpPr/>
              <p:nvPr/>
            </p:nvGrpSpPr>
            <p:grpSpPr>
              <a:xfrm>
                <a:off x="5896483" y="3095346"/>
                <a:ext cx="1549426" cy="2673810"/>
                <a:chOff x="9992889" y="2272000"/>
                <a:chExt cx="2206486" cy="3339098"/>
              </a:xfrm>
            </p:grpSpPr>
            <p:sp>
              <p:nvSpPr>
                <p:cNvPr id="71" name="TextBox 70">
                  <a:extLst>
                    <a:ext uri="{FF2B5EF4-FFF2-40B4-BE49-F238E27FC236}">
                      <a16:creationId xmlns:a16="http://schemas.microsoft.com/office/drawing/2014/main" id="{B338070D-1B4F-1363-FF3F-8C13D84EED0F}"/>
                    </a:ext>
                  </a:extLst>
                </p:cNvPr>
                <p:cNvSpPr txBox="1"/>
                <p:nvPr/>
              </p:nvSpPr>
              <p:spPr>
                <a:xfrm>
                  <a:off x="10578051" y="2272000"/>
                  <a:ext cx="1621324" cy="3316461"/>
                </a:xfrm>
                <a:prstGeom prst="rect">
                  <a:avLst/>
                </a:prstGeom>
                <a:noFill/>
              </p:spPr>
              <p:txBody>
                <a:bodyPr wrap="square" rtlCol="0">
                  <a:spAutoFit/>
                </a:bodyPr>
                <a:lstStyle/>
                <a:p>
                  <a:pPr>
                    <a:lnSpc>
                      <a:spcPct val="340000"/>
                    </a:lnSpc>
                  </a:pPr>
                  <a:r>
                    <a:rPr lang="en-US" sz="1100" dirty="0">
                      <a:latin typeface="Calibri" panose="020F0502020204030204" pitchFamily="34" charset="0"/>
                      <a:cs typeface="Calibri" panose="020F0502020204030204" pitchFamily="34" charset="0"/>
                    </a:rPr>
                    <a:t>Prediction</a:t>
                  </a:r>
                </a:p>
                <a:p>
                  <a:pPr>
                    <a:lnSpc>
                      <a:spcPct val="340000"/>
                    </a:lnSpc>
                  </a:pPr>
                  <a:r>
                    <a:rPr lang="en-US" sz="1100" dirty="0">
                      <a:latin typeface="Calibri" panose="020F0502020204030204" pitchFamily="34" charset="0"/>
                      <a:cs typeface="Calibri" panose="020F0502020204030204" pitchFamily="34" charset="0"/>
                    </a:rPr>
                    <a:t>Classification</a:t>
                  </a:r>
                </a:p>
                <a:p>
                  <a:pPr>
                    <a:lnSpc>
                      <a:spcPct val="340000"/>
                    </a:lnSpc>
                  </a:pPr>
                  <a:r>
                    <a:rPr lang="en-US" sz="1100" dirty="0">
                      <a:latin typeface="Calibri" panose="020F0502020204030204" pitchFamily="34" charset="0"/>
                      <a:cs typeface="Calibri" panose="020F0502020204030204" pitchFamily="34" charset="0"/>
                    </a:rPr>
                    <a:t>Search</a:t>
                  </a:r>
                </a:p>
                <a:p>
                  <a:pPr>
                    <a:lnSpc>
                      <a:spcPct val="340000"/>
                    </a:lnSpc>
                  </a:pPr>
                  <a:r>
                    <a:rPr lang="en-US" sz="1100" dirty="0">
                      <a:latin typeface="Calibri" panose="020F0502020204030204" pitchFamily="34" charset="0"/>
                      <a:cs typeface="Calibri" panose="020F0502020204030204" pitchFamily="34" charset="0"/>
                    </a:rPr>
                    <a:t>Insights</a:t>
                  </a:r>
                </a:p>
              </p:txBody>
            </p:sp>
            <p:pic>
              <p:nvPicPr>
                <p:cNvPr id="73" name="Graphic 72" descr="Magnifying glass with solid fill">
                  <a:extLst>
                    <a:ext uri="{FF2B5EF4-FFF2-40B4-BE49-F238E27FC236}">
                      <a16:creationId xmlns:a16="http://schemas.microsoft.com/office/drawing/2014/main" id="{53FF61AD-DFA0-2BD7-122C-D41F38301EA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002753" y="4228659"/>
                  <a:ext cx="640322" cy="640322"/>
                </a:xfrm>
                <a:prstGeom prst="rect">
                  <a:avLst/>
                </a:prstGeom>
              </p:spPr>
            </p:pic>
            <p:pic>
              <p:nvPicPr>
                <p:cNvPr id="75" name="Graphic 74" descr="Lightbulb and gear with solid fill">
                  <a:extLst>
                    <a:ext uri="{FF2B5EF4-FFF2-40B4-BE49-F238E27FC236}">
                      <a16:creationId xmlns:a16="http://schemas.microsoft.com/office/drawing/2014/main" id="{08EB9344-F043-A56E-6A4C-2926476A32C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002752" y="4997721"/>
                  <a:ext cx="556181" cy="613377"/>
                </a:xfrm>
                <a:prstGeom prst="rect">
                  <a:avLst/>
                </a:prstGeom>
              </p:spPr>
            </p:pic>
            <p:pic>
              <p:nvPicPr>
                <p:cNvPr id="81" name="Picture 80">
                  <a:extLst>
                    <a:ext uri="{FF2B5EF4-FFF2-40B4-BE49-F238E27FC236}">
                      <a16:creationId xmlns:a16="http://schemas.microsoft.com/office/drawing/2014/main" id="{9713A0F1-97BF-FE90-F08A-C24C2F5C351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992889" y="3533384"/>
                  <a:ext cx="472475" cy="472476"/>
                </a:xfrm>
                <a:prstGeom prst="rect">
                  <a:avLst/>
                </a:prstGeom>
              </p:spPr>
            </p:pic>
          </p:grpSp>
          <p:pic>
            <p:nvPicPr>
              <p:cNvPr id="142" name="Picture 141">
                <a:extLst>
                  <a:ext uri="{FF2B5EF4-FFF2-40B4-BE49-F238E27FC236}">
                    <a16:creationId xmlns:a16="http://schemas.microsoft.com/office/drawing/2014/main" id="{D9F61CF1-4846-A12E-AFF3-59DA2E5990E5}"/>
                  </a:ext>
                </a:extLst>
              </p:cNvPr>
              <p:cNvPicPr>
                <a:picLocks noChangeAspect="1"/>
              </p:cNvPicPr>
              <p:nvPr/>
            </p:nvPicPr>
            <p:blipFill>
              <a:blip r:embed="rId15" cstate="print">
                <a:biLevel thresh="75000"/>
                <a:extLst>
                  <a:ext uri="{BEBA8EAE-BF5A-486C-A8C5-ECC9F3942E4B}">
                    <a14:imgProps xmlns:a14="http://schemas.microsoft.com/office/drawing/2010/main">
                      <a14:imgLayer r:embed="rId16">
                        <a14:imgEffect>
                          <a14:backgroundRemoval t="5667" b="97000" l="7000" r="95000">
                            <a14:foregroundMark x1="72667" y1="72000" x2="72667" y2="72000"/>
                            <a14:foregroundMark x1="95000" y1="69333" x2="95000" y2="69333"/>
                            <a14:foregroundMark x1="43333" y1="77667" x2="43333" y2="77667"/>
                            <a14:foregroundMark x1="26667" y1="81333" x2="26667" y2="81333"/>
                            <a14:foregroundMark x1="58333" y1="67667" x2="58333" y2="67667"/>
                            <a14:foregroundMark x1="64333" y1="95333" x2="64333" y2="95333"/>
                            <a14:foregroundMark x1="19000" y1="92000" x2="19000" y2="92000"/>
                            <a14:foregroundMark x1="88667" y1="97000" x2="88667" y2="97000"/>
                            <a14:foregroundMark x1="90333" y1="12000" x2="90333" y2="12000"/>
                            <a14:foregroundMark x1="91000" y1="5667" x2="91000" y2="5667"/>
                            <a14:foregroundMark x1="7000" y1="36000" x2="7000" y2="36000"/>
                          </a14:backgroundRemoval>
                        </a14:imgEffect>
                      </a14:imgLayer>
                    </a14:imgProps>
                  </a:ext>
                  <a:ext uri="{28A0092B-C50C-407E-A947-70E740481C1C}">
                    <a14:useLocalDpi xmlns:a14="http://schemas.microsoft.com/office/drawing/2010/main" val="0"/>
                  </a:ext>
                </a:extLst>
              </a:blip>
              <a:stretch>
                <a:fillRect/>
              </a:stretch>
            </p:blipFill>
            <p:spPr>
              <a:xfrm>
                <a:off x="5867400" y="3339029"/>
                <a:ext cx="426567" cy="426567"/>
              </a:xfrm>
              <a:prstGeom prst="rect">
                <a:avLst/>
              </a:prstGeom>
            </p:spPr>
          </p:pic>
        </p:grpSp>
      </p:grpSp>
      <p:sp>
        <p:nvSpPr>
          <p:cNvPr id="146" name="TextBox 145">
            <a:extLst>
              <a:ext uri="{FF2B5EF4-FFF2-40B4-BE49-F238E27FC236}">
                <a16:creationId xmlns:a16="http://schemas.microsoft.com/office/drawing/2014/main" id="{B4C647C7-6376-BB01-9D51-5D9C0FEAAD14}"/>
              </a:ext>
            </a:extLst>
          </p:cNvPr>
          <p:cNvSpPr txBox="1"/>
          <p:nvPr/>
        </p:nvSpPr>
        <p:spPr>
          <a:xfrm>
            <a:off x="8001360" y="2245714"/>
            <a:ext cx="4190640" cy="338554"/>
          </a:xfrm>
          <a:prstGeom prst="rect">
            <a:avLst/>
          </a:prstGeom>
          <a:solidFill>
            <a:schemeClr val="tx2">
              <a:lumMod val="90000"/>
              <a:lumOff val="1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1600" dirty="0">
                <a:latin typeface="Calibri" panose="020F0502020204030204" pitchFamily="34" charset="0"/>
                <a:cs typeface="Calibri" panose="020F0502020204030204" pitchFamily="34" charset="0"/>
              </a:rPr>
              <a:t>2. Latent Space</a:t>
            </a:r>
          </a:p>
        </p:txBody>
      </p:sp>
      <p:pic>
        <p:nvPicPr>
          <p:cNvPr id="148" name="Picture 147">
            <a:extLst>
              <a:ext uri="{FF2B5EF4-FFF2-40B4-BE49-F238E27FC236}">
                <a16:creationId xmlns:a16="http://schemas.microsoft.com/office/drawing/2014/main" id="{0E7F6A6F-FA53-D249-009B-237BF00C2E99}"/>
              </a:ext>
            </a:extLst>
          </p:cNvPr>
          <p:cNvPicPr>
            <a:picLocks noChangeAspect="1"/>
          </p:cNvPicPr>
          <p:nvPr/>
        </p:nvPicPr>
        <p:blipFill>
          <a:blip r:embed="rId17">
            <a:extLst>
              <a:ext uri="{28A0092B-C50C-407E-A947-70E740481C1C}">
                <a14:useLocalDpi xmlns:a14="http://schemas.microsoft.com/office/drawing/2010/main" val="0"/>
              </a:ext>
            </a:extLst>
          </a:blip>
          <a:srcRect r="3063" b="22667"/>
          <a:stretch>
            <a:fillRect/>
          </a:stretch>
        </p:blipFill>
        <p:spPr>
          <a:xfrm>
            <a:off x="8286314" y="2954240"/>
            <a:ext cx="3397512" cy="2657730"/>
          </a:xfrm>
          <a:prstGeom prst="rect">
            <a:avLst/>
          </a:prstGeom>
          <a:ln>
            <a:solidFill>
              <a:schemeClr val="bg2">
                <a:lumMod val="75000"/>
              </a:schemeClr>
            </a:solidFill>
          </a:ln>
        </p:spPr>
      </p:pic>
      <p:sp>
        <p:nvSpPr>
          <p:cNvPr id="2" name="Rectangle 1">
            <a:extLst>
              <a:ext uri="{FF2B5EF4-FFF2-40B4-BE49-F238E27FC236}">
                <a16:creationId xmlns:a16="http://schemas.microsoft.com/office/drawing/2014/main" id="{0A870AA2-BC8E-801E-0CF6-89F4E6E3C4F3}"/>
              </a:ext>
            </a:extLst>
          </p:cNvPr>
          <p:cNvSpPr/>
          <p:nvPr/>
        </p:nvSpPr>
        <p:spPr>
          <a:xfrm>
            <a:off x="2667000" y="4843030"/>
            <a:ext cx="535580" cy="2352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4D04F3E-AC3C-FED8-1F28-95050B8A622C}"/>
              </a:ext>
            </a:extLst>
          </p:cNvPr>
          <p:cNvSpPr/>
          <p:nvPr/>
        </p:nvSpPr>
        <p:spPr>
          <a:xfrm>
            <a:off x="3405173" y="5001283"/>
            <a:ext cx="535580" cy="1106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8730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6FF95-1517-008A-2C88-A3959531501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15691B5-49D6-1958-EBB0-247616E33F86}"/>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buNone/>
            </a:pPr>
            <a:r>
              <a:rPr lang="en-US" sz="3200" b="1" dirty="0">
                <a:latin typeface="Calibri" panose="020F0502020204030204" pitchFamily="34" charset="0"/>
                <a:cs typeface="Calibri" panose="020F0502020204030204" pitchFamily="34" charset="0"/>
              </a:rPr>
              <a:t>What Do We Need Next?</a:t>
            </a:r>
          </a:p>
        </p:txBody>
      </p:sp>
      <p:sp>
        <p:nvSpPr>
          <p:cNvPr id="9" name="Rectangle 4">
            <a:extLst>
              <a:ext uri="{FF2B5EF4-FFF2-40B4-BE49-F238E27FC236}">
                <a16:creationId xmlns:a16="http://schemas.microsoft.com/office/drawing/2014/main" id="{7042B2E0-1687-E679-319A-5EF4737B8805}"/>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FB0987E2-41DF-8873-557D-4DF339D634A2}"/>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a:t>
            </a:fld>
            <a:endParaRPr lang="en-US" sz="2000" spc="-50"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2">
            <p14:nvContentPartPr>
              <p14:cNvPr id="38" name="Ink 37">
                <a:extLst>
                  <a:ext uri="{FF2B5EF4-FFF2-40B4-BE49-F238E27FC236}">
                    <a16:creationId xmlns:a16="http://schemas.microsoft.com/office/drawing/2014/main" id="{B7157A67-4231-8898-3A18-C1652B2EB11C}"/>
                  </a:ext>
                </a:extLst>
              </p14:cNvPr>
              <p14:cNvContentPartPr/>
              <p14:nvPr/>
            </p14:nvContentPartPr>
            <p14:xfrm>
              <a:off x="6610812" y="2281310"/>
              <a:ext cx="360" cy="360"/>
            </p14:xfrm>
          </p:contentPart>
        </mc:Choice>
        <mc:Fallback xmlns="">
          <p:pic>
            <p:nvPicPr>
              <p:cNvPr id="38" name="Ink 37">
                <a:extLst>
                  <a:ext uri="{FF2B5EF4-FFF2-40B4-BE49-F238E27FC236}">
                    <a16:creationId xmlns:a16="http://schemas.microsoft.com/office/drawing/2014/main" id="{AC6077F4-0CA4-616E-9659-7319F7037740}"/>
                  </a:ext>
                </a:extLst>
              </p:cNvPr>
              <p:cNvPicPr/>
              <p:nvPr/>
            </p:nvPicPr>
            <p:blipFill>
              <a:blip r:embed="rId3"/>
              <a:stretch>
                <a:fillRect/>
              </a:stretch>
            </p:blipFill>
            <p:spPr>
              <a:xfrm>
                <a:off x="6592812" y="2263310"/>
                <a:ext cx="36000" cy="36000"/>
              </a:xfrm>
              <a:prstGeom prst="rect">
                <a:avLst/>
              </a:prstGeom>
            </p:spPr>
          </p:pic>
        </mc:Fallback>
      </mc:AlternateContent>
      <p:grpSp>
        <p:nvGrpSpPr>
          <p:cNvPr id="110" name="Group 109">
            <a:extLst>
              <a:ext uri="{FF2B5EF4-FFF2-40B4-BE49-F238E27FC236}">
                <a16:creationId xmlns:a16="http://schemas.microsoft.com/office/drawing/2014/main" id="{29344F21-E4DB-CF08-4550-145D030AEB47}"/>
              </a:ext>
            </a:extLst>
          </p:cNvPr>
          <p:cNvGrpSpPr/>
          <p:nvPr/>
        </p:nvGrpSpPr>
        <p:grpSpPr>
          <a:xfrm>
            <a:off x="224648" y="1129466"/>
            <a:ext cx="2710728" cy="2399088"/>
            <a:chOff x="224647" y="1129465"/>
            <a:chExt cx="3084579" cy="2619253"/>
          </a:xfrm>
        </p:grpSpPr>
        <p:sp>
          <p:nvSpPr>
            <p:cNvPr id="12" name="TextBox 11">
              <a:extLst>
                <a:ext uri="{FF2B5EF4-FFF2-40B4-BE49-F238E27FC236}">
                  <a16:creationId xmlns:a16="http://schemas.microsoft.com/office/drawing/2014/main" id="{7717373D-6E30-2F10-F40B-761FFA593CE1}"/>
                </a:ext>
              </a:extLst>
            </p:cNvPr>
            <p:cNvSpPr txBox="1"/>
            <p:nvPr/>
          </p:nvSpPr>
          <p:spPr>
            <a:xfrm>
              <a:off x="457200" y="2937616"/>
              <a:ext cx="2589698" cy="811102"/>
            </a:xfrm>
            <a:prstGeom prst="rect">
              <a:avLst/>
            </a:prstGeom>
            <a:solidFill>
              <a:schemeClr val="accent1">
                <a:lumMod val="40000"/>
                <a:lumOff val="60000"/>
              </a:schemeClr>
            </a:solidFill>
            <a:ln>
              <a:solidFill>
                <a:schemeClr val="accent1">
                  <a:lumMod val="60000"/>
                  <a:lumOff val="40000"/>
                </a:schemeClr>
              </a:solidFill>
            </a:ln>
          </p:spPr>
          <p:txBody>
            <a:bodyPr wrap="square">
              <a:spAutoFit/>
            </a:bodyPr>
            <a:lstStyle/>
            <a:p>
              <a:pPr lvl="0" algn="ctr"/>
              <a:r>
                <a:rPr lang="en-US" sz="1400" dirty="0">
                  <a:latin typeface="Calibri" panose="020F0502020204030204" pitchFamily="34" charset="0"/>
                  <a:cs typeface="Calibri" panose="020F0502020204030204" pitchFamily="34" charset="0"/>
                </a:rPr>
                <a:t>How can machines understand relationships between data points? </a:t>
              </a:r>
            </a:p>
          </p:txBody>
        </p:sp>
        <p:pic>
          <p:nvPicPr>
            <p:cNvPr id="16" name="Picture 15">
              <a:extLst>
                <a:ext uri="{FF2B5EF4-FFF2-40B4-BE49-F238E27FC236}">
                  <a16:creationId xmlns:a16="http://schemas.microsoft.com/office/drawing/2014/main" id="{3D09F375-D295-D5AC-BAB1-59974154EC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61499" y="1511188"/>
              <a:ext cx="728248" cy="800307"/>
            </a:xfrm>
            <a:prstGeom prst="rect">
              <a:avLst/>
            </a:prstGeom>
          </p:spPr>
        </p:pic>
        <p:cxnSp>
          <p:nvCxnSpPr>
            <p:cNvPr id="26" name="Straight Arrow Connector 25">
              <a:extLst>
                <a:ext uri="{FF2B5EF4-FFF2-40B4-BE49-F238E27FC236}">
                  <a16:creationId xmlns:a16="http://schemas.microsoft.com/office/drawing/2014/main" id="{27A98095-8D7C-9621-D4AA-B9EB08EE1D42}"/>
                </a:ext>
              </a:extLst>
            </p:cNvPr>
            <p:cNvCxnSpPr>
              <a:cxnSpLocks/>
            </p:cNvCxnSpPr>
            <p:nvPr/>
          </p:nvCxnSpPr>
          <p:spPr>
            <a:xfrm>
              <a:off x="1427790" y="1989211"/>
              <a:ext cx="324259"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6C209F2A-E6CF-2731-3877-65A678AAA13B}"/>
                </a:ext>
              </a:extLst>
            </p:cNvPr>
            <p:cNvCxnSpPr>
              <a:cxnSpLocks/>
            </p:cNvCxnSpPr>
            <p:nvPr/>
          </p:nvCxnSpPr>
          <p:spPr>
            <a:xfrm>
              <a:off x="2405369" y="1989211"/>
              <a:ext cx="324259"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pic>
          <p:nvPicPr>
            <p:cNvPr id="30" name="Graphic 29" descr="Question mark with solid fill">
              <a:extLst>
                <a:ext uri="{FF2B5EF4-FFF2-40B4-BE49-F238E27FC236}">
                  <a16:creationId xmlns:a16="http://schemas.microsoft.com/office/drawing/2014/main" id="{304BBEBD-DF88-CCAB-00D1-F07271ACB13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29628" y="1692454"/>
              <a:ext cx="579598" cy="636948"/>
            </a:xfrm>
            <a:prstGeom prst="rect">
              <a:avLst/>
            </a:prstGeom>
          </p:spPr>
        </p:pic>
        <p:pic>
          <p:nvPicPr>
            <p:cNvPr id="53" name="Picture 52">
              <a:extLst>
                <a:ext uri="{FF2B5EF4-FFF2-40B4-BE49-F238E27FC236}">
                  <a16:creationId xmlns:a16="http://schemas.microsoft.com/office/drawing/2014/main" id="{C9738FC3-0054-0B81-B16C-92527266D07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4647" y="1129465"/>
              <a:ext cx="1272694" cy="1721231"/>
            </a:xfrm>
            <a:prstGeom prst="rect">
              <a:avLst/>
            </a:prstGeom>
          </p:spPr>
        </p:pic>
      </p:grpSp>
      <p:grpSp>
        <p:nvGrpSpPr>
          <p:cNvPr id="109" name="Group 108">
            <a:extLst>
              <a:ext uri="{FF2B5EF4-FFF2-40B4-BE49-F238E27FC236}">
                <a16:creationId xmlns:a16="http://schemas.microsoft.com/office/drawing/2014/main" id="{817B9BE8-0E10-93F9-8614-A4F428B204B7}"/>
              </a:ext>
            </a:extLst>
          </p:cNvPr>
          <p:cNvGrpSpPr/>
          <p:nvPr/>
        </p:nvGrpSpPr>
        <p:grpSpPr>
          <a:xfrm>
            <a:off x="5947104" y="986263"/>
            <a:ext cx="2282418" cy="2906208"/>
            <a:chOff x="4497132" y="956544"/>
            <a:chExt cx="2408213" cy="3104420"/>
          </a:xfrm>
        </p:grpSpPr>
        <p:sp>
          <p:nvSpPr>
            <p:cNvPr id="35" name="TextBox 34">
              <a:extLst>
                <a:ext uri="{FF2B5EF4-FFF2-40B4-BE49-F238E27FC236}">
                  <a16:creationId xmlns:a16="http://schemas.microsoft.com/office/drawing/2014/main" id="{FA8BDE44-A83B-DCA9-6C02-B8D9E567C114}"/>
                </a:ext>
              </a:extLst>
            </p:cNvPr>
            <p:cNvSpPr txBox="1"/>
            <p:nvPr/>
          </p:nvSpPr>
          <p:spPr>
            <a:xfrm>
              <a:off x="4497132" y="3271921"/>
              <a:ext cx="2408213" cy="789043"/>
            </a:xfrm>
            <a:prstGeom prst="rect">
              <a:avLst/>
            </a:prstGeom>
            <a:solidFill>
              <a:schemeClr val="accent1">
                <a:lumMod val="40000"/>
                <a:lumOff val="60000"/>
              </a:schemeClr>
            </a:solidFill>
            <a:ln>
              <a:solidFill>
                <a:schemeClr val="accent1">
                  <a:lumMod val="60000"/>
                  <a:lumOff val="40000"/>
                </a:schemeClr>
              </a:solidFill>
            </a:ln>
          </p:spPr>
          <p:txBody>
            <a:bodyPr wrap="square">
              <a:spAutoFit/>
            </a:bodyPr>
            <a:lstStyle/>
            <a:p>
              <a:pPr lvl="0" algn="ctr"/>
              <a:r>
                <a:rPr lang="en-US" sz="1400" dirty="0">
                  <a:latin typeface="Calibri" panose="020F0502020204030204" pitchFamily="34" charset="0"/>
                  <a:cs typeface="Calibri" panose="020F0502020204030204" pitchFamily="34" charset="0"/>
                </a:rPr>
                <a:t>How can models focus on the most important information? </a:t>
              </a:r>
            </a:p>
          </p:txBody>
        </p:sp>
        <p:pic>
          <p:nvPicPr>
            <p:cNvPr id="57" name="Picture 56">
              <a:extLst>
                <a:ext uri="{FF2B5EF4-FFF2-40B4-BE49-F238E27FC236}">
                  <a16:creationId xmlns:a16="http://schemas.microsoft.com/office/drawing/2014/main" id="{A1DC011C-AE48-0FB6-C4C6-0AA17F8690E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38831" y="1264321"/>
              <a:ext cx="1916666" cy="1929646"/>
            </a:xfrm>
            <a:prstGeom prst="rect">
              <a:avLst/>
            </a:prstGeom>
          </p:spPr>
        </p:pic>
        <p:sp>
          <p:nvSpPr>
            <p:cNvPr id="58" name="TextBox 57">
              <a:extLst>
                <a:ext uri="{FF2B5EF4-FFF2-40B4-BE49-F238E27FC236}">
                  <a16:creationId xmlns:a16="http://schemas.microsoft.com/office/drawing/2014/main" id="{10D2F622-E4D8-B421-DBE2-10BB6156FBC8}"/>
                </a:ext>
              </a:extLst>
            </p:cNvPr>
            <p:cNvSpPr txBox="1"/>
            <p:nvPr/>
          </p:nvSpPr>
          <p:spPr>
            <a:xfrm>
              <a:off x="5145638" y="956544"/>
              <a:ext cx="691425" cy="328768"/>
            </a:xfrm>
            <a:prstGeom prst="rect">
              <a:avLst/>
            </a:prstGeom>
            <a:noFill/>
          </p:spPr>
          <p:txBody>
            <a:bodyPr wrap="none" rtlCol="0">
              <a:spAutoFit/>
            </a:bodyPr>
            <a:lstStyle/>
            <a:p>
              <a:r>
                <a:rPr lang="en-US" sz="1400" dirty="0">
                  <a:latin typeface="Calibri" panose="020F0502020204030204" pitchFamily="34" charset="0"/>
                  <a:cs typeface="Calibri" panose="020F0502020204030204" pitchFamily="34" charset="0"/>
                </a:rPr>
                <a:t>Scores</a:t>
              </a:r>
            </a:p>
          </p:txBody>
        </p:sp>
      </p:grpSp>
      <p:grpSp>
        <p:nvGrpSpPr>
          <p:cNvPr id="111" name="Group 110">
            <a:extLst>
              <a:ext uri="{FF2B5EF4-FFF2-40B4-BE49-F238E27FC236}">
                <a16:creationId xmlns:a16="http://schemas.microsoft.com/office/drawing/2014/main" id="{CE64DBBC-15F1-90E6-5C3B-860437D86FA2}"/>
              </a:ext>
            </a:extLst>
          </p:cNvPr>
          <p:cNvGrpSpPr/>
          <p:nvPr/>
        </p:nvGrpSpPr>
        <p:grpSpPr>
          <a:xfrm>
            <a:off x="717039" y="4134723"/>
            <a:ext cx="3927321" cy="2354526"/>
            <a:chOff x="416079" y="4021314"/>
            <a:chExt cx="5270315" cy="2412628"/>
          </a:xfrm>
        </p:grpSpPr>
        <p:sp>
          <p:nvSpPr>
            <p:cNvPr id="33" name="TextBox 32">
              <a:extLst>
                <a:ext uri="{FF2B5EF4-FFF2-40B4-BE49-F238E27FC236}">
                  <a16:creationId xmlns:a16="http://schemas.microsoft.com/office/drawing/2014/main" id="{F79B297C-3FEF-D117-8457-55F1A97ABEAC}"/>
                </a:ext>
              </a:extLst>
            </p:cNvPr>
            <p:cNvSpPr txBox="1"/>
            <p:nvPr/>
          </p:nvSpPr>
          <p:spPr>
            <a:xfrm>
              <a:off x="3096696" y="5677050"/>
              <a:ext cx="2589698" cy="756892"/>
            </a:xfrm>
            <a:prstGeom prst="rect">
              <a:avLst/>
            </a:prstGeom>
            <a:solidFill>
              <a:schemeClr val="accent1">
                <a:lumMod val="40000"/>
                <a:lumOff val="60000"/>
              </a:schemeClr>
            </a:solidFill>
            <a:ln>
              <a:solidFill>
                <a:schemeClr val="accent1">
                  <a:lumMod val="60000"/>
                  <a:lumOff val="40000"/>
                </a:schemeClr>
              </a:solidFill>
            </a:ln>
          </p:spPr>
          <p:txBody>
            <a:bodyPr wrap="square">
              <a:spAutoFit/>
            </a:bodyPr>
            <a:lstStyle/>
            <a:p>
              <a:pPr lvl="0" algn="ctr"/>
              <a:r>
                <a:rPr lang="en-US" sz="1400" dirty="0">
                  <a:latin typeface="Calibri" panose="020F0502020204030204" pitchFamily="34" charset="0"/>
                  <a:cs typeface="Calibri" panose="020F0502020204030204" pitchFamily="34" charset="0"/>
                </a:rPr>
                <a:t>How can different inputs interact and influence each other?</a:t>
              </a:r>
            </a:p>
          </p:txBody>
        </p:sp>
        <p:grpSp>
          <p:nvGrpSpPr>
            <p:cNvPr id="100" name="Group 99">
              <a:extLst>
                <a:ext uri="{FF2B5EF4-FFF2-40B4-BE49-F238E27FC236}">
                  <a16:creationId xmlns:a16="http://schemas.microsoft.com/office/drawing/2014/main" id="{A53C3FF7-4980-7849-EBF6-68935C03F4D6}"/>
                </a:ext>
              </a:extLst>
            </p:cNvPr>
            <p:cNvGrpSpPr/>
            <p:nvPr/>
          </p:nvGrpSpPr>
          <p:grpSpPr>
            <a:xfrm>
              <a:off x="416079" y="4021314"/>
              <a:ext cx="2591413" cy="2142155"/>
              <a:chOff x="4174293" y="4238746"/>
              <a:chExt cx="2591413" cy="2142155"/>
            </a:xfrm>
          </p:grpSpPr>
          <p:pic>
            <p:nvPicPr>
              <p:cNvPr id="62" name="Graphic 61" descr="Cat with solid fill">
                <a:extLst>
                  <a:ext uri="{FF2B5EF4-FFF2-40B4-BE49-F238E27FC236}">
                    <a16:creationId xmlns:a16="http://schemas.microsoft.com/office/drawing/2014/main" id="{10D3EDAC-24BE-0336-0A0B-A70E5E01FA2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74293" y="4970750"/>
                <a:ext cx="532889" cy="532889"/>
              </a:xfrm>
              <a:prstGeom prst="rect">
                <a:avLst/>
              </a:prstGeom>
            </p:spPr>
          </p:pic>
          <p:pic>
            <p:nvPicPr>
              <p:cNvPr id="64" name="Graphic 63" descr="Chat bubble with solid fill">
                <a:extLst>
                  <a:ext uri="{FF2B5EF4-FFF2-40B4-BE49-F238E27FC236}">
                    <a16:creationId xmlns:a16="http://schemas.microsoft.com/office/drawing/2014/main" id="{ED1E5E9A-C44D-42B4-0204-C188F963B05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09624" y="4261967"/>
                <a:ext cx="532889" cy="532889"/>
              </a:xfrm>
              <a:prstGeom prst="rect">
                <a:avLst/>
              </a:prstGeom>
            </p:spPr>
          </p:pic>
          <p:pic>
            <p:nvPicPr>
              <p:cNvPr id="66" name="Graphic 65" descr="Confused person with solid fill">
                <a:extLst>
                  <a:ext uri="{FF2B5EF4-FFF2-40B4-BE49-F238E27FC236}">
                    <a16:creationId xmlns:a16="http://schemas.microsoft.com/office/drawing/2014/main" id="{48108FAA-E426-932E-2A82-1085F4246E7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87418" y="5774963"/>
                <a:ext cx="549404" cy="549404"/>
              </a:xfrm>
              <a:prstGeom prst="rect">
                <a:avLst/>
              </a:prstGeom>
            </p:spPr>
          </p:pic>
          <p:pic>
            <p:nvPicPr>
              <p:cNvPr id="68" name="Graphic 67" descr="Dog with solid fill">
                <a:extLst>
                  <a:ext uri="{FF2B5EF4-FFF2-40B4-BE49-F238E27FC236}">
                    <a16:creationId xmlns:a16="http://schemas.microsoft.com/office/drawing/2014/main" id="{A1ACDB6B-28A2-1C5C-E515-C527D702247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867310" y="4238746"/>
                <a:ext cx="532889" cy="532889"/>
              </a:xfrm>
              <a:prstGeom prst="rect">
                <a:avLst/>
              </a:prstGeom>
            </p:spPr>
          </p:pic>
          <p:pic>
            <p:nvPicPr>
              <p:cNvPr id="70" name="Graphic 69" descr="Envelope with solid fill">
                <a:extLst>
                  <a:ext uri="{FF2B5EF4-FFF2-40B4-BE49-F238E27FC236}">
                    <a16:creationId xmlns:a16="http://schemas.microsoft.com/office/drawing/2014/main" id="{24861C43-99DB-8C78-9688-B05A4D6A752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248271" y="5012328"/>
                <a:ext cx="517435" cy="517435"/>
              </a:xfrm>
              <a:prstGeom prst="rect">
                <a:avLst/>
              </a:prstGeom>
            </p:spPr>
          </p:pic>
          <p:sp>
            <p:nvSpPr>
              <p:cNvPr id="76" name="Oval 75">
                <a:extLst>
                  <a:ext uri="{FF2B5EF4-FFF2-40B4-BE49-F238E27FC236}">
                    <a16:creationId xmlns:a16="http://schemas.microsoft.com/office/drawing/2014/main" id="{8AACA49B-FD6E-C27E-77A3-B7FCEAF05164}"/>
                  </a:ext>
                </a:extLst>
              </p:cNvPr>
              <p:cNvSpPr/>
              <p:nvPr/>
            </p:nvSpPr>
            <p:spPr>
              <a:xfrm>
                <a:off x="5145638" y="4970750"/>
                <a:ext cx="721672" cy="6441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pic>
            <p:nvPicPr>
              <p:cNvPr id="72" name="Graphic 71" descr="Gears with solid fill">
                <a:extLst>
                  <a:ext uri="{FF2B5EF4-FFF2-40B4-BE49-F238E27FC236}">
                    <a16:creationId xmlns:a16="http://schemas.microsoft.com/office/drawing/2014/main" id="{9CC0DC9F-9564-4F13-7A64-69F52127116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236822" y="5046398"/>
                <a:ext cx="517436" cy="517436"/>
              </a:xfrm>
              <a:prstGeom prst="rect">
                <a:avLst/>
              </a:prstGeom>
            </p:spPr>
          </p:pic>
          <p:pic>
            <p:nvPicPr>
              <p:cNvPr id="74" name="Graphic 73" descr="Monitor with solid fill">
                <a:extLst>
                  <a:ext uri="{FF2B5EF4-FFF2-40B4-BE49-F238E27FC236}">
                    <a16:creationId xmlns:a16="http://schemas.microsoft.com/office/drawing/2014/main" id="{99E0632D-7E2C-FDB9-8182-1BA3189AA43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875036" y="5863466"/>
                <a:ext cx="517435" cy="517435"/>
              </a:xfrm>
              <a:prstGeom prst="rect">
                <a:avLst/>
              </a:prstGeom>
            </p:spPr>
          </p:pic>
          <p:sp>
            <p:nvSpPr>
              <p:cNvPr id="75" name="Arrow: Curved Left 74">
                <a:extLst>
                  <a:ext uri="{FF2B5EF4-FFF2-40B4-BE49-F238E27FC236}">
                    <a16:creationId xmlns:a16="http://schemas.microsoft.com/office/drawing/2014/main" id="{591984F6-7B30-B194-544A-19122CE4C117}"/>
                  </a:ext>
                </a:extLst>
              </p:cNvPr>
              <p:cNvSpPr/>
              <p:nvPr/>
            </p:nvSpPr>
            <p:spPr>
              <a:xfrm rot="20586240">
                <a:off x="6480248" y="4559176"/>
                <a:ext cx="153734" cy="433011"/>
              </a:xfrm>
              <a:prstGeom prst="curved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cxnSp>
            <p:nvCxnSpPr>
              <p:cNvPr id="78" name="Straight Arrow Connector 77">
                <a:extLst>
                  <a:ext uri="{FF2B5EF4-FFF2-40B4-BE49-F238E27FC236}">
                    <a16:creationId xmlns:a16="http://schemas.microsoft.com/office/drawing/2014/main" id="{B741C3A4-F112-21AF-291F-F8F8A4D53AD0}"/>
                  </a:ext>
                </a:extLst>
              </p:cNvPr>
              <p:cNvCxnSpPr/>
              <p:nvPr/>
            </p:nvCxnSpPr>
            <p:spPr>
              <a:xfrm flipV="1">
                <a:off x="5754258" y="4771635"/>
                <a:ext cx="189342" cy="199115"/>
              </a:xfrm>
              <a:prstGeom prst="straightConnector1">
                <a:avLst/>
              </a:prstGeom>
              <a:ln w="190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79" name="Straight Arrow Connector 78">
                <a:extLst>
                  <a:ext uri="{FF2B5EF4-FFF2-40B4-BE49-F238E27FC236}">
                    <a16:creationId xmlns:a16="http://schemas.microsoft.com/office/drawing/2014/main" id="{8A61A159-2FD6-1A12-85F4-14525550D9EB}"/>
                  </a:ext>
                </a:extLst>
              </p:cNvPr>
              <p:cNvCxnSpPr/>
              <p:nvPr/>
            </p:nvCxnSpPr>
            <p:spPr>
              <a:xfrm flipV="1">
                <a:off x="5067154" y="5614294"/>
                <a:ext cx="189342" cy="199115"/>
              </a:xfrm>
              <a:prstGeom prst="straightConnector1">
                <a:avLst/>
              </a:prstGeom>
              <a:ln w="190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2927E321-6036-B1B9-7C38-0598187A0C3F}"/>
                  </a:ext>
                </a:extLst>
              </p:cNvPr>
              <p:cNvCxnSpPr>
                <a:cxnSpLocks/>
              </p:cNvCxnSpPr>
              <p:nvPr/>
            </p:nvCxnSpPr>
            <p:spPr>
              <a:xfrm>
                <a:off x="5743813" y="5685425"/>
                <a:ext cx="171882" cy="208578"/>
              </a:xfrm>
              <a:prstGeom prst="straightConnector1">
                <a:avLst/>
              </a:prstGeom>
              <a:ln w="190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5D3E355C-B5E9-D144-813C-473FAEA195EC}"/>
                  </a:ext>
                </a:extLst>
              </p:cNvPr>
              <p:cNvCxnSpPr>
                <a:cxnSpLocks/>
              </p:cNvCxnSpPr>
              <p:nvPr/>
            </p:nvCxnSpPr>
            <p:spPr>
              <a:xfrm>
                <a:off x="5087245" y="4734844"/>
                <a:ext cx="171882" cy="208578"/>
              </a:xfrm>
              <a:prstGeom prst="straightConnector1">
                <a:avLst/>
              </a:prstGeom>
              <a:ln w="190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DF7BFD05-C465-64DA-D397-485A90E9F30D}"/>
                  </a:ext>
                </a:extLst>
              </p:cNvPr>
              <p:cNvCxnSpPr>
                <a:cxnSpLocks/>
              </p:cNvCxnSpPr>
              <p:nvPr/>
            </p:nvCxnSpPr>
            <p:spPr>
              <a:xfrm>
                <a:off x="4773675" y="5267387"/>
                <a:ext cx="313801" cy="18407"/>
              </a:xfrm>
              <a:prstGeom prst="straightConnector1">
                <a:avLst/>
              </a:prstGeom>
              <a:ln w="190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F33CC062-263D-2403-1E4D-CF3367677F6F}"/>
                  </a:ext>
                </a:extLst>
              </p:cNvPr>
              <p:cNvCxnSpPr>
                <a:cxnSpLocks/>
              </p:cNvCxnSpPr>
              <p:nvPr/>
            </p:nvCxnSpPr>
            <p:spPr>
              <a:xfrm>
                <a:off x="5958494" y="5267386"/>
                <a:ext cx="313801" cy="18407"/>
              </a:xfrm>
              <a:prstGeom prst="straightConnector1">
                <a:avLst/>
              </a:prstGeom>
              <a:ln w="190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87" name="Arrow: Curved Left 86">
                <a:extLst>
                  <a:ext uri="{FF2B5EF4-FFF2-40B4-BE49-F238E27FC236}">
                    <a16:creationId xmlns:a16="http://schemas.microsoft.com/office/drawing/2014/main" id="{2D6D5DC7-C716-318E-5F9F-96841DC0F3E6}"/>
                  </a:ext>
                </a:extLst>
              </p:cNvPr>
              <p:cNvSpPr/>
              <p:nvPr/>
            </p:nvSpPr>
            <p:spPr>
              <a:xfrm rot="854533">
                <a:off x="6534481" y="5518843"/>
                <a:ext cx="153734" cy="433011"/>
              </a:xfrm>
              <a:prstGeom prst="curved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89" name="Arrow: Curved Left 88">
                <a:extLst>
                  <a:ext uri="{FF2B5EF4-FFF2-40B4-BE49-F238E27FC236}">
                    <a16:creationId xmlns:a16="http://schemas.microsoft.com/office/drawing/2014/main" id="{5FEA45B7-CF1D-3E58-A879-A4B784459A5E}"/>
                  </a:ext>
                </a:extLst>
              </p:cNvPr>
              <p:cNvSpPr/>
              <p:nvPr/>
            </p:nvSpPr>
            <p:spPr>
              <a:xfrm rot="4529877">
                <a:off x="5419639" y="5955361"/>
                <a:ext cx="161514" cy="462077"/>
              </a:xfrm>
              <a:prstGeom prst="curved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91" name="Arrow: Curved Left 90">
                <a:extLst>
                  <a:ext uri="{FF2B5EF4-FFF2-40B4-BE49-F238E27FC236}">
                    <a16:creationId xmlns:a16="http://schemas.microsoft.com/office/drawing/2014/main" id="{41773EA0-0780-6E8A-776E-2B543B4C2243}"/>
                  </a:ext>
                </a:extLst>
              </p:cNvPr>
              <p:cNvSpPr/>
              <p:nvPr/>
            </p:nvSpPr>
            <p:spPr>
              <a:xfrm rot="8528673">
                <a:off x="4457175" y="5608739"/>
                <a:ext cx="161514" cy="462077"/>
              </a:xfrm>
              <a:prstGeom prst="curved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93" name="Arrow: Curved Left 92">
                <a:extLst>
                  <a:ext uri="{FF2B5EF4-FFF2-40B4-BE49-F238E27FC236}">
                    <a16:creationId xmlns:a16="http://schemas.microsoft.com/office/drawing/2014/main" id="{3752BAD9-8291-716A-5B12-FE145484EA13}"/>
                  </a:ext>
                </a:extLst>
              </p:cNvPr>
              <p:cNvSpPr/>
              <p:nvPr/>
            </p:nvSpPr>
            <p:spPr>
              <a:xfrm rot="12690131">
                <a:off x="4445813" y="4430856"/>
                <a:ext cx="161514" cy="462077"/>
              </a:xfrm>
              <a:prstGeom prst="curved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96" name="Arrow: Curved Left 95">
                <a:extLst>
                  <a:ext uri="{FF2B5EF4-FFF2-40B4-BE49-F238E27FC236}">
                    <a16:creationId xmlns:a16="http://schemas.microsoft.com/office/drawing/2014/main" id="{ADFEA7B2-63EB-582A-AF11-187A9365CE4A}"/>
                  </a:ext>
                </a:extLst>
              </p:cNvPr>
              <p:cNvSpPr/>
              <p:nvPr/>
            </p:nvSpPr>
            <p:spPr>
              <a:xfrm rot="16200000">
                <a:off x="5506521" y="4146468"/>
                <a:ext cx="161514" cy="462077"/>
              </a:xfrm>
              <a:prstGeom prst="curved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grpSp>
      </p:grpSp>
      <p:grpSp>
        <p:nvGrpSpPr>
          <p:cNvPr id="106" name="Group 105">
            <a:extLst>
              <a:ext uri="{FF2B5EF4-FFF2-40B4-BE49-F238E27FC236}">
                <a16:creationId xmlns:a16="http://schemas.microsoft.com/office/drawing/2014/main" id="{F0EA1697-6F77-C325-67F0-CE4324D422A3}"/>
              </a:ext>
            </a:extLst>
          </p:cNvPr>
          <p:cNvGrpSpPr/>
          <p:nvPr/>
        </p:nvGrpSpPr>
        <p:grpSpPr>
          <a:xfrm>
            <a:off x="9552203" y="3425422"/>
            <a:ext cx="1579022" cy="778999"/>
            <a:chOff x="9571970" y="3189368"/>
            <a:chExt cx="1579022" cy="778999"/>
          </a:xfrm>
        </p:grpSpPr>
        <p:sp>
          <p:nvSpPr>
            <p:cNvPr id="103" name="TextBox 102">
              <a:extLst>
                <a:ext uri="{FF2B5EF4-FFF2-40B4-BE49-F238E27FC236}">
                  <a16:creationId xmlns:a16="http://schemas.microsoft.com/office/drawing/2014/main" id="{66B3533F-02AC-848B-3FD3-FCDD68AB3C53}"/>
                </a:ext>
              </a:extLst>
            </p:cNvPr>
            <p:cNvSpPr txBox="1"/>
            <p:nvPr/>
          </p:nvSpPr>
          <p:spPr>
            <a:xfrm>
              <a:off x="9571970" y="3189368"/>
              <a:ext cx="1579022" cy="400110"/>
            </a:xfrm>
            <a:prstGeom prst="rect">
              <a:avLst/>
            </a:prstGeom>
          </p:spPr>
          <p:style>
            <a:lnRef idx="1">
              <a:schemeClr val="dk1"/>
            </a:lnRef>
            <a:fillRef idx="3">
              <a:schemeClr val="dk1"/>
            </a:fillRef>
            <a:effectRef idx="2">
              <a:schemeClr val="dk1"/>
            </a:effectRef>
            <a:fontRef idx="minor">
              <a:schemeClr val="lt1"/>
            </a:fontRef>
          </p:style>
          <p:txBody>
            <a:bodyPr wrap="none" rtlCol="0">
              <a:spAutoFit/>
            </a:bodyPr>
            <a:lstStyle/>
            <a:p>
              <a:r>
                <a:rPr lang="en-US" sz="2000" b="1" dirty="0">
                  <a:latin typeface="Calibri" panose="020F0502020204030204" pitchFamily="34" charset="0"/>
                  <a:cs typeface="Calibri" panose="020F0502020204030204" pitchFamily="34" charset="0"/>
                </a:rPr>
                <a:t>Ans: </a:t>
              </a:r>
              <a:r>
                <a:rPr lang="en-US" i="1" dirty="0">
                  <a:latin typeface="Calibri" panose="020F0502020204030204" pitchFamily="34" charset="0"/>
                  <a:cs typeface="Calibri" panose="020F0502020204030204" pitchFamily="34" charset="0"/>
                </a:rPr>
                <a:t>Attention</a:t>
              </a:r>
            </a:p>
          </p:txBody>
        </p:sp>
        <p:pic>
          <p:nvPicPr>
            <p:cNvPr id="105" name="Graphic 104" descr="Right pointing backhand index with solid fill">
              <a:extLst>
                <a:ext uri="{FF2B5EF4-FFF2-40B4-BE49-F238E27FC236}">
                  <a16:creationId xmlns:a16="http://schemas.microsoft.com/office/drawing/2014/main" id="{6631D72B-0FED-4550-E8B8-1ADC3BAFEA8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rot="5400000">
              <a:off x="10257068" y="3628121"/>
              <a:ext cx="340246" cy="340246"/>
            </a:xfrm>
            <a:prstGeom prst="rect">
              <a:avLst/>
            </a:prstGeom>
          </p:spPr>
        </p:pic>
      </p:grpSp>
      <p:pic>
        <p:nvPicPr>
          <p:cNvPr id="108" name="Picture 107">
            <a:extLst>
              <a:ext uri="{FF2B5EF4-FFF2-40B4-BE49-F238E27FC236}">
                <a16:creationId xmlns:a16="http://schemas.microsoft.com/office/drawing/2014/main" id="{B6B1C168-E739-0916-F5E3-53C9DA3F0B7F}"/>
              </a:ext>
            </a:extLst>
          </p:cNvPr>
          <p:cNvPicPr>
            <a:picLocks noChangeAspect="1"/>
          </p:cNvPicPr>
          <p:nvPr/>
        </p:nvPicPr>
        <p:blipFill>
          <a:blip r:embed="rId16" cstate="print">
            <a:extLst>
              <a:ext uri="{BEBA8EAE-BF5A-486C-A8C5-ECC9F3942E4B}">
                <a14:imgProps xmlns:a14="http://schemas.microsoft.com/office/drawing/2010/main">
                  <a14:imgLayer r:embed="rId17">
                    <a14:imgEffect>
                      <a14:backgroundRemoval t="7069" b="94138" l="7500" r="90000">
                        <a14:foregroundMark x1="47500" y1="27069" x2="47500" y2="27069"/>
                        <a14:foregroundMark x1="40500" y1="45345" x2="40500" y2="45345"/>
                        <a14:foregroundMark x1="38250" y1="53621" x2="38750" y2="42241"/>
                        <a14:foregroundMark x1="38750" y1="42241" x2="45250" y2="83793"/>
                        <a14:foregroundMark x1="45250" y1="83793" x2="51750" y2="91724"/>
                        <a14:foregroundMark x1="51750" y1="91724" x2="56750" y2="93621"/>
                        <a14:foregroundMark x1="59000" y1="93621" x2="59000" y2="93621"/>
                        <a14:foregroundMark x1="60250" y1="93621" x2="60250" y2="93621"/>
                        <a14:foregroundMark x1="62000" y1="94138" x2="62000" y2="94138"/>
                        <a14:foregroundMark x1="62000" y1="93621" x2="60250" y2="92759"/>
                        <a14:foregroundMark x1="55750" y1="93793" x2="46250" y2="92586"/>
                        <a14:foregroundMark x1="34250" y1="92586" x2="24000" y2="93621"/>
                        <a14:foregroundMark x1="24000" y1="93621" x2="24500" y2="92586"/>
                        <a14:foregroundMark x1="36250" y1="93276" x2="36250" y2="92586"/>
                        <a14:foregroundMark x1="22750" y1="92931" x2="25250" y2="92586"/>
                        <a14:foregroundMark x1="22000" y1="93793" x2="24000" y2="92414"/>
                        <a14:foregroundMark x1="45000" y1="48448" x2="51500" y2="54655"/>
                        <a14:foregroundMark x1="51500" y1="54655" x2="60000" y2="46379"/>
                        <a14:foregroundMark x1="66434" y1="46907" x2="70500" y2="47241"/>
                        <a14:foregroundMark x1="60000" y1="46379" x2="64196" y2="46723"/>
                        <a14:foregroundMark x1="70500" y1="47241" x2="68427" y2="44901"/>
                        <a14:foregroundMark x1="28750" y1="49655" x2="18000" y2="44655"/>
                        <a14:foregroundMark x1="18000" y1="44655" x2="7500" y2="44655"/>
                        <a14:foregroundMark x1="7500" y1="44655" x2="18500" y2="43448"/>
                        <a14:foregroundMark x1="18500" y1="43448" x2="21000" y2="47241"/>
                        <a14:foregroundMark x1="12750" y1="42241" x2="10000" y2="41379"/>
                        <a14:foregroundMark x1="79500" y1="16207" x2="88000" y2="11379"/>
                        <a14:foregroundMark x1="88000" y1="11379" x2="74250" y2="7069"/>
                        <a14:foregroundMark x1="74250" y1="7069" x2="71250" y2="10690"/>
                        <a14:foregroundMark x1="73750" y1="28448" x2="72750" y2="32414"/>
                        <a14:foregroundMark x1="29250" y1="88793" x2="20250" y2="93793"/>
                        <a14:foregroundMark x1="20250" y1="93793" x2="20000" y2="94138"/>
                        <a14:foregroundMark x1="61750" y1="93103" x2="52750" y2="88966"/>
                        <a14:foregroundMark x1="52750" y1="88966" x2="52250" y2="88276"/>
                        <a14:backgroundMark x1="66250" y1="44655" x2="68500" y2="44828"/>
                      </a14:backgroundRemoval>
                    </a14:imgEffect>
                  </a14:imgLayer>
                </a14:imgProps>
              </a:ext>
              <a:ext uri="{28A0092B-C50C-407E-A947-70E740481C1C}">
                <a14:useLocalDpi xmlns:a14="http://schemas.microsoft.com/office/drawing/2010/main" val="0"/>
              </a:ext>
            </a:extLst>
          </a:blip>
          <a:stretch>
            <a:fillRect/>
          </a:stretch>
        </p:blipFill>
        <p:spPr>
          <a:xfrm>
            <a:off x="3440916" y="2180851"/>
            <a:ext cx="1448999" cy="2101049"/>
          </a:xfrm>
          <a:prstGeom prst="rect">
            <a:avLst/>
          </a:prstGeom>
        </p:spPr>
      </p:pic>
      <p:sp>
        <p:nvSpPr>
          <p:cNvPr id="113" name="Callout: Line with No Border 112">
            <a:extLst>
              <a:ext uri="{FF2B5EF4-FFF2-40B4-BE49-F238E27FC236}">
                <a16:creationId xmlns:a16="http://schemas.microsoft.com/office/drawing/2014/main" id="{AF2F68BE-A234-FEA1-1F35-7DB7546B1148}"/>
              </a:ext>
            </a:extLst>
          </p:cNvPr>
          <p:cNvSpPr/>
          <p:nvPr/>
        </p:nvSpPr>
        <p:spPr>
          <a:xfrm>
            <a:off x="4889915" y="2854031"/>
            <a:ext cx="811264" cy="276999"/>
          </a:xfrm>
          <a:prstGeom prst="callout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1400" dirty="0">
                <a:latin typeface="Calibri" panose="020F0502020204030204" pitchFamily="34" charset="0"/>
                <a:cs typeface="Calibri" panose="020F0502020204030204" pitchFamily="34" charset="0"/>
              </a:rPr>
              <a:t>How ???</a:t>
            </a:r>
          </a:p>
        </p:txBody>
      </p:sp>
      <p:sp>
        <p:nvSpPr>
          <p:cNvPr id="3" name="TextBox 2">
            <a:extLst>
              <a:ext uri="{FF2B5EF4-FFF2-40B4-BE49-F238E27FC236}">
                <a16:creationId xmlns:a16="http://schemas.microsoft.com/office/drawing/2014/main" id="{18F4B424-9215-A171-AA98-09FD47F79872}"/>
              </a:ext>
            </a:extLst>
          </p:cNvPr>
          <p:cNvSpPr txBox="1"/>
          <p:nvPr/>
        </p:nvSpPr>
        <p:spPr>
          <a:xfrm>
            <a:off x="5569917" y="4328438"/>
            <a:ext cx="6469683" cy="1933863"/>
          </a:xfrm>
          <a:prstGeom prst="rect">
            <a:avLst/>
          </a:prstGeom>
          <a:noFill/>
        </p:spPr>
        <p:txBody>
          <a:bodyPr wrap="square">
            <a:spAutoFit/>
          </a:bodyPr>
          <a:lstStyle/>
          <a:p>
            <a:pPr marL="0" marR="0" indent="0" algn="l">
              <a:spcBef>
                <a:spcPts val="4200"/>
              </a:spcBef>
              <a:spcAft>
                <a:spcPts val="1350"/>
              </a:spcAft>
              <a:buNone/>
            </a:pPr>
            <a:r>
              <a:rPr lang="en-US" b="1" i="0" dirty="0">
                <a:solidFill>
                  <a:schemeClr val="tx1"/>
                </a:solidFill>
                <a:effectLst/>
                <a:latin typeface="Calibri" panose="020F0502020204030204" pitchFamily="34" charset="0"/>
                <a:cs typeface="Calibri" panose="020F0502020204030204" pitchFamily="34" charset="0"/>
                <a:hlinkClick r:id="rId18" tooltip="Attention Mechanism"/>
              </a:rPr>
              <a:t>What is Attention Mechanism?</a:t>
            </a:r>
            <a:endParaRPr lang="en-US" b="1" i="0" dirty="0">
              <a:solidFill>
                <a:schemeClr val="tx1"/>
              </a:solidFill>
              <a:effectLst/>
              <a:latin typeface="Calibri" panose="020F0502020204030204" pitchFamily="34" charset="0"/>
              <a:cs typeface="Calibri" panose="020F0502020204030204" pitchFamily="34" charset="0"/>
            </a:endParaRPr>
          </a:p>
          <a:p>
            <a:pPr marL="285750" indent="-285750" algn="just">
              <a:spcAft>
                <a:spcPts val="1650"/>
              </a:spcAft>
              <a:buFont typeface="Arial" panose="020B0604020202020204" pitchFamily="34" charset="0"/>
              <a:buChar char="•"/>
            </a:pPr>
            <a:r>
              <a:rPr lang="en-US" sz="1800" b="0" i="0" dirty="0">
                <a:solidFill>
                  <a:schemeClr val="tx1"/>
                </a:solidFill>
                <a:effectLst/>
                <a:latin typeface="Calibri" panose="020F0502020204030204" pitchFamily="34" charset="0"/>
                <a:cs typeface="Calibri" panose="020F0502020204030204" pitchFamily="34" charset="0"/>
              </a:rPr>
              <a:t>An Attention Mechanism is a technique in neural networks that allows models to focus on specific parts of input data, enhancing performance by prioritizing relevant information. This approach benefits AI applications by improving context understanding and decision-making.</a:t>
            </a:r>
            <a:endParaRPr lang="en-US" sz="1200" b="0" i="0" dirty="0">
              <a:solidFill>
                <a:srgbClr val="2A1F1A"/>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1547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1D80-E7FD-090F-41B5-2FAB0E018A3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FF5EA32-7DFA-E527-F78C-55567C99C8CC}"/>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buNone/>
            </a:pPr>
            <a:r>
              <a:rPr lang="en-US" sz="3200" b="1" dirty="0">
                <a:latin typeface="Calibri" panose="020F0502020204030204" pitchFamily="34" charset="0"/>
                <a:cs typeface="Calibri" panose="020F0502020204030204" pitchFamily="34" charset="0"/>
              </a:rPr>
              <a:t>What Do We Need Next? (cont…)</a:t>
            </a:r>
          </a:p>
        </p:txBody>
      </p:sp>
      <p:sp>
        <p:nvSpPr>
          <p:cNvPr id="9" name="Rectangle 4">
            <a:extLst>
              <a:ext uri="{FF2B5EF4-FFF2-40B4-BE49-F238E27FC236}">
                <a16:creationId xmlns:a16="http://schemas.microsoft.com/office/drawing/2014/main" id="{84025348-EC8D-9BF8-FBF8-8ECF63477765}"/>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91C51C1C-0146-50E8-F522-D8EBE6C1ADC0}"/>
              </a:ext>
            </a:extLst>
          </p:cNvPr>
          <p:cNvPicPr>
            <a:picLocks noChangeAspect="1"/>
          </p:cNvPicPr>
          <p:nvPr/>
        </p:nvPicPr>
        <p:blipFill>
          <a:blip r:embed="rId2">
            <a:extLst>
              <a:ext uri="{28A0092B-C50C-407E-A947-70E740481C1C}">
                <a14:useLocalDpi xmlns:a14="http://schemas.microsoft.com/office/drawing/2010/main" val="0"/>
              </a:ext>
            </a:extLst>
          </a:blip>
          <a:srcRect l="83255" t="34141" r="3339" b="9617"/>
          <a:stretch>
            <a:fillRect/>
          </a:stretch>
        </p:blipFill>
        <p:spPr>
          <a:xfrm>
            <a:off x="10232051" y="2975925"/>
            <a:ext cx="1532412" cy="2057400"/>
          </a:xfrm>
          <a:prstGeom prst="rect">
            <a:avLst/>
          </a:prstGeom>
        </p:spPr>
      </p:pic>
      <p:sp>
        <p:nvSpPr>
          <p:cNvPr id="10" name="Rectangle: Rounded Corners 9">
            <a:extLst>
              <a:ext uri="{FF2B5EF4-FFF2-40B4-BE49-F238E27FC236}">
                <a16:creationId xmlns:a16="http://schemas.microsoft.com/office/drawing/2014/main" id="{CD1CCACE-133A-0529-5F99-9867A801E543}"/>
              </a:ext>
            </a:extLst>
          </p:cNvPr>
          <p:cNvSpPr/>
          <p:nvPr/>
        </p:nvSpPr>
        <p:spPr>
          <a:xfrm>
            <a:off x="533400" y="1918756"/>
            <a:ext cx="1371600" cy="381000"/>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libri" panose="020F0502020204030204" pitchFamily="34" charset="0"/>
                <a:cs typeface="Calibri" panose="020F0502020204030204" pitchFamily="34" charset="0"/>
              </a:rPr>
              <a:t>1. Raw Input</a:t>
            </a:r>
          </a:p>
        </p:txBody>
      </p:sp>
      <p:sp>
        <p:nvSpPr>
          <p:cNvPr id="13" name="Rectangle: Rounded Corners 12">
            <a:extLst>
              <a:ext uri="{FF2B5EF4-FFF2-40B4-BE49-F238E27FC236}">
                <a16:creationId xmlns:a16="http://schemas.microsoft.com/office/drawing/2014/main" id="{C15F52CA-A7D5-A21D-7C6A-C810178638D3}"/>
              </a:ext>
            </a:extLst>
          </p:cNvPr>
          <p:cNvSpPr/>
          <p:nvPr/>
        </p:nvSpPr>
        <p:spPr>
          <a:xfrm>
            <a:off x="2294412" y="1911476"/>
            <a:ext cx="2185553" cy="388280"/>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libri" panose="020F0502020204030204" pitchFamily="34" charset="0"/>
                <a:cs typeface="Calibri" panose="020F0502020204030204" pitchFamily="34" charset="0"/>
              </a:rPr>
              <a:t>2. Split into patches (6x6)</a:t>
            </a:r>
          </a:p>
        </p:txBody>
      </p:sp>
      <p:sp>
        <p:nvSpPr>
          <p:cNvPr id="15" name="Rectangle: Rounded Corners 14">
            <a:extLst>
              <a:ext uri="{FF2B5EF4-FFF2-40B4-BE49-F238E27FC236}">
                <a16:creationId xmlns:a16="http://schemas.microsoft.com/office/drawing/2014/main" id="{FC50AE51-68CA-21D7-CD3A-19683A1D7C88}"/>
              </a:ext>
            </a:extLst>
          </p:cNvPr>
          <p:cNvSpPr/>
          <p:nvPr/>
        </p:nvSpPr>
        <p:spPr>
          <a:xfrm>
            <a:off x="4986151" y="1909673"/>
            <a:ext cx="1219201" cy="381000"/>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libri" panose="020F0502020204030204" pitchFamily="34" charset="0"/>
                <a:cs typeface="Calibri" panose="020F0502020204030204" pitchFamily="34" charset="0"/>
              </a:rPr>
              <a:t>3. Attention</a:t>
            </a:r>
          </a:p>
        </p:txBody>
      </p:sp>
      <p:sp>
        <p:nvSpPr>
          <p:cNvPr id="18" name="Rectangle: Rounded Corners 17">
            <a:extLst>
              <a:ext uri="{FF2B5EF4-FFF2-40B4-BE49-F238E27FC236}">
                <a16:creationId xmlns:a16="http://schemas.microsoft.com/office/drawing/2014/main" id="{0C34299C-9F28-B96D-8EFF-E008AB82F409}"/>
              </a:ext>
            </a:extLst>
          </p:cNvPr>
          <p:cNvSpPr/>
          <p:nvPr/>
        </p:nvSpPr>
        <p:spPr>
          <a:xfrm>
            <a:off x="6705600" y="1920559"/>
            <a:ext cx="2917371" cy="370114"/>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libri" panose="020F0502020204030204" pitchFamily="34" charset="0"/>
                <a:cs typeface="Calibri" panose="020F0502020204030204" pitchFamily="34" charset="0"/>
              </a:rPr>
              <a:t>4. Results: Focus on Important Parts</a:t>
            </a:r>
          </a:p>
        </p:txBody>
      </p:sp>
      <p:sp>
        <p:nvSpPr>
          <p:cNvPr id="20" name="Rectangle: Rounded Corners 19">
            <a:extLst>
              <a:ext uri="{FF2B5EF4-FFF2-40B4-BE49-F238E27FC236}">
                <a16:creationId xmlns:a16="http://schemas.microsoft.com/office/drawing/2014/main" id="{9C0827E7-F548-0D81-9E87-C8BB6CCA25D4}"/>
              </a:ext>
            </a:extLst>
          </p:cNvPr>
          <p:cNvSpPr/>
          <p:nvPr/>
        </p:nvSpPr>
        <p:spPr>
          <a:xfrm>
            <a:off x="9897588" y="1920559"/>
            <a:ext cx="2117766" cy="370114"/>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libri" panose="020F0502020204030204" pitchFamily="34" charset="0"/>
                <a:cs typeface="Calibri" panose="020F0502020204030204" pitchFamily="34" charset="0"/>
              </a:rPr>
              <a:t>5. Output/ Understanding</a:t>
            </a:r>
          </a:p>
        </p:txBody>
      </p:sp>
      <p:pic>
        <p:nvPicPr>
          <p:cNvPr id="22" name="Picture 21">
            <a:extLst>
              <a:ext uri="{FF2B5EF4-FFF2-40B4-BE49-F238E27FC236}">
                <a16:creationId xmlns:a16="http://schemas.microsoft.com/office/drawing/2014/main" id="{974191FD-7E1E-8598-E7FB-D14B7F444A61}"/>
              </a:ext>
            </a:extLst>
          </p:cNvPr>
          <p:cNvPicPr>
            <a:picLocks noChangeAspect="1"/>
          </p:cNvPicPr>
          <p:nvPr/>
        </p:nvPicPr>
        <p:blipFill>
          <a:blip r:embed="rId3">
            <a:extLst>
              <a:ext uri="{28A0092B-C50C-407E-A947-70E740481C1C}">
                <a14:useLocalDpi xmlns:a14="http://schemas.microsoft.com/office/drawing/2010/main" val="0"/>
              </a:ext>
            </a:extLst>
          </a:blip>
          <a:srcRect l="22055" r="17938"/>
          <a:stretch>
            <a:fillRect/>
          </a:stretch>
        </p:blipFill>
        <p:spPr>
          <a:xfrm>
            <a:off x="533400" y="3097624"/>
            <a:ext cx="1371601" cy="1706577"/>
          </a:xfrm>
          <a:prstGeom prst="rect">
            <a:avLst/>
          </a:prstGeom>
        </p:spPr>
      </p:pic>
      <p:pic>
        <p:nvPicPr>
          <p:cNvPr id="24" name="Picture 23">
            <a:extLst>
              <a:ext uri="{FF2B5EF4-FFF2-40B4-BE49-F238E27FC236}">
                <a16:creationId xmlns:a16="http://schemas.microsoft.com/office/drawing/2014/main" id="{7F45F205-216F-AF63-8627-56F9EBAE99B7}"/>
              </a:ext>
            </a:extLst>
          </p:cNvPr>
          <p:cNvPicPr>
            <a:picLocks noChangeAspect="1"/>
          </p:cNvPicPr>
          <p:nvPr/>
        </p:nvPicPr>
        <p:blipFill>
          <a:blip r:embed="rId3">
            <a:extLst>
              <a:ext uri="{28A0092B-C50C-407E-A947-70E740481C1C}">
                <a14:useLocalDpi xmlns:a14="http://schemas.microsoft.com/office/drawing/2010/main" val="0"/>
              </a:ext>
            </a:extLst>
          </a:blip>
          <a:srcRect l="22055" r="17938"/>
          <a:stretch>
            <a:fillRect/>
          </a:stretch>
        </p:blipFill>
        <p:spPr>
          <a:xfrm>
            <a:off x="2294412" y="2918472"/>
            <a:ext cx="1820388" cy="2264968"/>
          </a:xfrm>
          <a:prstGeom prst="rect">
            <a:avLst/>
          </a:prstGeom>
        </p:spPr>
      </p:pic>
      <p:graphicFrame>
        <p:nvGraphicFramePr>
          <p:cNvPr id="27" name="Table 26">
            <a:extLst>
              <a:ext uri="{FF2B5EF4-FFF2-40B4-BE49-F238E27FC236}">
                <a16:creationId xmlns:a16="http://schemas.microsoft.com/office/drawing/2014/main" id="{D742EF9F-2FC6-7241-BCCB-61E1C1A7A258}"/>
              </a:ext>
            </a:extLst>
          </p:cNvPr>
          <p:cNvGraphicFramePr>
            <a:graphicFrameLocks noGrp="1"/>
          </p:cNvGraphicFramePr>
          <p:nvPr>
            <p:extLst>
              <p:ext uri="{D42A27DB-BD31-4B8C-83A1-F6EECF244321}">
                <p14:modId xmlns:p14="http://schemas.microsoft.com/office/powerpoint/2010/main" val="2877620574"/>
              </p:ext>
            </p:extLst>
          </p:nvPr>
        </p:nvGraphicFramePr>
        <p:xfrm>
          <a:off x="2294412" y="2918472"/>
          <a:ext cx="1820388" cy="2264970"/>
        </p:xfrm>
        <a:graphic>
          <a:graphicData uri="http://schemas.openxmlformats.org/drawingml/2006/table">
            <a:tbl>
              <a:tblPr firstRow="1" bandRow="1">
                <a:tableStyleId>{5C22544A-7EE6-4342-B048-85BDC9FD1C3A}</a:tableStyleId>
              </a:tblPr>
              <a:tblGrid>
                <a:gridCol w="303398">
                  <a:extLst>
                    <a:ext uri="{9D8B030D-6E8A-4147-A177-3AD203B41FA5}">
                      <a16:colId xmlns:a16="http://schemas.microsoft.com/office/drawing/2014/main" val="2509217837"/>
                    </a:ext>
                  </a:extLst>
                </a:gridCol>
                <a:gridCol w="303398">
                  <a:extLst>
                    <a:ext uri="{9D8B030D-6E8A-4147-A177-3AD203B41FA5}">
                      <a16:colId xmlns:a16="http://schemas.microsoft.com/office/drawing/2014/main" val="1014412647"/>
                    </a:ext>
                  </a:extLst>
                </a:gridCol>
                <a:gridCol w="303398">
                  <a:extLst>
                    <a:ext uri="{9D8B030D-6E8A-4147-A177-3AD203B41FA5}">
                      <a16:colId xmlns:a16="http://schemas.microsoft.com/office/drawing/2014/main" val="3443193734"/>
                    </a:ext>
                  </a:extLst>
                </a:gridCol>
                <a:gridCol w="303398">
                  <a:extLst>
                    <a:ext uri="{9D8B030D-6E8A-4147-A177-3AD203B41FA5}">
                      <a16:colId xmlns:a16="http://schemas.microsoft.com/office/drawing/2014/main" val="1796603683"/>
                    </a:ext>
                  </a:extLst>
                </a:gridCol>
                <a:gridCol w="303398">
                  <a:extLst>
                    <a:ext uri="{9D8B030D-6E8A-4147-A177-3AD203B41FA5}">
                      <a16:colId xmlns:a16="http://schemas.microsoft.com/office/drawing/2014/main" val="1018363428"/>
                    </a:ext>
                  </a:extLst>
                </a:gridCol>
                <a:gridCol w="303398">
                  <a:extLst>
                    <a:ext uri="{9D8B030D-6E8A-4147-A177-3AD203B41FA5}">
                      <a16:colId xmlns:a16="http://schemas.microsoft.com/office/drawing/2014/main" val="3481506064"/>
                    </a:ext>
                  </a:extLst>
                </a:gridCol>
              </a:tblGrid>
              <a:tr h="3774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182275"/>
                  </a:ext>
                </a:extLst>
              </a:tr>
              <a:tr h="3774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3435975"/>
                  </a:ext>
                </a:extLst>
              </a:tr>
              <a:tr h="3774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3262402"/>
                  </a:ext>
                </a:extLst>
              </a:tr>
              <a:tr h="3774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9621443"/>
                  </a:ext>
                </a:extLst>
              </a:tr>
              <a:tr h="3774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0878232"/>
                  </a:ext>
                </a:extLst>
              </a:tr>
              <a:tr h="377495">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283747"/>
                  </a:ext>
                </a:extLst>
              </a:tr>
            </a:tbl>
          </a:graphicData>
        </a:graphic>
      </p:graphicFrame>
      <p:sp>
        <p:nvSpPr>
          <p:cNvPr id="31" name="Arrow: Right 30">
            <a:extLst>
              <a:ext uri="{FF2B5EF4-FFF2-40B4-BE49-F238E27FC236}">
                <a16:creationId xmlns:a16="http://schemas.microsoft.com/office/drawing/2014/main" id="{5BDA0318-4514-A3F5-8681-8EF5292B0977}"/>
              </a:ext>
            </a:extLst>
          </p:cNvPr>
          <p:cNvSpPr/>
          <p:nvPr/>
        </p:nvSpPr>
        <p:spPr>
          <a:xfrm>
            <a:off x="1905000" y="3844988"/>
            <a:ext cx="313212" cy="205968"/>
          </a:xfrm>
          <a:prstGeom prst="rightArrow">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Arrow: Right 33">
            <a:extLst>
              <a:ext uri="{FF2B5EF4-FFF2-40B4-BE49-F238E27FC236}">
                <a16:creationId xmlns:a16="http://schemas.microsoft.com/office/drawing/2014/main" id="{87392ED7-E55B-8743-2D2D-611AD17AB652}"/>
              </a:ext>
            </a:extLst>
          </p:cNvPr>
          <p:cNvSpPr/>
          <p:nvPr/>
        </p:nvSpPr>
        <p:spPr>
          <a:xfrm>
            <a:off x="4191000" y="3844988"/>
            <a:ext cx="313212" cy="205968"/>
          </a:xfrm>
          <a:prstGeom prst="rightArrow">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pic>
        <p:nvPicPr>
          <p:cNvPr id="39" name="Graphic 38">
            <a:extLst>
              <a:ext uri="{FF2B5EF4-FFF2-40B4-BE49-F238E27FC236}">
                <a16:creationId xmlns:a16="http://schemas.microsoft.com/office/drawing/2014/main" id="{A167EFFA-0787-E12D-F8D0-067FB954B809}"/>
              </a:ext>
            </a:extLst>
          </p:cNvPr>
          <p:cNvPicPr>
            <a:picLocks noChangeAspect="1"/>
          </p:cNvPicPr>
          <p:nvPr/>
        </p:nvPicPr>
        <p:blipFill>
          <a:blip>
            <a:extLst>
              <a:ext uri="{96DAC541-7B7A-43D3-8B79-37D633B846F1}">
                <asvg:svgBlip xmlns:asvg="http://schemas.microsoft.com/office/drawing/2016/SVG/main" r:embed="rId4"/>
              </a:ext>
            </a:extLst>
          </a:blip>
          <a:srcRect l="7701"/>
          <a:stretch>
            <a:fillRect/>
          </a:stretch>
        </p:blipFill>
        <p:spPr>
          <a:xfrm>
            <a:off x="4343400" y="3326263"/>
            <a:ext cx="2732054" cy="1356724"/>
          </a:xfrm>
          <a:prstGeom prst="rect">
            <a:avLst/>
          </a:prstGeom>
        </p:spPr>
      </p:pic>
      <p:pic>
        <p:nvPicPr>
          <p:cNvPr id="41" name="Picture 40">
            <a:extLst>
              <a:ext uri="{FF2B5EF4-FFF2-40B4-BE49-F238E27FC236}">
                <a16:creationId xmlns:a16="http://schemas.microsoft.com/office/drawing/2014/main" id="{242890AD-1E33-F942-11E7-52895486C078}"/>
              </a:ext>
            </a:extLst>
          </p:cNvPr>
          <p:cNvPicPr>
            <a:picLocks noChangeAspect="1"/>
          </p:cNvPicPr>
          <p:nvPr/>
        </p:nvPicPr>
        <p:blipFill>
          <a:blip r:embed="rId2">
            <a:extLst>
              <a:ext uri="{28A0092B-C50C-407E-A947-70E740481C1C}">
                <a14:useLocalDpi xmlns:a14="http://schemas.microsoft.com/office/drawing/2010/main" val="0"/>
              </a:ext>
            </a:extLst>
          </a:blip>
          <a:srcRect l="60047" t="25851" r="22622" b="14565"/>
          <a:stretch>
            <a:fillRect/>
          </a:stretch>
        </p:blipFill>
        <p:spPr>
          <a:xfrm>
            <a:off x="7467600" y="2914813"/>
            <a:ext cx="1981200" cy="2179623"/>
          </a:xfrm>
          <a:prstGeom prst="rect">
            <a:avLst/>
          </a:prstGeom>
        </p:spPr>
      </p:pic>
      <p:sp>
        <p:nvSpPr>
          <p:cNvPr id="43" name="Arrow: Right 42">
            <a:extLst>
              <a:ext uri="{FF2B5EF4-FFF2-40B4-BE49-F238E27FC236}">
                <a16:creationId xmlns:a16="http://schemas.microsoft.com/office/drawing/2014/main" id="{F2BDC543-D0A2-B1A0-C100-5D1ED6FD2685}"/>
              </a:ext>
            </a:extLst>
          </p:cNvPr>
          <p:cNvSpPr/>
          <p:nvPr/>
        </p:nvSpPr>
        <p:spPr>
          <a:xfrm>
            <a:off x="6894355" y="3844988"/>
            <a:ext cx="313212" cy="205968"/>
          </a:xfrm>
          <a:prstGeom prst="rightArrow">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5" name="Arrow: Right 44">
            <a:extLst>
              <a:ext uri="{FF2B5EF4-FFF2-40B4-BE49-F238E27FC236}">
                <a16:creationId xmlns:a16="http://schemas.microsoft.com/office/drawing/2014/main" id="{3E9FA6E9-8EBF-89B9-A756-7424EC02350A}"/>
              </a:ext>
            </a:extLst>
          </p:cNvPr>
          <p:cNvSpPr/>
          <p:nvPr/>
        </p:nvSpPr>
        <p:spPr>
          <a:xfrm>
            <a:off x="9584376" y="3831802"/>
            <a:ext cx="313212" cy="205968"/>
          </a:xfrm>
          <a:prstGeom prst="rightArrow">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514292D9-95CC-98E1-055C-82D9CED16790}"/>
              </a:ext>
            </a:extLst>
          </p:cNvPr>
          <p:cNvSpPr txBox="1"/>
          <p:nvPr/>
        </p:nvSpPr>
        <p:spPr>
          <a:xfrm>
            <a:off x="609600" y="5602069"/>
            <a:ext cx="1219200" cy="646331"/>
          </a:xfrm>
          <a:prstGeom prst="rect">
            <a:avLst/>
          </a:prstGeom>
          <a:noFill/>
        </p:spPr>
        <p:txBody>
          <a:bodyPr wrap="square" rtlCol="0">
            <a:spAutoFit/>
          </a:bodyPr>
          <a:lstStyle/>
          <a:p>
            <a:pPr algn="ctr"/>
            <a:r>
              <a:rPr lang="en-US" sz="1200" dirty="0">
                <a:latin typeface="Calibri" panose="020F0502020204030204" pitchFamily="34" charset="0"/>
                <a:cs typeface="Calibri" panose="020F0502020204030204" pitchFamily="34" charset="0"/>
              </a:rPr>
              <a:t>The Model Receives Raw data</a:t>
            </a:r>
          </a:p>
        </p:txBody>
      </p:sp>
      <p:sp>
        <p:nvSpPr>
          <p:cNvPr id="49" name="TextBox 48">
            <a:extLst>
              <a:ext uri="{FF2B5EF4-FFF2-40B4-BE49-F238E27FC236}">
                <a16:creationId xmlns:a16="http://schemas.microsoft.com/office/drawing/2014/main" id="{01F1D255-A2C8-AF30-30C0-E00A1834E637}"/>
              </a:ext>
            </a:extLst>
          </p:cNvPr>
          <p:cNvSpPr txBox="1"/>
          <p:nvPr/>
        </p:nvSpPr>
        <p:spPr>
          <a:xfrm>
            <a:off x="2294412" y="5602069"/>
            <a:ext cx="1820387" cy="646331"/>
          </a:xfrm>
          <a:prstGeom prst="rect">
            <a:avLst/>
          </a:prstGeom>
          <a:noFill/>
        </p:spPr>
        <p:txBody>
          <a:bodyPr wrap="square" rtlCol="0">
            <a:spAutoFit/>
          </a:bodyPr>
          <a:lstStyle>
            <a:defPPr>
              <a:defRPr lang="en-US"/>
            </a:defPPr>
            <a:lvl1pPr algn="ctr">
              <a:defRPr sz="1200">
                <a:latin typeface="Century Schoolbook" panose="02040604050505020304" pitchFamily="18" charset="0"/>
                <a:cs typeface="Calibri" panose="020F0502020204030204" pitchFamily="34" charset="0"/>
              </a:defRPr>
            </a:lvl1pPr>
          </a:lstStyle>
          <a:p>
            <a:r>
              <a:rPr lang="en-US" dirty="0">
                <a:latin typeface="Calibri" panose="020F0502020204030204" pitchFamily="34" charset="0"/>
              </a:rPr>
              <a:t>Each patch is converted into a vector (representation)</a:t>
            </a:r>
          </a:p>
        </p:txBody>
      </p:sp>
      <p:sp>
        <p:nvSpPr>
          <p:cNvPr id="51" name="TextBox 50">
            <a:extLst>
              <a:ext uri="{FF2B5EF4-FFF2-40B4-BE49-F238E27FC236}">
                <a16:creationId xmlns:a16="http://schemas.microsoft.com/office/drawing/2014/main" id="{0E8B8AF9-5AB3-CAF5-4AE5-D8ABDB1A6C76}"/>
              </a:ext>
            </a:extLst>
          </p:cNvPr>
          <p:cNvSpPr txBox="1"/>
          <p:nvPr/>
        </p:nvSpPr>
        <p:spPr>
          <a:xfrm>
            <a:off x="4756680" y="5602069"/>
            <a:ext cx="1905493" cy="646331"/>
          </a:xfrm>
          <a:prstGeom prst="rect">
            <a:avLst/>
          </a:prstGeom>
          <a:noFill/>
        </p:spPr>
        <p:txBody>
          <a:bodyPr wrap="square" rtlCol="0">
            <a:spAutoFit/>
          </a:bodyPr>
          <a:lstStyle>
            <a:defPPr>
              <a:defRPr lang="en-US"/>
            </a:defPPr>
            <a:lvl1pPr algn="ctr">
              <a:defRPr sz="1200">
                <a:latin typeface="Century Schoolbook" panose="02040604050505020304" pitchFamily="18" charset="0"/>
                <a:cs typeface="Calibri" panose="020F0502020204030204" pitchFamily="34" charset="0"/>
              </a:defRPr>
            </a:lvl1pPr>
          </a:lstStyle>
          <a:p>
            <a:r>
              <a:rPr lang="en-US" dirty="0">
                <a:latin typeface="Calibri" panose="020F0502020204030204" pitchFamily="34" charset="0"/>
              </a:rPr>
              <a:t>Model understand the relationships between different parts</a:t>
            </a:r>
          </a:p>
        </p:txBody>
      </p:sp>
      <p:sp>
        <p:nvSpPr>
          <p:cNvPr id="54" name="TextBox 53">
            <a:extLst>
              <a:ext uri="{FF2B5EF4-FFF2-40B4-BE49-F238E27FC236}">
                <a16:creationId xmlns:a16="http://schemas.microsoft.com/office/drawing/2014/main" id="{7A1EEBFC-0876-74C8-9B43-5A6EE3F0A3D1}"/>
              </a:ext>
            </a:extLst>
          </p:cNvPr>
          <p:cNvSpPr txBox="1"/>
          <p:nvPr/>
        </p:nvSpPr>
        <p:spPr>
          <a:xfrm>
            <a:off x="7243206" y="5602069"/>
            <a:ext cx="2429988" cy="461665"/>
          </a:xfrm>
          <a:prstGeom prst="rect">
            <a:avLst/>
          </a:prstGeom>
          <a:noFill/>
        </p:spPr>
        <p:txBody>
          <a:bodyPr wrap="square" rtlCol="0">
            <a:spAutoFit/>
          </a:bodyPr>
          <a:lstStyle>
            <a:defPPr>
              <a:defRPr lang="en-US"/>
            </a:defPPr>
            <a:lvl1pPr algn="ctr">
              <a:defRPr sz="1200">
                <a:latin typeface="Century Schoolbook" panose="02040604050505020304" pitchFamily="18" charset="0"/>
                <a:cs typeface="Calibri" panose="020F0502020204030204" pitchFamily="34" charset="0"/>
              </a:defRPr>
            </a:lvl1pPr>
          </a:lstStyle>
          <a:p>
            <a:r>
              <a:rPr lang="en-US" dirty="0">
                <a:latin typeface="Calibri" panose="020F0502020204030204" pitchFamily="34" charset="0"/>
              </a:rPr>
              <a:t>Irrelevant parts (like background) get less focus</a:t>
            </a:r>
          </a:p>
        </p:txBody>
      </p:sp>
      <p:sp>
        <p:nvSpPr>
          <p:cNvPr id="55" name="Slide Number Placeholder 36">
            <a:extLst>
              <a:ext uri="{FF2B5EF4-FFF2-40B4-BE49-F238E27FC236}">
                <a16:creationId xmlns:a16="http://schemas.microsoft.com/office/drawing/2014/main" id="{49EF9C98-75AA-094E-254F-7C62348A3458}"/>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5</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59" name="TextBox 58">
            <a:extLst>
              <a:ext uri="{FF2B5EF4-FFF2-40B4-BE49-F238E27FC236}">
                <a16:creationId xmlns:a16="http://schemas.microsoft.com/office/drawing/2014/main" id="{44164144-3F89-6A39-E6F6-B7FAC289265B}"/>
              </a:ext>
            </a:extLst>
          </p:cNvPr>
          <p:cNvSpPr txBox="1"/>
          <p:nvPr/>
        </p:nvSpPr>
        <p:spPr>
          <a:xfrm>
            <a:off x="644434" y="1004709"/>
            <a:ext cx="10633166" cy="461665"/>
          </a:xfrm>
          <a:prstGeom prst="rect">
            <a:avLst/>
          </a:prstGeom>
          <a:noFill/>
        </p:spPr>
        <p:txBody>
          <a:bodyPr wrap="square">
            <a:spAutoFit/>
          </a:bodyPr>
          <a:lstStyle/>
          <a:p>
            <a:pPr algn="ctr"/>
            <a:r>
              <a:rPr lang="en-US" sz="2400" b="1" dirty="0">
                <a:latin typeface="Calibri" panose="020F0502020204030204" pitchFamily="34" charset="0"/>
                <a:cs typeface="Calibri" panose="020F0502020204030204" pitchFamily="34" charset="0"/>
              </a:rPr>
              <a:t>Ans: </a:t>
            </a:r>
            <a:r>
              <a:rPr lang="en-US" sz="1800" i="1" dirty="0">
                <a:latin typeface="Calibri" panose="020F0502020204030204" pitchFamily="34" charset="0"/>
                <a:cs typeface="Calibri" panose="020F0502020204030204" pitchFamily="34" charset="0"/>
              </a:rPr>
              <a:t>Attention</a:t>
            </a:r>
            <a:r>
              <a:rPr lang="en-US" sz="1800" dirty="0">
                <a:latin typeface="Calibri" panose="020F0502020204030204" pitchFamily="34" charset="0"/>
                <a:cs typeface="Calibri" panose="020F0502020204030204" pitchFamily="34" charset="0"/>
              </a:rPr>
              <a:t> helps a model focusing on relevant information and understand relationships</a:t>
            </a:r>
          </a:p>
        </p:txBody>
      </p:sp>
      <p:sp>
        <p:nvSpPr>
          <p:cNvPr id="2" name="TextBox 1">
            <a:extLst>
              <a:ext uri="{FF2B5EF4-FFF2-40B4-BE49-F238E27FC236}">
                <a16:creationId xmlns:a16="http://schemas.microsoft.com/office/drawing/2014/main" id="{F1427BF5-ADCF-8FCE-F75C-FC2C820714FE}"/>
              </a:ext>
            </a:extLst>
          </p:cNvPr>
          <p:cNvSpPr txBox="1"/>
          <p:nvPr/>
        </p:nvSpPr>
        <p:spPr>
          <a:xfrm>
            <a:off x="4420821" y="4445065"/>
            <a:ext cx="740749" cy="215444"/>
          </a:xfrm>
          <a:prstGeom prst="rect">
            <a:avLst/>
          </a:prstGeom>
          <a:solidFill>
            <a:schemeClr val="bg1"/>
          </a:solidFill>
        </p:spPr>
        <p:txBody>
          <a:bodyPr wrap="square" rtlCol="0">
            <a:spAutoFit/>
          </a:bodyPr>
          <a:lstStyle/>
          <a:p>
            <a:r>
              <a:rPr lang="en-US" sz="800" dirty="0"/>
              <a:t>Input Layer</a:t>
            </a:r>
          </a:p>
        </p:txBody>
      </p:sp>
      <p:sp>
        <p:nvSpPr>
          <p:cNvPr id="4" name="TextBox 3">
            <a:extLst>
              <a:ext uri="{FF2B5EF4-FFF2-40B4-BE49-F238E27FC236}">
                <a16:creationId xmlns:a16="http://schemas.microsoft.com/office/drawing/2014/main" id="{3A869604-26FB-E0A9-6E27-7EFD83DCFEFA}"/>
              </a:ext>
            </a:extLst>
          </p:cNvPr>
          <p:cNvSpPr txBox="1"/>
          <p:nvPr/>
        </p:nvSpPr>
        <p:spPr>
          <a:xfrm>
            <a:off x="5160439" y="4497520"/>
            <a:ext cx="870623" cy="215444"/>
          </a:xfrm>
          <a:prstGeom prst="rect">
            <a:avLst/>
          </a:prstGeom>
          <a:solidFill>
            <a:schemeClr val="bg1"/>
          </a:solidFill>
        </p:spPr>
        <p:txBody>
          <a:bodyPr wrap="square" rtlCol="0">
            <a:spAutoFit/>
          </a:bodyPr>
          <a:lstStyle/>
          <a:p>
            <a:r>
              <a:rPr lang="en-US" sz="800" dirty="0"/>
              <a:t>Hidden Layers</a:t>
            </a:r>
          </a:p>
        </p:txBody>
      </p:sp>
      <p:sp>
        <p:nvSpPr>
          <p:cNvPr id="8" name="TextBox 7">
            <a:extLst>
              <a:ext uri="{FF2B5EF4-FFF2-40B4-BE49-F238E27FC236}">
                <a16:creationId xmlns:a16="http://schemas.microsoft.com/office/drawing/2014/main" id="{78640965-5139-B6BB-E445-2E1F1BAA473B}"/>
              </a:ext>
            </a:extLst>
          </p:cNvPr>
          <p:cNvSpPr txBox="1"/>
          <p:nvPr/>
        </p:nvSpPr>
        <p:spPr>
          <a:xfrm>
            <a:off x="6064306" y="4402775"/>
            <a:ext cx="870623" cy="215444"/>
          </a:xfrm>
          <a:prstGeom prst="rect">
            <a:avLst/>
          </a:prstGeom>
          <a:solidFill>
            <a:schemeClr val="bg1"/>
          </a:solidFill>
        </p:spPr>
        <p:txBody>
          <a:bodyPr wrap="square" rtlCol="0">
            <a:spAutoFit/>
          </a:bodyPr>
          <a:lstStyle/>
          <a:p>
            <a:r>
              <a:rPr lang="en-US" sz="800" dirty="0"/>
              <a:t>Output Layer</a:t>
            </a:r>
          </a:p>
        </p:txBody>
      </p:sp>
    </p:spTree>
    <p:extLst>
      <p:ext uri="{BB962C8B-B14F-4D97-AF65-F5344CB8AC3E}">
        <p14:creationId xmlns:p14="http://schemas.microsoft.com/office/powerpoint/2010/main" val="2280559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91A19-EE25-3237-66D6-FE80C54226E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70E34E3-F262-7CD7-9DCD-926557963789}"/>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buNone/>
            </a:pPr>
            <a:r>
              <a:rPr lang="en-US" sz="3200" b="1" dirty="0">
                <a:latin typeface="Calibri" panose="020F0502020204030204" pitchFamily="34" charset="0"/>
                <a:cs typeface="Calibri" panose="020F0502020204030204" pitchFamily="34" charset="0"/>
              </a:rPr>
              <a:t>What Do We Need Next? (</a:t>
            </a:r>
            <a:r>
              <a:rPr lang="en-US" sz="3200" b="1" dirty="0" err="1">
                <a:latin typeface="Calibri" panose="020F0502020204030204" pitchFamily="34" charset="0"/>
                <a:cs typeface="Calibri" panose="020F0502020204030204" pitchFamily="34" charset="0"/>
              </a:rPr>
              <a:t>cont</a:t>
            </a:r>
            <a:r>
              <a:rPr lang="en-US" sz="3200" b="1" dirty="0">
                <a:latin typeface="Calibri" panose="020F0502020204030204" pitchFamily="34" charset="0"/>
                <a:cs typeface="Calibri" panose="020F0502020204030204" pitchFamily="34" charset="0"/>
              </a:rPr>
              <a:t>…)</a:t>
            </a:r>
          </a:p>
        </p:txBody>
      </p:sp>
      <p:sp>
        <p:nvSpPr>
          <p:cNvPr id="9" name="Rectangle 4">
            <a:extLst>
              <a:ext uri="{FF2B5EF4-FFF2-40B4-BE49-F238E27FC236}">
                <a16:creationId xmlns:a16="http://schemas.microsoft.com/office/drawing/2014/main" id="{1632DE49-BC0C-C604-7F01-EC7A6797FED8}"/>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4FF6F9D6-CB65-F04B-6F07-17D051593F08}"/>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6</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439FBF7-5930-DF9E-2C8F-3E01CF0B6DFA}"/>
              </a:ext>
            </a:extLst>
          </p:cNvPr>
          <p:cNvSpPr txBox="1"/>
          <p:nvPr/>
        </p:nvSpPr>
        <p:spPr>
          <a:xfrm>
            <a:off x="8242465" y="3574980"/>
            <a:ext cx="3200400" cy="276999"/>
          </a:xfrm>
          <a:prstGeom prst="rect">
            <a:avLst/>
          </a:prstGeom>
          <a:noFill/>
        </p:spPr>
        <p:txBody>
          <a:bodyPr wrap="square">
            <a:spAutoFit/>
          </a:bodyPr>
          <a:lstStyle/>
          <a:p>
            <a:r>
              <a:rPr lang="en-US" sz="1200" dirty="0">
                <a:latin typeface="Calibri" panose="020F0502020204030204" pitchFamily="34" charset="0"/>
                <a:cs typeface="Calibri" panose="020F0502020204030204" pitchFamily="34" charset="0"/>
                <a:hlinkClick r:id="rId2" tooltip="Attention Is All You Need (Article)"/>
              </a:rPr>
              <a:t>https://arxiv.org/pdf/1706.03762</a:t>
            </a:r>
            <a:endParaRPr lang="en-US" sz="12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5BADA024-CC84-B780-6DE2-23F3D656B1CF}"/>
              </a:ext>
            </a:extLst>
          </p:cNvPr>
          <p:cNvPicPr>
            <a:picLocks noChangeAspect="1"/>
          </p:cNvPicPr>
          <p:nvPr/>
        </p:nvPicPr>
        <p:blipFill>
          <a:blip r:embed="rId3"/>
          <a:srcRect l="11753" t="5328" r="13031"/>
          <a:stretch>
            <a:fillRect/>
          </a:stretch>
        </p:blipFill>
        <p:spPr>
          <a:xfrm>
            <a:off x="2895600" y="1000696"/>
            <a:ext cx="4876800" cy="5425566"/>
          </a:xfrm>
          <a:prstGeom prst="rect">
            <a:avLst/>
          </a:prstGeom>
        </p:spPr>
      </p:pic>
    </p:spTree>
    <p:extLst>
      <p:ext uri="{BB962C8B-B14F-4D97-AF65-F5344CB8AC3E}">
        <p14:creationId xmlns:p14="http://schemas.microsoft.com/office/powerpoint/2010/main" val="1282071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30492-8772-790F-1B79-9D4169C901A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1A971C1-33B4-A6E5-0AF2-11E74E1ED2A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buNone/>
            </a:pPr>
            <a:r>
              <a:rPr lang="en-US" sz="3200" b="1" dirty="0">
                <a:latin typeface="Calibri" panose="020F0502020204030204" pitchFamily="34" charset="0"/>
                <a:cs typeface="Calibri" panose="020F0502020204030204" pitchFamily="34" charset="0"/>
              </a:rPr>
              <a:t>What Do We Need Next? (</a:t>
            </a:r>
            <a:r>
              <a:rPr lang="en-US" sz="3200" b="1" dirty="0" err="1">
                <a:latin typeface="Calibri" panose="020F0502020204030204" pitchFamily="34" charset="0"/>
                <a:cs typeface="Calibri" panose="020F0502020204030204" pitchFamily="34" charset="0"/>
              </a:rPr>
              <a:t>cont</a:t>
            </a:r>
            <a:r>
              <a:rPr lang="en-US" sz="3200" b="1" dirty="0">
                <a:latin typeface="Calibri" panose="020F0502020204030204" pitchFamily="34" charset="0"/>
                <a:cs typeface="Calibri" panose="020F0502020204030204" pitchFamily="34" charset="0"/>
              </a:rPr>
              <a:t>…)</a:t>
            </a:r>
          </a:p>
        </p:txBody>
      </p:sp>
      <p:sp>
        <p:nvSpPr>
          <p:cNvPr id="9" name="Rectangle 4">
            <a:extLst>
              <a:ext uri="{FF2B5EF4-FFF2-40B4-BE49-F238E27FC236}">
                <a16:creationId xmlns:a16="http://schemas.microsoft.com/office/drawing/2014/main" id="{C91BFC85-7288-CA94-F481-D6B5393305E8}"/>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FA996022-DA34-CA3D-BC85-91B408AE4BB4}"/>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7</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5720189C-92FE-2547-B448-34B5CCC5FE07}"/>
              </a:ext>
            </a:extLst>
          </p:cNvPr>
          <p:cNvSpPr txBox="1"/>
          <p:nvPr/>
        </p:nvSpPr>
        <p:spPr>
          <a:xfrm>
            <a:off x="76200" y="901560"/>
            <a:ext cx="6629400" cy="523220"/>
          </a:xfrm>
          <a:prstGeom prst="rect">
            <a:avLst/>
          </a:prstGeom>
          <a:noFill/>
        </p:spPr>
        <p:txBody>
          <a:bodyPr wrap="square">
            <a:spAutoFit/>
          </a:bodyPr>
          <a:lstStyle/>
          <a:p>
            <a:r>
              <a:rPr lang="en-US" sz="2800" dirty="0">
                <a:latin typeface="Calibri" panose="020F0502020204030204" pitchFamily="34" charset="0"/>
                <a:cs typeface="Calibri" panose="020F0502020204030204" pitchFamily="34" charset="0"/>
                <a:hlinkClick r:id="rId2" tooltip="Applications of Attention Mechanisms"/>
              </a:rPr>
              <a:t>Applications of Attention Mechanisms</a:t>
            </a:r>
            <a:endParaRPr lang="en-US" sz="2800" dirty="0">
              <a:latin typeface="Calibri" panose="020F0502020204030204" pitchFamily="34" charset="0"/>
              <a:cs typeface="Calibri" panose="020F0502020204030204" pitchFamily="34" charset="0"/>
            </a:endParaRPr>
          </a:p>
        </p:txBody>
      </p:sp>
      <p:pic>
        <p:nvPicPr>
          <p:cNvPr id="4" name="Picture 3" descr="Applications of Attention Mechanism">
            <a:extLst>
              <a:ext uri="{FF2B5EF4-FFF2-40B4-BE49-F238E27FC236}">
                <a16:creationId xmlns:a16="http://schemas.microsoft.com/office/drawing/2014/main" id="{5D04B951-3C19-24D0-CF1B-FA4CBE45B952}"/>
              </a:ext>
            </a:extLst>
          </p:cNvPr>
          <p:cNvPicPr>
            <a:picLocks noChangeAspect="1"/>
          </p:cNvPicPr>
          <p:nvPr/>
        </p:nvPicPr>
        <p:blipFill>
          <a:blip r:embed="rId3"/>
          <a:srcRect l="3799" t="15950" r="2580" b="6497"/>
          <a:stretch>
            <a:fillRect/>
          </a:stretch>
        </p:blipFill>
        <p:spPr>
          <a:xfrm>
            <a:off x="2743200" y="2286000"/>
            <a:ext cx="6324601" cy="4159659"/>
          </a:xfrm>
          <a:prstGeom prst="rect">
            <a:avLst/>
          </a:prstGeom>
        </p:spPr>
      </p:pic>
      <p:sp>
        <p:nvSpPr>
          <p:cNvPr id="2" name="TextBox 1">
            <a:extLst>
              <a:ext uri="{FF2B5EF4-FFF2-40B4-BE49-F238E27FC236}">
                <a16:creationId xmlns:a16="http://schemas.microsoft.com/office/drawing/2014/main" id="{C76EDA82-6B2F-24FA-F881-8EE2B37D3D13}"/>
              </a:ext>
            </a:extLst>
          </p:cNvPr>
          <p:cNvSpPr txBox="1"/>
          <p:nvPr/>
        </p:nvSpPr>
        <p:spPr>
          <a:xfrm>
            <a:off x="48802" y="1452580"/>
            <a:ext cx="11990798" cy="646331"/>
          </a:xfrm>
          <a:prstGeom prst="rect">
            <a:avLst/>
          </a:prstGeom>
          <a:noFill/>
        </p:spPr>
        <p:txBody>
          <a:bodyPr wrap="square" rtlCol="0">
            <a:spAutoFit/>
          </a:bodyPr>
          <a:lstStyle/>
          <a:p>
            <a:r>
              <a:rPr lang="en-US" dirty="0"/>
              <a:t>Attention mechanisms help a model </a:t>
            </a:r>
            <a:r>
              <a:rPr lang="en-US" b="1" dirty="0"/>
              <a:t>decide which parts of the input are more important for the current task</a:t>
            </a:r>
            <a:r>
              <a:rPr lang="en-US" dirty="0"/>
              <a:t>. The exact meaning of “important” depends on the application.</a:t>
            </a:r>
          </a:p>
        </p:txBody>
      </p:sp>
    </p:spTree>
    <p:extLst>
      <p:ext uri="{BB962C8B-B14F-4D97-AF65-F5344CB8AC3E}">
        <p14:creationId xmlns:p14="http://schemas.microsoft.com/office/powerpoint/2010/main" val="702397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EC45A-D542-DB98-33C6-418F6A011E9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D72DD87-1B54-A48C-9F72-BDF2152E3111}"/>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buNone/>
            </a:pPr>
            <a:r>
              <a:rPr lang="en-US" sz="3200" b="1" dirty="0">
                <a:latin typeface="Calibri" panose="020F0502020204030204" pitchFamily="34" charset="0"/>
                <a:cs typeface="Calibri" panose="020F0502020204030204" pitchFamily="34" charset="0"/>
              </a:rPr>
              <a:t>What Do We Need Next? (</a:t>
            </a:r>
            <a:r>
              <a:rPr lang="en-US" sz="3200" b="1" dirty="0" err="1">
                <a:latin typeface="Calibri" panose="020F0502020204030204" pitchFamily="34" charset="0"/>
                <a:cs typeface="Calibri" panose="020F0502020204030204" pitchFamily="34" charset="0"/>
              </a:rPr>
              <a:t>cont</a:t>
            </a:r>
            <a:r>
              <a:rPr lang="en-US" sz="3200" b="1" dirty="0">
                <a:latin typeface="Calibri" panose="020F0502020204030204" pitchFamily="34" charset="0"/>
                <a:cs typeface="Calibri" panose="020F0502020204030204" pitchFamily="34" charset="0"/>
              </a:rPr>
              <a:t>…)</a:t>
            </a:r>
          </a:p>
        </p:txBody>
      </p:sp>
      <p:sp>
        <p:nvSpPr>
          <p:cNvPr id="9" name="Rectangle 4">
            <a:extLst>
              <a:ext uri="{FF2B5EF4-FFF2-40B4-BE49-F238E27FC236}">
                <a16:creationId xmlns:a16="http://schemas.microsoft.com/office/drawing/2014/main" id="{B71CD82F-14E3-0D28-AB34-9558D6E73EE7}"/>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E75CF903-9658-DF3D-660D-FAFA771D90C5}"/>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8</a:t>
            </a:fld>
            <a:endParaRPr lang="en-US" sz="2000" spc="-50" dirty="0">
              <a:solidFill>
                <a:schemeClr val="bg1"/>
              </a:solidFill>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098B192D-DC66-DC03-D0B0-B83CC4CE5324}"/>
              </a:ext>
            </a:extLst>
          </p:cNvPr>
          <p:cNvGraphicFramePr>
            <a:graphicFrameLocks noGrp="1"/>
          </p:cNvGraphicFramePr>
          <p:nvPr>
            <p:extLst>
              <p:ext uri="{D42A27DB-BD31-4B8C-83A1-F6EECF244321}">
                <p14:modId xmlns:p14="http://schemas.microsoft.com/office/powerpoint/2010/main" val="1212911575"/>
              </p:ext>
            </p:extLst>
          </p:nvPr>
        </p:nvGraphicFramePr>
        <p:xfrm>
          <a:off x="165381" y="929814"/>
          <a:ext cx="11874219" cy="4937590"/>
        </p:xfrm>
        <a:graphic>
          <a:graphicData uri="http://schemas.openxmlformats.org/drawingml/2006/table">
            <a:tbl>
              <a:tblPr firstRow="1" bandRow="1">
                <a:tableStyleId>{5C22544A-7EE6-4342-B048-85BDC9FD1C3A}</a:tableStyleId>
              </a:tblPr>
              <a:tblGrid>
                <a:gridCol w="1927327">
                  <a:extLst>
                    <a:ext uri="{9D8B030D-6E8A-4147-A177-3AD203B41FA5}">
                      <a16:colId xmlns:a16="http://schemas.microsoft.com/office/drawing/2014/main" val="20000"/>
                    </a:ext>
                  </a:extLst>
                </a:gridCol>
                <a:gridCol w="4747808">
                  <a:extLst>
                    <a:ext uri="{9D8B030D-6E8A-4147-A177-3AD203B41FA5}">
                      <a16:colId xmlns:a16="http://schemas.microsoft.com/office/drawing/2014/main" val="20001"/>
                    </a:ext>
                  </a:extLst>
                </a:gridCol>
                <a:gridCol w="5199084">
                  <a:extLst>
                    <a:ext uri="{9D8B030D-6E8A-4147-A177-3AD203B41FA5}">
                      <a16:colId xmlns:a16="http://schemas.microsoft.com/office/drawing/2014/main" val="20002"/>
                    </a:ext>
                  </a:extLst>
                </a:gridCol>
              </a:tblGrid>
              <a:tr h="480454">
                <a:tc>
                  <a:txBody>
                    <a:bodyPr/>
                    <a:lstStyle/>
                    <a:p>
                      <a:pPr algn="ctr">
                        <a:defRPr sz="1400" b="1">
                          <a:solidFill>
                            <a:srgbClr val="FFFFFF"/>
                          </a:solidFill>
                        </a:defRPr>
                      </a:pPr>
                      <a:r>
                        <a:t>Application</a:t>
                      </a:r>
                    </a:p>
                  </a:txBody>
                  <a:tcPr marR="73152" marB="27432">
                    <a:solidFill>
                      <a:srgbClr val="1D4870"/>
                    </a:solidFill>
                  </a:tcPr>
                </a:tc>
                <a:tc>
                  <a:txBody>
                    <a:bodyPr/>
                    <a:lstStyle/>
                    <a:p>
                      <a:pPr algn="ctr">
                        <a:defRPr sz="1400" b="1">
                          <a:solidFill>
                            <a:srgbClr val="FFFFFF"/>
                          </a:solidFill>
                        </a:defRPr>
                      </a:pPr>
                      <a:r>
                        <a:rPr dirty="0"/>
                        <a:t>How attention is used</a:t>
                      </a:r>
                    </a:p>
                  </a:txBody>
                  <a:tcPr marR="73152" marB="27432">
                    <a:solidFill>
                      <a:srgbClr val="1D4870"/>
                    </a:solidFill>
                  </a:tcPr>
                </a:tc>
                <a:tc>
                  <a:txBody>
                    <a:bodyPr/>
                    <a:lstStyle/>
                    <a:p>
                      <a:pPr algn="ctr">
                        <a:defRPr sz="1400" b="1">
                          <a:solidFill>
                            <a:srgbClr val="FFFFFF"/>
                          </a:solidFill>
                        </a:defRPr>
                      </a:pPr>
                      <a:r>
                        <a:t>Simple example</a:t>
                      </a:r>
                    </a:p>
                  </a:txBody>
                  <a:tcPr marR="73152" marB="27432">
                    <a:solidFill>
                      <a:srgbClr val="1D4870"/>
                    </a:solidFill>
                  </a:tcPr>
                </a:tc>
                <a:extLst>
                  <a:ext uri="{0D108BD9-81ED-4DB2-BD59-A6C34878D82A}">
                    <a16:rowId xmlns:a16="http://schemas.microsoft.com/office/drawing/2014/main" val="10000"/>
                  </a:ext>
                </a:extLst>
              </a:tr>
              <a:tr h="557142">
                <a:tc>
                  <a:txBody>
                    <a:bodyPr/>
                    <a:lstStyle/>
                    <a:p>
                      <a:pPr algn="l">
                        <a:defRPr sz="1150" b="1">
                          <a:solidFill>
                            <a:srgbClr val="194E78"/>
                          </a:solidFill>
                        </a:defRPr>
                      </a:pPr>
                      <a:r>
                        <a:t>Natural Language Processing</a:t>
                      </a:r>
                    </a:p>
                  </a:txBody>
                  <a:tcPr marR="73152" marT="36576" marB="27432">
                    <a:solidFill>
                      <a:srgbClr val="F5F8FB"/>
                    </a:solidFill>
                  </a:tcPr>
                </a:tc>
                <a:tc>
                  <a:txBody>
                    <a:bodyPr/>
                    <a:lstStyle/>
                    <a:p>
                      <a:pPr algn="l">
                        <a:defRPr sz="1150">
                          <a:solidFill>
                            <a:srgbClr val="232323"/>
                          </a:solidFill>
                        </a:defRPr>
                      </a:pPr>
                      <a:r>
                        <a:rPr dirty="0"/>
                        <a:t>Focuses on the most relevant words when understanding or generating text.</a:t>
                      </a:r>
                    </a:p>
                  </a:txBody>
                  <a:tcPr marR="73152" marT="36576" marB="27432">
                    <a:solidFill>
                      <a:srgbClr val="F5F8FB"/>
                    </a:solidFill>
                  </a:tcPr>
                </a:tc>
                <a:tc>
                  <a:txBody>
                    <a:bodyPr/>
                    <a:lstStyle/>
                    <a:p>
                      <a:pPr algn="l">
                        <a:defRPr sz="1150">
                          <a:solidFill>
                            <a:srgbClr val="232323"/>
                          </a:solidFill>
                        </a:defRPr>
                      </a:pPr>
                      <a:r>
                        <a:rPr dirty="0"/>
                        <a:t>Connects important words and context to understand a sentence.</a:t>
                      </a:r>
                    </a:p>
                  </a:txBody>
                  <a:tcPr marR="73152" marT="36576" marB="27432">
                    <a:solidFill>
                      <a:srgbClr val="F5F8FB"/>
                    </a:solidFill>
                  </a:tcPr>
                </a:tc>
                <a:extLst>
                  <a:ext uri="{0D108BD9-81ED-4DB2-BD59-A6C34878D82A}">
                    <a16:rowId xmlns:a16="http://schemas.microsoft.com/office/drawing/2014/main" val="10001"/>
                  </a:ext>
                </a:extLst>
              </a:tr>
              <a:tr h="557142">
                <a:tc>
                  <a:txBody>
                    <a:bodyPr/>
                    <a:lstStyle/>
                    <a:p>
                      <a:pPr algn="l">
                        <a:defRPr sz="1150" b="1">
                          <a:solidFill>
                            <a:srgbClr val="194E78"/>
                          </a:solidFill>
                        </a:defRPr>
                      </a:pPr>
                      <a:r>
                        <a:t>Image Captioning</a:t>
                      </a:r>
                    </a:p>
                  </a:txBody>
                  <a:tcPr marR="73152" marT="36576" marB="27432">
                    <a:solidFill>
                      <a:srgbClr val="EBF2F8"/>
                    </a:solidFill>
                  </a:tcPr>
                </a:tc>
                <a:tc>
                  <a:txBody>
                    <a:bodyPr/>
                    <a:lstStyle/>
                    <a:p>
                      <a:pPr algn="l">
                        <a:defRPr sz="1150">
                          <a:solidFill>
                            <a:srgbClr val="232323"/>
                          </a:solidFill>
                        </a:defRPr>
                      </a:pPr>
                      <a:r>
                        <a:rPr dirty="0"/>
                        <a:t>Focuses on different image regions while generating different words.</a:t>
                      </a:r>
                    </a:p>
                  </a:txBody>
                  <a:tcPr marR="73152" marT="36576" marB="27432">
                    <a:solidFill>
                      <a:srgbClr val="EBF2F8"/>
                    </a:solidFill>
                  </a:tcPr>
                </a:tc>
                <a:tc>
                  <a:txBody>
                    <a:bodyPr/>
                    <a:lstStyle/>
                    <a:p>
                      <a:pPr algn="l">
                        <a:defRPr sz="1150">
                          <a:solidFill>
                            <a:srgbClr val="232323"/>
                          </a:solidFill>
                        </a:defRPr>
                      </a:pPr>
                      <a:r>
                        <a:rPr dirty="0"/>
                        <a:t>Focus on the </a:t>
                      </a:r>
                      <a:r>
                        <a:rPr b="1" dirty="0"/>
                        <a:t>boy</a:t>
                      </a:r>
                      <a:r>
                        <a:rPr dirty="0"/>
                        <a:t> when generating “</a:t>
                      </a:r>
                      <a:r>
                        <a:rPr b="0" dirty="0"/>
                        <a:t>boy</a:t>
                      </a:r>
                      <a:r>
                        <a:rPr dirty="0"/>
                        <a:t>” and the </a:t>
                      </a:r>
                      <a:r>
                        <a:rPr b="1" dirty="0"/>
                        <a:t>ball</a:t>
                      </a:r>
                      <a:r>
                        <a:rPr dirty="0"/>
                        <a:t> when generating “football.”</a:t>
                      </a:r>
                    </a:p>
                  </a:txBody>
                  <a:tcPr marR="73152" marT="36576" marB="27432">
                    <a:solidFill>
                      <a:srgbClr val="EBF2F8"/>
                    </a:solidFill>
                  </a:tcPr>
                </a:tc>
                <a:extLst>
                  <a:ext uri="{0D108BD9-81ED-4DB2-BD59-A6C34878D82A}">
                    <a16:rowId xmlns:a16="http://schemas.microsoft.com/office/drawing/2014/main" val="10002"/>
                  </a:ext>
                </a:extLst>
              </a:tr>
              <a:tr h="557142">
                <a:tc>
                  <a:txBody>
                    <a:bodyPr/>
                    <a:lstStyle/>
                    <a:p>
                      <a:pPr algn="l">
                        <a:defRPr sz="1150" b="1">
                          <a:solidFill>
                            <a:srgbClr val="194E78"/>
                          </a:solidFill>
                        </a:defRPr>
                      </a:pPr>
                      <a:r>
                        <a:t>Speech Recognition</a:t>
                      </a:r>
                    </a:p>
                  </a:txBody>
                  <a:tcPr marR="73152" marT="36576" marB="27432">
                    <a:solidFill>
                      <a:srgbClr val="F5F8FB"/>
                    </a:solidFill>
                  </a:tcPr>
                </a:tc>
                <a:tc>
                  <a:txBody>
                    <a:bodyPr/>
                    <a:lstStyle/>
                    <a:p>
                      <a:pPr algn="l">
                        <a:defRPr sz="1150">
                          <a:solidFill>
                            <a:srgbClr val="232323"/>
                          </a:solidFill>
                        </a:defRPr>
                      </a:pPr>
                      <a:r>
                        <a:t>Focuses on relevant parts of the audio signal when producing each word.</a:t>
                      </a:r>
                    </a:p>
                  </a:txBody>
                  <a:tcPr marR="73152" marT="36576" marB="27432">
                    <a:solidFill>
                      <a:srgbClr val="F5F8FB"/>
                    </a:solidFill>
                  </a:tcPr>
                </a:tc>
                <a:tc>
                  <a:txBody>
                    <a:bodyPr/>
                    <a:lstStyle/>
                    <a:p>
                      <a:pPr algn="l">
                        <a:defRPr sz="1150">
                          <a:solidFill>
                            <a:srgbClr val="232323"/>
                          </a:solidFill>
                        </a:defRPr>
                      </a:pPr>
                      <a:r>
                        <a:t>Links parts of the speech signal to words such as “open,” “the,” and “door.”</a:t>
                      </a:r>
                    </a:p>
                  </a:txBody>
                  <a:tcPr marR="73152" marT="36576" marB="27432">
                    <a:solidFill>
                      <a:srgbClr val="F5F8FB"/>
                    </a:solidFill>
                  </a:tcPr>
                </a:tc>
                <a:extLst>
                  <a:ext uri="{0D108BD9-81ED-4DB2-BD59-A6C34878D82A}">
                    <a16:rowId xmlns:a16="http://schemas.microsoft.com/office/drawing/2014/main" val="10003"/>
                  </a:ext>
                </a:extLst>
              </a:tr>
              <a:tr h="557142">
                <a:tc>
                  <a:txBody>
                    <a:bodyPr/>
                    <a:lstStyle/>
                    <a:p>
                      <a:pPr algn="l">
                        <a:defRPr sz="1150" b="1">
                          <a:solidFill>
                            <a:srgbClr val="194E78"/>
                          </a:solidFill>
                        </a:defRPr>
                      </a:pPr>
                      <a:r>
                        <a:t>Recommender Systems</a:t>
                      </a:r>
                    </a:p>
                  </a:txBody>
                  <a:tcPr marR="73152" marT="36576" marB="27432">
                    <a:solidFill>
                      <a:srgbClr val="EBF2F8"/>
                    </a:solidFill>
                  </a:tcPr>
                </a:tc>
                <a:tc>
                  <a:txBody>
                    <a:bodyPr/>
                    <a:lstStyle/>
                    <a:p>
                      <a:pPr algn="l">
                        <a:defRPr sz="1150">
                          <a:solidFill>
                            <a:srgbClr val="232323"/>
                          </a:solidFill>
                        </a:defRPr>
                      </a:pPr>
                      <a:r>
                        <a:t>Gives more importance to the user's most relevant past behaviors or preferences.</a:t>
                      </a:r>
                    </a:p>
                  </a:txBody>
                  <a:tcPr marR="73152" marT="36576" marB="27432">
                    <a:solidFill>
                      <a:srgbClr val="EBF2F8"/>
                    </a:solidFill>
                  </a:tcPr>
                </a:tc>
                <a:tc>
                  <a:txBody>
                    <a:bodyPr/>
                    <a:lstStyle/>
                    <a:p>
                      <a:pPr algn="l">
                        <a:defRPr sz="1150">
                          <a:solidFill>
                            <a:srgbClr val="232323"/>
                          </a:solidFill>
                        </a:defRPr>
                      </a:pPr>
                      <a:r>
                        <a:t>Recent football-related activity can receive more attention when recommending videos.</a:t>
                      </a:r>
                    </a:p>
                  </a:txBody>
                  <a:tcPr marR="73152" marT="36576" marB="27432">
                    <a:solidFill>
                      <a:srgbClr val="EBF2F8"/>
                    </a:solidFill>
                  </a:tcPr>
                </a:tc>
                <a:extLst>
                  <a:ext uri="{0D108BD9-81ED-4DB2-BD59-A6C34878D82A}">
                    <a16:rowId xmlns:a16="http://schemas.microsoft.com/office/drawing/2014/main" val="10004"/>
                  </a:ext>
                </a:extLst>
              </a:tr>
              <a:tr h="557142">
                <a:tc>
                  <a:txBody>
                    <a:bodyPr/>
                    <a:lstStyle/>
                    <a:p>
                      <a:pPr algn="l">
                        <a:defRPr sz="1150" b="1">
                          <a:solidFill>
                            <a:srgbClr val="194E78"/>
                          </a:solidFill>
                        </a:defRPr>
                      </a:pPr>
                      <a:r>
                        <a:t>Video Analysis</a:t>
                      </a:r>
                    </a:p>
                  </a:txBody>
                  <a:tcPr marR="73152" marT="36576" marB="27432">
                    <a:solidFill>
                      <a:srgbClr val="F5F8FB"/>
                    </a:solidFill>
                  </a:tcPr>
                </a:tc>
                <a:tc>
                  <a:txBody>
                    <a:bodyPr/>
                    <a:lstStyle/>
                    <a:p>
                      <a:pPr algn="l">
                        <a:defRPr sz="1150">
                          <a:solidFill>
                            <a:srgbClr val="232323"/>
                          </a:solidFill>
                        </a:defRPr>
                      </a:pPr>
                      <a:r>
                        <a:t>Focuses on important frames, objects, or regions instead of treating everything equally.</a:t>
                      </a:r>
                    </a:p>
                  </a:txBody>
                  <a:tcPr marR="73152" marT="36576" marB="27432">
                    <a:solidFill>
                      <a:srgbClr val="F5F8FB"/>
                    </a:solidFill>
                  </a:tcPr>
                </a:tc>
                <a:tc>
                  <a:txBody>
                    <a:bodyPr/>
                    <a:lstStyle/>
                    <a:p>
                      <a:pPr algn="l">
                        <a:defRPr sz="1150">
                          <a:solidFill>
                            <a:srgbClr val="232323"/>
                          </a:solidFill>
                        </a:defRPr>
                      </a:pPr>
                      <a:r>
                        <a:t>For detecting a fall, attention can focus on the person's movement across frames.</a:t>
                      </a:r>
                    </a:p>
                  </a:txBody>
                  <a:tcPr marR="73152" marT="36576" marB="27432">
                    <a:solidFill>
                      <a:srgbClr val="F5F8FB"/>
                    </a:solidFill>
                  </a:tcPr>
                </a:tc>
                <a:extLst>
                  <a:ext uri="{0D108BD9-81ED-4DB2-BD59-A6C34878D82A}">
                    <a16:rowId xmlns:a16="http://schemas.microsoft.com/office/drawing/2014/main" val="10005"/>
                  </a:ext>
                </a:extLst>
              </a:tr>
              <a:tr h="557142">
                <a:tc>
                  <a:txBody>
                    <a:bodyPr/>
                    <a:lstStyle/>
                    <a:p>
                      <a:pPr algn="l">
                        <a:defRPr sz="1150" b="1">
                          <a:solidFill>
                            <a:srgbClr val="194E78"/>
                          </a:solidFill>
                        </a:defRPr>
                      </a:pPr>
                      <a:r>
                        <a:t>Medical Diagnosis</a:t>
                      </a:r>
                    </a:p>
                  </a:txBody>
                  <a:tcPr marR="73152" marT="36576" marB="27432">
                    <a:solidFill>
                      <a:srgbClr val="EBF2F8"/>
                    </a:solidFill>
                  </a:tcPr>
                </a:tc>
                <a:tc>
                  <a:txBody>
                    <a:bodyPr/>
                    <a:lstStyle/>
                    <a:p>
                      <a:pPr algn="l">
                        <a:defRPr sz="1150">
                          <a:solidFill>
                            <a:srgbClr val="232323"/>
                          </a:solidFill>
                        </a:defRPr>
                      </a:pPr>
                      <a:r>
                        <a:t>Focuses on important regions, features, or clinical information relevant to diagnosis.</a:t>
                      </a:r>
                    </a:p>
                  </a:txBody>
                  <a:tcPr marR="73152" marT="36576" marB="27432">
                    <a:solidFill>
                      <a:srgbClr val="EBF2F8"/>
                    </a:solidFill>
                  </a:tcPr>
                </a:tc>
                <a:tc>
                  <a:txBody>
                    <a:bodyPr/>
                    <a:lstStyle/>
                    <a:p>
                      <a:pPr algn="l">
                        <a:defRPr sz="1150">
                          <a:solidFill>
                            <a:srgbClr val="232323"/>
                          </a:solidFill>
                        </a:defRPr>
                      </a:pPr>
                      <a:r>
                        <a:t>A model may give higher attention to a suspicious region in a medical image.</a:t>
                      </a:r>
                    </a:p>
                  </a:txBody>
                  <a:tcPr marR="73152" marT="36576" marB="27432">
                    <a:solidFill>
                      <a:srgbClr val="EBF2F8"/>
                    </a:solidFill>
                  </a:tcPr>
                </a:tc>
                <a:extLst>
                  <a:ext uri="{0D108BD9-81ED-4DB2-BD59-A6C34878D82A}">
                    <a16:rowId xmlns:a16="http://schemas.microsoft.com/office/drawing/2014/main" val="10006"/>
                  </a:ext>
                </a:extLst>
              </a:tr>
              <a:tr h="557142">
                <a:tc>
                  <a:txBody>
                    <a:bodyPr/>
                    <a:lstStyle/>
                    <a:p>
                      <a:pPr algn="l">
                        <a:defRPr sz="1150" b="1">
                          <a:solidFill>
                            <a:srgbClr val="194E78"/>
                          </a:solidFill>
                        </a:defRPr>
                      </a:pPr>
                      <a:r>
                        <a:rPr dirty="0">
                          <a:solidFill>
                            <a:srgbClr val="00B050"/>
                          </a:solidFill>
                        </a:rPr>
                        <a:t>Document Understanding</a:t>
                      </a:r>
                    </a:p>
                  </a:txBody>
                  <a:tcPr marR="73152" marT="36576" marB="27432">
                    <a:solidFill>
                      <a:srgbClr val="F5F8FB"/>
                    </a:solidFill>
                  </a:tcPr>
                </a:tc>
                <a:tc>
                  <a:txBody>
                    <a:bodyPr/>
                    <a:lstStyle/>
                    <a:p>
                      <a:pPr algn="l">
                        <a:defRPr sz="1150">
                          <a:solidFill>
                            <a:srgbClr val="232323"/>
                          </a:solidFill>
                        </a:defRPr>
                      </a:pPr>
                      <a:r>
                        <a:t>Focuses on relevant words, tables, images, and their relationships.</a:t>
                      </a:r>
                    </a:p>
                  </a:txBody>
                  <a:tcPr marR="73152" marT="36576" marB="27432">
                    <a:solidFill>
                      <a:srgbClr val="F5F8FB"/>
                    </a:solidFill>
                  </a:tcPr>
                </a:tc>
                <a:tc>
                  <a:txBody>
                    <a:bodyPr/>
                    <a:lstStyle/>
                    <a:p>
                      <a:pPr algn="l">
                        <a:defRPr sz="1150">
                          <a:solidFill>
                            <a:srgbClr val="232323"/>
                          </a:solidFill>
                        </a:defRPr>
                      </a:pPr>
                      <a:r>
                        <a:t>Connects “Total amount” with the corresponding value “$1,250” in an invoice.</a:t>
                      </a:r>
                    </a:p>
                  </a:txBody>
                  <a:tcPr marR="73152" marT="36576" marB="27432">
                    <a:solidFill>
                      <a:srgbClr val="F5F8FB"/>
                    </a:solidFill>
                  </a:tcPr>
                </a:tc>
                <a:extLst>
                  <a:ext uri="{0D108BD9-81ED-4DB2-BD59-A6C34878D82A}">
                    <a16:rowId xmlns:a16="http://schemas.microsoft.com/office/drawing/2014/main" val="10007"/>
                  </a:ext>
                </a:extLst>
              </a:tr>
              <a:tr h="557142">
                <a:tc>
                  <a:txBody>
                    <a:bodyPr/>
                    <a:lstStyle/>
                    <a:p>
                      <a:pPr algn="l">
                        <a:defRPr sz="1150" b="1">
                          <a:solidFill>
                            <a:srgbClr val="194E78"/>
                          </a:solidFill>
                        </a:defRPr>
                      </a:pPr>
                      <a:r>
                        <a:rPr dirty="0">
                          <a:solidFill>
                            <a:srgbClr val="00B050"/>
                          </a:solidFill>
                        </a:rPr>
                        <a:t>Robot Manipulation</a:t>
                      </a:r>
                    </a:p>
                  </a:txBody>
                  <a:tcPr marR="73152" marT="36576" marB="27432">
                    <a:solidFill>
                      <a:srgbClr val="EBF2F8"/>
                    </a:solidFill>
                  </a:tcPr>
                </a:tc>
                <a:tc>
                  <a:txBody>
                    <a:bodyPr/>
                    <a:lstStyle/>
                    <a:p>
                      <a:pPr algn="l">
                        <a:defRPr sz="1150">
                          <a:solidFill>
                            <a:srgbClr val="232323"/>
                          </a:solidFill>
                        </a:defRPr>
                      </a:pPr>
                      <a:r>
                        <a:rPr dirty="0"/>
                        <a:t>Focuses on the target object and the relevant part of the scene.</a:t>
                      </a:r>
                    </a:p>
                  </a:txBody>
                  <a:tcPr marR="73152" marT="36576" marB="27432">
                    <a:solidFill>
                      <a:srgbClr val="EBF2F8"/>
                    </a:solidFill>
                  </a:tcPr>
                </a:tc>
                <a:tc>
                  <a:txBody>
                    <a:bodyPr/>
                    <a:lstStyle/>
                    <a:p>
                      <a:pPr algn="l">
                        <a:defRPr sz="1150">
                          <a:solidFill>
                            <a:srgbClr val="232323"/>
                          </a:solidFill>
                        </a:defRPr>
                      </a:pPr>
                      <a:r>
                        <a:rPr dirty="0"/>
                        <a:t>For “Pick up the red cup,” attention focuses on the red cup rather than other objects.</a:t>
                      </a:r>
                    </a:p>
                  </a:txBody>
                  <a:tcPr marR="73152" marT="36576" marB="27432">
                    <a:solidFill>
                      <a:srgbClr val="EBF2F8"/>
                    </a:solidFill>
                  </a:tcPr>
                </a:tc>
                <a:extLst>
                  <a:ext uri="{0D108BD9-81ED-4DB2-BD59-A6C34878D82A}">
                    <a16:rowId xmlns:a16="http://schemas.microsoft.com/office/drawing/2014/main" val="10008"/>
                  </a:ext>
                </a:extLst>
              </a:tr>
            </a:tbl>
          </a:graphicData>
        </a:graphic>
      </p:graphicFrame>
      <p:sp>
        <p:nvSpPr>
          <p:cNvPr id="22" name="Rounded Rectangle 5">
            <a:extLst>
              <a:ext uri="{FF2B5EF4-FFF2-40B4-BE49-F238E27FC236}">
                <a16:creationId xmlns:a16="http://schemas.microsoft.com/office/drawing/2014/main" id="{6FDA6641-B9EF-4633-DB54-A304C39C621A}"/>
              </a:ext>
            </a:extLst>
          </p:cNvPr>
          <p:cNvSpPr/>
          <p:nvPr/>
        </p:nvSpPr>
        <p:spPr>
          <a:xfrm>
            <a:off x="183361" y="6036566"/>
            <a:ext cx="11548872" cy="347472"/>
          </a:xfrm>
          <a:prstGeom prst="roundRect">
            <a:avLst/>
          </a:prstGeom>
          <a:solidFill>
            <a:srgbClr val="E8F1F8"/>
          </a:solidFill>
          <a:ln>
            <a:solidFill>
              <a:srgbClr val="B4CD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94669"/>
                </a:solidFill>
              </a:defRPr>
            </a:pPr>
            <a:r>
              <a:t>Key idea: Attention does not simply process everything equally—it assigns more importance to information that is relevant to the current task.</a:t>
            </a:r>
          </a:p>
        </p:txBody>
      </p:sp>
    </p:spTree>
    <p:extLst>
      <p:ext uri="{BB962C8B-B14F-4D97-AF65-F5344CB8AC3E}">
        <p14:creationId xmlns:p14="http://schemas.microsoft.com/office/powerpoint/2010/main" val="3341237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D5B4E-EF8F-048B-2F08-C5855A2096F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45A8C6B-365E-AB6C-5993-62A7B6829DB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2. Why Do We Need Attention ?</a:t>
            </a:r>
          </a:p>
        </p:txBody>
      </p:sp>
      <p:sp>
        <p:nvSpPr>
          <p:cNvPr id="9" name="Rectangle 4">
            <a:extLst>
              <a:ext uri="{FF2B5EF4-FFF2-40B4-BE49-F238E27FC236}">
                <a16:creationId xmlns:a16="http://schemas.microsoft.com/office/drawing/2014/main" id="{30704310-2272-EDF7-7655-1CDAAD14531C}"/>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7C7551E6-E4C0-48F6-F842-490608CAEB73}"/>
              </a:ext>
            </a:extLst>
          </p:cNvPr>
          <p:cNvSpPr txBox="1"/>
          <p:nvPr/>
        </p:nvSpPr>
        <p:spPr>
          <a:xfrm>
            <a:off x="339825" y="1097424"/>
            <a:ext cx="6746775" cy="2154436"/>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The Importance of Relevant Information</a:t>
            </a:r>
          </a:p>
          <a:p>
            <a:pPr marL="342900" lvl="0" indent="-342900" algn="just">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Real-world data contains a lot of information, but not all of it is important. </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Some information is more important than others. </a:t>
            </a:r>
          </a:p>
          <a:p>
            <a:pPr marL="342900" lvl="0" indent="-342900" algn="just">
              <a:buFont typeface="Arial" panose="020B0604020202020204" pitchFamily="34" charset="0"/>
              <a:buChar char="•"/>
            </a:pPr>
            <a:r>
              <a:rPr lang="en-US" b="1" i="1" u="sng" dirty="0">
                <a:latin typeface="Calibri" panose="020F0502020204030204" pitchFamily="34" charset="0"/>
                <a:cs typeface="Calibri" panose="020F0502020204030204" pitchFamily="34" charset="0"/>
              </a:rPr>
              <a:t>Attention</a:t>
            </a:r>
            <a:r>
              <a:rPr lang="en-US" dirty="0">
                <a:latin typeface="Calibri" panose="020F0502020204030204" pitchFamily="34" charset="0"/>
                <a:cs typeface="Calibri" panose="020F0502020204030204" pitchFamily="34" charset="0"/>
              </a:rPr>
              <a:t> helps the model focus on the most important information.</a:t>
            </a:r>
          </a:p>
        </p:txBody>
      </p:sp>
      <p:sp>
        <p:nvSpPr>
          <p:cNvPr id="37" name="Slide Number Placeholder 36">
            <a:extLst>
              <a:ext uri="{FF2B5EF4-FFF2-40B4-BE49-F238E27FC236}">
                <a16:creationId xmlns:a16="http://schemas.microsoft.com/office/drawing/2014/main" id="{8C1C550A-80BC-B391-6F2D-277AC0CE657B}"/>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9</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BA763AB5-8223-AB30-1288-D35D077BF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825" y="3606140"/>
            <a:ext cx="7835157" cy="2622669"/>
          </a:xfrm>
          <a:prstGeom prst="rect">
            <a:avLst/>
          </a:prstGeom>
        </p:spPr>
      </p:pic>
      <p:sp>
        <p:nvSpPr>
          <p:cNvPr id="3" name="TextBox 2">
            <a:extLst>
              <a:ext uri="{FF2B5EF4-FFF2-40B4-BE49-F238E27FC236}">
                <a16:creationId xmlns:a16="http://schemas.microsoft.com/office/drawing/2014/main" id="{38A6CF38-5992-144D-536B-F695CD7D3765}"/>
              </a:ext>
            </a:extLst>
          </p:cNvPr>
          <p:cNvSpPr txBox="1"/>
          <p:nvPr/>
        </p:nvSpPr>
        <p:spPr>
          <a:xfrm>
            <a:off x="7924799" y="1187457"/>
            <a:ext cx="3733801" cy="1415772"/>
          </a:xfrm>
          <a:prstGeom prst="rect">
            <a:avLst/>
          </a:prstGeom>
          <a:noFill/>
        </p:spPr>
        <p:txBody>
          <a:bodyPr wrap="square">
            <a:spAutoFit/>
          </a:bodyPr>
          <a:lstStyle/>
          <a:p>
            <a:pPr lvl="1"/>
            <a:r>
              <a:rPr lang="en-US" sz="1400" b="1" dirty="0">
                <a:latin typeface="Calibri" panose="020F0502020204030204" pitchFamily="34" charset="0"/>
                <a:cs typeface="Calibri" panose="020F0502020204030204" pitchFamily="34" charset="0"/>
              </a:rPr>
              <a:t>Example: 1</a:t>
            </a:r>
          </a:p>
          <a:p>
            <a:pPr lvl="1"/>
            <a:r>
              <a:rPr lang="en-US" sz="1200" i="1" dirty="0">
                <a:latin typeface="Calibri" panose="020F0502020204030204" pitchFamily="34" charset="0"/>
                <a:cs typeface="Calibri" panose="020F0502020204030204" pitchFamily="34" charset="0"/>
              </a:rPr>
              <a:t>The boy kicked the football</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	   ↓</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	IMPORTANT (Boy-Kicked-Football)</a:t>
            </a:r>
          </a:p>
          <a:p>
            <a:pPr lvl="1"/>
            <a:r>
              <a:rPr lang="en-US" sz="1200" dirty="0">
                <a:latin typeface="Calibri" panose="020F0502020204030204" pitchFamily="34" charset="0"/>
                <a:cs typeface="Calibri" panose="020F0502020204030204" pitchFamily="34" charset="0"/>
              </a:rPr>
              <a:t>ELSE</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	   ↓</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	NOT IMPORTANT (The)</a:t>
            </a:r>
          </a:p>
        </p:txBody>
      </p:sp>
      <p:sp>
        <p:nvSpPr>
          <p:cNvPr id="6" name="TextBox 5">
            <a:extLst>
              <a:ext uri="{FF2B5EF4-FFF2-40B4-BE49-F238E27FC236}">
                <a16:creationId xmlns:a16="http://schemas.microsoft.com/office/drawing/2014/main" id="{06704B7E-86C3-40FA-39C4-0894D3FC6681}"/>
              </a:ext>
            </a:extLst>
          </p:cNvPr>
          <p:cNvSpPr txBox="1"/>
          <p:nvPr/>
        </p:nvSpPr>
        <p:spPr>
          <a:xfrm>
            <a:off x="8174982" y="3452978"/>
            <a:ext cx="3598763" cy="3077766"/>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Example: 2</a:t>
            </a:r>
          </a:p>
          <a:p>
            <a:r>
              <a:rPr lang="en-US" sz="1200" b="1" dirty="0">
                <a:latin typeface="Calibri" panose="020F0502020204030204" pitchFamily="34" charset="0"/>
                <a:cs typeface="Calibri" panose="020F0502020204030204" pitchFamily="34" charset="0"/>
              </a:rPr>
              <a:t>Input</a:t>
            </a:r>
          </a:p>
          <a:p>
            <a:r>
              <a:rPr lang="en-US" sz="1200" dirty="0">
                <a:latin typeface="Calibri" panose="020F0502020204030204" pitchFamily="34" charset="0"/>
                <a:cs typeface="Calibri" panose="020F0502020204030204" pitchFamily="34" charset="0"/>
              </a:rPr>
              <a:t>• Boy</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 Football</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 Other players</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 Background</a:t>
            </a:r>
          </a:p>
          <a:p>
            <a:r>
              <a:rPr lang="en-US" sz="1200" dirty="0">
                <a:latin typeface="Calibri" panose="020F0502020204030204" pitchFamily="34" charset="0"/>
                <a:cs typeface="Calibri" panose="020F0502020204030204" pitchFamily="34" charset="0"/>
              </a:rPr>
              <a:t>	↓</a:t>
            </a:r>
          </a:p>
          <a:p>
            <a:r>
              <a:rPr lang="en-US" sz="1200" dirty="0">
                <a:latin typeface="Calibri" panose="020F0502020204030204" pitchFamily="34" charset="0"/>
                <a:cs typeface="Calibri" panose="020F0502020204030204" pitchFamily="34" charset="0"/>
              </a:rPr>
              <a:t>Multiple Attention Heads</a:t>
            </a:r>
          </a:p>
          <a:p>
            <a:r>
              <a:rPr lang="en-US" sz="1200" dirty="0">
                <a:latin typeface="Calibri" panose="020F0502020204030204" pitchFamily="34" charset="0"/>
                <a:cs typeface="Calibri" panose="020F0502020204030204" pitchFamily="34" charset="0"/>
              </a:rPr>
              <a:t>	↓</a:t>
            </a:r>
          </a:p>
          <a:p>
            <a:r>
              <a:rPr lang="en-US" sz="1200" dirty="0">
                <a:latin typeface="Calibri" panose="020F0502020204030204" pitchFamily="34" charset="0"/>
                <a:cs typeface="Calibri" panose="020F0502020204030204" pitchFamily="34" charset="0"/>
              </a:rPr>
              <a:t>Head 1 → Focuses on the boy</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Head 2 → Focuses on the football</a:t>
            </a:r>
            <a:br>
              <a:rPr lang="en-US" sz="1200" dirty="0">
                <a:latin typeface="Calibri" panose="020F0502020204030204" pitchFamily="34" charset="0"/>
                <a:cs typeface="Calibri" panose="020F0502020204030204" pitchFamily="34" charset="0"/>
              </a:rPr>
            </a:br>
            <a:r>
              <a:rPr lang="en-US" sz="1200" dirty="0">
                <a:latin typeface="Calibri" panose="020F0502020204030204" pitchFamily="34" charset="0"/>
                <a:cs typeface="Calibri" panose="020F0502020204030204" pitchFamily="34" charset="0"/>
              </a:rPr>
              <a:t>Head 3 → Focuses on other players</a:t>
            </a:r>
          </a:p>
          <a:p>
            <a:r>
              <a:rPr lang="en-US" sz="1200" dirty="0">
                <a:latin typeface="Calibri" panose="020F0502020204030204" pitchFamily="34" charset="0"/>
                <a:cs typeface="Calibri" panose="020F0502020204030204" pitchFamily="34" charset="0"/>
              </a:rPr>
              <a:t>	↓</a:t>
            </a:r>
          </a:p>
          <a:p>
            <a:r>
              <a:rPr lang="en-US" sz="1200" dirty="0">
                <a:latin typeface="Calibri" panose="020F0502020204030204" pitchFamily="34" charset="0"/>
                <a:cs typeface="Calibri" panose="020F0502020204030204" pitchFamily="34" charset="0"/>
              </a:rPr>
              <a:t>All heads are combined</a:t>
            </a:r>
          </a:p>
          <a:p>
            <a:r>
              <a:rPr lang="en-US" sz="1200" dirty="0">
                <a:latin typeface="Calibri" panose="020F0502020204030204" pitchFamily="34" charset="0"/>
                <a:cs typeface="Calibri" panose="020F0502020204030204" pitchFamily="34" charset="0"/>
              </a:rPr>
              <a:t>	↓</a:t>
            </a:r>
          </a:p>
          <a:p>
            <a:r>
              <a:rPr lang="en-US" sz="1200" dirty="0">
                <a:latin typeface="Calibri" panose="020F0502020204030204" pitchFamily="34" charset="0"/>
                <a:cs typeface="Calibri" panose="020F0502020204030204" pitchFamily="34" charset="0"/>
              </a:rPr>
              <a:t>Better understanding of the image</a:t>
            </a:r>
          </a:p>
        </p:txBody>
      </p:sp>
      <p:pic>
        <p:nvPicPr>
          <p:cNvPr id="4" name="Picture 3">
            <a:extLst>
              <a:ext uri="{FF2B5EF4-FFF2-40B4-BE49-F238E27FC236}">
                <a16:creationId xmlns:a16="http://schemas.microsoft.com/office/drawing/2014/main" id="{669BC6CE-FE82-5CB8-C1B5-6ECDF25629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74362" y="3425587"/>
            <a:ext cx="1684237" cy="1124229"/>
          </a:xfrm>
          <a:prstGeom prst="rect">
            <a:avLst/>
          </a:prstGeom>
        </p:spPr>
      </p:pic>
    </p:spTree>
    <p:extLst>
      <p:ext uri="{BB962C8B-B14F-4D97-AF65-F5344CB8AC3E}">
        <p14:creationId xmlns:p14="http://schemas.microsoft.com/office/powerpoint/2010/main" val="606139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FFE56-0B23-A18C-33AB-0733573D0B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E50B06F-C7C2-613A-7B18-98B055221D56}"/>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Why Do We Need Attention ? (cont…)</a:t>
            </a:r>
          </a:p>
        </p:txBody>
      </p:sp>
      <p:sp>
        <p:nvSpPr>
          <p:cNvPr id="9" name="Rectangle 4">
            <a:extLst>
              <a:ext uri="{FF2B5EF4-FFF2-40B4-BE49-F238E27FC236}">
                <a16:creationId xmlns:a16="http://schemas.microsoft.com/office/drawing/2014/main" id="{263C13D7-C700-D9BB-A606-ECB538BD3B73}"/>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69DCF14D-BBD9-35C0-6121-1F3F318F5E3F}"/>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10</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8EBA8676-23CA-0BD4-E6D2-AB4006603EDA}"/>
              </a:ext>
            </a:extLst>
          </p:cNvPr>
          <p:cNvSpPr txBox="1"/>
          <p:nvPr/>
        </p:nvSpPr>
        <p:spPr>
          <a:xfrm>
            <a:off x="414031" y="1042369"/>
            <a:ext cx="5132011" cy="2616101"/>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Context and Relationships</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One part of the input may not be clear on its own. </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The surrounding information helps the model understand its meaning. </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Relationships can be </a:t>
            </a:r>
            <a:r>
              <a:rPr lang="en-US" i="1" dirty="0">
                <a:latin typeface="Calibri" panose="020F0502020204030204" pitchFamily="34" charset="0"/>
                <a:cs typeface="Calibri" panose="020F0502020204030204" pitchFamily="34" charset="0"/>
              </a:rPr>
              <a:t>local</a:t>
            </a:r>
            <a:r>
              <a:rPr lang="en-US" sz="1600" i="1" dirty="0">
                <a:latin typeface="Calibri" panose="020F0502020204030204" pitchFamily="34" charset="0"/>
                <a:cs typeface="Calibri" panose="020F0502020204030204" pitchFamily="34" charset="0"/>
              </a:rPr>
              <a:t>(nearby)</a:t>
            </a:r>
            <a:r>
              <a:rPr lang="en-US" sz="16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or </a:t>
            </a:r>
            <a:r>
              <a:rPr lang="en-US" i="1" dirty="0">
                <a:latin typeface="Calibri" panose="020F0502020204030204" pitchFamily="34" charset="0"/>
                <a:cs typeface="Calibri" panose="020F0502020204030204" pitchFamily="34" charset="0"/>
              </a:rPr>
              <a:t>long-range</a:t>
            </a:r>
            <a:r>
              <a:rPr lang="en-US" sz="1600" i="1" dirty="0">
                <a:latin typeface="Calibri" panose="020F0502020204030204" pitchFamily="34" charset="0"/>
                <a:cs typeface="Calibri" panose="020F0502020204030204" pitchFamily="34" charset="0"/>
              </a:rPr>
              <a:t>(far, between)</a:t>
            </a:r>
            <a:r>
              <a:rPr lang="en-US" sz="1600" dirty="0">
                <a:latin typeface="Calibri" panose="020F0502020204030204" pitchFamily="34" charset="0"/>
                <a:cs typeface="Calibri" panose="020F0502020204030204" pitchFamily="34" charset="0"/>
              </a:rPr>
              <a:t>. </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Attention helps connect related information, even when it is far apart. </a:t>
            </a:r>
          </a:p>
        </p:txBody>
      </p:sp>
      <p:grpSp>
        <p:nvGrpSpPr>
          <p:cNvPr id="22" name="Group 21">
            <a:extLst>
              <a:ext uri="{FF2B5EF4-FFF2-40B4-BE49-F238E27FC236}">
                <a16:creationId xmlns:a16="http://schemas.microsoft.com/office/drawing/2014/main" id="{0E371DBC-4A78-624F-905E-CE24C7950A60}"/>
              </a:ext>
            </a:extLst>
          </p:cNvPr>
          <p:cNvGrpSpPr/>
          <p:nvPr/>
        </p:nvGrpSpPr>
        <p:grpSpPr>
          <a:xfrm>
            <a:off x="414031" y="4657622"/>
            <a:ext cx="3563993" cy="1511847"/>
            <a:chOff x="6298623" y="1086311"/>
            <a:chExt cx="5182838" cy="2456271"/>
          </a:xfrm>
        </p:grpSpPr>
        <p:pic>
          <p:nvPicPr>
            <p:cNvPr id="12" name="Picture 11">
              <a:extLst>
                <a:ext uri="{FF2B5EF4-FFF2-40B4-BE49-F238E27FC236}">
                  <a16:creationId xmlns:a16="http://schemas.microsoft.com/office/drawing/2014/main" id="{EB2933CF-7CD4-3C3D-F6BC-F67EB64F2A9B}"/>
                </a:ext>
              </a:extLst>
            </p:cNvPr>
            <p:cNvPicPr>
              <a:picLocks noChangeAspect="1"/>
            </p:cNvPicPr>
            <p:nvPr/>
          </p:nvPicPr>
          <p:blipFill>
            <a:blip r:embed="rId2">
              <a:extLst>
                <a:ext uri="{28A0092B-C50C-407E-A947-70E740481C1C}">
                  <a14:useLocalDpi xmlns:a14="http://schemas.microsoft.com/office/drawing/2010/main" val="0"/>
                </a:ext>
              </a:extLst>
            </a:blip>
            <a:srcRect l="44809" t="85556" r="47775" b="2252"/>
            <a:stretch>
              <a:fillRect/>
            </a:stretch>
          </p:blipFill>
          <p:spPr>
            <a:xfrm>
              <a:off x="10033663" y="1160761"/>
              <a:ext cx="1447798" cy="1588732"/>
            </a:xfrm>
            <a:prstGeom prst="rect">
              <a:avLst/>
            </a:prstGeom>
          </p:spPr>
        </p:pic>
        <p:pic>
          <p:nvPicPr>
            <p:cNvPr id="16" name="Picture 15">
              <a:extLst>
                <a:ext uri="{FF2B5EF4-FFF2-40B4-BE49-F238E27FC236}">
                  <a16:creationId xmlns:a16="http://schemas.microsoft.com/office/drawing/2014/main" id="{50C241D5-A684-A2C2-A3C8-8CA71CA2DE78}"/>
                </a:ext>
              </a:extLst>
            </p:cNvPr>
            <p:cNvPicPr>
              <a:picLocks noChangeAspect="1"/>
            </p:cNvPicPr>
            <p:nvPr/>
          </p:nvPicPr>
          <p:blipFill>
            <a:blip r:embed="rId3" cstate="print">
              <a:extLst>
                <a:ext uri="{28A0092B-C50C-407E-A947-70E740481C1C}">
                  <a14:useLocalDpi xmlns:a14="http://schemas.microsoft.com/office/drawing/2010/main" val="0"/>
                </a:ext>
              </a:extLst>
            </a:blip>
            <a:srcRect l="36496" t="15237" r="28646" b="21925"/>
            <a:stretch>
              <a:fillRect/>
            </a:stretch>
          </p:blipFill>
          <p:spPr>
            <a:xfrm>
              <a:off x="8149190" y="1086311"/>
              <a:ext cx="1299610" cy="1718431"/>
            </a:xfrm>
            <a:prstGeom prst="rect">
              <a:avLst/>
            </a:prstGeom>
          </p:spPr>
        </p:pic>
        <p:pic>
          <p:nvPicPr>
            <p:cNvPr id="18" name="Picture 17">
              <a:extLst>
                <a:ext uri="{FF2B5EF4-FFF2-40B4-BE49-F238E27FC236}">
                  <a16:creationId xmlns:a16="http://schemas.microsoft.com/office/drawing/2014/main" id="{1542D090-B0FE-8B8D-1CDC-4A4D7A064FE2}"/>
                </a:ext>
              </a:extLst>
            </p:cNvPr>
            <p:cNvPicPr>
              <a:picLocks noChangeAspect="1"/>
            </p:cNvPicPr>
            <p:nvPr/>
          </p:nvPicPr>
          <p:blipFill>
            <a:blip r:embed="rId2">
              <a:extLst>
                <a:ext uri="{28A0092B-C50C-407E-A947-70E740481C1C}">
                  <a14:useLocalDpi xmlns:a14="http://schemas.microsoft.com/office/drawing/2010/main" val="0"/>
                </a:ext>
              </a:extLst>
            </a:blip>
            <a:srcRect t="38889" r="81150" b="17777"/>
            <a:stretch>
              <a:fillRect/>
            </a:stretch>
          </p:blipFill>
          <p:spPr>
            <a:xfrm>
              <a:off x="6298623" y="1086311"/>
              <a:ext cx="1381998" cy="1689942"/>
            </a:xfrm>
            <a:prstGeom prst="rect">
              <a:avLst/>
            </a:prstGeom>
          </p:spPr>
        </p:pic>
        <p:sp>
          <p:nvSpPr>
            <p:cNvPr id="19" name="TextBox 18">
              <a:extLst>
                <a:ext uri="{FF2B5EF4-FFF2-40B4-BE49-F238E27FC236}">
                  <a16:creationId xmlns:a16="http://schemas.microsoft.com/office/drawing/2014/main" id="{345F51FF-82FC-1589-07C5-80F8EB519393}"/>
                </a:ext>
              </a:extLst>
            </p:cNvPr>
            <p:cNvSpPr txBox="1"/>
            <p:nvPr/>
          </p:nvSpPr>
          <p:spPr>
            <a:xfrm>
              <a:off x="6514360" y="2985618"/>
              <a:ext cx="1070918" cy="500040"/>
            </a:xfrm>
            <a:prstGeom prst="rect">
              <a:avLst/>
            </a:prstGeom>
            <a:noFill/>
          </p:spPr>
          <p:txBody>
            <a:bodyPr wrap="none" rtlCol="0">
              <a:spAutoFit/>
            </a:bodyPr>
            <a:lstStyle/>
            <a:p>
              <a:r>
                <a:rPr lang="en-US" sz="1400" dirty="0">
                  <a:latin typeface="Calibri" panose="020F0502020204030204" pitchFamily="34" charset="0"/>
                  <a:cs typeface="Calibri" panose="020F0502020204030204" pitchFamily="34" charset="0"/>
                </a:rPr>
                <a:t>Ground</a:t>
              </a:r>
            </a:p>
          </p:txBody>
        </p:sp>
        <p:sp>
          <p:nvSpPr>
            <p:cNvPr id="20" name="TextBox 19">
              <a:extLst>
                <a:ext uri="{FF2B5EF4-FFF2-40B4-BE49-F238E27FC236}">
                  <a16:creationId xmlns:a16="http://schemas.microsoft.com/office/drawing/2014/main" id="{142F0976-C03F-D40B-94F3-A5C019251B41}"/>
                </a:ext>
              </a:extLst>
            </p:cNvPr>
            <p:cNvSpPr txBox="1"/>
            <p:nvPr/>
          </p:nvSpPr>
          <p:spPr>
            <a:xfrm>
              <a:off x="8477092" y="3033857"/>
              <a:ext cx="852501" cy="500040"/>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Boy</a:t>
              </a:r>
            </a:p>
          </p:txBody>
        </p:sp>
        <p:sp>
          <p:nvSpPr>
            <p:cNvPr id="21" name="TextBox 20">
              <a:extLst>
                <a:ext uri="{FF2B5EF4-FFF2-40B4-BE49-F238E27FC236}">
                  <a16:creationId xmlns:a16="http://schemas.microsoft.com/office/drawing/2014/main" id="{0C5E3FE8-BFEA-A57D-D12B-DB10151EE409}"/>
                </a:ext>
              </a:extLst>
            </p:cNvPr>
            <p:cNvSpPr txBox="1"/>
            <p:nvPr/>
          </p:nvSpPr>
          <p:spPr>
            <a:xfrm>
              <a:off x="10223038" y="3042542"/>
              <a:ext cx="1132179" cy="500040"/>
            </a:xfrm>
            <a:prstGeom prst="rect">
              <a:avLst/>
            </a:prstGeom>
            <a:noFill/>
          </p:spPr>
          <p:txBody>
            <a:bodyPr wrap="none" rtlCol="0">
              <a:spAutoFit/>
            </a:bodyPr>
            <a:lstStyle/>
            <a:p>
              <a:r>
                <a:rPr lang="en-US" sz="1400" dirty="0">
                  <a:latin typeface="Calibri" panose="020F0502020204030204" pitchFamily="34" charset="0"/>
                  <a:cs typeface="Calibri" panose="020F0502020204030204" pitchFamily="34" charset="0"/>
                </a:rPr>
                <a:t>Football</a:t>
              </a:r>
            </a:p>
          </p:txBody>
        </p:sp>
      </p:grpSp>
      <p:pic>
        <p:nvPicPr>
          <p:cNvPr id="24" name="Graphic 23" descr="Head with gears with solid fill">
            <a:extLst>
              <a:ext uri="{FF2B5EF4-FFF2-40B4-BE49-F238E27FC236}">
                <a16:creationId xmlns:a16="http://schemas.microsoft.com/office/drawing/2014/main" id="{C5AA1428-7AB4-2CB9-DD7C-918CA4B0AB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09226" y="5119463"/>
            <a:ext cx="685800" cy="685800"/>
          </a:xfrm>
          <a:prstGeom prst="rect">
            <a:avLst/>
          </a:prstGeom>
        </p:spPr>
      </p:pic>
      <p:pic>
        <p:nvPicPr>
          <p:cNvPr id="31" name="Picture 30">
            <a:extLst>
              <a:ext uri="{FF2B5EF4-FFF2-40B4-BE49-F238E27FC236}">
                <a16:creationId xmlns:a16="http://schemas.microsoft.com/office/drawing/2014/main" id="{2E056D08-5A0A-7248-3A04-BA7362552A1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66050" y="1260809"/>
            <a:ext cx="4214725" cy="2378052"/>
          </a:xfrm>
          <a:prstGeom prst="rect">
            <a:avLst/>
          </a:prstGeom>
        </p:spPr>
      </p:pic>
      <p:sp>
        <p:nvSpPr>
          <p:cNvPr id="39" name="TextBox 38">
            <a:extLst>
              <a:ext uri="{FF2B5EF4-FFF2-40B4-BE49-F238E27FC236}">
                <a16:creationId xmlns:a16="http://schemas.microsoft.com/office/drawing/2014/main" id="{C2E7DDC7-BFD9-4E5A-3F4C-E9B4279DE2F7}"/>
              </a:ext>
            </a:extLst>
          </p:cNvPr>
          <p:cNvSpPr txBox="1"/>
          <p:nvPr/>
        </p:nvSpPr>
        <p:spPr>
          <a:xfrm>
            <a:off x="8614089" y="5846605"/>
            <a:ext cx="876074" cy="307777"/>
          </a:xfrm>
          <a:prstGeom prst="rect">
            <a:avLst/>
          </a:prstGeom>
          <a:noFill/>
        </p:spPr>
        <p:txBody>
          <a:bodyPr wrap="none" rtlCol="0">
            <a:spAutoFit/>
          </a:bodyPr>
          <a:lstStyle/>
          <a:p>
            <a:r>
              <a:rPr lang="en-US" sz="1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Attention</a:t>
            </a:r>
          </a:p>
        </p:txBody>
      </p:sp>
      <p:grpSp>
        <p:nvGrpSpPr>
          <p:cNvPr id="54" name="Group 53">
            <a:extLst>
              <a:ext uri="{FF2B5EF4-FFF2-40B4-BE49-F238E27FC236}">
                <a16:creationId xmlns:a16="http://schemas.microsoft.com/office/drawing/2014/main" id="{F2332E34-9C86-8191-5756-D224FB6CC9BA}"/>
              </a:ext>
            </a:extLst>
          </p:cNvPr>
          <p:cNvGrpSpPr/>
          <p:nvPr/>
        </p:nvGrpSpPr>
        <p:grpSpPr>
          <a:xfrm>
            <a:off x="4031751" y="4273434"/>
            <a:ext cx="4465523" cy="2162473"/>
            <a:chOff x="4040710" y="4366574"/>
            <a:chExt cx="4337023" cy="2087844"/>
          </a:xfrm>
        </p:grpSpPr>
        <p:sp>
          <p:nvSpPr>
            <p:cNvPr id="34" name="TextBox 33">
              <a:extLst>
                <a:ext uri="{FF2B5EF4-FFF2-40B4-BE49-F238E27FC236}">
                  <a16:creationId xmlns:a16="http://schemas.microsoft.com/office/drawing/2014/main" id="{223D074A-0205-3DDC-54B4-5858EF4B641F}"/>
                </a:ext>
              </a:extLst>
            </p:cNvPr>
            <p:cNvSpPr txBox="1"/>
            <p:nvPr/>
          </p:nvSpPr>
          <p:spPr>
            <a:xfrm>
              <a:off x="4973133" y="5500311"/>
              <a:ext cx="2335684" cy="954107"/>
            </a:xfrm>
            <a:prstGeom prst="rect">
              <a:avLst/>
            </a:prstGeom>
            <a:solidFill>
              <a:schemeClr val="accent1">
                <a:lumMod val="75000"/>
              </a:schemeClr>
            </a:solidFill>
          </p:spPr>
          <p:style>
            <a:lnRef idx="0">
              <a:schemeClr val="accent1"/>
            </a:lnRef>
            <a:fillRef idx="3">
              <a:schemeClr val="accent1"/>
            </a:fillRef>
            <a:effectRef idx="3">
              <a:schemeClr val="accent1"/>
            </a:effectRef>
            <a:fontRef idx="minor">
              <a:schemeClr val="lt1"/>
            </a:fontRef>
          </p:style>
          <p:txBody>
            <a:bodyPr wrap="square" rtlCol="0">
              <a:spAutoFit/>
            </a:bodyPr>
            <a:lstStyle>
              <a:defPPr>
                <a:defRPr lang="en-US"/>
              </a:defPPr>
              <a:lvl1pPr>
                <a:defRPr sz="1400">
                  <a:solidFill>
                    <a:schemeClr val="lt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i="1" dirty="0">
                  <a:solidFill>
                    <a:srgbClr val="FFFF00"/>
                  </a:solidFill>
                </a:rPr>
                <a:t>Relationship:</a:t>
              </a:r>
            </a:p>
            <a:p>
              <a:r>
                <a:rPr lang="en-US" dirty="0"/>
                <a:t>Boy + Football + Ground =The Boy is Playing Football with other players on the field</a:t>
              </a:r>
            </a:p>
          </p:txBody>
        </p:sp>
        <p:grpSp>
          <p:nvGrpSpPr>
            <p:cNvPr id="53" name="Group 52">
              <a:extLst>
                <a:ext uri="{FF2B5EF4-FFF2-40B4-BE49-F238E27FC236}">
                  <a16:creationId xmlns:a16="http://schemas.microsoft.com/office/drawing/2014/main" id="{755B1C99-99B2-D340-F2EE-EE11E152C74F}"/>
                </a:ext>
              </a:extLst>
            </p:cNvPr>
            <p:cNvGrpSpPr/>
            <p:nvPr/>
          </p:nvGrpSpPr>
          <p:grpSpPr>
            <a:xfrm>
              <a:off x="4040710" y="4366574"/>
              <a:ext cx="4337023" cy="1907754"/>
              <a:chOff x="4041740" y="4284402"/>
              <a:chExt cx="4472541" cy="1989446"/>
            </a:xfrm>
          </p:grpSpPr>
          <p:grpSp>
            <p:nvGrpSpPr>
              <p:cNvPr id="29" name="Group 28">
                <a:extLst>
                  <a:ext uri="{FF2B5EF4-FFF2-40B4-BE49-F238E27FC236}">
                    <a16:creationId xmlns:a16="http://schemas.microsoft.com/office/drawing/2014/main" id="{61CD50E5-BD9A-46C2-90B0-AB06233FF56F}"/>
                  </a:ext>
                </a:extLst>
              </p:cNvPr>
              <p:cNvGrpSpPr/>
              <p:nvPr/>
            </p:nvGrpSpPr>
            <p:grpSpPr>
              <a:xfrm rot="10800000">
                <a:off x="4041740" y="4403192"/>
                <a:ext cx="859690" cy="1751314"/>
                <a:chOff x="1114781" y="3247832"/>
                <a:chExt cx="587734" cy="2449102"/>
              </a:xfrm>
            </p:grpSpPr>
            <p:cxnSp>
              <p:nvCxnSpPr>
                <p:cNvPr id="25" name="Straight Arrow Connector 24">
                  <a:extLst>
                    <a:ext uri="{FF2B5EF4-FFF2-40B4-BE49-F238E27FC236}">
                      <a16:creationId xmlns:a16="http://schemas.microsoft.com/office/drawing/2014/main" id="{EB135440-04C3-D6CD-A66D-78DC91E1221B}"/>
                    </a:ext>
                  </a:extLst>
                </p:cNvPr>
                <p:cNvCxnSpPr/>
                <p:nvPr/>
              </p:nvCxnSpPr>
              <p:spPr>
                <a:xfrm flipH="1">
                  <a:off x="1114781" y="3251077"/>
                  <a:ext cx="24167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500FEAF1-00E1-DD9A-8709-BFA92D84EAE7}"/>
                    </a:ext>
                  </a:extLst>
                </p:cNvPr>
                <p:cNvCxnSpPr/>
                <p:nvPr/>
              </p:nvCxnSpPr>
              <p:spPr>
                <a:xfrm flipH="1">
                  <a:off x="1114781" y="5696122"/>
                  <a:ext cx="24167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3E3FAE03-C775-E701-6EAF-8F5FFF6DE715}"/>
                    </a:ext>
                  </a:extLst>
                </p:cNvPr>
                <p:cNvCxnSpPr/>
                <p:nvPr/>
              </p:nvCxnSpPr>
              <p:spPr>
                <a:xfrm>
                  <a:off x="1356460" y="3247832"/>
                  <a:ext cx="0" cy="2449102"/>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CE1FEE4B-544A-29CD-89D6-CE95D07ED839}"/>
                    </a:ext>
                  </a:extLst>
                </p:cNvPr>
                <p:cNvCxnSpPr>
                  <a:cxnSpLocks/>
                </p:cNvCxnSpPr>
                <p:nvPr/>
              </p:nvCxnSpPr>
              <p:spPr>
                <a:xfrm rot="10800000" flipH="1">
                  <a:off x="1356459" y="4382508"/>
                  <a:ext cx="346056"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42" name="TextBox 41">
                <a:extLst>
                  <a:ext uri="{FF2B5EF4-FFF2-40B4-BE49-F238E27FC236}">
                    <a16:creationId xmlns:a16="http://schemas.microsoft.com/office/drawing/2014/main" id="{DE7BA7A9-8ACC-B79A-6569-487AA26788A0}"/>
                  </a:ext>
                </a:extLst>
              </p:cNvPr>
              <p:cNvSpPr txBox="1"/>
              <p:nvPr/>
            </p:nvSpPr>
            <p:spPr>
              <a:xfrm>
                <a:off x="4973133" y="4284402"/>
                <a:ext cx="2335683" cy="954107"/>
              </a:xfrm>
              <a:prstGeom prst="rect">
                <a:avLst/>
              </a:prstGeom>
              <a:solidFill>
                <a:schemeClr val="accent1">
                  <a:lumMod val="75000"/>
                </a:schemeClr>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US" sz="1400" i="1" dirty="0">
                    <a:solidFill>
                      <a:srgbClr val="FFFF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Context:</a:t>
                </a:r>
              </a:p>
              <a:p>
                <a:pPr marL="342900" indent="-342900">
                  <a:buFont typeface="+mj-lt"/>
                  <a:buAutoNum type="arabicPeriod"/>
                </a:pPr>
                <a:r>
                  <a:rPr lang="en-US" sz="1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Ground Image</a:t>
                </a:r>
              </a:p>
              <a:p>
                <a:pPr marL="342900" indent="-342900">
                  <a:buFont typeface="+mj-lt"/>
                  <a:buAutoNum type="arabicPeriod"/>
                </a:pPr>
                <a:r>
                  <a:rPr lang="en-US" sz="1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Boy</a:t>
                </a:r>
              </a:p>
              <a:p>
                <a:pPr marL="342900" indent="-342900">
                  <a:buFont typeface="+mj-lt"/>
                  <a:buAutoNum type="arabicPeriod"/>
                </a:pPr>
                <a:r>
                  <a:rPr lang="en-US" sz="1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Football</a:t>
                </a:r>
              </a:p>
            </p:txBody>
          </p:sp>
          <p:grpSp>
            <p:nvGrpSpPr>
              <p:cNvPr id="45" name="Group 44">
                <a:extLst>
                  <a:ext uri="{FF2B5EF4-FFF2-40B4-BE49-F238E27FC236}">
                    <a16:creationId xmlns:a16="http://schemas.microsoft.com/office/drawing/2014/main" id="{35984C5B-2871-0248-2365-A0B6FD81EA1F}"/>
                  </a:ext>
                </a:extLst>
              </p:cNvPr>
              <p:cNvGrpSpPr/>
              <p:nvPr/>
            </p:nvGrpSpPr>
            <p:grpSpPr>
              <a:xfrm rot="10800000" flipH="1">
                <a:off x="7444518" y="4522534"/>
                <a:ext cx="1069763" cy="1751314"/>
                <a:chOff x="1182399" y="3264267"/>
                <a:chExt cx="504240" cy="2449102"/>
              </a:xfrm>
            </p:grpSpPr>
            <p:cxnSp>
              <p:nvCxnSpPr>
                <p:cNvPr id="46" name="Straight Arrow Connector 45">
                  <a:extLst>
                    <a:ext uri="{FF2B5EF4-FFF2-40B4-BE49-F238E27FC236}">
                      <a16:creationId xmlns:a16="http://schemas.microsoft.com/office/drawing/2014/main" id="{D84D16BF-1410-9012-8A04-D186F84B3374}"/>
                    </a:ext>
                  </a:extLst>
                </p:cNvPr>
                <p:cNvCxnSpPr>
                  <a:cxnSpLocks/>
                </p:cNvCxnSpPr>
                <p:nvPr/>
              </p:nvCxnSpPr>
              <p:spPr>
                <a:xfrm rot="10800000">
                  <a:off x="1182399" y="3267510"/>
                  <a:ext cx="24167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592CBAAA-7958-24FA-5066-342834FDA300}"/>
                    </a:ext>
                  </a:extLst>
                </p:cNvPr>
                <p:cNvCxnSpPr>
                  <a:cxnSpLocks/>
                </p:cNvCxnSpPr>
                <p:nvPr/>
              </p:nvCxnSpPr>
              <p:spPr>
                <a:xfrm rot="10800000">
                  <a:off x="1182399" y="5712555"/>
                  <a:ext cx="241679"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ACC3FEC0-2FFB-031F-199A-1AEB71D2E3DB}"/>
                    </a:ext>
                  </a:extLst>
                </p:cNvPr>
                <p:cNvCxnSpPr>
                  <a:cxnSpLocks/>
                </p:cNvCxnSpPr>
                <p:nvPr/>
              </p:nvCxnSpPr>
              <p:spPr>
                <a:xfrm rot="10800000" flipH="1" flipV="1">
                  <a:off x="1424078" y="3264267"/>
                  <a:ext cx="0" cy="2449102"/>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FFD46AE7-4DBB-077C-101A-01CA7F136A86}"/>
                    </a:ext>
                  </a:extLst>
                </p:cNvPr>
                <p:cNvCxnSpPr>
                  <a:cxnSpLocks/>
                </p:cNvCxnSpPr>
                <p:nvPr/>
              </p:nvCxnSpPr>
              <p:spPr>
                <a:xfrm rot="10800000" flipH="1">
                  <a:off x="1424077" y="4398939"/>
                  <a:ext cx="262562" cy="0"/>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grpSp>
        </p:grpSp>
      </p:grpSp>
      <p:pic>
        <p:nvPicPr>
          <p:cNvPr id="52" name="Graphic 51" descr="Arrow: Counter-clockwise curve with solid fill">
            <a:extLst>
              <a:ext uri="{FF2B5EF4-FFF2-40B4-BE49-F238E27FC236}">
                <a16:creationId xmlns:a16="http://schemas.microsoft.com/office/drawing/2014/main" id="{6F437D98-5B0C-1D44-3C03-660F801228C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2475843">
            <a:off x="8900618" y="3919447"/>
            <a:ext cx="1923064" cy="1903436"/>
          </a:xfrm>
          <a:prstGeom prst="rect">
            <a:avLst/>
          </a:prstGeom>
        </p:spPr>
      </p:pic>
    </p:spTree>
    <p:extLst>
      <p:ext uri="{BB962C8B-B14F-4D97-AF65-F5344CB8AC3E}">
        <p14:creationId xmlns:p14="http://schemas.microsoft.com/office/powerpoint/2010/main" val="2442494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D4566-8FC6-A4CE-ACA7-1689649CED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549BA6A-09B4-316B-3404-C62393B0ED94}"/>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Why Do We Need Attention ? (cont…)</a:t>
            </a:r>
          </a:p>
        </p:txBody>
      </p:sp>
      <p:sp>
        <p:nvSpPr>
          <p:cNvPr id="9" name="Rectangle 4">
            <a:extLst>
              <a:ext uri="{FF2B5EF4-FFF2-40B4-BE49-F238E27FC236}">
                <a16:creationId xmlns:a16="http://schemas.microsoft.com/office/drawing/2014/main" id="{A91E6512-27C9-AC25-D544-5813956878A8}"/>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1469CD7B-8352-DEE3-A5A4-851DEB97AB64}"/>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11</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83A2C6AC-C50C-07ED-4FEB-0A03600CD063}"/>
              </a:ext>
            </a:extLst>
          </p:cNvPr>
          <p:cNvSpPr txBox="1"/>
          <p:nvPr/>
        </p:nvSpPr>
        <p:spPr>
          <a:xfrm>
            <a:off x="533400" y="1558976"/>
            <a:ext cx="4992536" cy="2923877"/>
          </a:xfrm>
          <a:prstGeom prst="rect">
            <a:avLst/>
          </a:prstGeom>
          <a:noFill/>
        </p:spPr>
        <p:txBody>
          <a:bodyPr wrap="square">
            <a:spAutoFit/>
          </a:bodyPr>
          <a:lstStyle/>
          <a:p>
            <a:r>
              <a:rPr lang="en-US" sz="2400" b="1" dirty="0">
                <a:latin typeface="Calibri" panose="020F0502020204030204" pitchFamily="34" charset="0"/>
                <a:ea typeface="Calibri" pitchFamily="34" charset="-122"/>
                <a:cs typeface="Calibri" panose="020F0502020204030204" pitchFamily="34" charset="0"/>
              </a:rPr>
              <a:t>Attention for Weighting Information</a:t>
            </a:r>
            <a:endParaRPr lang="en-US" sz="2400" b="1"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Attention gives more weight to relevant information. </a:t>
            </a:r>
          </a:p>
          <a:p>
            <a:pPr marL="342900" lvl="0" indent="-342900" algn="just">
              <a:buFont typeface="Arial" panose="020B0604020202020204" pitchFamily="34" charset="0"/>
              <a:buChar char="•"/>
            </a:pPr>
            <a:endParaRPr lang="en-US" sz="2000" i="1"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2000" i="1" dirty="0">
                <a:latin typeface="Calibri" panose="020F0502020204030204" pitchFamily="34" charset="0"/>
                <a:cs typeface="Calibri" panose="020F0502020204030204" pitchFamily="34" charset="0"/>
              </a:rPr>
              <a:t>Higher weight → more influence </a:t>
            </a:r>
          </a:p>
          <a:p>
            <a:pPr marL="342900" lvl="0" indent="-342900" algn="just">
              <a:buFont typeface="Arial" panose="020B0604020202020204" pitchFamily="34" charset="0"/>
              <a:buChar char="•"/>
            </a:pPr>
            <a:r>
              <a:rPr lang="en-US" sz="2000" i="1" dirty="0">
                <a:latin typeface="Calibri" panose="020F0502020204030204" pitchFamily="34" charset="0"/>
                <a:cs typeface="Calibri" panose="020F0502020204030204" pitchFamily="34" charset="0"/>
              </a:rPr>
              <a:t>Lower weight → less influence </a:t>
            </a:r>
          </a:p>
          <a:p>
            <a:pPr marL="342900" lvl="0" indent="-342900" algn="just">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These weights are learned during training. </a:t>
            </a:r>
          </a:p>
        </p:txBody>
      </p:sp>
      <p:grpSp>
        <p:nvGrpSpPr>
          <p:cNvPr id="21" name="Group 20">
            <a:extLst>
              <a:ext uri="{FF2B5EF4-FFF2-40B4-BE49-F238E27FC236}">
                <a16:creationId xmlns:a16="http://schemas.microsoft.com/office/drawing/2014/main" id="{67489CE6-8B5F-F953-8A07-05672EC32251}"/>
              </a:ext>
            </a:extLst>
          </p:cNvPr>
          <p:cNvGrpSpPr/>
          <p:nvPr/>
        </p:nvGrpSpPr>
        <p:grpSpPr>
          <a:xfrm>
            <a:off x="6324600" y="1558977"/>
            <a:ext cx="4700393" cy="3740046"/>
            <a:chOff x="6932923" y="1789601"/>
            <a:chExt cx="5030477" cy="4032405"/>
          </a:xfrm>
        </p:grpSpPr>
        <p:graphicFrame>
          <p:nvGraphicFramePr>
            <p:cNvPr id="2" name="Diagram 1">
              <a:extLst>
                <a:ext uri="{FF2B5EF4-FFF2-40B4-BE49-F238E27FC236}">
                  <a16:creationId xmlns:a16="http://schemas.microsoft.com/office/drawing/2014/main" id="{E5F1C701-0B7D-49B2-350C-A4286BD24D23}"/>
                </a:ext>
              </a:extLst>
            </p:cNvPr>
            <p:cNvGraphicFramePr/>
            <p:nvPr>
              <p:extLst>
                <p:ext uri="{D42A27DB-BD31-4B8C-83A1-F6EECF244321}">
                  <p14:modId xmlns:p14="http://schemas.microsoft.com/office/powerpoint/2010/main" val="1225864593"/>
                </p:ext>
              </p:extLst>
            </p:nvPr>
          </p:nvGraphicFramePr>
          <p:xfrm>
            <a:off x="6932923" y="1789601"/>
            <a:ext cx="5030477" cy="4032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7" name="Graphic 16" descr="Close with solid fill">
              <a:extLst>
                <a:ext uri="{FF2B5EF4-FFF2-40B4-BE49-F238E27FC236}">
                  <a16:creationId xmlns:a16="http://schemas.microsoft.com/office/drawing/2014/main" id="{BC295F21-2B93-DD75-264B-F7D505A33EE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53252" y="2331653"/>
              <a:ext cx="213948" cy="176571"/>
            </a:xfrm>
            <a:prstGeom prst="rect">
              <a:avLst/>
            </a:prstGeom>
          </p:spPr>
        </p:pic>
        <p:pic>
          <p:nvPicPr>
            <p:cNvPr id="19" name="Graphic 18" descr="Checkmark with solid fill">
              <a:extLst>
                <a:ext uri="{FF2B5EF4-FFF2-40B4-BE49-F238E27FC236}">
                  <a16:creationId xmlns:a16="http://schemas.microsoft.com/office/drawing/2014/main" id="{5D57BDFB-3F90-E560-8A7F-EDF8200F6DA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258915" y="2295933"/>
              <a:ext cx="257229" cy="212291"/>
            </a:xfrm>
            <a:prstGeom prst="rect">
              <a:avLst/>
            </a:prstGeom>
          </p:spPr>
        </p:pic>
      </p:grpSp>
      <p:cxnSp>
        <p:nvCxnSpPr>
          <p:cNvPr id="7" name="Straight Arrow Connector 6">
            <a:extLst>
              <a:ext uri="{FF2B5EF4-FFF2-40B4-BE49-F238E27FC236}">
                <a16:creationId xmlns:a16="http://schemas.microsoft.com/office/drawing/2014/main" id="{2CF5F157-02D8-AA03-8048-72E667AEC8AD}"/>
              </a:ext>
            </a:extLst>
          </p:cNvPr>
          <p:cNvCxnSpPr/>
          <p:nvPr/>
        </p:nvCxnSpPr>
        <p:spPr>
          <a:xfrm flipV="1">
            <a:off x="5976447" y="4482853"/>
            <a:ext cx="649136" cy="68580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E6538400-CCFE-5458-6E13-619016332A70}"/>
              </a:ext>
            </a:extLst>
          </p:cNvPr>
          <p:cNvCxnSpPr>
            <a:cxnSpLocks/>
          </p:cNvCxnSpPr>
          <p:nvPr/>
        </p:nvCxnSpPr>
        <p:spPr>
          <a:xfrm flipH="1" flipV="1">
            <a:off x="10607084" y="4572357"/>
            <a:ext cx="417909" cy="605399"/>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F7314C4-F410-2D33-108F-5237565C4B4D}"/>
              </a:ext>
            </a:extLst>
          </p:cNvPr>
          <p:cNvSpPr txBox="1"/>
          <p:nvPr/>
        </p:nvSpPr>
        <p:spPr>
          <a:xfrm>
            <a:off x="10486909" y="5331872"/>
            <a:ext cx="1408264" cy="338554"/>
          </a:xfrm>
          <a:prstGeom prst="rect">
            <a:avLst/>
          </a:prstGeom>
          <a:noFill/>
        </p:spPr>
        <p:txBody>
          <a:bodyPr wrap="square">
            <a:spAutoFit/>
          </a:bodyPr>
          <a:lstStyle/>
          <a:p>
            <a:r>
              <a:rPr lang="en-US" sz="1600" i="1" dirty="0">
                <a:latin typeface="Calibri" panose="020F0502020204030204" pitchFamily="34" charset="0"/>
                <a:cs typeface="Calibri" panose="020F0502020204030204" pitchFamily="34" charset="0"/>
              </a:rPr>
              <a:t>Higher weight </a:t>
            </a:r>
            <a:endParaRPr lang="en-US" sz="1400" dirty="0"/>
          </a:p>
        </p:txBody>
      </p:sp>
      <p:sp>
        <p:nvSpPr>
          <p:cNvPr id="15" name="TextBox 14">
            <a:extLst>
              <a:ext uri="{FF2B5EF4-FFF2-40B4-BE49-F238E27FC236}">
                <a16:creationId xmlns:a16="http://schemas.microsoft.com/office/drawing/2014/main" id="{105CABDD-F30C-08F2-BE06-C4C65AD851FD}"/>
              </a:ext>
            </a:extLst>
          </p:cNvPr>
          <p:cNvSpPr txBox="1"/>
          <p:nvPr/>
        </p:nvSpPr>
        <p:spPr>
          <a:xfrm>
            <a:off x="5221136" y="5177756"/>
            <a:ext cx="1408264" cy="338554"/>
          </a:xfrm>
          <a:prstGeom prst="rect">
            <a:avLst/>
          </a:prstGeom>
          <a:noFill/>
        </p:spPr>
        <p:txBody>
          <a:bodyPr wrap="square">
            <a:spAutoFit/>
          </a:bodyPr>
          <a:lstStyle/>
          <a:p>
            <a:r>
              <a:rPr lang="en-US" sz="1600" i="1" dirty="0">
                <a:latin typeface="Calibri" panose="020F0502020204030204" pitchFamily="34" charset="0"/>
                <a:cs typeface="Calibri" panose="020F0502020204030204" pitchFamily="34" charset="0"/>
              </a:rPr>
              <a:t>Lower weight </a:t>
            </a:r>
            <a:endParaRPr lang="en-US" sz="1400" dirty="0"/>
          </a:p>
        </p:txBody>
      </p:sp>
    </p:spTree>
    <p:extLst>
      <p:ext uri="{BB962C8B-B14F-4D97-AF65-F5344CB8AC3E}">
        <p14:creationId xmlns:p14="http://schemas.microsoft.com/office/powerpoint/2010/main" val="354543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431C-65AE-EC1C-0FF3-2147CA090A5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D4058A9-5297-314C-0949-3A7D42C4D18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Why Do We Need Attention ? (cont…)</a:t>
            </a:r>
          </a:p>
        </p:txBody>
      </p:sp>
      <p:sp>
        <p:nvSpPr>
          <p:cNvPr id="9" name="Rectangle 4">
            <a:extLst>
              <a:ext uri="{FF2B5EF4-FFF2-40B4-BE49-F238E27FC236}">
                <a16:creationId xmlns:a16="http://schemas.microsoft.com/office/drawing/2014/main" id="{608D8B6D-0200-DCA9-225D-ED9B3DF7A62E}"/>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C3A89848-E0B3-173C-1F99-9AB3A6A8C806}"/>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12</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59D3FA06-5852-A106-15DF-DED07CDF73D2}"/>
              </a:ext>
            </a:extLst>
          </p:cNvPr>
          <p:cNvSpPr txBox="1"/>
          <p:nvPr/>
        </p:nvSpPr>
        <p:spPr>
          <a:xfrm>
            <a:off x="869444" y="1761954"/>
            <a:ext cx="4724400" cy="1200329"/>
          </a:xfrm>
          <a:prstGeom prst="rect">
            <a:avLst/>
          </a:prstGeom>
          <a:noFill/>
        </p:spPr>
        <p:txBody>
          <a:bodyPr wrap="square">
            <a:spAutoFit/>
          </a:bodyPr>
          <a:lstStyle/>
          <a:p>
            <a:pPr marL="34290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A </a:t>
            </a:r>
            <a:r>
              <a:rPr lang="en-US" b="1" dirty="0">
                <a:latin typeface="Calibri" panose="020F0502020204030204" pitchFamily="34" charset="0"/>
                <a:cs typeface="Calibri" panose="020F0502020204030204" pitchFamily="34" charset="0"/>
              </a:rPr>
              <a:t>weight</a:t>
            </a:r>
            <a:r>
              <a:rPr lang="en-US" dirty="0">
                <a:latin typeface="Calibri" panose="020F0502020204030204" pitchFamily="34" charset="0"/>
                <a:cs typeface="Calibri" panose="020F0502020204030204" pitchFamily="34" charset="0"/>
              </a:rPr>
              <a:t> is a number that tells an AI how important a piece of information is.</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Combines information using different weights. </a:t>
            </a:r>
          </a:p>
        </p:txBody>
      </p:sp>
      <p:pic>
        <p:nvPicPr>
          <p:cNvPr id="4" name="Picture 3">
            <a:extLst>
              <a:ext uri="{FF2B5EF4-FFF2-40B4-BE49-F238E27FC236}">
                <a16:creationId xmlns:a16="http://schemas.microsoft.com/office/drawing/2014/main" id="{F10EA7A9-90C4-D10D-0BBA-31C7B6E44DD8}"/>
              </a:ext>
            </a:extLst>
          </p:cNvPr>
          <p:cNvPicPr>
            <a:picLocks noChangeAspect="1"/>
          </p:cNvPicPr>
          <p:nvPr/>
        </p:nvPicPr>
        <p:blipFill>
          <a:blip r:embed="rId3"/>
          <a:srcRect l="50412" t="13623"/>
          <a:stretch>
            <a:fillRect/>
          </a:stretch>
        </p:blipFill>
        <p:spPr>
          <a:xfrm>
            <a:off x="6808295" y="3395062"/>
            <a:ext cx="4836657" cy="2813755"/>
          </a:xfrm>
          <a:prstGeom prst="rect">
            <a:avLst/>
          </a:prstGeom>
        </p:spPr>
      </p:pic>
      <p:pic>
        <p:nvPicPr>
          <p:cNvPr id="7" name="Picture 6">
            <a:extLst>
              <a:ext uri="{FF2B5EF4-FFF2-40B4-BE49-F238E27FC236}">
                <a16:creationId xmlns:a16="http://schemas.microsoft.com/office/drawing/2014/main" id="{905B329B-2E21-0BC3-6C9E-2D1CE1B5BE31}"/>
              </a:ext>
            </a:extLst>
          </p:cNvPr>
          <p:cNvPicPr>
            <a:picLocks noChangeAspect="1"/>
          </p:cNvPicPr>
          <p:nvPr/>
        </p:nvPicPr>
        <p:blipFill>
          <a:blip r:embed="rId3"/>
          <a:srcRect r="49187"/>
          <a:stretch>
            <a:fillRect/>
          </a:stretch>
        </p:blipFill>
        <p:spPr>
          <a:xfrm>
            <a:off x="869444" y="3137359"/>
            <a:ext cx="4956075" cy="3257550"/>
          </a:xfrm>
          <a:prstGeom prst="rect">
            <a:avLst/>
          </a:prstGeom>
        </p:spPr>
      </p:pic>
      <p:sp>
        <p:nvSpPr>
          <p:cNvPr id="10" name="TextBox 9">
            <a:extLst>
              <a:ext uri="{FF2B5EF4-FFF2-40B4-BE49-F238E27FC236}">
                <a16:creationId xmlns:a16="http://schemas.microsoft.com/office/drawing/2014/main" id="{69522324-0E35-85B6-D91B-FE808AC79257}"/>
              </a:ext>
            </a:extLst>
          </p:cNvPr>
          <p:cNvSpPr txBox="1"/>
          <p:nvPr/>
        </p:nvSpPr>
        <p:spPr>
          <a:xfrm>
            <a:off x="6723798" y="1607685"/>
            <a:ext cx="4921154" cy="1477328"/>
          </a:xfrm>
          <a:prstGeom prst="rect">
            <a:avLst/>
          </a:prstGeom>
          <a:noFill/>
        </p:spPr>
        <p:txBody>
          <a:bodyPr wrap="square">
            <a:spAutoFit/>
          </a:bodyPr>
          <a:lstStyle/>
          <a:p>
            <a:pPr marL="342900" lvl="0" indent="-342900" algn="just">
              <a:buFont typeface="Arial" panose="020B0604020202020204" pitchFamily="34" charset="0"/>
              <a:buChar char="•"/>
            </a:pPr>
            <a:r>
              <a:rPr lang="en-US" sz="1800" b="1" dirty="0">
                <a:latin typeface="Calibri" panose="020F0502020204030204" pitchFamily="34" charset="0"/>
                <a:cs typeface="Calibri" panose="020F0502020204030204" pitchFamily="34" charset="0"/>
              </a:rPr>
              <a:t>Soft attention: </a:t>
            </a:r>
            <a:r>
              <a:rPr lang="en-US" sz="1800" dirty="0">
                <a:latin typeface="Calibri" panose="020F0502020204030204" pitchFamily="34" charset="0"/>
                <a:cs typeface="Calibri" panose="020F0502020204030204" pitchFamily="34" charset="0"/>
              </a:rPr>
              <a:t>uses continuous weights and can focus on several parts at once. </a:t>
            </a:r>
          </a:p>
          <a:p>
            <a:pPr marL="342900" lvl="0" indent="-342900" algn="just">
              <a:buFont typeface="Arial" panose="020B0604020202020204" pitchFamily="34" charset="0"/>
              <a:buChar char="•"/>
            </a:pPr>
            <a:endParaRPr lang="en-US" sz="1800" b="1"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1800" b="1" dirty="0">
                <a:latin typeface="Calibri" panose="020F0502020204030204" pitchFamily="34" charset="0"/>
                <a:cs typeface="Calibri" panose="020F0502020204030204" pitchFamily="34" charset="0"/>
              </a:rPr>
              <a:t>Hard attention: </a:t>
            </a:r>
            <a:r>
              <a:rPr lang="en-US" sz="1800" dirty="0">
                <a:latin typeface="Calibri" panose="020F0502020204030204" pitchFamily="34" charset="0"/>
                <a:cs typeface="Calibri" panose="020F0502020204030204" pitchFamily="34" charset="0"/>
              </a:rPr>
              <a:t>makes a more selective choice about which parts to focus on.</a:t>
            </a:r>
          </a:p>
        </p:txBody>
      </p:sp>
      <p:sp>
        <p:nvSpPr>
          <p:cNvPr id="12" name="TextBox 11">
            <a:extLst>
              <a:ext uri="{FF2B5EF4-FFF2-40B4-BE49-F238E27FC236}">
                <a16:creationId xmlns:a16="http://schemas.microsoft.com/office/drawing/2014/main" id="{CB3F8790-89E5-360A-1AA8-92FA353477FA}"/>
              </a:ext>
            </a:extLst>
          </p:cNvPr>
          <p:cNvSpPr txBox="1"/>
          <p:nvPr/>
        </p:nvSpPr>
        <p:spPr>
          <a:xfrm>
            <a:off x="762000" y="1084465"/>
            <a:ext cx="5750994" cy="523220"/>
          </a:xfrm>
          <a:prstGeom prst="rect">
            <a:avLst/>
          </a:prstGeom>
          <a:noFill/>
        </p:spPr>
        <p:txBody>
          <a:bodyPr wrap="square">
            <a:spAutoFit/>
          </a:bodyPr>
          <a:lstStyle/>
          <a:p>
            <a:r>
              <a:rPr lang="en-US" sz="2800" b="1" dirty="0">
                <a:latin typeface="Calibri" panose="020F0502020204030204" pitchFamily="34" charset="0"/>
                <a:ea typeface="Calibri" pitchFamily="34" charset="-122"/>
                <a:cs typeface="Calibri" panose="020F0502020204030204" pitchFamily="34" charset="0"/>
              </a:rPr>
              <a:t>How Attention Uses Weights ?</a:t>
            </a:r>
            <a:endParaRPr lang="en-US" sz="2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4836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A2902-F37F-EFE6-5C91-603F233C7AB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67AB12C-43E8-5EE2-9F8E-BAD01773AE3B}"/>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Why Do We Need Attention ? (cont…)</a:t>
            </a:r>
          </a:p>
        </p:txBody>
      </p:sp>
      <p:sp>
        <p:nvSpPr>
          <p:cNvPr id="9" name="Rectangle 4">
            <a:extLst>
              <a:ext uri="{FF2B5EF4-FFF2-40B4-BE49-F238E27FC236}">
                <a16:creationId xmlns:a16="http://schemas.microsoft.com/office/drawing/2014/main" id="{6E820768-BA49-64A5-369D-9B03E3EF78EE}"/>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414330C1-FCB1-26AF-CAD0-1BA029A94DE1}"/>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13</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1B234825-02FD-EAC1-4752-6CF63C659276}"/>
              </a:ext>
            </a:extLst>
          </p:cNvPr>
          <p:cNvSpPr txBox="1"/>
          <p:nvPr/>
        </p:nvSpPr>
        <p:spPr>
          <a:xfrm>
            <a:off x="120533" y="1645042"/>
            <a:ext cx="4724400" cy="4801314"/>
          </a:xfrm>
          <a:prstGeom prst="rect">
            <a:avLst/>
          </a:prstGeom>
          <a:noFill/>
        </p:spPr>
        <p:txBody>
          <a:bodyPr wrap="square">
            <a:spAutoFit/>
          </a:bodyPr>
          <a:lstStyle/>
          <a:p>
            <a:pPr>
              <a:buNone/>
            </a:pPr>
            <a:r>
              <a:rPr lang="en-US" dirty="0"/>
              <a:t>1. </a:t>
            </a:r>
            <a:r>
              <a:rPr lang="en-US" b="1" dirty="0"/>
              <a:t>Soft Attention </a:t>
            </a:r>
            <a:r>
              <a:rPr lang="en-US" dirty="0"/>
              <a:t>(Focus on several parts)</a:t>
            </a:r>
          </a:p>
          <a:p>
            <a:pPr marL="342900" lvl="0" indent="-342900">
              <a:buFont typeface="Arial" panose="020B0604020202020204" pitchFamily="34" charset="0"/>
              <a:buChar char="•"/>
            </a:pPr>
            <a:r>
              <a:rPr lang="en-US" dirty="0"/>
              <a:t>Gives each part of the input an importance score (weight).</a:t>
            </a:r>
          </a:p>
          <a:p>
            <a:pPr marL="342900" lvl="0" indent="-342900">
              <a:buFont typeface="Arial" panose="020B0604020202020204" pitchFamily="34" charset="0"/>
              <a:buChar char="•"/>
            </a:pPr>
            <a:r>
              <a:rPr lang="en-US" dirty="0"/>
              <a:t>Combines information from all parts, giving more importance to the relevant ones.</a:t>
            </a:r>
          </a:p>
          <a:p>
            <a:pPr marL="342900" lvl="0" indent="-342900">
              <a:buFont typeface="Arial" panose="020B0604020202020204" pitchFamily="34" charset="0"/>
              <a:buChar char="•"/>
            </a:pPr>
            <a:r>
              <a:rPr lang="en-US" dirty="0"/>
              <a:t>The model can consider several parts at the same time.</a:t>
            </a:r>
          </a:p>
          <a:p>
            <a:pPr marL="342900" lvl="0" indent="-342900">
              <a:buFont typeface="Arial" panose="020B0604020202020204" pitchFamily="34" charset="0"/>
              <a:buChar char="•"/>
            </a:pPr>
            <a:endParaRPr lang="en-US" dirty="0"/>
          </a:p>
          <a:p>
            <a:pPr>
              <a:buNone/>
            </a:pPr>
            <a:r>
              <a:rPr lang="en-US" dirty="0"/>
              <a:t>2. </a:t>
            </a:r>
            <a:r>
              <a:rPr lang="en-US" b="1" dirty="0"/>
              <a:t>Hard Attention </a:t>
            </a:r>
            <a:r>
              <a:rPr lang="en-US" dirty="0"/>
              <a:t>(Select specific parts)</a:t>
            </a:r>
          </a:p>
          <a:p>
            <a:pPr marL="342900" lvl="0" indent="-342900">
              <a:buFont typeface="Arial" panose="020B0604020202020204" pitchFamily="34" charset="0"/>
              <a:buChar char="•"/>
            </a:pPr>
            <a:r>
              <a:rPr lang="en-US" dirty="0"/>
              <a:t>Selects one or a few specific parts of the input to focus on.</a:t>
            </a:r>
          </a:p>
          <a:p>
            <a:pPr marL="342900" lvl="0" indent="-342900">
              <a:buFont typeface="Arial" panose="020B0604020202020204" pitchFamily="34" charset="0"/>
              <a:buChar char="•"/>
            </a:pPr>
            <a:r>
              <a:rPr lang="en-US" dirty="0"/>
              <a:t>Gives little or no attention to the unselected parts.</a:t>
            </a:r>
          </a:p>
          <a:p>
            <a:pPr marL="342900" lvl="0" indent="-342900">
              <a:buFont typeface="Arial" panose="020B0604020202020204" pitchFamily="34" charset="0"/>
              <a:buChar char="•"/>
            </a:pPr>
            <a:r>
              <a:rPr lang="en-US" dirty="0"/>
              <a:t>Makes a more selective choice rather than combining information from everywhere.</a:t>
            </a:r>
          </a:p>
        </p:txBody>
      </p:sp>
      <p:sp>
        <p:nvSpPr>
          <p:cNvPr id="10" name="TextBox 9">
            <a:extLst>
              <a:ext uri="{FF2B5EF4-FFF2-40B4-BE49-F238E27FC236}">
                <a16:creationId xmlns:a16="http://schemas.microsoft.com/office/drawing/2014/main" id="{61E80BF6-D9BF-78C1-4491-5C2048C3947C}"/>
              </a:ext>
            </a:extLst>
          </p:cNvPr>
          <p:cNvSpPr txBox="1"/>
          <p:nvPr/>
        </p:nvSpPr>
        <p:spPr>
          <a:xfrm>
            <a:off x="5313231" y="905871"/>
            <a:ext cx="6726369" cy="646331"/>
          </a:xfrm>
          <a:prstGeom prst="rect">
            <a:avLst/>
          </a:prstGeom>
          <a:noFill/>
        </p:spPr>
        <p:txBody>
          <a:bodyPr wrap="square">
            <a:spAutoFit/>
          </a:bodyPr>
          <a:lstStyle/>
          <a:p>
            <a:r>
              <a:rPr lang="en-US" b="1" dirty="0"/>
              <a:t>Example: Understanding a Football Image</a:t>
            </a:r>
          </a:p>
          <a:p>
            <a:r>
              <a:rPr lang="en-US" dirty="0"/>
              <a:t>Imagine an AI model is asked: "</a:t>
            </a:r>
            <a:r>
              <a:rPr lang="en-US" b="1" dirty="0"/>
              <a:t>Where is the football</a:t>
            </a:r>
            <a:r>
              <a:rPr lang="en-US" dirty="0"/>
              <a:t>?"</a:t>
            </a:r>
          </a:p>
        </p:txBody>
      </p:sp>
      <p:sp>
        <p:nvSpPr>
          <p:cNvPr id="12" name="TextBox 11">
            <a:extLst>
              <a:ext uri="{FF2B5EF4-FFF2-40B4-BE49-F238E27FC236}">
                <a16:creationId xmlns:a16="http://schemas.microsoft.com/office/drawing/2014/main" id="{C49318ED-AFBC-2A9D-9C23-5777B916B0C4}"/>
              </a:ext>
            </a:extLst>
          </p:cNvPr>
          <p:cNvSpPr txBox="1"/>
          <p:nvPr/>
        </p:nvSpPr>
        <p:spPr>
          <a:xfrm>
            <a:off x="120533" y="859711"/>
            <a:ext cx="4070467" cy="523220"/>
          </a:xfrm>
          <a:prstGeom prst="rect">
            <a:avLst/>
          </a:prstGeom>
          <a:noFill/>
        </p:spPr>
        <p:txBody>
          <a:bodyPr wrap="square">
            <a:spAutoFit/>
          </a:bodyPr>
          <a:lstStyle/>
          <a:p>
            <a:r>
              <a:rPr lang="en-US" sz="2800" b="1" dirty="0">
                <a:latin typeface="Calibri" panose="020F0502020204030204" pitchFamily="34" charset="0"/>
                <a:ea typeface="Calibri" pitchFamily="34" charset="-122"/>
                <a:cs typeface="Calibri" panose="020F0502020204030204" pitchFamily="34" charset="0"/>
              </a:rPr>
              <a:t>Soft vs Hard Attention</a:t>
            </a:r>
            <a:endParaRPr lang="en-US" sz="2800" b="1" dirty="0">
              <a:latin typeface="Calibri" panose="020F0502020204030204" pitchFamily="34" charset="0"/>
              <a:cs typeface="Calibri" panose="020F0502020204030204" pitchFamily="34" charset="0"/>
            </a:endParaRPr>
          </a:p>
        </p:txBody>
      </p:sp>
      <p:pic>
        <p:nvPicPr>
          <p:cNvPr id="2" name="Picture 1" descr="五粮液正式携手2026 FIFA世界杯成为官方联名产品，开启“美酒+体育”跨界新征程 - 中国白酒集团">
            <a:extLst>
              <a:ext uri="{FF2B5EF4-FFF2-40B4-BE49-F238E27FC236}">
                <a16:creationId xmlns:a16="http://schemas.microsoft.com/office/drawing/2014/main" id="{12A5F842-3AE3-0D9C-EE92-A72E8864FE14}"/>
              </a:ext>
            </a:extLst>
          </p:cNvPr>
          <p:cNvPicPr>
            <a:picLocks noChangeAspect="1"/>
          </p:cNvPicPr>
          <p:nvPr/>
        </p:nvPicPr>
        <p:blipFill>
          <a:blip r:embed="rId3"/>
          <a:stretch>
            <a:fillRect/>
          </a:stretch>
        </p:blipFill>
        <p:spPr>
          <a:xfrm>
            <a:off x="5299914" y="1887257"/>
            <a:ext cx="2340337" cy="1606158"/>
          </a:xfrm>
          <a:prstGeom prst="rect">
            <a:avLst/>
          </a:prstGeom>
        </p:spPr>
      </p:pic>
      <p:sp>
        <p:nvSpPr>
          <p:cNvPr id="6" name="TextBox 5">
            <a:extLst>
              <a:ext uri="{FF2B5EF4-FFF2-40B4-BE49-F238E27FC236}">
                <a16:creationId xmlns:a16="http://schemas.microsoft.com/office/drawing/2014/main" id="{724C6FD4-8976-2E30-B65B-3A530EF1275D}"/>
              </a:ext>
            </a:extLst>
          </p:cNvPr>
          <p:cNvSpPr txBox="1"/>
          <p:nvPr/>
        </p:nvSpPr>
        <p:spPr>
          <a:xfrm>
            <a:off x="7744573" y="1951672"/>
            <a:ext cx="4418459" cy="1477328"/>
          </a:xfrm>
          <a:prstGeom prst="rect">
            <a:avLst/>
          </a:prstGeom>
          <a:noFill/>
        </p:spPr>
        <p:txBody>
          <a:bodyPr wrap="square">
            <a:spAutoFit/>
          </a:bodyPr>
          <a:lstStyle/>
          <a:p>
            <a:r>
              <a:rPr lang="en-US" b="1" dirty="0"/>
              <a:t>Soft Attention</a:t>
            </a:r>
          </a:p>
          <a:p>
            <a:r>
              <a:rPr lang="en-US" dirty="0"/>
              <a:t>The model assigns different weights to the ball, players, field, and background. It considers information from all these areas, but gives the ball a higher weight.</a:t>
            </a:r>
          </a:p>
        </p:txBody>
      </p:sp>
      <p:sp>
        <p:nvSpPr>
          <p:cNvPr id="11" name="TextBox 10">
            <a:extLst>
              <a:ext uri="{FF2B5EF4-FFF2-40B4-BE49-F238E27FC236}">
                <a16:creationId xmlns:a16="http://schemas.microsoft.com/office/drawing/2014/main" id="{D5AA207F-DAD4-0D5C-5BF2-BFAAF1D613A3}"/>
              </a:ext>
            </a:extLst>
          </p:cNvPr>
          <p:cNvSpPr txBox="1"/>
          <p:nvPr/>
        </p:nvSpPr>
        <p:spPr>
          <a:xfrm>
            <a:off x="7640251" y="4812774"/>
            <a:ext cx="4418459" cy="1477328"/>
          </a:xfrm>
          <a:prstGeom prst="rect">
            <a:avLst/>
          </a:prstGeom>
          <a:noFill/>
        </p:spPr>
        <p:txBody>
          <a:bodyPr wrap="square">
            <a:spAutoFit/>
          </a:bodyPr>
          <a:lstStyle/>
          <a:p>
            <a:r>
              <a:rPr lang="en-US" b="1" dirty="0"/>
              <a:t>Hard Attention</a:t>
            </a:r>
          </a:p>
          <a:p>
            <a:r>
              <a:rPr lang="en-US" dirty="0"/>
              <a:t>The model selects the area containing the ball and focuses on that area, largely ignoring the other parts of the image..</a:t>
            </a:r>
          </a:p>
        </p:txBody>
      </p:sp>
      <p:pic>
        <p:nvPicPr>
          <p:cNvPr id="13" name="Picture 12" descr="Soccer Ball On Green Grass">
            <a:extLst>
              <a:ext uri="{FF2B5EF4-FFF2-40B4-BE49-F238E27FC236}">
                <a16:creationId xmlns:a16="http://schemas.microsoft.com/office/drawing/2014/main" id="{6C52FBAA-E4AC-C612-F61C-36FF2A9F5E53}"/>
              </a:ext>
            </a:extLst>
          </p:cNvPr>
          <p:cNvPicPr>
            <a:picLocks noChangeAspect="1"/>
          </p:cNvPicPr>
          <p:nvPr/>
        </p:nvPicPr>
        <p:blipFill>
          <a:blip r:embed="rId4"/>
          <a:stretch>
            <a:fillRect/>
          </a:stretch>
        </p:blipFill>
        <p:spPr>
          <a:xfrm>
            <a:off x="5157926" y="4812774"/>
            <a:ext cx="2152985" cy="1434973"/>
          </a:xfrm>
          <a:prstGeom prst="rect">
            <a:avLst/>
          </a:prstGeom>
        </p:spPr>
      </p:pic>
    </p:spTree>
    <p:extLst>
      <p:ext uri="{BB962C8B-B14F-4D97-AF65-F5344CB8AC3E}">
        <p14:creationId xmlns:p14="http://schemas.microsoft.com/office/powerpoint/2010/main" val="213671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8C19F-B5D2-5E0E-7D3D-325A759FCE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9E1E357-09BA-DFFF-D93F-B545C313B002}"/>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Why Do We Need Attention ? (cont…)</a:t>
            </a:r>
          </a:p>
        </p:txBody>
      </p:sp>
      <p:sp>
        <p:nvSpPr>
          <p:cNvPr id="9" name="Rectangle 4">
            <a:extLst>
              <a:ext uri="{FF2B5EF4-FFF2-40B4-BE49-F238E27FC236}">
                <a16:creationId xmlns:a16="http://schemas.microsoft.com/office/drawing/2014/main" id="{8D2945B8-6913-F305-89CE-0888FD317815}"/>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2B1EE78F-2E3F-9752-BA9E-9229B49F0974}"/>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14</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46CECB80-766C-9370-8F09-1FE943F83263}"/>
              </a:ext>
            </a:extLst>
          </p:cNvPr>
          <p:cNvPicPr>
            <a:picLocks noChangeAspect="1"/>
          </p:cNvPicPr>
          <p:nvPr/>
        </p:nvPicPr>
        <p:blipFill>
          <a:blip r:embed="rId3"/>
          <a:stretch>
            <a:fillRect/>
          </a:stretch>
        </p:blipFill>
        <p:spPr>
          <a:xfrm>
            <a:off x="1295400" y="927100"/>
            <a:ext cx="8458200" cy="5638800"/>
          </a:xfrm>
          <a:prstGeom prst="rect">
            <a:avLst/>
          </a:prstGeom>
        </p:spPr>
      </p:pic>
    </p:spTree>
    <p:extLst>
      <p:ext uri="{BB962C8B-B14F-4D97-AF65-F5344CB8AC3E}">
        <p14:creationId xmlns:p14="http://schemas.microsoft.com/office/powerpoint/2010/main" val="387364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65987-A63F-4742-2BD3-83B3FB14AF7E}"/>
            </a:ext>
          </a:extLst>
        </p:cNvPr>
        <p:cNvGrpSpPr/>
        <p:nvPr/>
      </p:nvGrpSpPr>
      <p:grpSpPr>
        <a:xfrm>
          <a:off x="0" y="0"/>
          <a:ext cx="0" cy="0"/>
          <a:chOff x="0" y="0"/>
          <a:chExt cx="0" cy="0"/>
        </a:xfrm>
      </p:grpSpPr>
      <p:sp>
        <p:nvSpPr>
          <p:cNvPr id="9" name="Rectangle 4">
            <a:extLst>
              <a:ext uri="{FF2B5EF4-FFF2-40B4-BE49-F238E27FC236}">
                <a16:creationId xmlns:a16="http://schemas.microsoft.com/office/drawing/2014/main" id="{E4925E80-C8DF-0490-6EEF-E348696186C5}"/>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C0D845D2-B693-C4DB-28F8-01444CBF6006}"/>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15</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14A7D9E5-C37A-74F9-DC18-39B9D98481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912" y="38053"/>
            <a:ext cx="9772721" cy="6515147"/>
          </a:xfrm>
          <a:prstGeom prst="rect">
            <a:avLst/>
          </a:prstGeom>
        </p:spPr>
      </p:pic>
    </p:spTree>
    <p:extLst>
      <p:ext uri="{BB962C8B-B14F-4D97-AF65-F5344CB8AC3E}">
        <p14:creationId xmlns:p14="http://schemas.microsoft.com/office/powerpoint/2010/main" val="1619521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4BD9C-4758-ECAB-87A6-1EFE037B9B12}"/>
            </a:ext>
          </a:extLst>
        </p:cNvPr>
        <p:cNvGrpSpPr/>
        <p:nvPr/>
      </p:nvGrpSpPr>
      <p:grpSpPr>
        <a:xfrm>
          <a:off x="0" y="0"/>
          <a:ext cx="0" cy="0"/>
          <a:chOff x="0" y="0"/>
          <a:chExt cx="0" cy="0"/>
        </a:xfrm>
      </p:grpSpPr>
      <p:grpSp>
        <p:nvGrpSpPr>
          <p:cNvPr id="3" name="object 2"/>
          <p:cNvGrpSpPr/>
          <p:nvPr/>
        </p:nvGrpSpPr>
        <p:grpSpPr>
          <a:xfrm>
            <a:off x="1137" y="0"/>
            <a:ext cx="12192000" cy="6858000"/>
            <a:chOff x="0" y="0"/>
            <a:chExt cx="12192000" cy="6858000"/>
          </a:xfrm>
        </p:grpSpPr>
        <p:sp>
          <p:nvSpPr>
            <p:cNvPr id="4" name="object 3"/>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chemeClr val="tx1">
                <a:lumMod val="85000"/>
                <a:lumOff val="15000"/>
              </a:schemeClr>
            </a:solidFill>
          </p:spPr>
          <p:txBody>
            <a:bodyPr wrap="square" lIns="0" tIns="0" rIns="0" bIns="0" rtlCol="0"/>
            <a:lstStyle/>
            <a:p>
              <a:endParaRPr dirty="0">
                <a:latin typeface="Calibri" panose="020F0502020204030204" pitchFamily="34" charset="0"/>
                <a:cs typeface="Calibri" panose="020F0502020204030204" pitchFamily="34" charset="0"/>
              </a:endParaRPr>
            </a:p>
          </p:txBody>
        </p:sp>
        <p:sp>
          <p:nvSpPr>
            <p:cNvPr id="6" name="object 4"/>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endParaRPr>
                <a:latin typeface="Calibri" panose="020F0502020204030204" pitchFamily="34" charset="0"/>
                <a:cs typeface="Calibri" panose="020F0502020204030204" pitchFamily="34" charset="0"/>
              </a:endParaRPr>
            </a:p>
          </p:txBody>
        </p:sp>
      </p:grpSp>
      <p:sp>
        <p:nvSpPr>
          <p:cNvPr id="37" name="Slide Number Placeholder 36">
            <a:extLst>
              <a:ext uri="{FF2B5EF4-FFF2-40B4-BE49-F238E27FC236}">
                <a16:creationId xmlns:a16="http://schemas.microsoft.com/office/drawing/2014/main" id="{C0EF275E-CACD-A5C5-34EA-2B9612B283C0}"/>
              </a:ext>
            </a:extLst>
          </p:cNvPr>
          <p:cNvSpPr>
            <a:spLocks noGrp="1"/>
          </p:cNvSpPr>
          <p:nvPr>
            <p:ph type="sldNum" sz="quarter" idx="7"/>
          </p:nvPr>
        </p:nvSpPr>
        <p:spPr>
          <a:xfrm>
            <a:off x="11430000" y="64770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16</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11" name="object 5" descr="$PPTXTitle">
            <a:extLst>
              <a:ext uri="{FF2B5EF4-FFF2-40B4-BE49-F238E27FC236}">
                <a16:creationId xmlns:a16="http://schemas.microsoft.com/office/drawing/2014/main" id="{FFB451FE-7E5D-4ECA-D9ED-AE33AF315A6F}"/>
              </a:ext>
            </a:extLst>
          </p:cNvPr>
          <p:cNvSpPr txBox="1">
            <a:spLocks noGrp="1"/>
          </p:cNvSpPr>
          <p:nvPr>
            <p:ph type="title"/>
          </p:nvPr>
        </p:nvSpPr>
        <p:spPr>
          <a:xfrm>
            <a:off x="456063" y="2960923"/>
            <a:ext cx="11734800" cy="936154"/>
          </a:xfrm>
          <a:prstGeom prst="rect">
            <a:avLst/>
          </a:prstGeom>
        </p:spPr>
        <p:txBody>
          <a:bodyPr vert="horz" wrap="square" lIns="0" tIns="12700" rIns="0" bIns="0" rtlCol="0">
            <a:spAutoFit/>
          </a:bodyPr>
          <a:lstStyle/>
          <a:p>
            <a:pPr marL="12700" marR="5080" indent="704215" algn="ctr">
              <a:lnSpc>
                <a:spcPct val="100000"/>
              </a:lnSpc>
              <a:spcBef>
                <a:spcPts val="100"/>
              </a:spcBef>
            </a:pPr>
            <a:r>
              <a:rPr lang="en-US" sz="6000" b="0" spc="195" dirty="0">
                <a:solidFill>
                  <a:srgbClr val="FFFFFF"/>
                </a:solidFill>
                <a:latin typeface="Calibri" panose="020F0502020204030204" pitchFamily="34" charset="0"/>
                <a:cs typeface="Calibri" panose="020F0502020204030204" pitchFamily="34" charset="0"/>
              </a:rPr>
              <a:t>Self-Attention</a:t>
            </a:r>
            <a:endParaRPr sz="60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2926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94A6B-AA74-2DED-64BE-797B634F1C5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C740CFA-8B7F-F0A7-5BFE-633EB83CBE36}"/>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3. Self Attention </a:t>
            </a:r>
          </a:p>
        </p:txBody>
      </p:sp>
      <p:sp>
        <p:nvSpPr>
          <p:cNvPr id="9" name="Rectangle 4">
            <a:extLst>
              <a:ext uri="{FF2B5EF4-FFF2-40B4-BE49-F238E27FC236}">
                <a16:creationId xmlns:a16="http://schemas.microsoft.com/office/drawing/2014/main" id="{F9511555-3B24-F678-9D30-763023258019}"/>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C85C94BC-746D-0E18-604E-5F262569A162}"/>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17</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D2C971E9-CE4C-7C80-A686-52E8480A80C4}"/>
              </a:ext>
            </a:extLst>
          </p:cNvPr>
          <p:cNvSpPr txBox="1"/>
          <p:nvPr/>
        </p:nvSpPr>
        <p:spPr>
          <a:xfrm>
            <a:off x="7146878" y="1274564"/>
            <a:ext cx="4800600" cy="4555093"/>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Basic Intuition</a:t>
            </a:r>
          </a:p>
          <a:p>
            <a:pPr marL="342900" indent="-342900"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Each element can look at other elements in the same input.</a:t>
            </a:r>
          </a:p>
          <a:p>
            <a:pPr marL="34290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Each element asks: “Which other elements are relevant to me?” </a:t>
            </a:r>
          </a:p>
          <a:p>
            <a:pPr marL="34290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Relevant information is used to create a new representation. </a:t>
            </a:r>
          </a:p>
          <a:p>
            <a:pPr marL="34290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a:t>
            </a:r>
            <a:r>
              <a:rPr lang="en-US" sz="1100" i="1" dirty="0">
                <a:latin typeface="Calibri" panose="020F0502020204030204" pitchFamily="34" charset="0"/>
                <a:cs typeface="Calibri" panose="020F0502020204030204" pitchFamily="34" charset="0"/>
                <a:hlinkClick r:id="rId3" tooltip="2.3. Self-Attention Mechanism"/>
              </a:rPr>
              <a:t>Self-Attention Mechanism</a:t>
            </a:r>
            <a:r>
              <a:rPr lang="en-US" dirty="0">
                <a:latin typeface="Calibri" panose="020F0502020204030204" pitchFamily="34" charset="0"/>
                <a:cs typeface="Calibri" panose="020F0502020204030204" pitchFamily="34" charset="0"/>
              </a:rPr>
              <a:t>)</a:t>
            </a:r>
            <a:endParaRPr lang="en-US" sz="14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b="1" dirty="0">
                <a:latin typeface="Calibri" panose="020F0502020204030204" pitchFamily="34" charset="0"/>
                <a:cs typeface="Calibri" panose="020F0502020204030204" pitchFamily="34" charset="0"/>
              </a:rPr>
              <a:t>Dynamic Connections: </a:t>
            </a:r>
            <a:r>
              <a:rPr lang="en-US" dirty="0">
                <a:latin typeface="Calibri" panose="020F0502020204030204" pitchFamily="34" charset="0"/>
                <a:cs typeface="Calibri" panose="020F0502020204030204" pitchFamily="34" charset="0"/>
              </a:rPr>
              <a:t>Self-attention lets each part of a sequence look at every other part to discover hidden relationships dynamically</a:t>
            </a:r>
            <a:r>
              <a:rPr lang="en-US" i="1"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r>
              <a:rPr lang="en-US" i="1" dirty="0">
                <a:latin typeface="Calibri" panose="020F0502020204030204" pitchFamily="34" charset="0"/>
                <a:cs typeface="Calibri" panose="020F0502020204030204" pitchFamily="34" charset="0"/>
              </a:rPr>
              <a:t>(</a:t>
            </a:r>
            <a:r>
              <a:rPr lang="en-US" sz="1100" i="1" dirty="0">
                <a:latin typeface="Calibri" panose="020F0502020204030204" pitchFamily="34" charset="0"/>
                <a:cs typeface="Calibri" panose="020F0502020204030204" pitchFamily="34" charset="0"/>
                <a:hlinkClick r:id="rId4" tooltip="2.3. Self-Attention Mechanism"/>
              </a:rPr>
              <a:t>2.3. Self-Attention Mechanism</a:t>
            </a:r>
            <a:r>
              <a:rPr lang="en-US" i="1"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3C13B0EC-75C2-F041-68B6-9A754D62B425}"/>
              </a:ext>
            </a:extLst>
          </p:cNvPr>
          <p:cNvSpPr txBox="1"/>
          <p:nvPr/>
        </p:nvSpPr>
        <p:spPr>
          <a:xfrm>
            <a:off x="1981200" y="5588329"/>
            <a:ext cx="3733800" cy="246221"/>
          </a:xfrm>
          <a:prstGeom prst="rect">
            <a:avLst/>
          </a:prstGeom>
          <a:noFill/>
        </p:spPr>
        <p:txBody>
          <a:bodyPr wrap="square" rtlCol="0">
            <a:spAutoFit/>
          </a:bodyPr>
          <a:lstStyle/>
          <a:p>
            <a:r>
              <a:rPr lang="en-US" sz="1000" dirty="0">
                <a:solidFill>
                  <a:schemeClr val="tx2">
                    <a:lumMod val="75000"/>
                    <a:lumOff val="25000"/>
                  </a:schemeClr>
                </a:solidFill>
                <a:latin typeface="Calibri" panose="020F0502020204030204" pitchFamily="34" charset="0"/>
                <a:cs typeface="Calibri" panose="020F0502020204030204" pitchFamily="34" charset="0"/>
                <a:hlinkClick r:id="rId4" tooltip="The architecture of the self-attention mechanism"/>
              </a:rPr>
              <a:t>The architecture of the self-attention mechanism</a:t>
            </a:r>
            <a:endParaRPr lang="en-US" sz="1000" dirty="0">
              <a:solidFill>
                <a:schemeClr val="tx2">
                  <a:lumMod val="75000"/>
                  <a:lumOff val="25000"/>
                </a:schemeClr>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EE2C06EA-8240-D1C9-96E8-6979BFCE6D17}"/>
              </a:ext>
            </a:extLst>
          </p:cNvPr>
          <p:cNvPicPr>
            <a:picLocks noChangeAspect="1"/>
          </p:cNvPicPr>
          <p:nvPr/>
        </p:nvPicPr>
        <p:blipFill>
          <a:blip r:embed="rId5"/>
          <a:srcRect r="3289"/>
          <a:stretch>
            <a:fillRect/>
          </a:stretch>
        </p:blipFill>
        <p:spPr>
          <a:xfrm>
            <a:off x="243385" y="1598739"/>
            <a:ext cx="6781800" cy="3660521"/>
          </a:xfrm>
          <a:prstGeom prst="rect">
            <a:avLst/>
          </a:prstGeom>
        </p:spPr>
      </p:pic>
    </p:spTree>
    <p:extLst>
      <p:ext uri="{BB962C8B-B14F-4D97-AF65-F5344CB8AC3E}">
        <p14:creationId xmlns:p14="http://schemas.microsoft.com/office/powerpoint/2010/main" val="1791712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F2232-5819-6D4B-7C1C-CB0304730CB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DAAE1B8-7E48-75AE-7E01-96BD28ED138B}"/>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Self Attention (cont…) </a:t>
            </a:r>
          </a:p>
        </p:txBody>
      </p:sp>
      <p:sp>
        <p:nvSpPr>
          <p:cNvPr id="9" name="Rectangle 4">
            <a:extLst>
              <a:ext uri="{FF2B5EF4-FFF2-40B4-BE49-F238E27FC236}">
                <a16:creationId xmlns:a16="http://schemas.microsoft.com/office/drawing/2014/main" id="{62CC3ACB-6B3E-B25D-3EC7-33F13C50415E}"/>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727AB15A-292C-CC20-6C81-A8B05106DDD5}"/>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18</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ED7D3936-19CB-F65A-5AE6-4C825053B7F2}"/>
              </a:ext>
            </a:extLst>
          </p:cNvPr>
          <p:cNvSpPr txBox="1"/>
          <p:nvPr/>
        </p:nvSpPr>
        <p:spPr>
          <a:xfrm>
            <a:off x="459876" y="1423061"/>
            <a:ext cx="7432045" cy="2062103"/>
          </a:xfrm>
          <a:prstGeom prst="rect">
            <a:avLst/>
          </a:prstGeom>
          <a:noFill/>
        </p:spPr>
        <p:txBody>
          <a:bodyPr wrap="square">
            <a:spAutoFit/>
          </a:bodyPr>
          <a:lstStyle/>
          <a:p>
            <a:pPr lvl="0"/>
            <a:r>
              <a:rPr lang="en-US" sz="1600" b="1" dirty="0">
                <a:latin typeface="Calibri" panose="020F0502020204030204" pitchFamily="34" charset="0"/>
                <a:cs typeface="Calibri" panose="020F0502020204030204" pitchFamily="34" charset="0"/>
              </a:rPr>
              <a:t>Query (Q): </a:t>
            </a:r>
            <a:r>
              <a:rPr lang="en-US" sz="1600" dirty="0">
                <a:latin typeface="Calibri" panose="020F0502020204030204" pitchFamily="34" charset="0"/>
                <a:cs typeface="Calibri" panose="020F0502020204030204" pitchFamily="34" charset="0"/>
              </a:rPr>
              <a:t>Each word serves as a query to compute the attention scores.</a:t>
            </a:r>
          </a:p>
          <a:p>
            <a:pPr marL="1200150" lvl="2"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what I am looking for.</a:t>
            </a:r>
          </a:p>
          <a:p>
            <a:pPr lvl="0"/>
            <a:endParaRPr lang="en-US" sz="1600" b="1" dirty="0">
              <a:latin typeface="Calibri" panose="020F0502020204030204" pitchFamily="34" charset="0"/>
              <a:cs typeface="Calibri" panose="020F0502020204030204" pitchFamily="34" charset="0"/>
            </a:endParaRPr>
          </a:p>
          <a:p>
            <a:pPr lvl="0"/>
            <a:r>
              <a:rPr lang="en-US" sz="1600" b="1" dirty="0">
                <a:latin typeface="Calibri" panose="020F0502020204030204" pitchFamily="34" charset="0"/>
                <a:cs typeface="Calibri" panose="020F0502020204030204" pitchFamily="34" charset="0"/>
              </a:rPr>
              <a:t>Key (K): </a:t>
            </a:r>
            <a:r>
              <a:rPr lang="en-US" sz="1600" dirty="0">
                <a:latin typeface="Calibri" panose="020F0502020204030204" pitchFamily="34" charset="0"/>
                <a:cs typeface="Calibri" panose="020F0502020204030204" pitchFamily="34" charset="0"/>
              </a:rPr>
              <a:t>Each word acts as a key to determine its relevance to other words.</a:t>
            </a:r>
          </a:p>
          <a:p>
            <a:pPr marL="1200150" lvl="2"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what I can offer.</a:t>
            </a:r>
          </a:p>
          <a:p>
            <a:pPr lvl="0"/>
            <a:endParaRPr lang="en-US" sz="1600" b="1" dirty="0">
              <a:latin typeface="Calibri" panose="020F0502020204030204" pitchFamily="34" charset="0"/>
              <a:cs typeface="Calibri" panose="020F0502020204030204" pitchFamily="34" charset="0"/>
            </a:endParaRPr>
          </a:p>
          <a:p>
            <a:pPr lvl="0"/>
            <a:r>
              <a:rPr lang="en-US" sz="1600" b="1" dirty="0">
                <a:latin typeface="Calibri" panose="020F0502020204030204" pitchFamily="34" charset="0"/>
                <a:cs typeface="Calibri" panose="020F0502020204030204" pitchFamily="34" charset="0"/>
              </a:rPr>
              <a:t>Value (V): </a:t>
            </a:r>
            <a:r>
              <a:rPr lang="en-US" sz="1600" dirty="0">
                <a:latin typeface="Calibri" panose="020F0502020204030204" pitchFamily="34" charset="0"/>
                <a:cs typeface="Calibri" panose="020F0502020204030204" pitchFamily="34" charset="0"/>
              </a:rPr>
              <a:t>Each word contributes as a value to the attention-weighted sum.</a:t>
            </a:r>
          </a:p>
          <a:p>
            <a:pPr marL="1200150" lvl="2"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what I actually offer.</a:t>
            </a:r>
            <a:endParaRPr lang="en-US"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A05DD1-D666-8FDA-A549-98D652A0252F}"/>
                  </a:ext>
                </a:extLst>
              </p:cNvPr>
              <p:cNvSpPr txBox="1"/>
              <p:nvPr/>
            </p:nvSpPr>
            <p:spPr>
              <a:xfrm>
                <a:off x="2051813" y="5197844"/>
                <a:ext cx="4515595" cy="980846"/>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Attention</a:t>
                </a:r>
                <a:r>
                  <a:rPr lang="en-US" sz="2400" i="1" dirty="0">
                    <a:latin typeface="Calibri" panose="020F0502020204030204" pitchFamily="34" charset="0"/>
                    <a:cs typeface="Calibri" panose="020F0502020204030204" pitchFamily="34" charset="0"/>
                  </a:rPr>
                  <a:t>(Q,K,V) = </a:t>
                </a:r>
                <a:r>
                  <a:rPr lang="en-US" sz="2400" dirty="0">
                    <a:latin typeface="Calibri" panose="020F0502020204030204" pitchFamily="34" charset="0"/>
                    <a:cs typeface="Calibri" panose="020F0502020204030204" pitchFamily="34" charset="0"/>
                  </a:rPr>
                  <a:t>softmax</a:t>
                </a:r>
                <a:r>
                  <a:rPr lang="en-US" sz="2800" i="1" dirty="0">
                    <a:latin typeface="Calibri" panose="020F0502020204030204" pitchFamily="34" charset="0"/>
                    <a:cs typeface="Calibri" panose="020F0502020204030204" pitchFamily="34" charset="0"/>
                  </a:rPr>
                  <a:t>(</a:t>
                </a:r>
                <a14:m>
                  <m:oMath xmlns:m="http://schemas.openxmlformats.org/officeDocument/2006/math">
                    <m:f>
                      <m:fPr>
                        <m:ctrlPr>
                          <a:rPr lang="en-US" sz="3200" i="1" dirty="0" smtClean="0">
                            <a:latin typeface="Cambria Math" panose="02040503050406030204" pitchFamily="18" charset="0"/>
                          </a:rPr>
                        </m:ctrlPr>
                      </m:fPr>
                      <m:num>
                        <m:r>
                          <a:rPr lang="en-US" sz="3200" i="1" dirty="0" smtClean="0">
                            <a:latin typeface="Cambria Math" panose="02040503050406030204" pitchFamily="18" charset="0"/>
                          </a:rPr>
                          <m:t>𝑄</m:t>
                        </m:r>
                        <m:sSup>
                          <m:sSupPr>
                            <m:ctrlPr>
                              <a:rPr lang="en-US" sz="3200" i="1" dirty="0" smtClean="0">
                                <a:latin typeface="Cambria Math" panose="02040503050406030204" pitchFamily="18" charset="0"/>
                              </a:rPr>
                            </m:ctrlPr>
                          </m:sSupPr>
                          <m:e>
                            <m:r>
                              <a:rPr lang="en-US" sz="3200" i="1" dirty="0" smtClean="0">
                                <a:latin typeface="Cambria Math" panose="02040503050406030204" pitchFamily="18" charset="0"/>
                              </a:rPr>
                              <m:t>𝑘</m:t>
                            </m:r>
                          </m:e>
                          <m:sup>
                            <m:r>
                              <a:rPr lang="en-US" sz="3200" i="1" dirty="0" smtClean="0">
                                <a:latin typeface="Cambria Math" panose="02040503050406030204" pitchFamily="18" charset="0"/>
                              </a:rPr>
                              <m:t>𝑇</m:t>
                            </m:r>
                          </m:sup>
                        </m:sSup>
                      </m:num>
                      <m:den>
                        <m:rad>
                          <m:radPr>
                            <m:degHide m:val="on"/>
                            <m:ctrlPr>
                              <a:rPr lang="en-US" sz="3200" i="1" dirty="0" smtClean="0">
                                <a:latin typeface="Cambria Math" panose="02040503050406030204" pitchFamily="18" charset="0"/>
                              </a:rPr>
                            </m:ctrlPr>
                          </m:radPr>
                          <m:deg/>
                          <m:e>
                            <m:sSub>
                              <m:sSubPr>
                                <m:ctrlPr>
                                  <a:rPr lang="en-US" sz="3200" i="1" dirty="0" smtClean="0">
                                    <a:latin typeface="Cambria Math" panose="02040503050406030204" pitchFamily="18" charset="0"/>
                                  </a:rPr>
                                </m:ctrlPr>
                              </m:sSubPr>
                              <m:e>
                                <m:r>
                                  <a:rPr lang="en-US" sz="3200" i="1" dirty="0" smtClean="0">
                                    <a:latin typeface="Cambria Math" panose="02040503050406030204" pitchFamily="18" charset="0"/>
                                  </a:rPr>
                                  <m:t>𝑑</m:t>
                                </m:r>
                              </m:e>
                              <m:sub>
                                <m:r>
                                  <a:rPr lang="en-US" sz="3200" i="1" dirty="0" smtClean="0">
                                    <a:latin typeface="Cambria Math" panose="02040503050406030204" pitchFamily="18" charset="0"/>
                                  </a:rPr>
                                  <m:t>𝑘</m:t>
                                </m:r>
                              </m:sub>
                            </m:sSub>
                          </m:e>
                        </m:rad>
                      </m:den>
                    </m:f>
                  </m:oMath>
                </a14:m>
                <a:r>
                  <a:rPr lang="en-US" sz="2800" i="1" dirty="0">
                    <a:latin typeface="Calibri" panose="020F0502020204030204" pitchFamily="34" charset="0"/>
                    <a:cs typeface="Calibri" panose="020F0502020204030204" pitchFamily="34" charset="0"/>
                  </a:rPr>
                  <a:t>)</a:t>
                </a:r>
                <a:r>
                  <a:rPr lang="en-US" sz="2400" i="1" dirty="0">
                    <a:latin typeface="Calibri" panose="020F0502020204030204" pitchFamily="34" charset="0"/>
                    <a:cs typeface="Calibri" panose="020F0502020204030204" pitchFamily="34" charset="0"/>
                  </a:rPr>
                  <a:t>V</a:t>
                </a:r>
              </a:p>
            </p:txBody>
          </p:sp>
        </mc:Choice>
        <mc:Fallback xmlns="">
          <p:sp>
            <p:nvSpPr>
              <p:cNvPr id="10" name="TextBox 9">
                <a:extLst>
                  <a:ext uri="{FF2B5EF4-FFF2-40B4-BE49-F238E27FC236}">
                    <a16:creationId xmlns:a16="http://schemas.microsoft.com/office/drawing/2014/main" id="{EBA05DD1-D666-8FDA-A549-98D652A0252F}"/>
                  </a:ext>
                </a:extLst>
              </p:cNvPr>
              <p:cNvSpPr txBox="1">
                <a:spLocks noRot="1" noChangeAspect="1" noMove="1" noResize="1" noEditPoints="1" noAdjustHandles="1" noChangeArrowheads="1" noChangeShapeType="1" noTextEdit="1"/>
              </p:cNvSpPr>
              <p:nvPr/>
            </p:nvSpPr>
            <p:spPr>
              <a:xfrm>
                <a:off x="2051813" y="5197844"/>
                <a:ext cx="4515595" cy="980846"/>
              </a:xfrm>
              <a:prstGeom prst="rect">
                <a:avLst/>
              </a:prstGeom>
              <a:blipFill>
                <a:blip r:embed="rId2"/>
                <a:stretch>
                  <a:fillRect l="-2162" r="-1351"/>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34CEB161-339A-A9CB-DD8A-70DCBF272012}"/>
              </a:ext>
            </a:extLst>
          </p:cNvPr>
          <p:cNvSpPr txBox="1"/>
          <p:nvPr/>
        </p:nvSpPr>
        <p:spPr>
          <a:xfrm>
            <a:off x="423482" y="3709642"/>
            <a:ext cx="6769290"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In practice, attention is computed for multiple queries at the same time. These queries are packed into a matrix</a:t>
            </a:r>
            <a:r>
              <a:rPr lang="en-US" sz="1600" i="1" dirty="0">
                <a:latin typeface="Calibri" panose="020F0502020204030204" pitchFamily="34" charset="0"/>
                <a:cs typeface="Calibri" panose="020F0502020204030204" pitchFamily="34" charset="0"/>
              </a:rPr>
              <a:t> Q, </a:t>
            </a:r>
            <a:r>
              <a:rPr lang="en-US" sz="1600" dirty="0">
                <a:latin typeface="Calibri" panose="020F0502020204030204" pitchFamily="34" charset="0"/>
                <a:cs typeface="Calibri" panose="020F0502020204030204" pitchFamily="34" charset="0"/>
              </a:rPr>
              <a:t>while the Keys and Values are packed into matrices </a:t>
            </a:r>
            <a:r>
              <a:rPr lang="en-US" sz="1600" i="1" dirty="0">
                <a:latin typeface="Calibri" panose="020F0502020204030204" pitchFamily="34" charset="0"/>
                <a:cs typeface="Calibri" panose="020F0502020204030204" pitchFamily="34" charset="0"/>
              </a:rPr>
              <a:t>K </a:t>
            </a:r>
            <a:r>
              <a:rPr lang="en-US" sz="1600" dirty="0">
                <a:latin typeface="Calibri" panose="020F0502020204030204" pitchFamily="34" charset="0"/>
                <a:cs typeface="Calibri" panose="020F0502020204030204" pitchFamily="34" charset="0"/>
              </a:rPr>
              <a:t>and </a:t>
            </a:r>
            <a:r>
              <a:rPr lang="en-US" sz="1600" i="1" dirty="0">
                <a:latin typeface="Calibri" panose="020F0502020204030204" pitchFamily="34" charset="0"/>
                <a:cs typeface="Calibri" panose="020F0502020204030204" pitchFamily="34" charset="0"/>
              </a:rPr>
              <a:t>V</a:t>
            </a:r>
            <a:r>
              <a:rPr lang="en-US" sz="160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The attention output is then computed as:</a:t>
            </a:r>
          </a:p>
        </p:txBody>
      </p:sp>
      <p:grpSp>
        <p:nvGrpSpPr>
          <p:cNvPr id="31" name="Group 30">
            <a:extLst>
              <a:ext uri="{FF2B5EF4-FFF2-40B4-BE49-F238E27FC236}">
                <a16:creationId xmlns:a16="http://schemas.microsoft.com/office/drawing/2014/main" id="{04266394-4CDF-8BC6-73E8-A9421F07F351}"/>
              </a:ext>
            </a:extLst>
          </p:cNvPr>
          <p:cNvGrpSpPr/>
          <p:nvPr/>
        </p:nvGrpSpPr>
        <p:grpSpPr>
          <a:xfrm>
            <a:off x="8229600" y="1419406"/>
            <a:ext cx="2773877" cy="4391972"/>
            <a:chOff x="8785694" y="1209705"/>
            <a:chExt cx="3032662" cy="5058528"/>
          </a:xfrm>
        </p:grpSpPr>
        <p:sp>
          <p:nvSpPr>
            <p:cNvPr id="12" name="Oval 11">
              <a:extLst>
                <a:ext uri="{FF2B5EF4-FFF2-40B4-BE49-F238E27FC236}">
                  <a16:creationId xmlns:a16="http://schemas.microsoft.com/office/drawing/2014/main" id="{57F1ED10-DBFA-BCC3-95FE-285E345C5F80}"/>
                </a:ext>
              </a:extLst>
            </p:cNvPr>
            <p:cNvSpPr/>
            <p:nvPr/>
          </p:nvSpPr>
          <p:spPr>
            <a:xfrm>
              <a:off x="9648206" y="1209705"/>
              <a:ext cx="1219200" cy="657877"/>
            </a:xfrm>
            <a:prstGeom prst="ellipse">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Query</a:t>
              </a:r>
            </a:p>
          </p:txBody>
        </p:sp>
        <p:sp>
          <p:nvSpPr>
            <p:cNvPr id="15" name="Rectangle: Rounded Corners 14">
              <a:extLst>
                <a:ext uri="{FF2B5EF4-FFF2-40B4-BE49-F238E27FC236}">
                  <a16:creationId xmlns:a16="http://schemas.microsoft.com/office/drawing/2014/main" id="{EEFD1220-7D76-98D1-7382-11F1D8FDA603}"/>
                </a:ext>
              </a:extLst>
            </p:cNvPr>
            <p:cNvSpPr/>
            <p:nvPr/>
          </p:nvSpPr>
          <p:spPr>
            <a:xfrm>
              <a:off x="8846555" y="2431635"/>
              <a:ext cx="2925355" cy="469471"/>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Compare with Keys</a:t>
              </a:r>
            </a:p>
          </p:txBody>
        </p:sp>
        <p:sp>
          <p:nvSpPr>
            <p:cNvPr id="17" name="TextBox 16">
              <a:extLst>
                <a:ext uri="{FF2B5EF4-FFF2-40B4-BE49-F238E27FC236}">
                  <a16:creationId xmlns:a16="http://schemas.microsoft.com/office/drawing/2014/main" id="{4C776B32-C3E7-BFFA-A379-BF4E71CD054D}"/>
                </a:ext>
              </a:extLst>
            </p:cNvPr>
            <p:cNvSpPr txBox="1"/>
            <p:nvPr/>
          </p:nvSpPr>
          <p:spPr>
            <a:xfrm>
              <a:off x="10057145" y="1850481"/>
              <a:ext cx="401321" cy="531730"/>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a:t>
              </a:r>
            </a:p>
          </p:txBody>
        </p:sp>
        <p:sp>
          <p:nvSpPr>
            <p:cNvPr id="19" name="TextBox 18">
              <a:extLst>
                <a:ext uri="{FF2B5EF4-FFF2-40B4-BE49-F238E27FC236}">
                  <a16:creationId xmlns:a16="http://schemas.microsoft.com/office/drawing/2014/main" id="{77ECE8FB-3DF1-AF6F-0456-44EEE529C97C}"/>
                </a:ext>
              </a:extLst>
            </p:cNvPr>
            <p:cNvSpPr txBox="1"/>
            <p:nvPr/>
          </p:nvSpPr>
          <p:spPr>
            <a:xfrm>
              <a:off x="10074463" y="2926836"/>
              <a:ext cx="401321" cy="531730"/>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a:t>
              </a:r>
            </a:p>
          </p:txBody>
        </p:sp>
        <p:sp>
          <p:nvSpPr>
            <p:cNvPr id="21" name="Rectangle: Rounded Corners 20">
              <a:extLst>
                <a:ext uri="{FF2B5EF4-FFF2-40B4-BE49-F238E27FC236}">
                  <a16:creationId xmlns:a16="http://schemas.microsoft.com/office/drawing/2014/main" id="{8E8BDEA5-C7FC-E465-89F0-0E6606FF3406}"/>
                </a:ext>
              </a:extLst>
            </p:cNvPr>
            <p:cNvSpPr/>
            <p:nvPr/>
          </p:nvSpPr>
          <p:spPr>
            <a:xfrm>
              <a:off x="8846556" y="3443630"/>
              <a:ext cx="2971800" cy="469471"/>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Find Relevant Information</a:t>
              </a:r>
            </a:p>
          </p:txBody>
        </p:sp>
        <p:sp>
          <p:nvSpPr>
            <p:cNvPr id="23" name="Rectangle: Rounded Corners 22">
              <a:extLst>
                <a:ext uri="{FF2B5EF4-FFF2-40B4-BE49-F238E27FC236}">
                  <a16:creationId xmlns:a16="http://schemas.microsoft.com/office/drawing/2014/main" id="{55925F1C-E6A1-4269-7F70-73562C1955EE}"/>
                </a:ext>
              </a:extLst>
            </p:cNvPr>
            <p:cNvSpPr/>
            <p:nvPr/>
          </p:nvSpPr>
          <p:spPr>
            <a:xfrm>
              <a:off x="8785694" y="4568854"/>
              <a:ext cx="3032662" cy="469471"/>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Use corresponding Values</a:t>
              </a:r>
            </a:p>
          </p:txBody>
        </p:sp>
        <p:sp>
          <p:nvSpPr>
            <p:cNvPr id="24" name="Double Wave 23">
              <a:extLst>
                <a:ext uri="{FF2B5EF4-FFF2-40B4-BE49-F238E27FC236}">
                  <a16:creationId xmlns:a16="http://schemas.microsoft.com/office/drawing/2014/main" id="{B4D56164-5D5E-30B1-591A-CCBD202EECED}"/>
                </a:ext>
              </a:extLst>
            </p:cNvPr>
            <p:cNvSpPr/>
            <p:nvPr/>
          </p:nvSpPr>
          <p:spPr>
            <a:xfrm>
              <a:off x="9120925" y="5554633"/>
              <a:ext cx="2362200" cy="713600"/>
            </a:xfrm>
            <a:prstGeom prst="doubleWave">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Attention Output</a:t>
              </a:r>
            </a:p>
          </p:txBody>
        </p:sp>
        <p:sp>
          <p:nvSpPr>
            <p:cNvPr id="26" name="TextBox 25">
              <a:extLst>
                <a:ext uri="{FF2B5EF4-FFF2-40B4-BE49-F238E27FC236}">
                  <a16:creationId xmlns:a16="http://schemas.microsoft.com/office/drawing/2014/main" id="{7DD2BD95-6F91-8E51-4901-4D4C014F19A4}"/>
                </a:ext>
              </a:extLst>
            </p:cNvPr>
            <p:cNvSpPr txBox="1"/>
            <p:nvPr/>
          </p:nvSpPr>
          <p:spPr>
            <a:xfrm>
              <a:off x="10108571" y="3974517"/>
              <a:ext cx="401321" cy="531730"/>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a:t>
              </a:r>
            </a:p>
          </p:txBody>
        </p:sp>
        <p:sp>
          <p:nvSpPr>
            <p:cNvPr id="28" name="TextBox 27">
              <a:extLst>
                <a:ext uri="{FF2B5EF4-FFF2-40B4-BE49-F238E27FC236}">
                  <a16:creationId xmlns:a16="http://schemas.microsoft.com/office/drawing/2014/main" id="{0C92E96D-4311-36D4-4B6F-97D380748C10}"/>
                </a:ext>
              </a:extLst>
            </p:cNvPr>
            <p:cNvSpPr txBox="1"/>
            <p:nvPr/>
          </p:nvSpPr>
          <p:spPr>
            <a:xfrm>
              <a:off x="10108571" y="5009311"/>
              <a:ext cx="401321" cy="531730"/>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a:t>
              </a:r>
            </a:p>
          </p:txBody>
        </p:sp>
      </p:grpSp>
      <p:sp>
        <p:nvSpPr>
          <p:cNvPr id="2" name="TextBox 1">
            <a:extLst>
              <a:ext uri="{FF2B5EF4-FFF2-40B4-BE49-F238E27FC236}">
                <a16:creationId xmlns:a16="http://schemas.microsoft.com/office/drawing/2014/main" id="{7A7715B2-70EB-090C-8CA8-DA469FB12A94}"/>
              </a:ext>
            </a:extLst>
          </p:cNvPr>
          <p:cNvSpPr txBox="1"/>
          <p:nvPr/>
        </p:nvSpPr>
        <p:spPr>
          <a:xfrm>
            <a:off x="3524827" y="6053365"/>
            <a:ext cx="1749197" cy="246221"/>
          </a:xfrm>
          <a:prstGeom prst="rect">
            <a:avLst/>
          </a:prstGeom>
          <a:noFill/>
        </p:spPr>
        <p:txBody>
          <a:bodyPr wrap="square" rtlCol="0">
            <a:spAutoFit/>
          </a:bodyPr>
          <a:lstStyle/>
          <a:p>
            <a:r>
              <a:rPr lang="en-US" sz="1000" dirty="0">
                <a:latin typeface="Calibri" panose="020F0502020204030204" pitchFamily="34" charset="0"/>
                <a:cs typeface="Calibri" panose="020F0502020204030204" pitchFamily="34" charset="0"/>
                <a:hlinkClick r:id="rId3" tooltip="Scaled Dot-Product Attention (3.2.1)"/>
              </a:rPr>
              <a:t>click and see content 3.2.1</a:t>
            </a:r>
            <a:endParaRPr lang="en-US" sz="1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C3CD7A-63E9-914A-4F03-DB99AD7D0AD1}"/>
              </a:ext>
            </a:extLst>
          </p:cNvPr>
          <p:cNvSpPr txBox="1"/>
          <p:nvPr/>
        </p:nvSpPr>
        <p:spPr>
          <a:xfrm>
            <a:off x="423482" y="994405"/>
            <a:ext cx="4819835" cy="400110"/>
          </a:xfrm>
          <a:prstGeom prst="rect">
            <a:avLst/>
          </a:prstGeom>
          <a:noFill/>
        </p:spPr>
        <p:txBody>
          <a:bodyPr wrap="square">
            <a:spAutoFit/>
          </a:bodyPr>
          <a:lstStyle/>
          <a:p>
            <a:r>
              <a:rPr lang="en-US" sz="2000" dirty="0">
                <a:latin typeface="Calibri" panose="020F0502020204030204" pitchFamily="34" charset="0"/>
                <a:cs typeface="Calibri" panose="020F0502020204030204" pitchFamily="34" charset="0"/>
                <a:hlinkClick r:id="rId4" tooltip="Self-Attention Query Key Value"/>
              </a:rPr>
              <a:t>Query Key Value</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3109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485B4-A258-17DA-697C-3C26AE6D9F9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2BA7992-E202-ECAD-4D7D-AB4FF87804BF}"/>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Self Attention (cont…) </a:t>
            </a:r>
          </a:p>
        </p:txBody>
      </p:sp>
      <p:sp>
        <p:nvSpPr>
          <p:cNvPr id="9" name="Rectangle 4">
            <a:extLst>
              <a:ext uri="{FF2B5EF4-FFF2-40B4-BE49-F238E27FC236}">
                <a16:creationId xmlns:a16="http://schemas.microsoft.com/office/drawing/2014/main" id="{E0A596E2-E0D5-3B2B-6E9E-02DC90394ED3}"/>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0C0E9B35-B15E-A99F-B8D9-72F15C3B7996}"/>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19</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B5B2AA51-490B-8305-6591-9FACF1550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969507"/>
            <a:ext cx="9497750" cy="5515745"/>
          </a:xfrm>
          <a:prstGeom prst="rect">
            <a:avLst/>
          </a:prstGeom>
        </p:spPr>
      </p:pic>
      <p:sp>
        <p:nvSpPr>
          <p:cNvPr id="3" name="TextBox 2">
            <a:extLst>
              <a:ext uri="{FF2B5EF4-FFF2-40B4-BE49-F238E27FC236}">
                <a16:creationId xmlns:a16="http://schemas.microsoft.com/office/drawing/2014/main" id="{99D2366E-AFD0-03C9-FB39-2507FAA10EE5}"/>
              </a:ext>
            </a:extLst>
          </p:cNvPr>
          <p:cNvSpPr txBox="1"/>
          <p:nvPr/>
        </p:nvSpPr>
        <p:spPr>
          <a:xfrm>
            <a:off x="1219200" y="5642272"/>
            <a:ext cx="5334000" cy="246221"/>
          </a:xfrm>
          <a:prstGeom prst="rect">
            <a:avLst/>
          </a:prstGeom>
          <a:noFill/>
        </p:spPr>
        <p:txBody>
          <a:bodyPr wrap="square">
            <a:spAutoFit/>
          </a:bodyPr>
          <a:lstStyle/>
          <a:p>
            <a:r>
              <a:rPr lang="en-US" sz="1000" dirty="0">
                <a:latin typeface="Calibri" panose="020F0502020204030204" pitchFamily="34" charset="0"/>
                <a:cs typeface="Calibri" panose="020F0502020204030204" pitchFamily="34" charset="0"/>
                <a:hlinkClick r:id="rId3"/>
              </a:rPr>
              <a:t>https://huggingface.co/blog/Esmail-AGumaan/attention-is-all-you-need#self-attention-mechanism</a:t>
            </a:r>
            <a:endParaRPr lang="en-US" sz="1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8620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D97E2-DECF-B5A7-A29C-F805EE81D2A5}"/>
            </a:ext>
          </a:extLst>
        </p:cNvPr>
        <p:cNvGrpSpPr/>
        <p:nvPr/>
      </p:nvGrpSpPr>
      <p:grpSpPr>
        <a:xfrm>
          <a:off x="0" y="0"/>
          <a:ext cx="0" cy="0"/>
          <a:chOff x="0" y="0"/>
          <a:chExt cx="0" cy="0"/>
        </a:xfrm>
      </p:grpSpPr>
      <p:sp>
        <p:nvSpPr>
          <p:cNvPr id="9" name="Rectangle 4">
            <a:extLst>
              <a:ext uri="{FF2B5EF4-FFF2-40B4-BE49-F238E27FC236}">
                <a16:creationId xmlns:a16="http://schemas.microsoft.com/office/drawing/2014/main" id="{1F70ED12-496D-036E-5875-6410E7C7664A}"/>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56FAB36D-8672-866E-8A42-1EC917A662D3}"/>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20</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9BF9D260-3158-966F-35F9-369EC94D0489}"/>
              </a:ext>
            </a:extLst>
          </p:cNvPr>
          <p:cNvPicPr>
            <a:picLocks noChangeAspect="1"/>
          </p:cNvPicPr>
          <p:nvPr/>
        </p:nvPicPr>
        <p:blipFill>
          <a:blip r:embed="rId2"/>
          <a:stretch>
            <a:fillRect/>
          </a:stretch>
        </p:blipFill>
        <p:spPr>
          <a:xfrm>
            <a:off x="152400" y="37215"/>
            <a:ext cx="11506200" cy="6475678"/>
          </a:xfrm>
          <a:prstGeom prst="rect">
            <a:avLst/>
          </a:prstGeom>
        </p:spPr>
      </p:pic>
    </p:spTree>
    <p:extLst>
      <p:ext uri="{BB962C8B-B14F-4D97-AF65-F5344CB8AC3E}">
        <p14:creationId xmlns:p14="http://schemas.microsoft.com/office/powerpoint/2010/main" val="556205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DC760-8087-6219-B762-AEFC1472B81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43F4DF6-3BDE-4254-25EE-E55A3BD06914}"/>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Self Attention (cont…) </a:t>
            </a:r>
          </a:p>
        </p:txBody>
      </p:sp>
      <p:sp>
        <p:nvSpPr>
          <p:cNvPr id="9" name="Rectangle 4">
            <a:extLst>
              <a:ext uri="{FF2B5EF4-FFF2-40B4-BE49-F238E27FC236}">
                <a16:creationId xmlns:a16="http://schemas.microsoft.com/office/drawing/2014/main" id="{010E2A7E-AF6F-22C6-B209-3CEC6FBA4942}"/>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EB9D7E9C-B66F-29B6-BC34-F6879670DBA9}"/>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21</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DC57AED9-F7B8-2ABE-76E9-E2859F497F21}"/>
              </a:ext>
            </a:extLst>
          </p:cNvPr>
          <p:cNvSpPr txBox="1"/>
          <p:nvPr/>
        </p:nvSpPr>
        <p:spPr>
          <a:xfrm>
            <a:off x="304800" y="1811327"/>
            <a:ext cx="5562600" cy="4524315"/>
          </a:xfrm>
          <a:prstGeom prst="rect">
            <a:avLst/>
          </a:prstGeom>
          <a:noFill/>
        </p:spPr>
        <p:txBody>
          <a:bodyPr wrap="square">
            <a:spAutoFit/>
          </a:bodyPr>
          <a:lstStyle/>
          <a:p>
            <a:pPr algn="just"/>
            <a:r>
              <a:rPr lang="en-US" sz="1600" b="1" i="1" dirty="0">
                <a:latin typeface="Calibri" panose="020F0502020204030204" pitchFamily="34" charset="0"/>
                <a:cs typeface="Calibri" panose="020F0502020204030204" pitchFamily="34" charset="0"/>
              </a:rPr>
              <a:t>Q: How Attention Weights Are Calculated</a:t>
            </a:r>
          </a:p>
          <a:p>
            <a:pPr lvl="0" algn="just"/>
            <a:endParaRPr lang="en-US" sz="1600" b="1" dirty="0">
              <a:latin typeface="Calibri" panose="020F0502020204030204" pitchFamily="34" charset="0"/>
              <a:cs typeface="Calibri" panose="020F0502020204030204" pitchFamily="34" charset="0"/>
            </a:endParaRPr>
          </a:p>
          <a:p>
            <a:pPr lvl="0" algn="just"/>
            <a:r>
              <a:rPr lang="en-US" sz="1600" b="1" dirty="0">
                <a:latin typeface="Calibri" panose="020F0502020204030204" pitchFamily="34" charset="0"/>
                <a:cs typeface="Calibri" panose="020F0502020204030204" pitchFamily="34" charset="0"/>
              </a:rPr>
              <a:t>Step 1: </a:t>
            </a:r>
            <a:r>
              <a:rPr lang="en-US" sz="1600" dirty="0">
                <a:latin typeface="Calibri" panose="020F0502020204030204" pitchFamily="34" charset="0"/>
                <a:cs typeface="Calibri" panose="020F0502020204030204" pitchFamily="34" charset="0"/>
              </a:rPr>
              <a:t>Compare the Query with every Key to calculate a relevance score.</a:t>
            </a:r>
          </a:p>
          <a:p>
            <a:pPr lvl="0" algn="just"/>
            <a:endParaRPr lang="en-US" sz="1600" b="1" dirty="0">
              <a:latin typeface="Calibri" panose="020F0502020204030204" pitchFamily="34" charset="0"/>
              <a:cs typeface="Calibri" panose="020F0502020204030204" pitchFamily="34" charset="0"/>
            </a:endParaRPr>
          </a:p>
          <a:p>
            <a:pPr lvl="0" algn="just"/>
            <a:r>
              <a:rPr lang="en-US" sz="1600" b="1" dirty="0">
                <a:latin typeface="Calibri" panose="020F0502020204030204" pitchFamily="34" charset="0"/>
                <a:cs typeface="Calibri" panose="020F0502020204030204" pitchFamily="34" charset="0"/>
              </a:rPr>
              <a:t>Step 2: </a:t>
            </a:r>
            <a:r>
              <a:rPr lang="en-US" sz="1600" dirty="0">
                <a:latin typeface="Calibri" panose="020F0502020204030204" pitchFamily="34" charset="0"/>
                <a:cs typeface="Calibri" panose="020F0502020204030204" pitchFamily="34" charset="0"/>
              </a:rPr>
              <a:t>Scale the scores to keep the calculations numerically stable.</a:t>
            </a:r>
          </a:p>
          <a:p>
            <a:pPr lvl="0" algn="just"/>
            <a:endParaRPr lang="en-US" sz="1600" b="1" dirty="0">
              <a:latin typeface="Calibri" panose="020F0502020204030204" pitchFamily="34" charset="0"/>
              <a:cs typeface="Calibri" panose="020F0502020204030204" pitchFamily="34" charset="0"/>
            </a:endParaRPr>
          </a:p>
          <a:p>
            <a:pPr lvl="0" algn="just"/>
            <a:r>
              <a:rPr lang="en-US" sz="1600" b="1" dirty="0">
                <a:latin typeface="Calibri" panose="020F0502020204030204" pitchFamily="34" charset="0"/>
                <a:cs typeface="Calibri" panose="020F0502020204030204" pitchFamily="34" charset="0"/>
              </a:rPr>
              <a:t>Step 3: </a:t>
            </a:r>
            <a:r>
              <a:rPr lang="en-US" sz="1600" dirty="0">
                <a:latin typeface="Calibri" panose="020F0502020204030204" pitchFamily="34" charset="0"/>
                <a:cs typeface="Calibri" panose="020F0502020204030204" pitchFamily="34" charset="0"/>
              </a:rPr>
              <a:t>Apply Softmax to convert the scores into weights that are positive and add up to 100%.</a:t>
            </a:r>
            <a:br>
              <a:rPr lang="en-US" sz="1600" dirty="0">
                <a:latin typeface="Calibri" panose="020F0502020204030204" pitchFamily="34" charset="0"/>
                <a:cs typeface="Calibri" panose="020F0502020204030204" pitchFamily="34" charset="0"/>
              </a:rPr>
            </a:br>
            <a:r>
              <a:rPr lang="en-US" sz="1600" i="1" dirty="0">
                <a:latin typeface="Calibri" panose="020F0502020204030204" pitchFamily="34" charset="0"/>
                <a:cs typeface="Calibri" panose="020F0502020204030204" pitchFamily="34" charset="0"/>
              </a:rPr>
              <a:t>e.g., Scores [2.1, 0.4, 1.0] → Weights [71%, 9%, 20%]</a:t>
            </a:r>
            <a:endParaRPr lang="en-US" sz="1600" dirty="0">
              <a:latin typeface="Calibri" panose="020F0502020204030204" pitchFamily="34" charset="0"/>
              <a:cs typeface="Calibri" panose="020F0502020204030204" pitchFamily="34" charset="0"/>
            </a:endParaRPr>
          </a:p>
          <a:p>
            <a:pPr lvl="0" algn="just"/>
            <a:endParaRPr lang="en-US" sz="1600" b="1" dirty="0">
              <a:latin typeface="Calibri" panose="020F0502020204030204" pitchFamily="34" charset="0"/>
              <a:cs typeface="Calibri" panose="020F0502020204030204" pitchFamily="34" charset="0"/>
            </a:endParaRPr>
          </a:p>
          <a:p>
            <a:pPr lvl="0" algn="just"/>
            <a:r>
              <a:rPr lang="en-US" sz="1600" b="1" dirty="0">
                <a:latin typeface="Calibri" panose="020F0502020204030204" pitchFamily="34" charset="0"/>
                <a:cs typeface="Calibri" panose="020F0502020204030204" pitchFamily="34" charset="0"/>
              </a:rPr>
              <a:t>Step 4: </a:t>
            </a:r>
            <a:r>
              <a:rPr lang="en-US" sz="1600" dirty="0">
                <a:latin typeface="Calibri" panose="020F0502020204030204" pitchFamily="34" charset="0"/>
                <a:cs typeface="Calibri" panose="020F0502020204030204" pitchFamily="34" charset="0"/>
              </a:rPr>
              <a:t>Multiply each Value by its corresponding weight.</a:t>
            </a:r>
            <a:br>
              <a:rPr lang="en-US" sz="1600" dirty="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A higher weight gives more influence to that Value.</a:t>
            </a:r>
          </a:p>
          <a:p>
            <a:pPr lvl="0" algn="just"/>
            <a:endParaRPr lang="en-US" sz="1600" b="1" dirty="0">
              <a:latin typeface="Calibri" panose="020F0502020204030204" pitchFamily="34" charset="0"/>
              <a:cs typeface="Calibri" panose="020F0502020204030204" pitchFamily="34" charset="0"/>
            </a:endParaRPr>
          </a:p>
          <a:p>
            <a:pPr lvl="0" algn="just"/>
            <a:r>
              <a:rPr lang="en-US" sz="1600" b="1" dirty="0">
                <a:latin typeface="Calibri" panose="020F0502020204030204" pitchFamily="34" charset="0"/>
                <a:cs typeface="Calibri" panose="020F0502020204030204" pitchFamily="34" charset="0"/>
              </a:rPr>
              <a:t>Step 5: </a:t>
            </a:r>
            <a:r>
              <a:rPr lang="en-US" sz="1600" dirty="0">
                <a:latin typeface="Calibri" panose="020F0502020204030204" pitchFamily="34" charset="0"/>
                <a:cs typeface="Calibri" panose="020F0502020204030204" pitchFamily="34" charset="0"/>
              </a:rPr>
              <a:t>Add the weighted Values together to produce the final attention output.</a:t>
            </a:r>
          </a:p>
          <a:p>
            <a:pPr algn="just"/>
            <a:endParaRPr lang="en-US" sz="16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E678198-B652-9367-CF5E-D6F6D284F34F}"/>
              </a:ext>
            </a:extLst>
          </p:cNvPr>
          <p:cNvSpPr txBox="1"/>
          <p:nvPr/>
        </p:nvSpPr>
        <p:spPr>
          <a:xfrm>
            <a:off x="304800" y="1104305"/>
            <a:ext cx="6781800" cy="461665"/>
          </a:xfrm>
          <a:prstGeom prst="rect">
            <a:avLst/>
          </a:prstGeom>
          <a:noFill/>
        </p:spPr>
        <p:txBody>
          <a:bodyPr wrap="square">
            <a:spAutoFit/>
          </a:bodyPr>
          <a:lstStyle/>
          <a:p>
            <a:pPr marL="342900" indent="-342900" algn="just">
              <a:buFont typeface="Wingdings" panose="05000000000000000000" pitchFamily="2" charset="2"/>
              <a:buChar char="q"/>
            </a:pPr>
            <a:r>
              <a:rPr lang="en-US" sz="2400" b="1" dirty="0">
                <a:latin typeface="Calibri" panose="020F0502020204030204" pitchFamily="34" charset="0"/>
                <a:ea typeface="Calibri" pitchFamily="34" charset="-122"/>
                <a:cs typeface="Calibri" panose="020F0502020204030204" pitchFamily="34" charset="0"/>
              </a:rPr>
              <a:t>Attention Scores &amp; Weights</a:t>
            </a:r>
            <a:endParaRPr lang="en-US"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261DD3-5B2F-DC95-01CD-5FD3B7EB0242}"/>
              </a:ext>
            </a:extLst>
          </p:cNvPr>
          <p:cNvSpPr txBox="1"/>
          <p:nvPr/>
        </p:nvSpPr>
        <p:spPr>
          <a:xfrm>
            <a:off x="6553200" y="1219200"/>
            <a:ext cx="5263898" cy="4801314"/>
          </a:xfrm>
          <a:prstGeom prst="rect">
            <a:avLst/>
          </a:prstGeom>
          <a:solidFill>
            <a:schemeClr val="bg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just"/>
            <a:r>
              <a:rPr lang="en-US" b="1" dirty="0">
                <a:latin typeface="Calibri" panose="020F0502020204030204" pitchFamily="34" charset="0"/>
                <a:cs typeface="Calibri" panose="020F0502020204030204" pitchFamily="34" charset="0"/>
              </a:rPr>
              <a:t>Example</a:t>
            </a:r>
          </a:p>
          <a:p>
            <a:pPr algn="just"/>
            <a:r>
              <a:rPr lang="en-US" dirty="0">
                <a:latin typeface="Calibri" panose="020F0502020204030204" pitchFamily="34" charset="0"/>
                <a:cs typeface="Calibri" panose="020F0502020204030204" pitchFamily="34" charset="0"/>
              </a:rPr>
              <a:t>Suppose we have three Values:</a:t>
            </a:r>
          </a:p>
          <a:p>
            <a:pPr algn="just"/>
            <a:r>
              <a:rPr lang="en-US" b="1" dirty="0">
                <a:latin typeface="Calibri" panose="020F0502020204030204" pitchFamily="34" charset="0"/>
                <a:cs typeface="Calibri" panose="020F0502020204030204" pitchFamily="34" charset="0"/>
              </a:rPr>
              <a:t>V₁, V₂, V₃</a:t>
            </a:r>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and their attention weights are:</a:t>
            </a:r>
          </a:p>
          <a:p>
            <a:pPr algn="just"/>
            <a:r>
              <a:rPr lang="en-US" b="1" dirty="0">
                <a:latin typeface="Calibri" panose="020F0502020204030204" pitchFamily="34" charset="0"/>
                <a:cs typeface="Calibri" panose="020F0502020204030204" pitchFamily="34" charset="0"/>
              </a:rPr>
              <a:t>71%, 9%, 20%</a:t>
            </a:r>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Then:</a:t>
            </a:r>
          </a:p>
          <a:p>
            <a:pPr algn="just"/>
            <a:r>
              <a:rPr lang="en-US" b="1" dirty="0">
                <a:latin typeface="Calibri" panose="020F0502020204030204" pitchFamily="34" charset="0"/>
                <a:cs typeface="Calibri" panose="020F0502020204030204" pitchFamily="34" charset="0"/>
              </a:rPr>
              <a:t>Attention Output = (0.71 × V₁) + (0.09 × V₂) + (0.20 × V₃)</a:t>
            </a:r>
          </a:p>
          <a:p>
            <a:pPr algn="just"/>
            <a:endParaRPr lang="en-US" b="1" dirty="0">
              <a:latin typeface="Calibri" panose="020F0502020204030204" pitchFamily="34" charset="0"/>
              <a:cs typeface="Calibri" panose="020F0502020204030204" pitchFamily="34" charset="0"/>
            </a:endParaRPr>
          </a:p>
          <a:p>
            <a:pPr algn="just"/>
            <a:r>
              <a:rPr lang="en-US" b="1" dirty="0">
                <a:latin typeface="Calibri" panose="020F0502020204030204" pitchFamily="34" charset="0"/>
                <a:cs typeface="Calibri" panose="020F0502020204030204" pitchFamily="34" charset="0"/>
              </a:rPr>
              <a:t>i.e.,</a:t>
            </a:r>
          </a:p>
          <a:p>
            <a:pPr marL="28575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V1 = Boy</a:t>
            </a:r>
          </a:p>
          <a:p>
            <a:pPr marL="28575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V2 = Football</a:t>
            </a:r>
          </a:p>
          <a:p>
            <a:pPr marL="28575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V3 = Football Ground </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Q</a:t>
            </a:r>
            <a:r>
              <a:rPr lang="en-US" dirty="0">
                <a:latin typeface="Calibri" panose="020F0502020204030204" pitchFamily="34" charset="0"/>
                <a:cs typeface="Calibri" panose="020F0502020204030204" pitchFamily="34" charset="0"/>
              </a:rPr>
              <a:t> and </a:t>
            </a:r>
            <a:r>
              <a:rPr lang="en-US" b="1" dirty="0">
                <a:latin typeface="Calibri" panose="020F0502020204030204" pitchFamily="34" charset="0"/>
                <a:cs typeface="Calibri" panose="020F0502020204030204" pitchFamily="34" charset="0"/>
              </a:rPr>
              <a:t>K</a:t>
            </a:r>
            <a:r>
              <a:rPr lang="en-US" dirty="0">
                <a:latin typeface="Calibri" panose="020F0502020204030204" pitchFamily="34" charset="0"/>
                <a:cs typeface="Calibri" panose="020F0502020204030204" pitchFamily="34" charset="0"/>
              </a:rPr>
              <a:t> determine relevance</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Weights</a:t>
            </a:r>
            <a:r>
              <a:rPr lang="en-US" dirty="0">
                <a:latin typeface="Calibri" panose="020F0502020204030204" pitchFamily="34" charset="0"/>
                <a:cs typeface="Calibri" panose="020F0502020204030204" pitchFamily="34" charset="0"/>
              </a:rPr>
              <a:t> determine importance</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V</a:t>
            </a:r>
            <a:r>
              <a:rPr lang="en-US" dirty="0">
                <a:latin typeface="Calibri" panose="020F0502020204030204" pitchFamily="34" charset="0"/>
                <a:cs typeface="Calibri" panose="020F0502020204030204" pitchFamily="34" charset="0"/>
              </a:rPr>
              <a:t> provides the information</a:t>
            </a:r>
          </a:p>
          <a:p>
            <a:pPr algn="just"/>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5809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31316-A5B6-5801-0C1D-587A1BEEFE1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71F219A-C729-923A-21CA-C0483049DF35}"/>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Self Attention (cont…) </a:t>
            </a:r>
          </a:p>
        </p:txBody>
      </p:sp>
      <p:sp>
        <p:nvSpPr>
          <p:cNvPr id="9" name="Rectangle 4">
            <a:extLst>
              <a:ext uri="{FF2B5EF4-FFF2-40B4-BE49-F238E27FC236}">
                <a16:creationId xmlns:a16="http://schemas.microsoft.com/office/drawing/2014/main" id="{41DC0F2E-4DE1-71BB-E4AB-C31F01E848C6}"/>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03276483-EDE1-1846-BBDC-9A347F87E902}"/>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22</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F630A19-7BE2-37C1-5EE9-0AD153B7D6E4}"/>
              </a:ext>
            </a:extLst>
          </p:cNvPr>
          <p:cNvSpPr txBox="1"/>
          <p:nvPr/>
        </p:nvSpPr>
        <p:spPr>
          <a:xfrm>
            <a:off x="9702496" y="1994514"/>
            <a:ext cx="401321" cy="461665"/>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a:t>
            </a:r>
          </a:p>
        </p:txBody>
      </p:sp>
      <p:grpSp>
        <p:nvGrpSpPr>
          <p:cNvPr id="51" name="Group 50">
            <a:extLst>
              <a:ext uri="{FF2B5EF4-FFF2-40B4-BE49-F238E27FC236}">
                <a16:creationId xmlns:a16="http://schemas.microsoft.com/office/drawing/2014/main" id="{229D8F5C-FE64-7A12-BC3F-6E89FE1F212B}"/>
              </a:ext>
            </a:extLst>
          </p:cNvPr>
          <p:cNvGrpSpPr/>
          <p:nvPr/>
        </p:nvGrpSpPr>
        <p:grpSpPr>
          <a:xfrm>
            <a:off x="759897" y="1161176"/>
            <a:ext cx="10491810" cy="4866381"/>
            <a:chOff x="759897" y="1161176"/>
            <a:chExt cx="10491810" cy="4866381"/>
          </a:xfrm>
        </p:grpSpPr>
        <p:pic>
          <p:nvPicPr>
            <p:cNvPr id="3" name="Picture 2">
              <a:extLst>
                <a:ext uri="{FF2B5EF4-FFF2-40B4-BE49-F238E27FC236}">
                  <a16:creationId xmlns:a16="http://schemas.microsoft.com/office/drawing/2014/main" id="{AC4405DA-CF79-EBD0-D74B-BB27ACD5C3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293" y="1161176"/>
              <a:ext cx="914400" cy="914400"/>
            </a:xfrm>
            <a:prstGeom prst="rect">
              <a:avLst/>
            </a:prstGeom>
          </p:spPr>
        </p:pic>
        <p:pic>
          <p:nvPicPr>
            <p:cNvPr id="7" name="Picture 6">
              <a:extLst>
                <a:ext uri="{FF2B5EF4-FFF2-40B4-BE49-F238E27FC236}">
                  <a16:creationId xmlns:a16="http://schemas.microsoft.com/office/drawing/2014/main" id="{4F42D0B3-252E-B420-86BC-405F1E0C5231}"/>
                </a:ext>
              </a:extLst>
            </p:cNvPr>
            <p:cNvPicPr>
              <a:picLocks noChangeAspect="1"/>
            </p:cNvPicPr>
            <p:nvPr/>
          </p:nvPicPr>
          <p:blipFill>
            <a:blip r:embed="rId3" cstate="print">
              <a:extLst>
                <a:ext uri="{28A0092B-C50C-407E-A947-70E740481C1C}">
                  <a14:useLocalDpi xmlns:a14="http://schemas.microsoft.com/office/drawing/2010/main" val="0"/>
                </a:ext>
              </a:extLst>
            </a:blip>
            <a:srcRect l="11032" t="9065" r="10438" b="8591"/>
            <a:stretch>
              <a:fillRect/>
            </a:stretch>
          </p:blipFill>
          <p:spPr>
            <a:xfrm>
              <a:off x="5142899" y="1299914"/>
              <a:ext cx="724501" cy="725565"/>
            </a:xfrm>
            <a:prstGeom prst="ellipse">
              <a:avLst/>
            </a:prstGeom>
          </p:spPr>
        </p:pic>
        <p:pic>
          <p:nvPicPr>
            <p:cNvPr id="12" name="Picture 11">
              <a:extLst>
                <a:ext uri="{FF2B5EF4-FFF2-40B4-BE49-F238E27FC236}">
                  <a16:creationId xmlns:a16="http://schemas.microsoft.com/office/drawing/2014/main" id="{095F0630-73E3-F1A6-8755-7E3BCE39D680}"/>
                </a:ext>
              </a:extLst>
            </p:cNvPr>
            <p:cNvPicPr>
              <a:picLocks noChangeAspect="1"/>
            </p:cNvPicPr>
            <p:nvPr/>
          </p:nvPicPr>
          <p:blipFill>
            <a:blip r:embed="rId4">
              <a:extLst>
                <a:ext uri="{28A0092B-C50C-407E-A947-70E740481C1C}">
                  <a14:useLocalDpi xmlns:a14="http://schemas.microsoft.com/office/drawing/2010/main" val="0"/>
                </a:ext>
              </a:extLst>
            </a:blip>
            <a:srcRect l="19998" t="39679" r="15835" b="28829"/>
            <a:stretch>
              <a:fillRect/>
            </a:stretch>
          </p:blipFill>
          <p:spPr>
            <a:xfrm>
              <a:off x="8554609" y="1161176"/>
              <a:ext cx="2697098" cy="976447"/>
            </a:xfrm>
            <a:prstGeom prst="rect">
              <a:avLst/>
            </a:prstGeom>
          </p:spPr>
        </p:pic>
        <p:sp>
          <p:nvSpPr>
            <p:cNvPr id="4" name="Rectangle: Rounded Corners 3">
              <a:extLst>
                <a:ext uri="{FF2B5EF4-FFF2-40B4-BE49-F238E27FC236}">
                  <a16:creationId xmlns:a16="http://schemas.microsoft.com/office/drawing/2014/main" id="{51E3B063-664A-427E-9C7F-081C47A063CC}"/>
                </a:ext>
              </a:extLst>
            </p:cNvPr>
            <p:cNvSpPr/>
            <p:nvPr/>
          </p:nvSpPr>
          <p:spPr>
            <a:xfrm>
              <a:off x="759897" y="2417409"/>
              <a:ext cx="1275191" cy="469471"/>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latin typeface="Calibri" panose="020F0502020204030204" pitchFamily="34" charset="0"/>
                  <a:cs typeface="Calibri" panose="020F0502020204030204" pitchFamily="34" charset="0"/>
                </a:rPr>
                <a:t>Q1, K1, V1</a:t>
              </a:r>
            </a:p>
            <a:p>
              <a:pPr algn="ctr"/>
              <a:r>
                <a:rPr lang="en-US" sz="1100" dirty="0">
                  <a:latin typeface="Calibri" panose="020F0502020204030204" pitchFamily="34" charset="0"/>
                  <a:cs typeface="Calibri" panose="020F0502020204030204" pitchFamily="34" charset="0"/>
                </a:rPr>
                <a:t>Boy Vectors</a:t>
              </a:r>
            </a:p>
          </p:txBody>
        </p:sp>
        <p:sp>
          <p:nvSpPr>
            <p:cNvPr id="14" name="Rectangle: Rounded Corners 13">
              <a:extLst>
                <a:ext uri="{FF2B5EF4-FFF2-40B4-BE49-F238E27FC236}">
                  <a16:creationId xmlns:a16="http://schemas.microsoft.com/office/drawing/2014/main" id="{A6584993-2FB8-0E4A-373A-1F88B24D6EC0}"/>
                </a:ext>
              </a:extLst>
            </p:cNvPr>
            <p:cNvSpPr/>
            <p:nvPr/>
          </p:nvSpPr>
          <p:spPr>
            <a:xfrm>
              <a:off x="4867553" y="2417408"/>
              <a:ext cx="1275191" cy="469471"/>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Calibri" panose="020F0502020204030204" pitchFamily="34" charset="0"/>
                  <a:cs typeface="Calibri" panose="020F0502020204030204" pitchFamily="34" charset="0"/>
                </a:rPr>
                <a:t>Q2, K2, V2</a:t>
              </a:r>
            </a:p>
            <a:p>
              <a:pPr algn="ctr"/>
              <a:r>
                <a:rPr lang="en-US" sz="1050" dirty="0">
                  <a:latin typeface="Calibri" panose="020F0502020204030204" pitchFamily="34" charset="0"/>
                  <a:cs typeface="Calibri" panose="020F0502020204030204" pitchFamily="34" charset="0"/>
                </a:rPr>
                <a:t>Football Vectors</a:t>
              </a:r>
            </a:p>
          </p:txBody>
        </p:sp>
        <p:sp>
          <p:nvSpPr>
            <p:cNvPr id="17" name="Rectangle: Rounded Corners 16">
              <a:extLst>
                <a:ext uri="{FF2B5EF4-FFF2-40B4-BE49-F238E27FC236}">
                  <a16:creationId xmlns:a16="http://schemas.microsoft.com/office/drawing/2014/main" id="{EE253236-96BC-2999-0F1F-A2F0889554E2}"/>
                </a:ext>
              </a:extLst>
            </p:cNvPr>
            <p:cNvSpPr/>
            <p:nvPr/>
          </p:nvSpPr>
          <p:spPr>
            <a:xfrm>
              <a:off x="9265562" y="2417407"/>
              <a:ext cx="1275191" cy="469471"/>
            </a:xfrm>
            <a:prstGeom prst="roundRect">
              <a:avLst/>
            </a:prstGeom>
            <a:solidFill>
              <a:srgbClr val="0E28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latin typeface="Calibri" panose="020F0502020204030204" pitchFamily="34" charset="0"/>
                  <a:cs typeface="Calibri" panose="020F0502020204030204" pitchFamily="34" charset="0"/>
                </a:rPr>
                <a:t>Q3, K3, V3</a:t>
              </a:r>
            </a:p>
            <a:p>
              <a:pPr algn="ctr"/>
              <a:r>
                <a:rPr lang="en-US" sz="1050" dirty="0">
                  <a:latin typeface="Calibri" panose="020F0502020204030204" pitchFamily="34" charset="0"/>
                  <a:cs typeface="Calibri" panose="020F0502020204030204" pitchFamily="34" charset="0"/>
                </a:rPr>
                <a:t>Field Vectors</a:t>
              </a:r>
            </a:p>
          </p:txBody>
        </p:sp>
        <p:sp>
          <p:nvSpPr>
            <p:cNvPr id="21" name="TextBox 20">
              <a:extLst>
                <a:ext uri="{FF2B5EF4-FFF2-40B4-BE49-F238E27FC236}">
                  <a16:creationId xmlns:a16="http://schemas.microsoft.com/office/drawing/2014/main" id="{CDD44649-CE25-8327-786C-D5577C2A8F88}"/>
                </a:ext>
              </a:extLst>
            </p:cNvPr>
            <p:cNvSpPr txBox="1"/>
            <p:nvPr/>
          </p:nvSpPr>
          <p:spPr>
            <a:xfrm>
              <a:off x="5304487" y="1906790"/>
              <a:ext cx="401321" cy="461665"/>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a:t>
              </a:r>
            </a:p>
          </p:txBody>
        </p:sp>
        <p:sp>
          <p:nvSpPr>
            <p:cNvPr id="23" name="TextBox 22">
              <a:extLst>
                <a:ext uri="{FF2B5EF4-FFF2-40B4-BE49-F238E27FC236}">
                  <a16:creationId xmlns:a16="http://schemas.microsoft.com/office/drawing/2014/main" id="{6D07AB53-F792-D974-BD07-3D75F5D41C75}"/>
                </a:ext>
              </a:extLst>
            </p:cNvPr>
            <p:cNvSpPr txBox="1"/>
            <p:nvPr/>
          </p:nvSpPr>
          <p:spPr>
            <a:xfrm>
              <a:off x="1196831" y="1940898"/>
              <a:ext cx="401321" cy="461665"/>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a:t>
              </a:r>
            </a:p>
          </p:txBody>
        </p:sp>
        <p:sp>
          <p:nvSpPr>
            <p:cNvPr id="26" name="Rectangle: Rounded Corners 25">
              <a:extLst>
                <a:ext uri="{FF2B5EF4-FFF2-40B4-BE49-F238E27FC236}">
                  <a16:creationId xmlns:a16="http://schemas.microsoft.com/office/drawing/2014/main" id="{0400B090-59C1-DE69-651C-91E70F960B23}"/>
                </a:ext>
              </a:extLst>
            </p:cNvPr>
            <p:cNvSpPr/>
            <p:nvPr/>
          </p:nvSpPr>
          <p:spPr>
            <a:xfrm>
              <a:off x="4503717" y="3351924"/>
              <a:ext cx="2133600" cy="335859"/>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Q1 compares with K1, K2, K3</a:t>
              </a:r>
            </a:p>
          </p:txBody>
        </p:sp>
        <p:sp>
          <p:nvSpPr>
            <p:cNvPr id="28" name="Rectangle: Rounded Corners 27">
              <a:extLst>
                <a:ext uri="{FF2B5EF4-FFF2-40B4-BE49-F238E27FC236}">
                  <a16:creationId xmlns:a16="http://schemas.microsoft.com/office/drawing/2014/main" id="{C1884971-AE18-3545-CB9A-B59F51468D58}"/>
                </a:ext>
              </a:extLst>
            </p:cNvPr>
            <p:cNvSpPr/>
            <p:nvPr/>
          </p:nvSpPr>
          <p:spPr>
            <a:xfrm>
              <a:off x="4503717" y="4077045"/>
              <a:ext cx="2133599" cy="413782"/>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Calibri" panose="020F0502020204030204" pitchFamily="34" charset="0"/>
                  <a:cs typeface="Calibri" panose="020F0502020204030204" pitchFamily="34" charset="0"/>
                </a:rPr>
                <a:t>Attention weights</a:t>
              </a:r>
            </a:p>
            <a:p>
              <a:pPr algn="ctr"/>
              <a:r>
                <a:rPr lang="en-US" sz="1400" dirty="0">
                  <a:latin typeface="Calibri" panose="020F0502020204030204" pitchFamily="34" charset="0"/>
                  <a:cs typeface="Calibri" panose="020F0502020204030204" pitchFamily="34" charset="0"/>
                </a:rPr>
                <a:t>71%| 20% | 9%</a:t>
              </a:r>
            </a:p>
          </p:txBody>
        </p:sp>
        <p:sp>
          <p:nvSpPr>
            <p:cNvPr id="30" name="Rectangle: Rounded Corners 29">
              <a:extLst>
                <a:ext uri="{FF2B5EF4-FFF2-40B4-BE49-F238E27FC236}">
                  <a16:creationId xmlns:a16="http://schemas.microsoft.com/office/drawing/2014/main" id="{78731653-322A-F651-D926-681EB70D2580}"/>
                </a:ext>
              </a:extLst>
            </p:cNvPr>
            <p:cNvSpPr/>
            <p:nvPr/>
          </p:nvSpPr>
          <p:spPr>
            <a:xfrm>
              <a:off x="4060168" y="4819490"/>
              <a:ext cx="2950232" cy="413782"/>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Calibri" panose="020F0502020204030204" pitchFamily="34" charset="0"/>
                  <a:cs typeface="Calibri" panose="020F0502020204030204" pitchFamily="34" charset="0"/>
                </a:rPr>
                <a:t>(0.71 x V1) + (0.20 x V2) + (0.09 x V3)</a:t>
              </a:r>
            </a:p>
          </p:txBody>
        </p:sp>
        <p:sp>
          <p:nvSpPr>
            <p:cNvPr id="32" name="Rectangle: Rounded Corners 31">
              <a:extLst>
                <a:ext uri="{FF2B5EF4-FFF2-40B4-BE49-F238E27FC236}">
                  <a16:creationId xmlns:a16="http://schemas.microsoft.com/office/drawing/2014/main" id="{36FA7306-A1CA-10B6-2C74-D21A83121C12}"/>
                </a:ext>
              </a:extLst>
            </p:cNvPr>
            <p:cNvSpPr/>
            <p:nvPr/>
          </p:nvSpPr>
          <p:spPr>
            <a:xfrm>
              <a:off x="4644431" y="5558086"/>
              <a:ext cx="1761847" cy="469471"/>
            </a:xfrm>
            <a:prstGeom prst="round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Attention Outputs</a:t>
              </a:r>
            </a:p>
          </p:txBody>
        </p:sp>
        <p:cxnSp>
          <p:nvCxnSpPr>
            <p:cNvPr id="36" name="Straight Arrow Connector 35">
              <a:extLst>
                <a:ext uri="{FF2B5EF4-FFF2-40B4-BE49-F238E27FC236}">
                  <a16:creationId xmlns:a16="http://schemas.microsoft.com/office/drawing/2014/main" id="{5535CF7C-7FB5-4D4B-5DA0-20E0A1EAA264}"/>
                </a:ext>
              </a:extLst>
            </p:cNvPr>
            <p:cNvCxnSpPr>
              <a:cxnSpLocks/>
            </p:cNvCxnSpPr>
            <p:nvPr/>
          </p:nvCxnSpPr>
          <p:spPr>
            <a:xfrm flipH="1">
              <a:off x="6807549" y="2886878"/>
              <a:ext cx="2457024" cy="441341"/>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FD70976C-26BE-C788-A1DF-AA4899E9AB52}"/>
                </a:ext>
              </a:extLst>
            </p:cNvPr>
            <p:cNvCxnSpPr>
              <a:cxnSpLocks/>
            </p:cNvCxnSpPr>
            <p:nvPr/>
          </p:nvCxnSpPr>
          <p:spPr>
            <a:xfrm>
              <a:off x="2029652" y="2919437"/>
              <a:ext cx="2303833" cy="432487"/>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73209D9E-D48F-6DC8-80C7-DBEE82ACB7DA}"/>
                </a:ext>
              </a:extLst>
            </p:cNvPr>
            <p:cNvCxnSpPr>
              <a:cxnSpLocks/>
            </p:cNvCxnSpPr>
            <p:nvPr/>
          </p:nvCxnSpPr>
          <p:spPr>
            <a:xfrm>
              <a:off x="5480802" y="2886878"/>
              <a:ext cx="0" cy="389722"/>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354EC6BA-7A6F-5138-E33F-8BBF87097F4E}"/>
                </a:ext>
              </a:extLst>
            </p:cNvPr>
            <p:cNvCxnSpPr>
              <a:cxnSpLocks/>
            </p:cNvCxnSpPr>
            <p:nvPr/>
          </p:nvCxnSpPr>
          <p:spPr>
            <a:xfrm>
              <a:off x="5485100" y="3687323"/>
              <a:ext cx="0" cy="275077"/>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C2D29749-4A68-645B-A2CE-2EAFD4DBD816}"/>
                </a:ext>
              </a:extLst>
            </p:cNvPr>
            <p:cNvCxnSpPr>
              <a:cxnSpLocks/>
            </p:cNvCxnSpPr>
            <p:nvPr/>
          </p:nvCxnSpPr>
          <p:spPr>
            <a:xfrm>
              <a:off x="5480802" y="4429768"/>
              <a:ext cx="0" cy="389722"/>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9E5B82B9-4BE8-D448-9B36-38CCCC9B8E03}"/>
                </a:ext>
              </a:extLst>
            </p:cNvPr>
            <p:cNvCxnSpPr>
              <a:cxnSpLocks/>
            </p:cNvCxnSpPr>
            <p:nvPr/>
          </p:nvCxnSpPr>
          <p:spPr>
            <a:xfrm>
              <a:off x="5505147" y="5233272"/>
              <a:ext cx="0" cy="253128"/>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678903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86A29-21C3-16AA-8C4F-73237854B0C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8F30238-28EA-218F-05FD-54954C1A86D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Self Attention (cont…) </a:t>
            </a:r>
          </a:p>
        </p:txBody>
      </p:sp>
      <p:sp>
        <p:nvSpPr>
          <p:cNvPr id="9" name="Rectangle 4">
            <a:extLst>
              <a:ext uri="{FF2B5EF4-FFF2-40B4-BE49-F238E27FC236}">
                <a16:creationId xmlns:a16="http://schemas.microsoft.com/office/drawing/2014/main" id="{663D5A45-7902-F3AD-FC6B-261D053C95C0}"/>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B6206821-73E4-5758-AB3F-04B0F95A1E9F}"/>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23</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C289FAF-D0EF-09A6-9528-276D15BEE708}"/>
              </a:ext>
            </a:extLst>
          </p:cNvPr>
          <p:cNvSpPr txBox="1"/>
          <p:nvPr/>
        </p:nvSpPr>
        <p:spPr>
          <a:xfrm>
            <a:off x="533400" y="1418666"/>
            <a:ext cx="5260875" cy="3970318"/>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How Information Interacts Within the Same Input</a:t>
            </a:r>
          </a:p>
          <a:p>
            <a:endParaRPr lang="en-US" sz="2400" b="1"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Each part looks at other parts of the same input. </a:t>
            </a:r>
          </a:p>
          <a:p>
            <a:pPr marL="342900" lvl="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It generates Q, K, and V from the same input. </a:t>
            </a:r>
          </a:p>
          <a:p>
            <a:pPr marL="342900" lvl="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Attention matches Q with K to find relevant information, then uses V. </a:t>
            </a:r>
          </a:p>
          <a:p>
            <a:pPr marL="342900" lvl="0" indent="-342900" algn="just">
              <a:buFont typeface="Arial" panose="020B0604020202020204" pitchFamily="34" charset="0"/>
              <a:buChar char="•"/>
            </a:pPr>
            <a:r>
              <a:rPr lang="en-US" sz="2000" b="1" dirty="0">
                <a:latin typeface="Calibri" panose="020F0502020204030204" pitchFamily="34" charset="0"/>
                <a:cs typeface="Calibri" panose="020F0502020204030204" pitchFamily="34" charset="0"/>
              </a:rPr>
              <a:t>Example</a:t>
            </a:r>
            <a:r>
              <a:rPr lang="en-US" sz="2000" dirty="0">
                <a:latin typeface="Calibri" panose="020F0502020204030204" pitchFamily="34" charset="0"/>
                <a:cs typeface="Calibri" panose="020F0502020204030204" pitchFamily="34" charset="0"/>
              </a:rPr>
              <a:t>: The boy looks at the football, players, and field to understand the situation. </a:t>
            </a:r>
          </a:p>
          <a:p>
            <a:pPr marL="342900" lvl="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It helps the model understand relationships within one input. </a:t>
            </a:r>
          </a:p>
        </p:txBody>
      </p:sp>
      <p:pic>
        <p:nvPicPr>
          <p:cNvPr id="11" name="Picture 10">
            <a:extLst>
              <a:ext uri="{FF2B5EF4-FFF2-40B4-BE49-F238E27FC236}">
                <a16:creationId xmlns:a16="http://schemas.microsoft.com/office/drawing/2014/main" id="{71F6A4C7-3E3E-7397-408F-0649B5B2AB7E}"/>
              </a:ext>
            </a:extLst>
          </p:cNvPr>
          <p:cNvPicPr>
            <a:picLocks noChangeAspect="1"/>
          </p:cNvPicPr>
          <p:nvPr/>
        </p:nvPicPr>
        <p:blipFill>
          <a:blip r:embed="rId2" cstate="print">
            <a:extLst>
              <a:ext uri="{28A0092B-C50C-407E-A947-70E740481C1C}">
                <a14:useLocalDpi xmlns:a14="http://schemas.microsoft.com/office/drawing/2010/main" val="0"/>
              </a:ext>
            </a:extLst>
          </a:blip>
          <a:srcRect t="10000"/>
          <a:stretch>
            <a:fillRect/>
          </a:stretch>
        </p:blipFill>
        <p:spPr>
          <a:xfrm>
            <a:off x="6553200" y="1208911"/>
            <a:ext cx="5342797" cy="4017384"/>
          </a:xfrm>
          <a:prstGeom prst="rect">
            <a:avLst/>
          </a:prstGeom>
          <a:ln>
            <a:noFill/>
          </a:ln>
        </p:spPr>
      </p:pic>
      <p:sp>
        <p:nvSpPr>
          <p:cNvPr id="3" name="TextBox 2">
            <a:extLst>
              <a:ext uri="{FF2B5EF4-FFF2-40B4-BE49-F238E27FC236}">
                <a16:creationId xmlns:a16="http://schemas.microsoft.com/office/drawing/2014/main" id="{AD9B69D3-E9B4-B8AC-00A1-3C7202B0D9E2}"/>
              </a:ext>
            </a:extLst>
          </p:cNvPr>
          <p:cNvSpPr txBox="1"/>
          <p:nvPr/>
        </p:nvSpPr>
        <p:spPr>
          <a:xfrm>
            <a:off x="7848599" y="5575271"/>
            <a:ext cx="3962401" cy="738664"/>
          </a:xfrm>
          <a:prstGeom prst="rect">
            <a:avLst/>
          </a:prstGeom>
          <a:noFill/>
        </p:spPr>
        <p:txBody>
          <a:bodyPr wrap="square">
            <a:spAutoFit/>
          </a:bodyPr>
          <a:lstStyle/>
          <a:p>
            <a:r>
              <a:rPr lang="en-US" sz="1400" i="1" dirty="0">
                <a:latin typeface="Calibri" panose="020F0502020204030204" pitchFamily="34" charset="0"/>
                <a:cs typeface="Calibri" panose="020F0502020204030204" pitchFamily="34" charset="0"/>
                <a:hlinkClick r:id="rId3" tooltip="Neural Self Attention "/>
              </a:rPr>
              <a:t>Neural Self Attention Mechanism</a:t>
            </a:r>
            <a:endParaRPr lang="en-US" sz="1400" i="1" dirty="0">
              <a:latin typeface="Calibri" panose="020F0502020204030204" pitchFamily="34" charset="0"/>
              <a:cs typeface="Calibri" panose="020F0502020204030204" pitchFamily="34" charset="0"/>
            </a:endParaRPr>
          </a:p>
          <a:p>
            <a:r>
              <a:rPr lang="en-US" sz="1400" i="1" dirty="0">
                <a:latin typeface="Calibri" panose="020F0502020204030204" pitchFamily="34" charset="0"/>
                <a:cs typeface="Calibri" panose="020F0502020204030204" pitchFamily="34" charset="0"/>
              </a:rPr>
              <a:t>Good source: RNNs, LSTM, Self-Attention and Multi-headed self-attention, </a:t>
            </a:r>
            <a:r>
              <a:rPr lang="en-US" sz="1400" i="1" dirty="0" err="1">
                <a:latin typeface="Calibri" panose="020F0502020204030204" pitchFamily="34" charset="0"/>
                <a:cs typeface="Calibri" panose="020F0502020204030204" pitchFamily="34" charset="0"/>
              </a:rPr>
              <a:t>PyTorch</a:t>
            </a:r>
            <a:r>
              <a:rPr lang="en-US" sz="1400" i="1" dirty="0">
                <a:latin typeface="Calibri" panose="020F0502020204030204" pitchFamily="34" charset="0"/>
                <a:cs typeface="Calibri" panose="020F0502020204030204" pitchFamily="34" charset="0"/>
              </a:rPr>
              <a:t> Implementation</a:t>
            </a:r>
          </a:p>
        </p:txBody>
      </p:sp>
      <p:sp>
        <p:nvSpPr>
          <p:cNvPr id="2" name="TextBox 1">
            <a:extLst>
              <a:ext uri="{FF2B5EF4-FFF2-40B4-BE49-F238E27FC236}">
                <a16:creationId xmlns:a16="http://schemas.microsoft.com/office/drawing/2014/main" id="{D70BF295-EFF8-3888-11FD-3F1E512AC317}"/>
              </a:ext>
            </a:extLst>
          </p:cNvPr>
          <p:cNvSpPr txBox="1"/>
          <p:nvPr/>
        </p:nvSpPr>
        <p:spPr>
          <a:xfrm>
            <a:off x="7315363" y="5575271"/>
            <a:ext cx="685637" cy="307777"/>
          </a:xfrm>
          <a:prstGeom prst="rect">
            <a:avLst/>
          </a:prstGeom>
          <a:noFill/>
        </p:spPr>
        <p:txBody>
          <a:bodyPr wrap="none" rtlCol="0">
            <a:spAutoFit/>
          </a:bodyPr>
          <a:lstStyle/>
          <a:p>
            <a:r>
              <a:rPr lang="en-US" sz="1400" dirty="0">
                <a:latin typeface="Calibri" panose="020F0502020204030204" pitchFamily="34" charset="0"/>
                <a:cs typeface="Calibri" panose="020F0502020204030204" pitchFamily="34" charset="0"/>
              </a:rPr>
              <a:t>Figure:</a:t>
            </a:r>
          </a:p>
        </p:txBody>
      </p:sp>
    </p:spTree>
    <p:extLst>
      <p:ext uri="{BB962C8B-B14F-4D97-AF65-F5344CB8AC3E}">
        <p14:creationId xmlns:p14="http://schemas.microsoft.com/office/powerpoint/2010/main" val="628728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AA2C-0AD6-4C4E-212D-6B9CCF2BEB73}"/>
            </a:ext>
          </a:extLst>
        </p:cNvPr>
        <p:cNvGrpSpPr/>
        <p:nvPr/>
      </p:nvGrpSpPr>
      <p:grpSpPr>
        <a:xfrm>
          <a:off x="0" y="0"/>
          <a:ext cx="0" cy="0"/>
          <a:chOff x="0" y="0"/>
          <a:chExt cx="0" cy="0"/>
        </a:xfrm>
      </p:grpSpPr>
      <p:grpSp>
        <p:nvGrpSpPr>
          <p:cNvPr id="3" name="object 2">
            <a:extLst>
              <a:ext uri="{FF2B5EF4-FFF2-40B4-BE49-F238E27FC236}">
                <a16:creationId xmlns:a16="http://schemas.microsoft.com/office/drawing/2014/main" id="{DECDD7BF-421F-0394-58FE-D0A008DDAECF}"/>
              </a:ext>
            </a:extLst>
          </p:cNvPr>
          <p:cNvGrpSpPr/>
          <p:nvPr/>
        </p:nvGrpSpPr>
        <p:grpSpPr>
          <a:xfrm>
            <a:off x="1137" y="0"/>
            <a:ext cx="12192000" cy="6858000"/>
            <a:chOff x="0" y="0"/>
            <a:chExt cx="12192000" cy="6858000"/>
          </a:xfrm>
        </p:grpSpPr>
        <p:sp>
          <p:nvSpPr>
            <p:cNvPr id="4" name="object 3">
              <a:extLst>
                <a:ext uri="{FF2B5EF4-FFF2-40B4-BE49-F238E27FC236}">
                  <a16:creationId xmlns:a16="http://schemas.microsoft.com/office/drawing/2014/main" id="{624E2470-5932-7F5A-A454-CE0972B059C1}"/>
                </a:ext>
              </a:extLst>
            </p:cNvPr>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chemeClr val="tx1">
                <a:lumMod val="85000"/>
                <a:lumOff val="15000"/>
              </a:schemeClr>
            </a:solidFill>
          </p:spPr>
          <p:txBody>
            <a:bodyPr wrap="square" lIns="0" tIns="0" rIns="0" bIns="0" rtlCol="0"/>
            <a:lstStyle/>
            <a:p>
              <a:endParaRPr dirty="0">
                <a:latin typeface="Calibri" panose="020F0502020204030204" pitchFamily="34" charset="0"/>
                <a:cs typeface="Calibri" panose="020F0502020204030204" pitchFamily="34" charset="0"/>
              </a:endParaRPr>
            </a:p>
          </p:txBody>
        </p:sp>
        <p:sp>
          <p:nvSpPr>
            <p:cNvPr id="6" name="object 4">
              <a:extLst>
                <a:ext uri="{FF2B5EF4-FFF2-40B4-BE49-F238E27FC236}">
                  <a16:creationId xmlns:a16="http://schemas.microsoft.com/office/drawing/2014/main" id="{F723A7EB-CBB5-871E-DB2D-A8DAD7323DC3}"/>
                </a:ext>
              </a:extLst>
            </p:cNvPr>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endParaRPr>
                <a:latin typeface="Calibri" panose="020F0502020204030204" pitchFamily="34" charset="0"/>
                <a:cs typeface="Calibri" panose="020F0502020204030204" pitchFamily="34" charset="0"/>
              </a:endParaRPr>
            </a:p>
          </p:txBody>
        </p:sp>
      </p:grpSp>
      <p:sp>
        <p:nvSpPr>
          <p:cNvPr id="37" name="Slide Number Placeholder 36">
            <a:extLst>
              <a:ext uri="{FF2B5EF4-FFF2-40B4-BE49-F238E27FC236}">
                <a16:creationId xmlns:a16="http://schemas.microsoft.com/office/drawing/2014/main" id="{35C07628-2C31-C33B-05E8-531DBCE5908B}"/>
              </a:ext>
            </a:extLst>
          </p:cNvPr>
          <p:cNvSpPr>
            <a:spLocks noGrp="1"/>
          </p:cNvSpPr>
          <p:nvPr>
            <p:ph type="sldNum" sz="quarter" idx="7"/>
          </p:nvPr>
        </p:nvSpPr>
        <p:spPr>
          <a:xfrm>
            <a:off x="11430000" y="64770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24</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11" name="object 5" descr="$PPTXTitle">
            <a:extLst>
              <a:ext uri="{FF2B5EF4-FFF2-40B4-BE49-F238E27FC236}">
                <a16:creationId xmlns:a16="http://schemas.microsoft.com/office/drawing/2014/main" id="{A1C4CD0A-97B8-C18F-6044-4A9E5AB169A9}"/>
              </a:ext>
            </a:extLst>
          </p:cNvPr>
          <p:cNvSpPr txBox="1">
            <a:spLocks noGrp="1"/>
          </p:cNvSpPr>
          <p:nvPr>
            <p:ph type="title"/>
          </p:nvPr>
        </p:nvSpPr>
        <p:spPr>
          <a:xfrm>
            <a:off x="456063" y="2770423"/>
            <a:ext cx="11734800" cy="936154"/>
          </a:xfrm>
          <a:prstGeom prst="rect">
            <a:avLst/>
          </a:prstGeom>
        </p:spPr>
        <p:txBody>
          <a:bodyPr vert="horz" wrap="square" lIns="0" tIns="12700" rIns="0" bIns="0" rtlCol="0">
            <a:spAutoFit/>
          </a:bodyPr>
          <a:lstStyle/>
          <a:p>
            <a:pPr marL="12700" marR="5080" indent="704215" algn="ctr">
              <a:lnSpc>
                <a:spcPct val="100000"/>
              </a:lnSpc>
              <a:spcBef>
                <a:spcPts val="100"/>
              </a:spcBef>
            </a:pPr>
            <a:r>
              <a:rPr lang="en-US" sz="6000" b="0" spc="195" dirty="0">
                <a:solidFill>
                  <a:srgbClr val="FFFFFF"/>
                </a:solidFill>
                <a:latin typeface="Calibri" panose="020F0502020204030204" pitchFamily="34" charset="0"/>
                <a:cs typeface="Calibri" panose="020F0502020204030204" pitchFamily="34" charset="0"/>
              </a:rPr>
              <a:t>Cross-Attention</a:t>
            </a:r>
            <a:endParaRPr sz="60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09912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93556-3E24-9E41-D4B5-C8042C05657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DEBFBC8-6D3D-77CD-964B-0B93547A105B}"/>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4. Cross-Attention</a:t>
            </a:r>
          </a:p>
        </p:txBody>
      </p:sp>
      <p:sp>
        <p:nvSpPr>
          <p:cNvPr id="9" name="Rectangle 4">
            <a:extLst>
              <a:ext uri="{FF2B5EF4-FFF2-40B4-BE49-F238E27FC236}">
                <a16:creationId xmlns:a16="http://schemas.microsoft.com/office/drawing/2014/main" id="{CC623109-EBF9-8E48-7609-42E7C595C618}"/>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4AECFEB5-5CA6-4006-EB88-B4EC9F41C738}"/>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25</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F32E381A-0A4C-22C0-CBA1-08C554B3E67D}"/>
              </a:ext>
            </a:extLst>
          </p:cNvPr>
          <p:cNvSpPr txBox="1"/>
          <p:nvPr/>
        </p:nvSpPr>
        <p:spPr>
          <a:xfrm>
            <a:off x="533400" y="1505396"/>
            <a:ext cx="4953000" cy="3231654"/>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Basic Intuition</a:t>
            </a:r>
          </a:p>
          <a:p>
            <a:pPr marL="34290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hlinkClick r:id="rId2" tooltip="Cross-attention mechanism "/>
              </a:rPr>
              <a:t>Cross-attention mechanism </a:t>
            </a:r>
            <a:r>
              <a:rPr lang="en-US" sz="2000" dirty="0">
                <a:latin typeface="Calibri" panose="020F0502020204030204" pitchFamily="34" charset="0"/>
                <a:cs typeface="Calibri" panose="020F0502020204030204" pitchFamily="34" charset="0"/>
              </a:rPr>
              <a:t>is a key part of the Transformer model. </a:t>
            </a:r>
          </a:p>
          <a:p>
            <a:pPr marL="34290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It allows the decoder to access and use relevant information from the encoder. </a:t>
            </a:r>
          </a:p>
          <a:p>
            <a:pPr marL="34290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This helps the model focus on important details</a:t>
            </a:r>
          </a:p>
          <a:p>
            <a:pPr marL="342900" indent="-34290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Cross attention enables different parts of the model to communicate and share useful information for better results.</a:t>
            </a:r>
          </a:p>
        </p:txBody>
      </p:sp>
      <p:pic>
        <p:nvPicPr>
          <p:cNvPr id="6" name="Picture 5">
            <a:extLst>
              <a:ext uri="{FF2B5EF4-FFF2-40B4-BE49-F238E27FC236}">
                <a16:creationId xmlns:a16="http://schemas.microsoft.com/office/drawing/2014/main" id="{CD311C98-31F1-4BF7-1548-BC0A271DA5BD}"/>
              </a:ext>
            </a:extLst>
          </p:cNvPr>
          <p:cNvPicPr>
            <a:picLocks noChangeAspect="1"/>
          </p:cNvPicPr>
          <p:nvPr/>
        </p:nvPicPr>
        <p:blipFill>
          <a:blip r:embed="rId3"/>
          <a:srcRect b="6364"/>
          <a:stretch>
            <a:fillRect/>
          </a:stretch>
        </p:blipFill>
        <p:spPr>
          <a:xfrm>
            <a:off x="5943600" y="1333500"/>
            <a:ext cx="5940000" cy="3924300"/>
          </a:xfrm>
          <a:prstGeom prst="rect">
            <a:avLst/>
          </a:prstGeom>
        </p:spPr>
      </p:pic>
      <p:sp>
        <p:nvSpPr>
          <p:cNvPr id="2" name="TextBox 1">
            <a:extLst>
              <a:ext uri="{FF2B5EF4-FFF2-40B4-BE49-F238E27FC236}">
                <a16:creationId xmlns:a16="http://schemas.microsoft.com/office/drawing/2014/main" id="{5DD89F57-83F5-B657-7CEE-10C155AF402D}"/>
              </a:ext>
            </a:extLst>
          </p:cNvPr>
          <p:cNvSpPr txBox="1"/>
          <p:nvPr/>
        </p:nvSpPr>
        <p:spPr>
          <a:xfrm>
            <a:off x="6858000" y="5257800"/>
            <a:ext cx="3796809" cy="276999"/>
          </a:xfrm>
          <a:prstGeom prst="rect">
            <a:avLst/>
          </a:prstGeom>
          <a:noFill/>
        </p:spPr>
        <p:txBody>
          <a:bodyPr wrap="none" rtlCol="0">
            <a:spAutoFit/>
          </a:bodyPr>
          <a:lstStyle/>
          <a:p>
            <a:r>
              <a:rPr lang="en-US" sz="1200" b="1" i="1" dirty="0">
                <a:latin typeface="Calibri" panose="020F0502020204030204" pitchFamily="34" charset="0"/>
                <a:cs typeface="Calibri" panose="020F0502020204030204" pitchFamily="34" charset="0"/>
                <a:hlinkClick r:id="rId4" tooltip="cross-attention layer"/>
              </a:rPr>
              <a:t>Figure 5.</a:t>
            </a:r>
            <a:r>
              <a:rPr lang="en-US" sz="1200" i="1" dirty="0">
                <a:latin typeface="Calibri" panose="020F0502020204030204" pitchFamily="34" charset="0"/>
                <a:cs typeface="Calibri" panose="020F0502020204030204" pitchFamily="34" charset="0"/>
                <a:hlinkClick r:id="rId4" tooltip="cross-attention layer"/>
              </a:rPr>
              <a:t> Detailed architecture of the cross-attention layer</a:t>
            </a:r>
            <a:endParaRPr lang="en-US" sz="12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2955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91301-8A62-8CD5-970A-530064AB5A82}"/>
            </a:ext>
          </a:extLst>
        </p:cNvPr>
        <p:cNvGrpSpPr/>
        <p:nvPr/>
      </p:nvGrpSpPr>
      <p:grpSpPr>
        <a:xfrm>
          <a:off x="0" y="0"/>
          <a:ext cx="0" cy="0"/>
          <a:chOff x="0" y="0"/>
          <a:chExt cx="0" cy="0"/>
        </a:xfrm>
      </p:grpSpPr>
      <p:sp>
        <p:nvSpPr>
          <p:cNvPr id="9" name="Rectangle 4">
            <a:extLst>
              <a:ext uri="{FF2B5EF4-FFF2-40B4-BE49-F238E27FC236}">
                <a16:creationId xmlns:a16="http://schemas.microsoft.com/office/drawing/2014/main" id="{4221AF81-D6FB-2B57-844F-1E1D239E6741}"/>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8FCE2171-790E-1FA8-9F77-D0A60802D7B0}"/>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26</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68226269-1A8D-D095-D956-EF02EEFB7C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0"/>
            <a:ext cx="9753600" cy="6502400"/>
          </a:xfrm>
          <a:prstGeom prst="rect">
            <a:avLst/>
          </a:prstGeom>
        </p:spPr>
      </p:pic>
    </p:spTree>
    <p:extLst>
      <p:ext uri="{BB962C8B-B14F-4D97-AF65-F5344CB8AC3E}">
        <p14:creationId xmlns:p14="http://schemas.microsoft.com/office/powerpoint/2010/main" val="3620427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010F5-EB00-78F6-DDE0-034EA03D9AA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CF40F71-B778-CAB5-BFC8-90A64956C1F3}"/>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Cross-Attention (cont…)</a:t>
            </a:r>
          </a:p>
        </p:txBody>
      </p:sp>
      <p:sp>
        <p:nvSpPr>
          <p:cNvPr id="9" name="Rectangle 4">
            <a:extLst>
              <a:ext uri="{FF2B5EF4-FFF2-40B4-BE49-F238E27FC236}">
                <a16:creationId xmlns:a16="http://schemas.microsoft.com/office/drawing/2014/main" id="{5AD71F86-E524-FFFB-EE3A-F1A3D20DEC40}"/>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12CD68E0-0AF5-96D5-641B-E2F8CF30698F}"/>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27</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D463B53B-AA0A-92F8-76CB-471CA14F5233}"/>
              </a:ext>
            </a:extLst>
          </p:cNvPr>
          <p:cNvSpPr txBox="1"/>
          <p:nvPr/>
        </p:nvSpPr>
        <p:spPr>
          <a:xfrm>
            <a:off x="454231" y="1091780"/>
            <a:ext cx="6019800" cy="400110"/>
          </a:xfrm>
          <a:prstGeom prst="rect">
            <a:avLst/>
          </a:prstGeom>
          <a:noFill/>
        </p:spPr>
        <p:txBody>
          <a:bodyPr wrap="square">
            <a:spAutoFit/>
          </a:bodyPr>
          <a:lstStyle/>
          <a:p>
            <a:pPr algn="ctr"/>
            <a:r>
              <a:rPr lang="en-US" sz="2000" b="1" dirty="0">
                <a:solidFill>
                  <a:schemeClr val="tx1">
                    <a:lumMod val="95000"/>
                    <a:lumOff val="5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Self-Attention vs. Cross-Attention</a:t>
            </a:r>
          </a:p>
        </p:txBody>
      </p:sp>
      <p:graphicFrame>
        <p:nvGraphicFramePr>
          <p:cNvPr id="15" name="Table 14">
            <a:extLst>
              <a:ext uri="{FF2B5EF4-FFF2-40B4-BE49-F238E27FC236}">
                <a16:creationId xmlns:a16="http://schemas.microsoft.com/office/drawing/2014/main" id="{559DD362-5946-A026-F00F-35C50B0789C4}"/>
              </a:ext>
            </a:extLst>
          </p:cNvPr>
          <p:cNvGraphicFramePr>
            <a:graphicFrameLocks noGrp="1"/>
          </p:cNvGraphicFramePr>
          <p:nvPr>
            <p:extLst>
              <p:ext uri="{D42A27DB-BD31-4B8C-83A1-F6EECF244321}">
                <p14:modId xmlns:p14="http://schemas.microsoft.com/office/powerpoint/2010/main" val="3971463747"/>
              </p:ext>
            </p:extLst>
          </p:nvPr>
        </p:nvGraphicFramePr>
        <p:xfrm>
          <a:off x="378031" y="1674231"/>
          <a:ext cx="6172200" cy="3931920"/>
        </p:xfrm>
        <a:graphic>
          <a:graphicData uri="http://schemas.openxmlformats.org/drawingml/2006/table">
            <a:tbl>
              <a:tblPr firstRow="1" bandRow="1">
                <a:tableStyleId>{5C22544A-7EE6-4342-B048-85BDC9FD1C3A}</a:tableStyleId>
              </a:tblPr>
              <a:tblGrid>
                <a:gridCol w="1640711">
                  <a:extLst>
                    <a:ext uri="{9D8B030D-6E8A-4147-A177-3AD203B41FA5}">
                      <a16:colId xmlns:a16="http://schemas.microsoft.com/office/drawing/2014/main" val="3751252235"/>
                    </a:ext>
                  </a:extLst>
                </a:gridCol>
                <a:gridCol w="4531489">
                  <a:extLst>
                    <a:ext uri="{9D8B030D-6E8A-4147-A177-3AD203B41FA5}">
                      <a16:colId xmlns:a16="http://schemas.microsoft.com/office/drawing/2014/main" val="1187823376"/>
                    </a:ext>
                  </a:extLst>
                </a:gridCol>
              </a:tblGrid>
              <a:tr h="370840">
                <a:tc>
                  <a:txBody>
                    <a:bodyPr/>
                    <a:lstStyle/>
                    <a:p>
                      <a:pPr algn="ctr">
                        <a:lnSpc>
                          <a:spcPct val="150000"/>
                        </a:lnSpc>
                      </a:pPr>
                      <a:r>
                        <a:rPr lang="en-US" sz="1400" dirty="0">
                          <a:solidFill>
                            <a:schemeClr val="bg1"/>
                          </a:solidFill>
                          <a:latin typeface="Calibri" panose="020F0502020204030204" pitchFamily="34" charset="0"/>
                          <a:cs typeface="Calibri" panose="020F0502020204030204" pitchFamily="34" charset="0"/>
                        </a:rPr>
                        <a:t>Self-Attention</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marL="285750" indent="-285750" algn="just">
                        <a:buFont typeface="Arial" panose="020B0604020202020204" pitchFamily="34" charset="0"/>
                        <a:buChar char="•"/>
                      </a:pPr>
                      <a:r>
                        <a:rPr lang="en-US" sz="1400" b="0" dirty="0">
                          <a:solidFill>
                            <a:schemeClr val="tx1">
                              <a:lumMod val="95000"/>
                              <a:lumOff val="5000"/>
                            </a:schemeClr>
                          </a:solidFill>
                          <a:latin typeface="Calibri" panose="020F0502020204030204" pitchFamily="34" charset="0"/>
                          <a:cs typeface="Calibri" panose="020F0502020204030204" pitchFamily="34" charset="0"/>
                        </a:rPr>
                        <a:t>Look within yourself.</a:t>
                      </a:r>
                    </a:p>
                    <a:p>
                      <a:pPr marL="285750" indent="-285750" algn="just">
                        <a:buFont typeface="Arial" panose="020B0604020202020204" pitchFamily="34" charset="0"/>
                        <a:buChar char="•"/>
                      </a:pPr>
                      <a:r>
                        <a:rPr lang="en-US" sz="1400" b="0" dirty="0">
                          <a:solidFill>
                            <a:schemeClr val="tx1">
                              <a:lumMod val="95000"/>
                              <a:lumOff val="5000"/>
                            </a:schemeClr>
                          </a:solidFill>
                          <a:latin typeface="Calibri" panose="020F0502020204030204" pitchFamily="34" charset="0"/>
                          <a:cs typeface="Calibri" panose="020F0502020204030204" pitchFamily="34" charset="0"/>
                        </a:rPr>
                        <a:t>One input looks at other parts of the same input to understand their relationships.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652025140"/>
                  </a:ext>
                </a:extLst>
              </a:tr>
              <a:tr h="370840">
                <a:tc>
                  <a:txBody>
                    <a:bodyPr/>
                    <a:lstStyle/>
                    <a:p>
                      <a:pPr algn="ctr">
                        <a:lnSpc>
                          <a:spcPct val="150000"/>
                        </a:lnSpc>
                      </a:pPr>
                      <a:r>
                        <a:rPr lang="en-US" sz="1400" dirty="0">
                          <a:solidFill>
                            <a:schemeClr val="bg1"/>
                          </a:solidFill>
                          <a:latin typeface="Calibri" panose="020F0502020204030204" pitchFamily="34" charset="0"/>
                          <a:cs typeface="Calibri" panose="020F0502020204030204" pitchFamily="34" charset="0"/>
                        </a:rPr>
                        <a:t>Cross-Attention</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marL="285750" indent="-285750" algn="just">
                        <a:buFont typeface="Arial" panose="020B0604020202020204" pitchFamily="34" charset="0"/>
                        <a:buChar char="•"/>
                      </a:pPr>
                      <a:r>
                        <a:rPr lang="en-US" sz="1400" b="0" dirty="0">
                          <a:solidFill>
                            <a:schemeClr val="tx1">
                              <a:lumMod val="95000"/>
                              <a:lumOff val="5000"/>
                            </a:schemeClr>
                          </a:solidFill>
                          <a:latin typeface="Calibri" panose="020F0502020204030204" pitchFamily="34" charset="0"/>
                          <a:cs typeface="Calibri" panose="020F0502020204030204" pitchFamily="34" charset="0"/>
                        </a:rPr>
                        <a:t>Look at another input.</a:t>
                      </a:r>
                    </a:p>
                    <a:p>
                      <a:pPr marL="285750" indent="-285750" algn="just">
                        <a:buFont typeface="Arial" panose="020B0604020202020204" pitchFamily="34" charset="0"/>
                        <a:buChar char="•"/>
                      </a:pPr>
                      <a:r>
                        <a:rPr lang="en-US" sz="1400" b="0" dirty="0">
                          <a:solidFill>
                            <a:schemeClr val="tx1">
                              <a:lumMod val="95000"/>
                              <a:lumOff val="5000"/>
                            </a:schemeClr>
                          </a:solidFill>
                          <a:latin typeface="Calibri" panose="020F0502020204030204" pitchFamily="34" charset="0"/>
                          <a:cs typeface="Calibri" panose="020F0502020204030204" pitchFamily="34" charset="0"/>
                        </a:rPr>
                        <a:t>One input looks at another input to find the information it needs.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265256926"/>
                  </a:ext>
                </a:extLst>
              </a:tr>
              <a:tr h="0">
                <a:tc>
                  <a:txBody>
                    <a:bodyPr/>
                    <a:lstStyle/>
                    <a:p>
                      <a:pPr algn="ctr">
                        <a:lnSpc>
                          <a:spcPct val="150000"/>
                        </a:lnSpc>
                      </a:pPr>
                      <a:r>
                        <a:rPr lang="en-US" sz="1400" dirty="0">
                          <a:solidFill>
                            <a:schemeClr val="bg1"/>
                          </a:solidFill>
                          <a:latin typeface="Calibri" panose="020F0502020204030204" pitchFamily="34" charset="0"/>
                          <a:cs typeface="Calibri" panose="020F0502020204030204" pitchFamily="34" charset="0"/>
                        </a:rPr>
                        <a:t>Technical </a:t>
                      </a:r>
                    </a:p>
                    <a:p>
                      <a:pPr algn="ctr">
                        <a:lnSpc>
                          <a:spcPct val="150000"/>
                        </a:lnSpc>
                      </a:pPr>
                      <a:r>
                        <a:rPr lang="en-US" sz="1400" dirty="0">
                          <a:solidFill>
                            <a:schemeClr val="bg1"/>
                          </a:solidFill>
                          <a:latin typeface="Calibri" panose="020F0502020204030204" pitchFamily="34" charset="0"/>
                          <a:cs typeface="Calibri" panose="020F0502020204030204" pitchFamily="34" charset="0"/>
                        </a:rPr>
                        <a:t>Difference</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marL="285750" lvl="0" indent="-285750" algn="just">
                        <a:buFont typeface="Arial" panose="020B0604020202020204" pitchFamily="34" charset="0"/>
                        <a:buChar char="•"/>
                      </a:pPr>
                      <a:r>
                        <a:rPr lang="en-US" sz="1400" b="0" dirty="0">
                          <a:solidFill>
                            <a:schemeClr val="tx1">
                              <a:lumMod val="95000"/>
                              <a:lumOff val="5000"/>
                            </a:schemeClr>
                          </a:solidFill>
                          <a:latin typeface="Calibri" panose="020F0502020204030204" pitchFamily="34" charset="0"/>
                          <a:cs typeface="Calibri" panose="020F0502020204030204" pitchFamily="34" charset="0"/>
                        </a:rPr>
                        <a:t>Both follow the same basic process:</a:t>
                      </a:r>
                      <a:br>
                        <a:rPr lang="en-US" sz="1400" b="0" dirty="0">
                          <a:solidFill>
                            <a:schemeClr val="tx1">
                              <a:lumMod val="95000"/>
                              <a:lumOff val="5000"/>
                            </a:schemeClr>
                          </a:solidFill>
                          <a:latin typeface="Calibri" panose="020F0502020204030204" pitchFamily="34" charset="0"/>
                          <a:cs typeface="Calibri" panose="020F0502020204030204" pitchFamily="34" charset="0"/>
                        </a:rPr>
                      </a:br>
                      <a:r>
                        <a:rPr lang="en-US" sz="1400" b="0" dirty="0">
                          <a:solidFill>
                            <a:schemeClr val="tx1">
                              <a:lumMod val="95000"/>
                              <a:lumOff val="5000"/>
                            </a:schemeClr>
                          </a:solidFill>
                          <a:latin typeface="Calibri" panose="020F0502020204030204" pitchFamily="34" charset="0"/>
                          <a:cs typeface="Calibri" panose="020F0502020204030204" pitchFamily="34" charset="0"/>
                        </a:rPr>
                        <a:t>Q + K → Scores → Weights → Values → Output </a:t>
                      </a:r>
                    </a:p>
                    <a:p>
                      <a:pPr marL="285750" lvl="0" indent="-285750" algn="just">
                        <a:buFont typeface="Arial" panose="020B0604020202020204" pitchFamily="34" charset="0"/>
                        <a:buChar char="•"/>
                      </a:pPr>
                      <a:r>
                        <a:rPr lang="en-US" sz="1400" b="0" dirty="0">
                          <a:solidFill>
                            <a:schemeClr val="tx1">
                              <a:lumMod val="95000"/>
                              <a:lumOff val="5000"/>
                            </a:schemeClr>
                          </a:solidFill>
                          <a:latin typeface="Calibri" panose="020F0502020204030204" pitchFamily="34" charset="0"/>
                          <a:cs typeface="Calibri" panose="020F0502020204030204" pitchFamily="34" charset="0"/>
                        </a:rPr>
                        <a:t>The main difference is where Q, K, and V come from.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800059198"/>
                  </a:ext>
                </a:extLst>
              </a:tr>
              <a:tr h="370840">
                <a:tc>
                  <a:txBody>
                    <a:bodyPr/>
                    <a:lstStyle/>
                    <a:p>
                      <a:pPr algn="ctr">
                        <a:lnSpc>
                          <a:spcPct val="150000"/>
                        </a:lnSpc>
                      </a:pPr>
                      <a:r>
                        <a:rPr lang="en-US" sz="1400" dirty="0">
                          <a:solidFill>
                            <a:schemeClr val="bg1"/>
                          </a:solidFill>
                          <a:latin typeface="Calibri" panose="020F0502020204030204" pitchFamily="34" charset="0"/>
                          <a:cs typeface="Calibri" panose="020F0502020204030204" pitchFamily="34" charset="0"/>
                        </a:rPr>
                        <a:t>Self-Attention</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marL="285750" lvl="0" indent="-285750" algn="just">
                        <a:buFont typeface="Arial" panose="020B0604020202020204" pitchFamily="34" charset="0"/>
                        <a:buChar char="•"/>
                      </a:pPr>
                      <a:r>
                        <a:rPr lang="en-US" sz="1400" b="0" dirty="0">
                          <a:solidFill>
                            <a:schemeClr val="tx1">
                              <a:lumMod val="95000"/>
                              <a:lumOff val="5000"/>
                            </a:schemeClr>
                          </a:solidFill>
                          <a:latin typeface="Calibri" panose="020F0502020204030204" pitchFamily="34" charset="0"/>
                          <a:cs typeface="Calibri" panose="020F0502020204030204" pitchFamily="34" charset="0"/>
                        </a:rPr>
                        <a:t>Q, K, and V come from the same input. </a:t>
                      </a:r>
                    </a:p>
                    <a:p>
                      <a:pPr marL="285750" lvl="0" indent="-285750" algn="just">
                        <a:buFont typeface="Arial" panose="020B0604020202020204" pitchFamily="34" charset="0"/>
                        <a:buChar char="•"/>
                      </a:pPr>
                      <a:r>
                        <a:rPr lang="en-US" sz="1200" b="1" i="1" dirty="0">
                          <a:solidFill>
                            <a:schemeClr val="tx1">
                              <a:lumMod val="95000"/>
                              <a:lumOff val="5000"/>
                            </a:schemeClr>
                          </a:solidFill>
                          <a:latin typeface="Calibri" panose="020F0502020204030204" pitchFamily="34" charset="0"/>
                          <a:cs typeface="Calibri" panose="020F0502020204030204" pitchFamily="34" charset="0"/>
                        </a:rPr>
                        <a:t>Example: </a:t>
                      </a:r>
                      <a:r>
                        <a:rPr lang="en-US" sz="1200" dirty="0">
                          <a:latin typeface="Calibri" panose="020F0502020204030204" pitchFamily="34" charset="0"/>
                          <a:cs typeface="Calibri" panose="020F0502020204030204" pitchFamily="34" charset="0"/>
                        </a:rPr>
                        <a:t>Boy ↔ Football  = the boy is playing with the football. </a:t>
                      </a:r>
                    </a:p>
                    <a:p>
                      <a:pPr marL="342900" lvl="0" indent="-342900" algn="just">
                        <a:buFont typeface="Arial" panose="020B0604020202020204" pitchFamily="34" charset="0"/>
                        <a:buChar char="•"/>
                      </a:pPr>
                      <a:r>
                        <a:rPr lang="en-US" sz="1200" dirty="0">
                          <a:latin typeface="Calibri" panose="020F0502020204030204" pitchFamily="34" charset="0"/>
                          <a:cs typeface="Calibri" panose="020F0502020204030204" pitchFamily="34" charset="0"/>
                        </a:rPr>
                        <a:t>Boy ↔ Field = the boy is on the field.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707046751"/>
                  </a:ext>
                </a:extLst>
              </a:tr>
              <a:tr h="370840">
                <a:tc>
                  <a:txBody>
                    <a:bodyPr/>
                    <a:lstStyle/>
                    <a:p>
                      <a:pPr algn="ctr">
                        <a:lnSpc>
                          <a:spcPct val="150000"/>
                        </a:lnSpc>
                      </a:pPr>
                      <a:r>
                        <a:rPr lang="en-US" sz="1400" dirty="0">
                          <a:solidFill>
                            <a:schemeClr val="bg1"/>
                          </a:solidFill>
                          <a:latin typeface="Calibri" panose="020F0502020204030204" pitchFamily="34" charset="0"/>
                          <a:cs typeface="Calibri" panose="020F0502020204030204" pitchFamily="34" charset="0"/>
                        </a:rPr>
                        <a:t>Cross-Attention</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2841"/>
                    </a:solidFill>
                  </a:tcPr>
                </a:tc>
                <a:tc>
                  <a:txBody>
                    <a:bodyPr/>
                    <a:lstStyle/>
                    <a:p>
                      <a:pPr marL="285750" lvl="0" indent="-285750" algn="just">
                        <a:buFont typeface="Arial" panose="020B0604020202020204" pitchFamily="34" charset="0"/>
                        <a:buChar char="•"/>
                      </a:pPr>
                      <a:r>
                        <a:rPr lang="en-US" sz="1400" b="0" dirty="0">
                          <a:solidFill>
                            <a:schemeClr val="tx1">
                              <a:lumMod val="95000"/>
                              <a:lumOff val="5000"/>
                            </a:schemeClr>
                          </a:solidFill>
                          <a:latin typeface="Calibri" panose="020F0502020204030204" pitchFamily="34" charset="0"/>
                          <a:cs typeface="Calibri" panose="020F0502020204030204" pitchFamily="34" charset="0"/>
                        </a:rPr>
                        <a:t>Q comes from one input, while K and V come from another input. </a:t>
                      </a:r>
                    </a:p>
                    <a:p>
                      <a:pPr marL="342900" lvl="0" indent="-342900" algn="just">
                        <a:buFont typeface="Arial" panose="020B0604020202020204" pitchFamily="34" charset="0"/>
                        <a:buChar char="•"/>
                      </a:pPr>
                      <a:r>
                        <a:rPr lang="en-US" sz="1200" b="1" i="1" dirty="0">
                          <a:latin typeface="Calibri" panose="020F0502020204030204" pitchFamily="34" charset="0"/>
                          <a:cs typeface="Calibri" panose="020F0502020204030204" pitchFamily="34" charset="0"/>
                        </a:rPr>
                        <a:t>Example: </a:t>
                      </a:r>
                      <a:r>
                        <a:rPr lang="en-US" sz="1200" dirty="0">
                          <a:latin typeface="Calibri" panose="020F0502020204030204" pitchFamily="34" charset="0"/>
                          <a:cs typeface="Calibri" panose="020F0502020204030204" pitchFamily="34" charset="0"/>
                        </a:rPr>
                        <a:t>Text + Image</a:t>
                      </a:r>
                    </a:p>
                    <a:p>
                      <a:pPr marL="342900" lvl="0" indent="-342900" algn="just">
                        <a:buFont typeface="Arial" panose="020B0604020202020204" pitchFamily="34" charset="0"/>
                        <a:buChar char="•"/>
                      </a:pPr>
                      <a:r>
                        <a:rPr lang="en-US" sz="1200" dirty="0">
                          <a:latin typeface="Calibri" panose="020F0502020204030204" pitchFamily="34" charset="0"/>
                          <a:cs typeface="Calibri" panose="020F0502020204030204" pitchFamily="34" charset="0"/>
                        </a:rPr>
                        <a:t>The text provides the Query, while the image provides the Keys and Values.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541840536"/>
                  </a:ext>
                </a:extLst>
              </a:tr>
            </a:tbl>
          </a:graphicData>
        </a:graphic>
      </p:graphicFrame>
      <p:pic>
        <p:nvPicPr>
          <p:cNvPr id="4" name="Picture 3">
            <a:extLst>
              <a:ext uri="{FF2B5EF4-FFF2-40B4-BE49-F238E27FC236}">
                <a16:creationId xmlns:a16="http://schemas.microsoft.com/office/drawing/2014/main" id="{ED943DD1-57AB-CEFA-7D25-493BF5AF34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1291835"/>
            <a:ext cx="5307281" cy="4799733"/>
          </a:xfrm>
          <a:prstGeom prst="rect">
            <a:avLst/>
          </a:prstGeom>
        </p:spPr>
      </p:pic>
    </p:spTree>
    <p:extLst>
      <p:ext uri="{BB962C8B-B14F-4D97-AF65-F5344CB8AC3E}">
        <p14:creationId xmlns:p14="http://schemas.microsoft.com/office/powerpoint/2010/main" val="22178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D5691-1C45-E394-78C4-D5CF20A0A6D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714D064-E35C-DE01-B99B-DD8B6EF54930}"/>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Cross-Attention (cont…)</a:t>
            </a:r>
          </a:p>
        </p:txBody>
      </p:sp>
      <p:sp>
        <p:nvSpPr>
          <p:cNvPr id="9" name="Rectangle 4">
            <a:extLst>
              <a:ext uri="{FF2B5EF4-FFF2-40B4-BE49-F238E27FC236}">
                <a16:creationId xmlns:a16="http://schemas.microsoft.com/office/drawing/2014/main" id="{7FAA3AC9-DAFA-6221-8FE8-EC4FBA324FA9}"/>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432C4334-59A3-C56A-A436-C78DB22A0CE5}"/>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28</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EBF36F2-9E35-4DC9-4DAD-1C92AD48BD7B}"/>
              </a:ext>
            </a:extLst>
          </p:cNvPr>
          <p:cNvSpPr txBox="1"/>
          <p:nvPr/>
        </p:nvSpPr>
        <p:spPr>
          <a:xfrm>
            <a:off x="457200" y="1259175"/>
            <a:ext cx="6172200" cy="4339650"/>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Connecting Different Modalities</a:t>
            </a:r>
          </a:p>
          <a:p>
            <a:pPr lvl="0" algn="just"/>
            <a:endParaRPr lang="en-US"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Bridges inputs like text, images, and audio (converted into embeddings).</a:t>
            </a:r>
          </a:p>
          <a:p>
            <a:pPr marL="285750" lvl="0" indent="-285750" algn="just">
              <a:buFont typeface="Arial" panose="020B0604020202020204" pitchFamily="34" charset="0"/>
              <a:buChar char="•"/>
            </a:pPr>
            <a:endParaRPr lang="en-US" b="1"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b="1" dirty="0">
                <a:latin typeface="Calibri" panose="020F0502020204030204" pitchFamily="34" charset="0"/>
                <a:cs typeface="Calibri" panose="020F0502020204030204" pitchFamily="34" charset="0"/>
              </a:rPr>
              <a:t>How It Works:</a:t>
            </a:r>
            <a:endParaRPr lang="en-US" dirty="0">
              <a:latin typeface="Calibri" panose="020F0502020204030204" pitchFamily="34" charset="0"/>
              <a:cs typeface="Calibri" panose="020F0502020204030204" pitchFamily="34" charset="0"/>
            </a:endParaRPr>
          </a:p>
          <a:p>
            <a:pPr marL="742950" lvl="1" indent="-285750" algn="just">
              <a:buFont typeface="Arial" panose="020B0604020202020204" pitchFamily="34" charset="0"/>
              <a:buChar char="•"/>
            </a:pPr>
            <a:r>
              <a:rPr lang="en-US" b="1" dirty="0">
                <a:latin typeface="Calibri" panose="020F0502020204030204" pitchFamily="34" charset="0"/>
                <a:cs typeface="Calibri" panose="020F0502020204030204" pitchFamily="34" charset="0"/>
              </a:rPr>
              <a:t>Query:</a:t>
            </a:r>
            <a:r>
              <a:rPr lang="en-US" dirty="0">
                <a:latin typeface="Calibri" panose="020F0502020204030204" pitchFamily="34" charset="0"/>
                <a:cs typeface="Calibri" panose="020F0502020204030204" pitchFamily="34" charset="0"/>
              </a:rPr>
              <a:t> What one input is looking for.</a:t>
            </a:r>
          </a:p>
          <a:p>
            <a:pPr marL="742950" lvl="1" indent="-285750" algn="just">
              <a:buFont typeface="Arial" panose="020B0604020202020204" pitchFamily="34" charset="0"/>
              <a:buChar char="•"/>
            </a:pPr>
            <a:r>
              <a:rPr lang="en-US" b="1" dirty="0">
                <a:latin typeface="Calibri" panose="020F0502020204030204" pitchFamily="34" charset="0"/>
                <a:cs typeface="Calibri" panose="020F0502020204030204" pitchFamily="34" charset="0"/>
              </a:rPr>
              <a:t>Key &amp; Value:</a:t>
            </a:r>
            <a:r>
              <a:rPr lang="en-US" dirty="0">
                <a:latin typeface="Calibri" panose="020F0502020204030204" pitchFamily="34" charset="0"/>
                <a:cs typeface="Calibri" panose="020F0502020204030204" pitchFamily="34" charset="0"/>
              </a:rPr>
              <a:t> Relevant information provided by the other input.</a:t>
            </a:r>
          </a:p>
          <a:p>
            <a:pPr marL="742950" lvl="1" indent="-285750"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b="1" dirty="0">
                <a:latin typeface="Calibri" panose="020F0502020204030204" pitchFamily="34" charset="0"/>
                <a:cs typeface="Calibri" panose="020F0502020204030204" pitchFamily="34" charset="0"/>
              </a:rPr>
              <a:t>Example:</a:t>
            </a:r>
            <a:r>
              <a:rPr lang="en-US" dirty="0">
                <a:latin typeface="Calibri" panose="020F0502020204030204" pitchFamily="34" charset="0"/>
                <a:cs typeface="Calibri" panose="020F0502020204030204" pitchFamily="34" charset="0"/>
              </a:rPr>
              <a:t> The text question </a:t>
            </a:r>
            <a:r>
              <a:rPr lang="en-US" i="1" dirty="0">
                <a:latin typeface="Calibri" panose="020F0502020204030204" pitchFamily="34" charset="0"/>
                <a:cs typeface="Calibri" panose="020F0502020204030204" pitchFamily="34" charset="0"/>
              </a:rPr>
              <a:t>"What is the person doing?"</a:t>
            </a:r>
            <a:r>
              <a:rPr lang="en-US" dirty="0">
                <a:latin typeface="Calibri" panose="020F0502020204030204" pitchFamily="34" charset="0"/>
                <a:cs typeface="Calibri" panose="020F0502020204030204" pitchFamily="34" charset="0"/>
              </a:rPr>
              <a:t> targets image regions showing someone running.</a:t>
            </a:r>
          </a:p>
          <a:p>
            <a:pPr marL="285750" lvl="0" indent="-285750" algn="just">
              <a:buFont typeface="Arial" panose="020B0604020202020204" pitchFamily="34" charset="0"/>
              <a:buChar char="•"/>
            </a:pPr>
            <a:r>
              <a:rPr lang="en-US" b="1" dirty="0">
                <a:latin typeface="Calibri" panose="020F0502020204030204" pitchFamily="34" charset="0"/>
                <a:cs typeface="Calibri" panose="020F0502020204030204" pitchFamily="34" charset="0"/>
              </a:rPr>
              <a:t>Use Cases:</a:t>
            </a:r>
            <a:r>
              <a:rPr lang="en-US" dirty="0">
                <a:latin typeface="Calibri" panose="020F0502020204030204" pitchFamily="34" charset="0"/>
                <a:cs typeface="Calibri" panose="020F0502020204030204" pitchFamily="34" charset="0"/>
              </a:rPr>
              <a:t> Image captioning, visual question answering, and audio-text AI tasks.</a:t>
            </a:r>
          </a:p>
          <a:p>
            <a:pPr lvl="0" algn="just"/>
            <a:endParaRPr lang="en-US" dirty="0">
              <a:latin typeface="Calibri" panose="020F0502020204030204" pitchFamily="34" charset="0"/>
              <a:cs typeface="Calibri" panose="020F0502020204030204" pitchFamily="34" charset="0"/>
            </a:endParaRPr>
          </a:p>
        </p:txBody>
      </p:sp>
      <p:graphicFrame>
        <p:nvGraphicFramePr>
          <p:cNvPr id="3" name="Diagram 2">
            <a:extLst>
              <a:ext uri="{FF2B5EF4-FFF2-40B4-BE49-F238E27FC236}">
                <a16:creationId xmlns:a16="http://schemas.microsoft.com/office/drawing/2014/main" id="{75E4E8B4-AD2D-B1E2-33F2-0B172BBD08B4}"/>
              </a:ext>
            </a:extLst>
          </p:cNvPr>
          <p:cNvGraphicFramePr/>
          <p:nvPr>
            <p:extLst>
              <p:ext uri="{D42A27DB-BD31-4B8C-83A1-F6EECF244321}">
                <p14:modId xmlns:p14="http://schemas.microsoft.com/office/powerpoint/2010/main" val="1370888845"/>
              </p:ext>
            </p:extLst>
          </p:nvPr>
        </p:nvGraphicFramePr>
        <p:xfrm>
          <a:off x="7261325" y="1641143"/>
          <a:ext cx="4168675" cy="3575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829F7F96-C40D-78CF-4971-10943A22E796}"/>
              </a:ext>
            </a:extLst>
          </p:cNvPr>
          <p:cNvSpPr txBox="1"/>
          <p:nvPr/>
        </p:nvSpPr>
        <p:spPr>
          <a:xfrm>
            <a:off x="6999385" y="5305083"/>
            <a:ext cx="5040215" cy="523220"/>
          </a:xfrm>
          <a:prstGeom prst="rect">
            <a:avLst/>
          </a:prstGeom>
          <a:noFill/>
        </p:spPr>
        <p:txBody>
          <a:bodyPr wrap="square">
            <a:spAutoFit/>
          </a:bodyPr>
          <a:lstStyle/>
          <a:p>
            <a:pPr marL="0" marR="0" rtl="0">
              <a:buNone/>
            </a:pPr>
            <a:r>
              <a:rPr lang="en-US" sz="1400" b="1" dirty="0">
                <a:solidFill>
                  <a:schemeClr val="tx1"/>
                </a:solidFill>
                <a:effectLst/>
                <a:latin typeface="Calibri" panose="020F0502020204030204" pitchFamily="34" charset="0"/>
                <a:cs typeface="Calibri" panose="020F0502020204030204" pitchFamily="34" charset="0"/>
              </a:rPr>
              <a:t>Figure:</a:t>
            </a:r>
            <a:r>
              <a:rPr lang="en-US" sz="1400" dirty="0">
                <a:solidFill>
                  <a:schemeClr val="tx1"/>
                </a:solidFill>
                <a:effectLst/>
                <a:latin typeface="Calibri" panose="020F0502020204030204" pitchFamily="34" charset="0"/>
                <a:cs typeface="Calibri" panose="020F0502020204030204" pitchFamily="34" charset="0"/>
              </a:rPr>
              <a:t> How a single Transformer processes text, images, audio, and video by capturing connections within each data type</a:t>
            </a:r>
            <a:r>
              <a:rPr lang="en-US" sz="1400" dirty="0">
                <a:latin typeface="Calibri" panose="020F0502020204030204" pitchFamily="34" charset="0"/>
                <a:cs typeface="Calibri" panose="020F0502020204030204" pitchFamily="34" charset="0"/>
              </a:rPr>
              <a:t>?</a:t>
            </a:r>
            <a:endParaRPr lang="en-US" sz="1400" dirty="0">
              <a:solidFill>
                <a:srgbClr val="1F1F1F"/>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9298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9A19-D6C6-2269-6FE8-6A3D013AF75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490C934-B9FA-DB5D-F033-DBD831F017AE}"/>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Cross-Attention (cont…)</a:t>
            </a:r>
          </a:p>
        </p:txBody>
      </p:sp>
      <p:sp>
        <p:nvSpPr>
          <p:cNvPr id="9" name="Rectangle 4">
            <a:extLst>
              <a:ext uri="{FF2B5EF4-FFF2-40B4-BE49-F238E27FC236}">
                <a16:creationId xmlns:a16="http://schemas.microsoft.com/office/drawing/2014/main" id="{691BACF8-E5C5-2976-FC1A-C59719AE301E}"/>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9E417590-F177-C18C-D648-CCF73ACC8AAF}"/>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29</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5C6DF379-5882-2AD5-C882-823F1D41FE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29122" y="1370703"/>
            <a:ext cx="7393630" cy="4929087"/>
          </a:xfrm>
          <a:prstGeom prst="rect">
            <a:avLst/>
          </a:prstGeom>
          <a:noFill/>
          <a:ln>
            <a:noFill/>
          </a:ln>
          <a:effectLst>
            <a:outerShdw blurRad="225425" dist="50800" dir="5220000" algn="ctr">
              <a:srgbClr val="000000">
                <a:alpha val="33000"/>
              </a:srgbClr>
            </a:outerShdw>
          </a:effectLst>
        </p:spPr>
      </p:pic>
      <p:sp>
        <p:nvSpPr>
          <p:cNvPr id="4" name="TextBox 3">
            <a:extLst>
              <a:ext uri="{FF2B5EF4-FFF2-40B4-BE49-F238E27FC236}">
                <a16:creationId xmlns:a16="http://schemas.microsoft.com/office/drawing/2014/main" id="{783A68F3-9EFD-C970-C674-E8252945F2F3}"/>
              </a:ext>
            </a:extLst>
          </p:cNvPr>
          <p:cNvSpPr txBox="1"/>
          <p:nvPr/>
        </p:nvSpPr>
        <p:spPr>
          <a:xfrm>
            <a:off x="0" y="829017"/>
            <a:ext cx="8747078" cy="584775"/>
          </a:xfrm>
          <a:prstGeom prst="rect">
            <a:avLst/>
          </a:prstGeom>
          <a:noFill/>
        </p:spPr>
        <p:txBody>
          <a:bodyPr wrap="square">
            <a:spAutoFit/>
          </a:bodyPr>
          <a:lstStyle/>
          <a:p>
            <a:pPr marL="457200" indent="-457200">
              <a:buFont typeface="Wingdings" panose="05000000000000000000" pitchFamily="2" charset="2"/>
              <a:buChar char="q"/>
            </a:pPr>
            <a:r>
              <a:rPr lang="en-US" sz="3200" b="1" i="0" dirty="0">
                <a:solidFill>
                  <a:schemeClr val="tx1"/>
                </a:solidFill>
                <a:latin typeface="Calibri" panose="020F0502020204030204" pitchFamily="34" charset="0"/>
                <a:cs typeface="Calibri" panose="020F0502020204030204" pitchFamily="34" charset="0"/>
              </a:rPr>
              <a:t>Unified Architecture For Multimodal Data</a:t>
            </a:r>
            <a:endParaRPr lang="en-US"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0C22439-2DDD-51F0-5886-BD04F66E9685}"/>
              </a:ext>
            </a:extLst>
          </p:cNvPr>
          <p:cNvSpPr txBox="1"/>
          <p:nvPr/>
        </p:nvSpPr>
        <p:spPr>
          <a:xfrm>
            <a:off x="76200" y="1720079"/>
            <a:ext cx="3504063" cy="2308324"/>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This diagram shows how </a:t>
            </a:r>
            <a:r>
              <a:rPr lang="en-US" b="1" dirty="0">
                <a:latin typeface="Calibri" panose="020F0502020204030204" pitchFamily="34" charset="0"/>
                <a:cs typeface="Calibri" panose="020F0502020204030204" pitchFamily="34" charset="0"/>
              </a:rPr>
              <a:t>one AI architecture (the Transformer)</a:t>
            </a:r>
            <a:r>
              <a:rPr lang="en-US" dirty="0">
                <a:latin typeface="Calibri" panose="020F0502020204030204" pitchFamily="34" charset="0"/>
                <a:cs typeface="Calibri" panose="020F0502020204030204" pitchFamily="34" charset="0"/>
              </a:rPr>
              <a:t> can understand text, images, audio, and video all at once.</a:t>
            </a:r>
          </a:p>
          <a:p>
            <a:pPr marL="285750" indent="-285750"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It works by breaking them into small pieces and connecting them together.</a:t>
            </a:r>
          </a:p>
        </p:txBody>
      </p:sp>
      <p:sp>
        <p:nvSpPr>
          <p:cNvPr id="10" name="TextBox 9">
            <a:extLst>
              <a:ext uri="{FF2B5EF4-FFF2-40B4-BE49-F238E27FC236}">
                <a16:creationId xmlns:a16="http://schemas.microsoft.com/office/drawing/2014/main" id="{FC6049EF-7D06-416E-8AC2-3FDE78AD1C85}"/>
              </a:ext>
            </a:extLst>
          </p:cNvPr>
          <p:cNvSpPr txBox="1"/>
          <p:nvPr/>
        </p:nvSpPr>
        <p:spPr>
          <a:xfrm>
            <a:off x="2971800" y="6245423"/>
            <a:ext cx="9448800" cy="307777"/>
          </a:xfrm>
          <a:prstGeom prst="rect">
            <a:avLst/>
          </a:prstGeom>
          <a:noFill/>
        </p:spPr>
        <p:txBody>
          <a:bodyPr wrap="square">
            <a:spAutoFit/>
          </a:bodyPr>
          <a:lstStyle/>
          <a:p>
            <a:pPr marL="0" marR="0" rtl="0">
              <a:buNone/>
            </a:pPr>
            <a:r>
              <a:rPr lang="en-US" sz="1400" b="1" dirty="0">
                <a:solidFill>
                  <a:schemeClr val="tx1"/>
                </a:solidFill>
                <a:effectLst/>
                <a:latin typeface="Calibri" panose="020F0502020204030204" pitchFamily="34" charset="0"/>
                <a:cs typeface="Calibri" panose="020F0502020204030204" pitchFamily="34" charset="0"/>
              </a:rPr>
              <a:t>Figure 1:</a:t>
            </a:r>
            <a:r>
              <a:rPr lang="en-US" sz="1400" dirty="0">
                <a:solidFill>
                  <a:schemeClr val="tx1"/>
                </a:solidFill>
                <a:effectLst/>
                <a:latin typeface="Calibri" panose="020F0502020204030204" pitchFamily="34" charset="0"/>
                <a:cs typeface="Calibri" panose="020F0502020204030204" pitchFamily="34" charset="0"/>
              </a:rPr>
              <a:t> How a single Transformer processes text, images, audio, and video by capturing connections within each data type</a:t>
            </a:r>
            <a:r>
              <a:rPr lang="en-US" sz="1400" dirty="0">
                <a:latin typeface="Calibri" panose="020F0502020204030204" pitchFamily="34" charset="0"/>
                <a:cs typeface="Calibri" panose="020F0502020204030204" pitchFamily="34" charset="0"/>
              </a:rPr>
              <a:t>?</a:t>
            </a:r>
            <a:endParaRPr lang="en-US" sz="1400" dirty="0">
              <a:solidFill>
                <a:srgbClr val="1F1F1F"/>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8389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33DBD-A56E-33AA-D74A-099C3F065082}"/>
            </a:ext>
          </a:extLst>
        </p:cNvPr>
        <p:cNvGrpSpPr/>
        <p:nvPr/>
      </p:nvGrpSpPr>
      <p:grpSpPr>
        <a:xfrm>
          <a:off x="0" y="0"/>
          <a:ext cx="0" cy="0"/>
          <a:chOff x="0" y="0"/>
          <a:chExt cx="0" cy="0"/>
        </a:xfrm>
      </p:grpSpPr>
      <p:grpSp>
        <p:nvGrpSpPr>
          <p:cNvPr id="3" name="object 2">
            <a:extLst>
              <a:ext uri="{FF2B5EF4-FFF2-40B4-BE49-F238E27FC236}">
                <a16:creationId xmlns:a16="http://schemas.microsoft.com/office/drawing/2014/main" id="{F689CECD-E582-305B-D88A-2D2E16FC62B2}"/>
              </a:ext>
            </a:extLst>
          </p:cNvPr>
          <p:cNvGrpSpPr/>
          <p:nvPr/>
        </p:nvGrpSpPr>
        <p:grpSpPr>
          <a:xfrm>
            <a:off x="1137" y="0"/>
            <a:ext cx="12192000" cy="6858000"/>
            <a:chOff x="0" y="0"/>
            <a:chExt cx="12192000" cy="6858000"/>
          </a:xfrm>
        </p:grpSpPr>
        <p:sp>
          <p:nvSpPr>
            <p:cNvPr id="4" name="object 3">
              <a:extLst>
                <a:ext uri="{FF2B5EF4-FFF2-40B4-BE49-F238E27FC236}">
                  <a16:creationId xmlns:a16="http://schemas.microsoft.com/office/drawing/2014/main" id="{35FB8C40-2470-AD06-077B-33D6FCC364FF}"/>
                </a:ext>
              </a:extLst>
            </p:cNvPr>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chemeClr val="tx1">
                <a:lumMod val="85000"/>
                <a:lumOff val="15000"/>
              </a:schemeClr>
            </a:solidFill>
          </p:spPr>
          <p:txBody>
            <a:bodyPr wrap="square" lIns="0" tIns="0" rIns="0" bIns="0" rtlCol="0"/>
            <a:lstStyle/>
            <a:p>
              <a:endParaRPr dirty="0">
                <a:latin typeface="Calibri" panose="020F0502020204030204" pitchFamily="34" charset="0"/>
                <a:cs typeface="Calibri" panose="020F0502020204030204" pitchFamily="34" charset="0"/>
              </a:endParaRPr>
            </a:p>
          </p:txBody>
        </p:sp>
        <p:sp>
          <p:nvSpPr>
            <p:cNvPr id="6" name="object 4">
              <a:extLst>
                <a:ext uri="{FF2B5EF4-FFF2-40B4-BE49-F238E27FC236}">
                  <a16:creationId xmlns:a16="http://schemas.microsoft.com/office/drawing/2014/main" id="{A64B6253-ADEB-85CC-9D97-F68812D2B2CC}"/>
                </a:ext>
              </a:extLst>
            </p:cNvPr>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endParaRPr>
                <a:latin typeface="Calibri" panose="020F0502020204030204" pitchFamily="34" charset="0"/>
                <a:cs typeface="Calibri" panose="020F0502020204030204" pitchFamily="34" charset="0"/>
              </a:endParaRPr>
            </a:p>
          </p:txBody>
        </p:sp>
      </p:grpSp>
      <p:sp>
        <p:nvSpPr>
          <p:cNvPr id="37" name="Slide Number Placeholder 36">
            <a:extLst>
              <a:ext uri="{FF2B5EF4-FFF2-40B4-BE49-F238E27FC236}">
                <a16:creationId xmlns:a16="http://schemas.microsoft.com/office/drawing/2014/main" id="{433FDF4D-410D-441F-7AFE-E6032737D147}"/>
              </a:ext>
            </a:extLst>
          </p:cNvPr>
          <p:cNvSpPr>
            <a:spLocks noGrp="1"/>
          </p:cNvSpPr>
          <p:nvPr>
            <p:ph type="sldNum" sz="quarter" idx="7"/>
          </p:nvPr>
        </p:nvSpPr>
        <p:spPr>
          <a:xfrm>
            <a:off x="11430000" y="6477000"/>
            <a:ext cx="510639"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30</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11" name="object 5" descr="$PPTXTitle">
            <a:extLst>
              <a:ext uri="{FF2B5EF4-FFF2-40B4-BE49-F238E27FC236}">
                <a16:creationId xmlns:a16="http://schemas.microsoft.com/office/drawing/2014/main" id="{C7178206-450E-DE18-C9F1-C85C29EC1B0F}"/>
              </a:ext>
            </a:extLst>
          </p:cNvPr>
          <p:cNvSpPr txBox="1">
            <a:spLocks noGrp="1"/>
          </p:cNvSpPr>
          <p:nvPr>
            <p:ph type="title"/>
          </p:nvPr>
        </p:nvSpPr>
        <p:spPr>
          <a:xfrm>
            <a:off x="1295400" y="2499258"/>
            <a:ext cx="9829800" cy="1859483"/>
          </a:xfrm>
          <a:prstGeom prst="rect">
            <a:avLst/>
          </a:prstGeom>
        </p:spPr>
        <p:txBody>
          <a:bodyPr vert="horz" wrap="square" lIns="0" tIns="12700" rIns="0" bIns="0" rtlCol="0">
            <a:spAutoFit/>
          </a:bodyPr>
          <a:lstStyle/>
          <a:p>
            <a:pPr marL="12700" marR="5080" indent="704215" algn="ctr">
              <a:lnSpc>
                <a:spcPct val="100000"/>
              </a:lnSpc>
              <a:spcBef>
                <a:spcPts val="100"/>
              </a:spcBef>
            </a:pPr>
            <a:r>
              <a:rPr lang="en-US" sz="6000" b="0" spc="195" dirty="0">
                <a:solidFill>
                  <a:srgbClr val="FFFFFF"/>
                </a:solidFill>
                <a:latin typeface="Calibri" panose="020F0502020204030204" pitchFamily="34" charset="0"/>
                <a:cs typeface="Calibri" panose="020F0502020204030204" pitchFamily="34" charset="0"/>
              </a:rPr>
              <a:t>From Attention to Transformers</a:t>
            </a:r>
            <a:endParaRPr sz="60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6854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42230-3A08-D19C-1A39-957379FB214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D5446A8-4D4D-D0F2-FA0A-6037B5FBC8B6}"/>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5. From Attention to Transformers</a:t>
            </a:r>
          </a:p>
        </p:txBody>
      </p:sp>
      <p:sp>
        <p:nvSpPr>
          <p:cNvPr id="9" name="Rectangle 4">
            <a:extLst>
              <a:ext uri="{FF2B5EF4-FFF2-40B4-BE49-F238E27FC236}">
                <a16:creationId xmlns:a16="http://schemas.microsoft.com/office/drawing/2014/main" id="{AC841B1F-11F3-6979-F60E-7B01BCCCC2F5}"/>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BEBFEE69-4450-DD86-47A0-2E1D2E666195}"/>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31</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65BB1FC-82ED-7535-C409-1B5ED0DD0193}"/>
              </a:ext>
            </a:extLst>
          </p:cNvPr>
          <p:cNvSpPr txBox="1"/>
          <p:nvPr/>
        </p:nvSpPr>
        <p:spPr>
          <a:xfrm>
            <a:off x="434686" y="1048393"/>
            <a:ext cx="5715000" cy="4462760"/>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Positional Encoding</a:t>
            </a:r>
          </a:p>
          <a:p>
            <a:pPr marL="342900" lvl="0" indent="-342900" algn="just">
              <a:buFont typeface="Arial" panose="020B0604020202020204" pitchFamily="34" charset="0"/>
              <a:buChar char="•"/>
            </a:pPr>
            <a:endParaRPr lang="en-US" sz="2000" i="1" dirty="0">
              <a:solidFill>
                <a:schemeClr val="tx2">
                  <a:lumMod val="90000"/>
                  <a:lumOff val="10000"/>
                </a:schemeClr>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1600" i="1" dirty="0">
                <a:latin typeface="Calibri" panose="020F0502020204030204" pitchFamily="34" charset="0"/>
                <a:cs typeface="Calibri" panose="020F0502020204030204" pitchFamily="34" charset="0"/>
                <a:hlinkClick r:id="rId3" tooltip="What Is Positional Encoding?"/>
              </a:rPr>
              <a:t>What Is Positional Encoding?</a:t>
            </a:r>
            <a:endParaRPr lang="en-US" sz="1600" i="1" dirty="0">
              <a:latin typeface="Calibri" panose="020F0502020204030204" pitchFamily="34" charset="0"/>
              <a:cs typeface="Calibri" panose="020F0502020204030204" pitchFamily="34" charset="0"/>
            </a:endParaRPr>
          </a:p>
          <a:p>
            <a:pPr lvl="0" algn="just"/>
            <a:endParaRPr lang="en-US" sz="16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Positional encoding describes the location or position of an entity in a sequence</a:t>
            </a:r>
          </a:p>
          <a:p>
            <a:pPr marL="342900" indent="-342900" algn="just">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Each position is assigned a unique representation.</a:t>
            </a:r>
          </a:p>
          <a:p>
            <a:pPr marL="342900" indent="-342900" algn="just">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This helps the </a:t>
            </a:r>
            <a:r>
              <a:rPr lang="en-US" sz="1600" b="1" i="1" dirty="0">
                <a:latin typeface="Calibri" panose="020F0502020204030204" pitchFamily="34" charset="0"/>
                <a:cs typeface="Calibri" panose="020F0502020204030204" pitchFamily="34" charset="0"/>
              </a:rPr>
              <a:t>Transformer model understand the order and location of elements in the input</a:t>
            </a:r>
            <a:r>
              <a:rPr lang="en-US" sz="1600" dirty="0">
                <a:latin typeface="Calibri" panose="020F0502020204030204" pitchFamily="34" charset="0"/>
                <a:cs typeface="Calibri" panose="020F0502020204030204" pitchFamily="34" charset="0"/>
              </a:rPr>
              <a:t>. </a:t>
            </a:r>
          </a:p>
          <a:p>
            <a:pPr marL="342900" lvl="0" indent="-342900" algn="just">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Position is important because the same elements can have different meanings when their positions change.</a:t>
            </a:r>
            <a:br>
              <a:rPr lang="en-US" sz="1600" dirty="0">
                <a:latin typeface="Calibri" panose="020F0502020204030204" pitchFamily="34" charset="0"/>
                <a:cs typeface="Calibri" panose="020F0502020204030204" pitchFamily="34" charset="0"/>
              </a:rPr>
            </a:br>
            <a:endParaRPr lang="en-US" sz="1600"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1600" i="1" dirty="0">
                <a:latin typeface="Calibri" panose="020F0502020204030204" pitchFamily="34" charset="0"/>
                <a:cs typeface="Calibri" panose="020F0502020204030204" pitchFamily="34" charset="0"/>
              </a:rPr>
              <a:t>e.g., </a:t>
            </a:r>
            <a:r>
              <a:rPr lang="en-US" sz="1600" dirty="0">
                <a:latin typeface="Calibri" panose="020F0502020204030204" pitchFamily="34" charset="0"/>
                <a:cs typeface="Calibri" panose="020F0502020204030204" pitchFamily="34" charset="0"/>
              </a:rPr>
              <a:t>“A car is in front of the tree.” and “A tree is in front of the car.”</a:t>
            </a:r>
            <a:endParaRPr lang="en-US" sz="1600" i="1" dirty="0">
              <a:latin typeface="Calibri" panose="020F0502020204030204" pitchFamily="34" charset="0"/>
              <a:cs typeface="Calibri" panose="020F0502020204030204" pitchFamily="34" charset="0"/>
            </a:endParaRPr>
          </a:p>
        </p:txBody>
      </p:sp>
      <p:sp>
        <p:nvSpPr>
          <p:cNvPr id="2" name="Callout: Line with Accent Bar 1">
            <a:extLst>
              <a:ext uri="{FF2B5EF4-FFF2-40B4-BE49-F238E27FC236}">
                <a16:creationId xmlns:a16="http://schemas.microsoft.com/office/drawing/2014/main" id="{9F458E5F-F70E-4D5F-1D63-FFAD96650EF0}"/>
              </a:ext>
            </a:extLst>
          </p:cNvPr>
          <p:cNvSpPr/>
          <p:nvPr/>
        </p:nvSpPr>
        <p:spPr>
          <a:xfrm>
            <a:off x="0" y="5725178"/>
            <a:ext cx="5902089" cy="627142"/>
          </a:xfrm>
          <a:prstGeom prst="accentCallout1">
            <a:avLst/>
          </a:prstGeom>
          <a:solidFill>
            <a:schemeClr val="bg2">
              <a:lumMod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US" sz="1400" i="1" dirty="0">
                <a:solidFill>
                  <a:schemeClr val="bg1"/>
                </a:solidFill>
                <a:latin typeface="Calibri" panose="020F0502020204030204" pitchFamily="34" charset="0"/>
                <a:cs typeface="Calibri" panose="020F0502020204030204" pitchFamily="34" charset="0"/>
              </a:rPr>
              <a:t>Attention tells the model what is related</a:t>
            </a:r>
          </a:p>
          <a:p>
            <a:pPr marL="285750" indent="-285750">
              <a:buFont typeface="Arial" panose="020B0604020202020204" pitchFamily="34" charset="0"/>
              <a:buChar char="•"/>
            </a:pPr>
            <a:r>
              <a:rPr lang="en-US" sz="1400" i="1" dirty="0">
                <a:solidFill>
                  <a:schemeClr val="bg1"/>
                </a:solidFill>
                <a:latin typeface="Calibri" panose="020F0502020204030204" pitchFamily="34" charset="0"/>
                <a:cs typeface="Calibri" panose="020F0502020204030204" pitchFamily="34" charset="0"/>
              </a:rPr>
              <a:t>Positional Encoding tells it where each element is and helps distinguish meaning based on position.</a:t>
            </a:r>
          </a:p>
        </p:txBody>
      </p:sp>
      <p:pic>
        <p:nvPicPr>
          <p:cNvPr id="6" name="Picture 5">
            <a:extLst>
              <a:ext uri="{FF2B5EF4-FFF2-40B4-BE49-F238E27FC236}">
                <a16:creationId xmlns:a16="http://schemas.microsoft.com/office/drawing/2014/main" id="{BF35B646-A9B1-DCA3-6209-B6A2FD27F71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96115" y="987646"/>
            <a:ext cx="4537281" cy="2070066"/>
          </a:xfrm>
          <a:prstGeom prst="rect">
            <a:avLst/>
          </a:prstGeom>
          <a:ln>
            <a:solidFill>
              <a:schemeClr val="bg1">
                <a:lumMod val="95000"/>
              </a:schemeClr>
            </a:solidFill>
          </a:ln>
        </p:spPr>
      </p:pic>
      <p:pic>
        <p:nvPicPr>
          <p:cNvPr id="8" name="Picture 7">
            <a:extLst>
              <a:ext uri="{FF2B5EF4-FFF2-40B4-BE49-F238E27FC236}">
                <a16:creationId xmlns:a16="http://schemas.microsoft.com/office/drawing/2014/main" id="{742A5281-B1B4-D085-8799-E832C0B0D4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9912" y="3172052"/>
            <a:ext cx="5749688" cy="3402648"/>
          </a:xfrm>
          <a:prstGeom prst="rect">
            <a:avLst/>
          </a:prstGeom>
          <a:ln>
            <a:solidFill>
              <a:schemeClr val="bg1">
                <a:lumMod val="95000"/>
              </a:schemeClr>
            </a:solidFill>
          </a:ln>
        </p:spPr>
      </p:pic>
    </p:spTree>
    <p:extLst>
      <p:ext uri="{BB962C8B-B14F-4D97-AF65-F5344CB8AC3E}">
        <p14:creationId xmlns:p14="http://schemas.microsoft.com/office/powerpoint/2010/main" val="6299889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D7504-251E-761C-A894-A3A56F7F203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59FDA34-0960-385F-C813-1C4CF6E0ADAA}"/>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From Attention to Transformers (cont…)</a:t>
            </a:r>
          </a:p>
        </p:txBody>
      </p:sp>
      <p:sp>
        <p:nvSpPr>
          <p:cNvPr id="9" name="Rectangle 4">
            <a:extLst>
              <a:ext uri="{FF2B5EF4-FFF2-40B4-BE49-F238E27FC236}">
                <a16:creationId xmlns:a16="http://schemas.microsoft.com/office/drawing/2014/main" id="{3ABF157B-4D65-D902-EE5C-E033951CDBA2}"/>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12C2142C-6041-3776-98FB-5E4982DFCD2C}"/>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32</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3CE6793-5814-2201-056C-AE47AAD8FDA3}"/>
              </a:ext>
            </a:extLst>
          </p:cNvPr>
          <p:cNvSpPr txBox="1"/>
          <p:nvPr/>
        </p:nvSpPr>
        <p:spPr>
          <a:xfrm>
            <a:off x="990600" y="1253605"/>
            <a:ext cx="6172200" cy="3046988"/>
          </a:xfrm>
          <a:prstGeom prst="rect">
            <a:avLst/>
          </a:prstGeom>
          <a:noFill/>
        </p:spPr>
        <p:txBody>
          <a:bodyPr wrap="square">
            <a:spAutoFit/>
          </a:bodyPr>
          <a:lstStyle/>
          <a:p>
            <a:r>
              <a:rPr lang="en-US" sz="2000" b="1" i="1" dirty="0">
                <a:solidFill>
                  <a:srgbClr val="1F3864"/>
                </a:solidFill>
                <a:latin typeface="Calibri" panose="020F0502020204030204" pitchFamily="34" charset="0"/>
                <a:ea typeface="Calibri" pitchFamily="34" charset="-122"/>
                <a:cs typeface="Calibri" panose="020F0502020204030204" pitchFamily="34" charset="0"/>
                <a:hlinkClick r:id="rId2" tooltip="Attention Is All You Need (4. Why Self-Attention)"/>
              </a:rPr>
              <a:t>Why Transformers Use Attention as a Core Mechanism ?</a:t>
            </a:r>
            <a:endParaRPr lang="en-US" sz="2000" b="1" i="1" dirty="0">
              <a:solidFill>
                <a:srgbClr val="1F3864"/>
              </a:solidFill>
              <a:latin typeface="Calibri" panose="020F0502020204030204" pitchFamily="34" charset="0"/>
              <a:ea typeface="Calibri" pitchFamily="34" charset="-122"/>
              <a:cs typeface="Calibri" panose="020F0502020204030204" pitchFamily="34" charset="0"/>
            </a:endParaRPr>
          </a:p>
          <a:p>
            <a:pPr marL="285750" lvl="0" indent="-285750" algn="just">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As we know Older models, such as </a:t>
            </a:r>
            <a:r>
              <a:rPr lang="en-US" i="1" dirty="0">
                <a:latin typeface="Calibri" panose="020F0502020204030204" pitchFamily="34" charset="0"/>
                <a:cs typeface="Calibri" panose="020F0502020204030204" pitchFamily="34" charset="0"/>
                <a:hlinkClick r:id="rId3" tooltip="Recurrent Neural Networks (RNNs)"/>
              </a:rPr>
              <a:t>RNNs</a:t>
            </a:r>
            <a:r>
              <a:rPr lang="en-US" dirty="0">
                <a:latin typeface="Calibri" panose="020F0502020204030204" pitchFamily="34" charset="0"/>
                <a:cs typeface="Calibri" panose="020F0502020204030204" pitchFamily="34" charset="0"/>
              </a:rPr>
              <a:t>, process information one step at a time, making them slower to train. </a:t>
            </a:r>
          </a:p>
          <a:p>
            <a:pPr marL="285750" lvl="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In long sequences, information from earlier parts can become harder to use.</a:t>
            </a:r>
          </a:p>
          <a:p>
            <a:pPr marL="285750" lvl="0" indent="-285750" algn="just">
              <a:buFont typeface="Arial" panose="020B0604020202020204" pitchFamily="34" charset="0"/>
              <a:buChar char="•"/>
            </a:pPr>
            <a:endParaRPr lang="en-US" sz="1600" i="1" dirty="0">
              <a:latin typeface="Calibri" panose="020F0502020204030204" pitchFamily="34" charset="0"/>
              <a:cs typeface="Calibri" panose="020F0502020204030204" pitchFamily="34" charset="0"/>
            </a:endParaRPr>
          </a:p>
          <a:p>
            <a:pPr marL="285750" lvl="0" indent="-285750" algn="just">
              <a:buFont typeface="Arial" panose="020B0604020202020204" pitchFamily="34" charset="0"/>
              <a:buChar char="•"/>
            </a:pPr>
            <a:r>
              <a:rPr lang="en-US" dirty="0">
                <a:latin typeface="Calibri" panose="020F0502020204030204" pitchFamily="34" charset="0"/>
                <a:cs typeface="Calibri" panose="020F0502020204030204" pitchFamily="34" charset="0"/>
              </a:rPr>
              <a:t>Attention connects relevant elements and processes them in parallel.</a:t>
            </a:r>
          </a:p>
          <a:p>
            <a:pPr marL="285750" lvl="0" indent="-28575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This makes Transformers faster and more efficient.</a:t>
            </a:r>
          </a:p>
          <a:p>
            <a:pPr marL="285750" lvl="0" indent="-285750" algn="just">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120F5654-9F85-5FBC-EBF6-1847DFA32B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808" y="4443457"/>
            <a:ext cx="6705600" cy="1566921"/>
          </a:xfrm>
          <a:prstGeom prst="rect">
            <a:avLst/>
          </a:prstGeom>
        </p:spPr>
      </p:pic>
      <p:pic>
        <p:nvPicPr>
          <p:cNvPr id="8" name="Picture 7">
            <a:extLst>
              <a:ext uri="{FF2B5EF4-FFF2-40B4-BE49-F238E27FC236}">
                <a16:creationId xmlns:a16="http://schemas.microsoft.com/office/drawing/2014/main" id="{3985F49B-7BD4-0777-D085-33B06091A5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31389" y="1224035"/>
            <a:ext cx="3903411" cy="3215929"/>
          </a:xfrm>
          <a:prstGeom prst="rect">
            <a:avLst/>
          </a:prstGeom>
        </p:spPr>
      </p:pic>
      <p:sp>
        <p:nvSpPr>
          <p:cNvPr id="2" name="TextBox 1">
            <a:extLst>
              <a:ext uri="{FF2B5EF4-FFF2-40B4-BE49-F238E27FC236}">
                <a16:creationId xmlns:a16="http://schemas.microsoft.com/office/drawing/2014/main" id="{6ADF9045-DCA4-594F-21F0-6A7A7C2D6D4D}"/>
              </a:ext>
            </a:extLst>
          </p:cNvPr>
          <p:cNvSpPr txBox="1"/>
          <p:nvPr/>
        </p:nvSpPr>
        <p:spPr>
          <a:xfrm>
            <a:off x="3048000" y="6072297"/>
            <a:ext cx="2425216"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From RNNs to Attention</a:t>
            </a:r>
          </a:p>
        </p:txBody>
      </p:sp>
      <p:sp>
        <p:nvSpPr>
          <p:cNvPr id="3" name="TextBox 2">
            <a:extLst>
              <a:ext uri="{FF2B5EF4-FFF2-40B4-BE49-F238E27FC236}">
                <a16:creationId xmlns:a16="http://schemas.microsoft.com/office/drawing/2014/main" id="{C04F81FF-13C0-4AB4-5562-9C1D704C6836}"/>
              </a:ext>
            </a:extLst>
          </p:cNvPr>
          <p:cNvSpPr txBox="1"/>
          <p:nvPr/>
        </p:nvSpPr>
        <p:spPr>
          <a:xfrm>
            <a:off x="9144000" y="4467764"/>
            <a:ext cx="1612173"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Example Figure</a:t>
            </a:r>
          </a:p>
        </p:txBody>
      </p:sp>
    </p:spTree>
    <p:extLst>
      <p:ext uri="{BB962C8B-B14F-4D97-AF65-F5344CB8AC3E}">
        <p14:creationId xmlns:p14="http://schemas.microsoft.com/office/powerpoint/2010/main" val="40764967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43E6-DAFE-8AA5-5870-59F8BD73400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BCB539E-474C-ADE9-B462-BE955AB838EF}"/>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From Attention to Transformers (cont…)</a:t>
            </a:r>
          </a:p>
        </p:txBody>
      </p:sp>
      <p:sp>
        <p:nvSpPr>
          <p:cNvPr id="9" name="Rectangle 4">
            <a:extLst>
              <a:ext uri="{FF2B5EF4-FFF2-40B4-BE49-F238E27FC236}">
                <a16:creationId xmlns:a16="http://schemas.microsoft.com/office/drawing/2014/main" id="{3C3360DF-F65B-4C4A-0085-C051AE319B51}"/>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3E9AAB3F-0F54-BBD5-875E-D98B7BBA3715}"/>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33</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75A8F9F-D13A-AAB7-C4CA-46F1B33ECCB8}"/>
              </a:ext>
            </a:extLst>
          </p:cNvPr>
          <p:cNvSpPr txBox="1"/>
          <p:nvPr/>
        </p:nvSpPr>
        <p:spPr>
          <a:xfrm>
            <a:off x="533400" y="1213429"/>
            <a:ext cx="4191000" cy="4339650"/>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Scaled Dot-Product Attention</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Measures how relevant inputs are to each other using Q, K, and V. </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Scaling and softmax help assign appropriate attention weights. </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This allows the model to focus on the most relevant information. </a:t>
            </a:r>
            <a:endParaRPr lang="en-US" sz="2000" b="1" dirty="0">
              <a:latin typeface="Calibri" panose="020F0502020204030204" pitchFamily="34" charset="0"/>
              <a:cs typeface="Calibri" panose="020F0502020204030204" pitchFamily="34" charset="0"/>
            </a:endParaRPr>
          </a:p>
          <a:p>
            <a:endParaRPr lang="en-US" sz="2000" b="1" dirty="0">
              <a:latin typeface="Calibri" panose="020F0502020204030204" pitchFamily="34" charset="0"/>
              <a:cs typeface="Calibri" panose="020F0502020204030204" pitchFamily="34" charset="0"/>
            </a:endParaRPr>
          </a:p>
          <a:p>
            <a:r>
              <a:rPr lang="en-US" sz="2000" b="1" dirty="0">
                <a:latin typeface="Calibri" panose="020F0502020204030204" pitchFamily="34" charset="0"/>
                <a:cs typeface="Calibri" panose="020F0502020204030204" pitchFamily="34" charset="0"/>
              </a:rPr>
              <a:t>Multi-Head Attention</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Uses multiple attention heads in parallel. </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Each head learns to focus on different relationships or patterns. </a:t>
            </a:r>
          </a:p>
          <a:p>
            <a:pPr marL="342900" lvl="0" indent="-342900" algn="just">
              <a:buFont typeface="Arial" panose="020B0604020202020204" pitchFamily="34" charset="0"/>
              <a:buChar char="•"/>
            </a:pPr>
            <a:r>
              <a:rPr lang="en-US" dirty="0">
                <a:latin typeface="Calibri" panose="020F0502020204030204" pitchFamily="34" charset="0"/>
                <a:cs typeface="Calibri" panose="020F0502020204030204" pitchFamily="34" charset="0"/>
              </a:rPr>
              <a:t>Their outputs are combined to create a richer representation. </a:t>
            </a:r>
          </a:p>
        </p:txBody>
      </p:sp>
      <p:pic>
        <p:nvPicPr>
          <p:cNvPr id="3" name="Picture 2">
            <a:extLst>
              <a:ext uri="{FF2B5EF4-FFF2-40B4-BE49-F238E27FC236}">
                <a16:creationId xmlns:a16="http://schemas.microsoft.com/office/drawing/2014/main" id="{50314ABD-5FBF-B397-4209-405A5CA4E45B}"/>
              </a:ext>
            </a:extLst>
          </p:cNvPr>
          <p:cNvPicPr>
            <a:picLocks noChangeAspect="1"/>
          </p:cNvPicPr>
          <p:nvPr/>
        </p:nvPicPr>
        <p:blipFill>
          <a:blip r:embed="rId2"/>
          <a:srcRect l="5533" r="2660"/>
          <a:stretch>
            <a:fillRect/>
          </a:stretch>
        </p:blipFill>
        <p:spPr>
          <a:xfrm>
            <a:off x="5105400" y="1159449"/>
            <a:ext cx="6774685" cy="4539102"/>
          </a:xfrm>
          <a:prstGeom prst="rect">
            <a:avLst/>
          </a:prstGeom>
        </p:spPr>
      </p:pic>
      <p:sp>
        <p:nvSpPr>
          <p:cNvPr id="8" name="TextBox 7">
            <a:extLst>
              <a:ext uri="{FF2B5EF4-FFF2-40B4-BE49-F238E27FC236}">
                <a16:creationId xmlns:a16="http://schemas.microsoft.com/office/drawing/2014/main" id="{EBEF17E5-6E52-6D7C-E0B0-EFC9FEE5AAB8}"/>
              </a:ext>
            </a:extLst>
          </p:cNvPr>
          <p:cNvSpPr txBox="1"/>
          <p:nvPr/>
        </p:nvSpPr>
        <p:spPr>
          <a:xfrm>
            <a:off x="7006842" y="5743411"/>
            <a:ext cx="2971800" cy="276999"/>
          </a:xfrm>
          <a:prstGeom prst="rect">
            <a:avLst/>
          </a:prstGeom>
          <a:noFill/>
        </p:spPr>
        <p:txBody>
          <a:bodyPr wrap="square">
            <a:spAutoFit/>
          </a:bodyPr>
          <a:lstStyle/>
          <a:p>
            <a:r>
              <a:rPr lang="en-US" sz="1200" i="1" dirty="0">
                <a:latin typeface="Calibri" panose="020F0502020204030204" pitchFamily="34" charset="0"/>
                <a:cs typeface="Calibri" panose="020F0502020204030204" pitchFamily="34" charset="0"/>
                <a:hlinkClick r:id="rId3" tooltip="Attention Is All You Need"/>
              </a:rPr>
              <a:t>https://arxiv.org/pdf/1706.03762</a:t>
            </a:r>
            <a:endParaRPr lang="en-US" sz="12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45795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FEF59-0D16-FD16-0CBD-EFD68461878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09B87DA-048E-77DF-472C-659C90E3AF5E}"/>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From Attention to Transformers (cont…)</a:t>
            </a:r>
          </a:p>
        </p:txBody>
      </p:sp>
      <p:sp>
        <p:nvSpPr>
          <p:cNvPr id="9" name="Rectangle 4">
            <a:extLst>
              <a:ext uri="{FF2B5EF4-FFF2-40B4-BE49-F238E27FC236}">
                <a16:creationId xmlns:a16="http://schemas.microsoft.com/office/drawing/2014/main" id="{6DB3B894-D6AE-5887-C447-0E1D4FBBBAA9}"/>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35932F1D-83E5-1192-84FA-90C01E89A32F}"/>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34</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34FC5C6-96ED-0C40-6383-C5724DC010B6}"/>
              </a:ext>
            </a:extLst>
          </p:cNvPr>
          <p:cNvSpPr txBox="1"/>
          <p:nvPr/>
        </p:nvSpPr>
        <p:spPr>
          <a:xfrm>
            <a:off x="304800" y="942002"/>
            <a:ext cx="7993328" cy="5324535"/>
          </a:xfrm>
          <a:prstGeom prst="rect">
            <a:avLst/>
          </a:prstGeom>
          <a:noFill/>
        </p:spPr>
        <p:txBody>
          <a:bodyPr wrap="square">
            <a:spAutoFit/>
          </a:bodyPr>
          <a:lstStyle/>
          <a:p>
            <a:pPr algn="just"/>
            <a:r>
              <a:rPr lang="en-US" sz="2000" b="1" dirty="0">
                <a:latin typeface="Calibri" panose="020F0502020204030204" pitchFamily="34" charset="0"/>
                <a:cs typeface="Calibri" panose="020F0502020204030204" pitchFamily="34" charset="0"/>
              </a:rPr>
              <a:t>Transformer Architecture</a:t>
            </a:r>
          </a:p>
          <a:p>
            <a:pPr marL="285750" lvl="0" indent="-285750" algn="just">
              <a:buFont typeface="Arial" panose="020B0604020202020204" pitchFamily="34" charset="0"/>
              <a:buChar char="•"/>
            </a:pPr>
            <a:r>
              <a:rPr lang="en-US" sz="1600" dirty="0">
                <a:latin typeface="Calibri" panose="020F0502020204030204" pitchFamily="34" charset="0"/>
                <a:cs typeface="Calibri" panose="020F0502020204030204" pitchFamily="34" charset="0"/>
              </a:rPr>
              <a:t>A Transformer is built by stacking multiple Encoder and Decoder blocks. </a:t>
            </a:r>
          </a:p>
          <a:p>
            <a:pPr algn="just"/>
            <a:r>
              <a:rPr lang="en-US" sz="1600" b="1" u="sng" dirty="0">
                <a:latin typeface="Calibri" panose="020F0502020204030204" pitchFamily="34" charset="0"/>
                <a:cs typeface="Calibri" panose="020F0502020204030204" pitchFamily="34" charset="0"/>
              </a:rPr>
              <a:t>Encoder</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Input Embedding: </a:t>
            </a:r>
            <a:r>
              <a:rPr lang="en-US" sz="1600" dirty="0">
                <a:latin typeface="Calibri" panose="020F0502020204030204" pitchFamily="34" charset="0"/>
                <a:cs typeface="Calibri" panose="020F0502020204030204" pitchFamily="34" charset="0"/>
              </a:rPr>
              <a:t>converts input tokens into numerical vectors.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Positional Encoding: </a:t>
            </a:r>
            <a:r>
              <a:rPr lang="en-US" sz="1600" dirty="0">
                <a:latin typeface="Calibri" panose="020F0502020204030204" pitchFamily="34" charset="0"/>
                <a:cs typeface="Calibri" panose="020F0502020204030204" pitchFamily="34" charset="0"/>
              </a:rPr>
              <a:t>adds information about the position of each token.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Multi-Head Attention: </a:t>
            </a:r>
            <a:r>
              <a:rPr lang="en-US" sz="1600" dirty="0">
                <a:latin typeface="Calibri" panose="020F0502020204030204" pitchFamily="34" charset="0"/>
                <a:cs typeface="Calibri" panose="020F0502020204030204" pitchFamily="34" charset="0"/>
              </a:rPr>
              <a:t>captures different relationships between input tokens.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Feed-Forward Network: </a:t>
            </a:r>
            <a:r>
              <a:rPr lang="en-US" sz="1600" dirty="0">
                <a:latin typeface="Calibri" panose="020F0502020204030204" pitchFamily="34" charset="0"/>
                <a:cs typeface="Calibri" panose="020F0502020204030204" pitchFamily="34" charset="0"/>
              </a:rPr>
              <a:t>further processes the attended information.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Residual (Add) + Normalization (Norm): </a:t>
            </a:r>
            <a:r>
              <a:rPr lang="en-US" sz="1600" dirty="0">
                <a:latin typeface="Calibri" panose="020F0502020204030204" pitchFamily="34" charset="0"/>
                <a:cs typeface="Calibri" panose="020F0502020204030204" pitchFamily="34" charset="0"/>
              </a:rPr>
              <a:t>help preserve information and keep values stable across layers. </a:t>
            </a:r>
          </a:p>
          <a:p>
            <a:pPr algn="just"/>
            <a:r>
              <a:rPr lang="en-US" sz="1600" b="1" u="sng" dirty="0">
                <a:latin typeface="Calibri" panose="020F0502020204030204" pitchFamily="34" charset="0"/>
                <a:cs typeface="Calibri" panose="020F0502020204030204" pitchFamily="34" charset="0"/>
              </a:rPr>
              <a:t>Decoder</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Output Embedding: </a:t>
            </a:r>
            <a:r>
              <a:rPr lang="en-US" sz="1600" dirty="0">
                <a:latin typeface="Calibri" panose="020F0502020204030204" pitchFamily="34" charset="0"/>
                <a:cs typeface="Calibri" panose="020F0502020204030204" pitchFamily="34" charset="0"/>
              </a:rPr>
              <a:t>converts output tokens into vectors; during training, the target sequence is shifted right.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Masked Multi-Head Attention: </a:t>
            </a:r>
            <a:r>
              <a:rPr lang="en-US" sz="1600" dirty="0">
                <a:latin typeface="Calibri" panose="020F0502020204030204" pitchFamily="34" charset="0"/>
                <a:cs typeface="Calibri" panose="020F0502020204030204" pitchFamily="34" charset="0"/>
              </a:rPr>
              <a:t>lets each position attend only to earlier tokens, preventing access to future tokens.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Cross-Attention: </a:t>
            </a:r>
            <a:r>
              <a:rPr lang="en-US" sz="1600" dirty="0">
                <a:latin typeface="Calibri" panose="020F0502020204030204" pitchFamily="34" charset="0"/>
                <a:cs typeface="Calibri" panose="020F0502020204030204" pitchFamily="34" charset="0"/>
              </a:rPr>
              <a:t>connects the Decoder to the Encoder's output and focuses on relevant input information.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Feed-Forward Network: </a:t>
            </a:r>
            <a:r>
              <a:rPr lang="en-US" sz="1600" dirty="0">
                <a:latin typeface="Calibri" panose="020F0502020204030204" pitchFamily="34" charset="0"/>
                <a:cs typeface="Calibri" panose="020F0502020204030204" pitchFamily="34" charset="0"/>
              </a:rPr>
              <a:t>further transforms the information.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Residual (Add) + Normalization (Norm): </a:t>
            </a:r>
            <a:r>
              <a:rPr lang="en-US" sz="1600" dirty="0">
                <a:latin typeface="Calibri" panose="020F0502020204030204" pitchFamily="34" charset="0"/>
                <a:cs typeface="Calibri" panose="020F0502020204030204" pitchFamily="34" charset="0"/>
              </a:rPr>
              <a:t>help information flow through the layers. </a:t>
            </a:r>
          </a:p>
          <a:p>
            <a:pPr algn="just"/>
            <a:r>
              <a:rPr lang="en-US" sz="1600" b="1" dirty="0">
                <a:latin typeface="Calibri" panose="020F0502020204030204" pitchFamily="34" charset="0"/>
                <a:cs typeface="Calibri" panose="020F0502020204030204" pitchFamily="34" charset="0"/>
              </a:rPr>
              <a:t>Output</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Linear: </a:t>
            </a:r>
            <a:r>
              <a:rPr lang="en-US" sz="1600" dirty="0">
                <a:latin typeface="Calibri" panose="020F0502020204030204" pitchFamily="34" charset="0"/>
                <a:cs typeface="Calibri" panose="020F0502020204030204" pitchFamily="34" charset="0"/>
              </a:rPr>
              <a:t>projects the Decoder output to the size of the vocabulary. </a:t>
            </a:r>
          </a:p>
          <a:p>
            <a:pPr marL="285750" lvl="0" indent="-28575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Softmax: </a:t>
            </a:r>
            <a:r>
              <a:rPr lang="en-US" sz="1600" dirty="0">
                <a:latin typeface="Calibri" panose="020F0502020204030204" pitchFamily="34" charset="0"/>
                <a:cs typeface="Calibri" panose="020F0502020204030204" pitchFamily="34" charset="0"/>
              </a:rPr>
              <a:t>converts the values into probabilities for the next token.</a:t>
            </a:r>
          </a:p>
        </p:txBody>
      </p:sp>
      <p:pic>
        <p:nvPicPr>
          <p:cNvPr id="3" name="Picture 2">
            <a:extLst>
              <a:ext uri="{FF2B5EF4-FFF2-40B4-BE49-F238E27FC236}">
                <a16:creationId xmlns:a16="http://schemas.microsoft.com/office/drawing/2014/main" id="{EE6ADD95-E5BC-F820-3569-13D9D3D00D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3534" y="1081226"/>
            <a:ext cx="3291266" cy="4566051"/>
          </a:xfrm>
          <a:prstGeom prst="rect">
            <a:avLst/>
          </a:prstGeom>
        </p:spPr>
      </p:pic>
      <p:sp>
        <p:nvSpPr>
          <p:cNvPr id="11" name="TextBox 10">
            <a:extLst>
              <a:ext uri="{FF2B5EF4-FFF2-40B4-BE49-F238E27FC236}">
                <a16:creationId xmlns:a16="http://schemas.microsoft.com/office/drawing/2014/main" id="{58F566EB-6211-E6D7-74EA-D77694EE265D}"/>
              </a:ext>
            </a:extLst>
          </p:cNvPr>
          <p:cNvSpPr txBox="1"/>
          <p:nvPr/>
        </p:nvSpPr>
        <p:spPr>
          <a:xfrm>
            <a:off x="8375864" y="5854743"/>
            <a:ext cx="3437979" cy="400110"/>
          </a:xfrm>
          <a:prstGeom prst="rect">
            <a:avLst/>
          </a:prstGeom>
          <a:noFill/>
        </p:spPr>
        <p:txBody>
          <a:bodyPr wrap="square">
            <a:spAutoFit/>
          </a:bodyPr>
          <a:lstStyle/>
          <a:p>
            <a:r>
              <a:rPr lang="en-US" sz="1000" b="0" i="1" spc="10" dirty="0">
                <a:solidFill>
                  <a:schemeClr val="bg1">
                    <a:lumMod val="50000"/>
                  </a:schemeClr>
                </a:solidFill>
                <a:effectLst/>
                <a:latin typeface="Calibri" panose="020F0502020204030204" pitchFamily="34" charset="0"/>
                <a:cs typeface="Calibri" panose="020F0502020204030204" pitchFamily="34" charset="0"/>
                <a:hlinkClick r:id="rId3" tooltip="Overall Transformer Architecture"/>
              </a:rPr>
              <a:t>Overall Transformer Architecture, detailing Encoder and Decoder stacks with their respective sub-layers and data flow</a:t>
            </a:r>
            <a:endParaRPr lang="en-US" sz="1000" i="1" dirty="0">
              <a:solidFill>
                <a:schemeClr val="bg1">
                  <a:lumMod val="50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562595A-21E2-6A85-3A23-CE1BEC296FDF}"/>
              </a:ext>
            </a:extLst>
          </p:cNvPr>
          <p:cNvSpPr txBox="1"/>
          <p:nvPr/>
        </p:nvSpPr>
        <p:spPr>
          <a:xfrm>
            <a:off x="1371600" y="5453390"/>
            <a:ext cx="2209800" cy="261610"/>
          </a:xfrm>
          <a:prstGeom prst="rect">
            <a:avLst/>
          </a:prstGeom>
          <a:noFill/>
        </p:spPr>
        <p:txBody>
          <a:bodyPr wrap="square">
            <a:spAutoFit/>
          </a:bodyPr>
          <a:lstStyle/>
          <a:p>
            <a:r>
              <a:rPr lang="en-US" sz="1100" dirty="0">
                <a:latin typeface="Calibri" panose="020F0502020204030204" pitchFamily="34" charset="0"/>
                <a:cs typeface="Calibri" panose="020F0502020204030204" pitchFamily="34" charset="0"/>
                <a:hlinkClick r:id="rId4" tooltip="Building an Encoder-Decoder Transformer from Scratch!: PyTorch Deep Learning Tutorial"/>
              </a:rPr>
              <a:t>https://youtu.be/X_lyR0ZPQvA</a:t>
            </a:r>
            <a:endParaRPr lang="en-US" sz="11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183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AF4A9-3ABC-DDAC-1F6E-34B2DA38127B}"/>
            </a:ext>
          </a:extLst>
        </p:cNvPr>
        <p:cNvGrpSpPr/>
        <p:nvPr/>
      </p:nvGrpSpPr>
      <p:grpSpPr>
        <a:xfrm>
          <a:off x="0" y="0"/>
          <a:ext cx="0" cy="0"/>
          <a:chOff x="0" y="0"/>
          <a:chExt cx="0" cy="0"/>
        </a:xfrm>
      </p:grpSpPr>
      <p:grpSp>
        <p:nvGrpSpPr>
          <p:cNvPr id="3" name="object 2">
            <a:extLst>
              <a:ext uri="{FF2B5EF4-FFF2-40B4-BE49-F238E27FC236}">
                <a16:creationId xmlns:a16="http://schemas.microsoft.com/office/drawing/2014/main" id="{2CB7B173-327D-7845-A00B-72FB95E5FE0C}"/>
              </a:ext>
            </a:extLst>
          </p:cNvPr>
          <p:cNvGrpSpPr/>
          <p:nvPr/>
        </p:nvGrpSpPr>
        <p:grpSpPr>
          <a:xfrm>
            <a:off x="1137" y="0"/>
            <a:ext cx="12192000" cy="6858000"/>
            <a:chOff x="0" y="0"/>
            <a:chExt cx="12192000" cy="6858000"/>
          </a:xfrm>
        </p:grpSpPr>
        <p:sp>
          <p:nvSpPr>
            <p:cNvPr id="4" name="object 3">
              <a:extLst>
                <a:ext uri="{FF2B5EF4-FFF2-40B4-BE49-F238E27FC236}">
                  <a16:creationId xmlns:a16="http://schemas.microsoft.com/office/drawing/2014/main" id="{7BCBE92A-8A17-ABF2-6A73-E75E15D4FC23}"/>
                </a:ext>
              </a:extLst>
            </p:cNvPr>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chemeClr val="tx1">
                <a:lumMod val="85000"/>
                <a:lumOff val="15000"/>
              </a:schemeClr>
            </a:solidFill>
          </p:spPr>
          <p:txBody>
            <a:bodyPr wrap="square" lIns="0" tIns="0" rIns="0" bIns="0" rtlCol="0"/>
            <a:lstStyle/>
            <a:p>
              <a:endParaRPr dirty="0">
                <a:latin typeface="Calibri" panose="020F0502020204030204" pitchFamily="34" charset="0"/>
                <a:cs typeface="Calibri" panose="020F0502020204030204" pitchFamily="34" charset="0"/>
              </a:endParaRPr>
            </a:p>
          </p:txBody>
        </p:sp>
        <p:sp>
          <p:nvSpPr>
            <p:cNvPr id="6" name="object 4">
              <a:extLst>
                <a:ext uri="{FF2B5EF4-FFF2-40B4-BE49-F238E27FC236}">
                  <a16:creationId xmlns:a16="http://schemas.microsoft.com/office/drawing/2014/main" id="{97F8F1A1-6F41-2100-24D4-E466152CD3C3}"/>
                </a:ext>
              </a:extLst>
            </p:cNvPr>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endParaRPr>
                <a:latin typeface="Calibri" panose="020F0502020204030204" pitchFamily="34" charset="0"/>
                <a:cs typeface="Calibri" panose="020F0502020204030204" pitchFamily="34" charset="0"/>
              </a:endParaRPr>
            </a:p>
          </p:txBody>
        </p:sp>
      </p:grpSp>
      <p:sp>
        <p:nvSpPr>
          <p:cNvPr id="37" name="Slide Number Placeholder 36">
            <a:extLst>
              <a:ext uri="{FF2B5EF4-FFF2-40B4-BE49-F238E27FC236}">
                <a16:creationId xmlns:a16="http://schemas.microsoft.com/office/drawing/2014/main" id="{BC3D5BF2-06E0-C566-B57D-369AFBBAC2FD}"/>
              </a:ext>
            </a:extLst>
          </p:cNvPr>
          <p:cNvSpPr>
            <a:spLocks noGrp="1"/>
          </p:cNvSpPr>
          <p:nvPr>
            <p:ph type="sldNum" sz="quarter" idx="7"/>
          </p:nvPr>
        </p:nvSpPr>
        <p:spPr>
          <a:xfrm>
            <a:off x="11430000" y="64770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35</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11" name="object 5" descr="$PPTXTitle">
            <a:extLst>
              <a:ext uri="{FF2B5EF4-FFF2-40B4-BE49-F238E27FC236}">
                <a16:creationId xmlns:a16="http://schemas.microsoft.com/office/drawing/2014/main" id="{6DB2DFFD-D3B8-D386-D662-7452E0E7E3A4}"/>
              </a:ext>
            </a:extLst>
          </p:cNvPr>
          <p:cNvSpPr txBox="1">
            <a:spLocks noGrp="1"/>
          </p:cNvSpPr>
          <p:nvPr>
            <p:ph type="title"/>
          </p:nvPr>
        </p:nvSpPr>
        <p:spPr>
          <a:xfrm>
            <a:off x="456063" y="2499258"/>
            <a:ext cx="11734800" cy="936154"/>
          </a:xfrm>
          <a:prstGeom prst="rect">
            <a:avLst/>
          </a:prstGeom>
        </p:spPr>
        <p:txBody>
          <a:bodyPr vert="horz" wrap="square" lIns="0" tIns="12700" rIns="0" bIns="0" rtlCol="0">
            <a:spAutoFit/>
          </a:bodyPr>
          <a:lstStyle/>
          <a:p>
            <a:pPr marL="12700" marR="5080" indent="704215" algn="ctr">
              <a:lnSpc>
                <a:spcPct val="100000"/>
              </a:lnSpc>
              <a:spcBef>
                <a:spcPts val="100"/>
              </a:spcBef>
            </a:pPr>
            <a:r>
              <a:rPr lang="en-US" sz="6000" b="0" spc="195" dirty="0">
                <a:solidFill>
                  <a:srgbClr val="FFFFFF"/>
                </a:solidFill>
                <a:latin typeface="Calibri" panose="020F0502020204030204" pitchFamily="34" charset="0"/>
                <a:cs typeface="Calibri" panose="020F0502020204030204" pitchFamily="34" charset="0"/>
              </a:rPr>
              <a:t>Transformers Across Modalities</a:t>
            </a:r>
            <a:endParaRPr sz="6000" b="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C33136F-3CD8-1B50-7FAD-4D21973ED035}"/>
              </a:ext>
            </a:extLst>
          </p:cNvPr>
          <p:cNvSpPr txBox="1"/>
          <p:nvPr/>
        </p:nvSpPr>
        <p:spPr>
          <a:xfrm>
            <a:off x="456062" y="4876800"/>
            <a:ext cx="11735937" cy="307777"/>
          </a:xfrm>
          <a:prstGeom prst="rect">
            <a:avLst/>
          </a:prstGeom>
          <a:noFill/>
        </p:spPr>
        <p:txBody>
          <a:bodyPr wrap="square" rtlCol="0">
            <a:spAutoFit/>
          </a:bodyPr>
          <a:lstStyle/>
          <a:p>
            <a:pPr algn="ctr"/>
            <a:r>
              <a:rPr lang="en-US" sz="1400" i="1" dirty="0">
                <a:solidFill>
                  <a:schemeClr val="bg1">
                    <a:lumMod val="65000"/>
                  </a:schemeClr>
                </a:solidFill>
                <a:latin typeface="Calibri" panose="020F0502020204030204" pitchFamily="34" charset="0"/>
                <a:cs typeface="Calibri" panose="020F0502020204030204" pitchFamily="34" charset="0"/>
              </a:rPr>
              <a:t>How Transformers process each type of input</a:t>
            </a:r>
          </a:p>
        </p:txBody>
      </p:sp>
    </p:spTree>
    <p:extLst>
      <p:ext uri="{BB962C8B-B14F-4D97-AF65-F5344CB8AC3E}">
        <p14:creationId xmlns:p14="http://schemas.microsoft.com/office/powerpoint/2010/main" val="3562939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BD40B-0F80-85E4-BB47-CF46174B6BE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29DD5D6-49AE-4C10-C8C2-E2D8F9218205}"/>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6. Transformers across Modalities</a:t>
            </a:r>
          </a:p>
        </p:txBody>
      </p:sp>
      <p:sp>
        <p:nvSpPr>
          <p:cNvPr id="9" name="Rectangle 4">
            <a:extLst>
              <a:ext uri="{FF2B5EF4-FFF2-40B4-BE49-F238E27FC236}">
                <a16:creationId xmlns:a16="http://schemas.microsoft.com/office/drawing/2014/main" id="{783DB493-89F9-358D-3C01-885D01F061C1}"/>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B32EE69B-785E-28B8-217C-F1F51D18B59B}"/>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36</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26C51E7-36BF-7441-47D9-140112A62EF2}"/>
              </a:ext>
            </a:extLst>
          </p:cNvPr>
          <p:cNvSpPr txBox="1"/>
          <p:nvPr/>
        </p:nvSpPr>
        <p:spPr>
          <a:xfrm>
            <a:off x="457200" y="1203524"/>
            <a:ext cx="5943600" cy="4616648"/>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Text → Tokens</a:t>
            </a:r>
          </a:p>
          <a:p>
            <a:pPr marL="457200" lvl="0" indent="-457200" algn="just">
              <a:buFont typeface="+mj-lt"/>
              <a:buAutoNum type="arabicPeriod"/>
            </a:pPr>
            <a:endParaRPr lang="en-US" dirty="0">
              <a:latin typeface="Calibri" panose="020F0502020204030204" pitchFamily="34" charset="0"/>
              <a:cs typeface="Calibri" panose="020F0502020204030204" pitchFamily="34" charset="0"/>
            </a:endParaRPr>
          </a:p>
          <a:p>
            <a:pPr marL="457200" lvl="0" indent="-457200" algn="just">
              <a:buFont typeface="+mj-lt"/>
              <a:buAutoNum type="arabicPeriod"/>
            </a:pPr>
            <a:r>
              <a:rPr lang="en-US" dirty="0">
                <a:latin typeface="Calibri" panose="020F0502020204030204" pitchFamily="34" charset="0"/>
                <a:cs typeface="Calibri" panose="020F0502020204030204" pitchFamily="34" charset="0"/>
              </a:rPr>
              <a:t>Before a Transformer can process text, the text is split into smaller units called tokens. These can be whole words or parts of words. </a:t>
            </a:r>
            <a:endParaRPr lang="en-US" i="1" dirty="0">
              <a:latin typeface="Calibri" panose="020F0502020204030204" pitchFamily="34" charset="0"/>
              <a:cs typeface="Calibri" panose="020F0502020204030204" pitchFamily="34" charset="0"/>
            </a:endParaRPr>
          </a:p>
          <a:p>
            <a:pPr marL="742950" lvl="1" indent="-285750" algn="just">
              <a:buFont typeface="Arial" panose="020B0604020202020204" pitchFamily="34" charset="0"/>
              <a:buChar char="•"/>
            </a:pPr>
            <a:r>
              <a:rPr lang="en-US" sz="1600" i="1" dirty="0">
                <a:latin typeface="Calibri" panose="020F0502020204030204" pitchFamily="34" charset="0"/>
                <a:cs typeface="Calibri" panose="020F0502020204030204" pitchFamily="34" charset="0"/>
              </a:rPr>
              <a:t>e.g., “unbelievable” may be split into “un” + “believe” + “able.”</a:t>
            </a:r>
            <a:r>
              <a:rPr lang="en-US" sz="1600" dirty="0">
                <a:latin typeface="Calibri" panose="020F0502020204030204" pitchFamily="34" charset="0"/>
                <a:cs typeface="Calibri" panose="020F0502020204030204" pitchFamily="34" charset="0"/>
              </a:rPr>
              <a:t> </a:t>
            </a:r>
          </a:p>
          <a:p>
            <a:pPr marL="457200" lvl="0" indent="-457200" algn="just">
              <a:buFont typeface="+mj-lt"/>
              <a:buAutoNum type="arabicPeriod"/>
            </a:pPr>
            <a:r>
              <a:rPr lang="en-US" dirty="0">
                <a:latin typeface="Calibri" panose="020F0502020204030204" pitchFamily="34" charset="0"/>
                <a:cs typeface="Calibri" panose="020F0502020204030204" pitchFamily="34" charset="0"/>
              </a:rPr>
              <a:t>Each token is converted into an embedding layer.</a:t>
            </a:r>
          </a:p>
          <a:p>
            <a:pPr marL="457200" lvl="0" indent="-457200" algn="just">
              <a:buFont typeface="+mj-lt"/>
              <a:buAutoNum type="arabicPeriod"/>
            </a:pPr>
            <a:r>
              <a:rPr lang="en-US" dirty="0">
                <a:latin typeface="Calibri" panose="020F0502020204030204" pitchFamily="34" charset="0"/>
                <a:cs typeface="Calibri" panose="020F0502020204030204" pitchFamily="34" charset="0"/>
              </a:rPr>
              <a:t>Positional encoding for the position of each token in the sequence. </a:t>
            </a:r>
          </a:p>
          <a:p>
            <a:pPr marL="457200" lvl="0" indent="-457200" algn="just">
              <a:buFont typeface="+mj-lt"/>
              <a:buAutoNum type="arabicPeriod"/>
            </a:pPr>
            <a:r>
              <a:rPr lang="en-US" dirty="0">
                <a:latin typeface="Calibri" panose="020F0502020204030204" pitchFamily="34" charset="0"/>
                <a:cs typeface="Calibri" panose="020F0502020204030204" pitchFamily="34" charset="0"/>
              </a:rPr>
              <a:t>The result is a sequence of vectors containing both meaning and position, which is then given to the Transformer. </a:t>
            </a:r>
          </a:p>
          <a:p>
            <a:pPr marL="457200" lvl="0" indent="-457200" algn="just">
              <a:buFont typeface="+mj-lt"/>
              <a:buAutoNum type="arabicPeriod"/>
            </a:pPr>
            <a:endParaRPr lang="en-US" dirty="0">
              <a:latin typeface="Calibri" panose="020F0502020204030204" pitchFamily="34" charset="0"/>
              <a:cs typeface="Calibri" panose="020F0502020204030204" pitchFamily="34" charset="0"/>
            </a:endParaRPr>
          </a:p>
          <a:p>
            <a:pPr marL="457200" lvl="0" indent="-457200" algn="just">
              <a:buFont typeface="+mj-lt"/>
              <a:buAutoNum type="arabicPeriod"/>
            </a:pPr>
            <a:r>
              <a:rPr lang="en-US" sz="1600" dirty="0">
                <a:latin typeface="Calibri" panose="020F0502020204030204" pitchFamily="34" charset="0"/>
                <a:cs typeface="Calibri" panose="020F0502020204030204" pitchFamily="34" charset="0"/>
              </a:rPr>
              <a:t>Text → Tokens → Embeddings + Positional Encoding → Transformer</a:t>
            </a:r>
          </a:p>
        </p:txBody>
      </p:sp>
      <p:pic>
        <p:nvPicPr>
          <p:cNvPr id="7" name="Picture 6">
            <a:extLst>
              <a:ext uri="{FF2B5EF4-FFF2-40B4-BE49-F238E27FC236}">
                <a16:creationId xmlns:a16="http://schemas.microsoft.com/office/drawing/2014/main" id="{CE3AA651-256C-7D41-70BD-ABAE15CF77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2013" y="1462202"/>
            <a:ext cx="4922787" cy="4492752"/>
          </a:xfrm>
          <a:prstGeom prst="rect">
            <a:avLst/>
          </a:prstGeom>
        </p:spPr>
      </p:pic>
    </p:spTree>
    <p:extLst>
      <p:ext uri="{BB962C8B-B14F-4D97-AF65-F5344CB8AC3E}">
        <p14:creationId xmlns:p14="http://schemas.microsoft.com/office/powerpoint/2010/main" val="2759206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4B433-84FA-84E6-69B7-D08FC754F24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93B9127-932A-2EAF-6D7C-A01924C92E3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Transformers across Modalities (cont…)</a:t>
            </a:r>
          </a:p>
        </p:txBody>
      </p:sp>
      <p:sp>
        <p:nvSpPr>
          <p:cNvPr id="9" name="Rectangle 4">
            <a:extLst>
              <a:ext uri="{FF2B5EF4-FFF2-40B4-BE49-F238E27FC236}">
                <a16:creationId xmlns:a16="http://schemas.microsoft.com/office/drawing/2014/main" id="{66B398A1-1964-4739-0CAD-9576A94AC97F}"/>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79111F23-7636-CFB5-2AE7-455781B2B7CD}"/>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37</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7FC09DB-947C-D85F-E1F8-8E1C2ED35632}"/>
              </a:ext>
            </a:extLst>
          </p:cNvPr>
          <p:cNvSpPr txBox="1"/>
          <p:nvPr/>
        </p:nvSpPr>
        <p:spPr>
          <a:xfrm>
            <a:off x="381000" y="1244634"/>
            <a:ext cx="5041711" cy="4555093"/>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Images → Patches</a:t>
            </a:r>
          </a:p>
          <a:p>
            <a:endParaRPr lang="en-US" sz="2400" b="1" dirty="0">
              <a:latin typeface="Calibri" panose="020F0502020204030204" pitchFamily="34" charset="0"/>
              <a:cs typeface="Calibri" panose="020F0502020204030204" pitchFamily="34" charset="0"/>
            </a:endParaRPr>
          </a:p>
          <a:p>
            <a:pPr marL="342900" lvl="0" indent="-342900" algn="just">
              <a:buFont typeface="+mj-lt"/>
              <a:buAutoNum type="arabicPeriod"/>
            </a:pPr>
            <a:r>
              <a:rPr lang="en-US" dirty="0">
                <a:latin typeface="Calibri" panose="020F0502020204030204" pitchFamily="34" charset="0"/>
                <a:cs typeface="Calibri" panose="020F0502020204030204" pitchFamily="34" charset="0"/>
              </a:rPr>
              <a:t>The image is divided into small, fixed-size patches. </a:t>
            </a:r>
          </a:p>
          <a:p>
            <a:pPr marL="742950" lvl="1" indent="-285750" algn="just">
              <a:buFont typeface="Arial" panose="020B0604020202020204" pitchFamily="34" charset="0"/>
              <a:buChar char="•"/>
            </a:pPr>
            <a:r>
              <a:rPr lang="en-US" sz="1600" i="1" dirty="0">
                <a:latin typeface="Calibri" panose="020F0502020204030204" pitchFamily="34" charset="0"/>
                <a:cs typeface="Calibri" panose="020F0502020204030204" pitchFamily="34" charset="0"/>
              </a:rPr>
              <a:t>e.g., a 224 × 224 image divided into 16 × 16 patches produces a 14 × 14 grid, giving 196 patches.</a:t>
            </a:r>
            <a:r>
              <a:rPr lang="en-US" sz="1600" dirty="0">
                <a:latin typeface="Calibri" panose="020F0502020204030204" pitchFamily="34" charset="0"/>
                <a:cs typeface="Calibri" panose="020F0502020204030204" pitchFamily="34" charset="0"/>
              </a:rPr>
              <a:t>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Each patch is flattened and converted into an embedding vector.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Positional encoding is added so the model knows where each patch is located in the image.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The result is a sequence of patch embeddings, similar to a sequence of word embeddings in text. </a:t>
            </a:r>
          </a:p>
          <a:p>
            <a:pPr marL="342900" lvl="0" indent="-342900" algn="just">
              <a:buFont typeface="+mj-lt"/>
              <a:buAutoNum type="arabicPeriod"/>
            </a:pPr>
            <a:r>
              <a:rPr lang="en-US" sz="1600" dirty="0">
                <a:latin typeface="Calibri" panose="020F0502020204030204" pitchFamily="34" charset="0"/>
                <a:cs typeface="Calibri" panose="020F0502020204030204" pitchFamily="34" charset="0"/>
              </a:rPr>
              <a:t>Image → Patches → Patch Embeddings + Positional Encoding → Transformer</a:t>
            </a:r>
          </a:p>
        </p:txBody>
      </p:sp>
      <p:pic>
        <p:nvPicPr>
          <p:cNvPr id="3" name="Picture 2">
            <a:extLst>
              <a:ext uri="{FF2B5EF4-FFF2-40B4-BE49-F238E27FC236}">
                <a16:creationId xmlns:a16="http://schemas.microsoft.com/office/drawing/2014/main" id="{A1B87A15-E039-BCF7-58D0-5F24A3072A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7343" y="1371600"/>
            <a:ext cx="6072258" cy="4039169"/>
          </a:xfrm>
          <a:prstGeom prst="rect">
            <a:avLst/>
          </a:prstGeom>
          <a:ln>
            <a:solidFill>
              <a:schemeClr val="tx1"/>
            </a:solidFill>
          </a:ln>
          <a:effectLst>
            <a:outerShdw blurRad="50800" dist="38100" dir="10800000" algn="r" rotWithShape="0">
              <a:prstClr val="black">
                <a:alpha val="40000"/>
              </a:prstClr>
            </a:outerShdw>
          </a:effectLst>
        </p:spPr>
      </p:pic>
      <p:sp>
        <p:nvSpPr>
          <p:cNvPr id="6" name="Arrow: Curved Up 5">
            <a:extLst>
              <a:ext uri="{FF2B5EF4-FFF2-40B4-BE49-F238E27FC236}">
                <a16:creationId xmlns:a16="http://schemas.microsoft.com/office/drawing/2014/main" id="{1AE33EF1-1A40-A80B-70DD-42F2BD0D3815}"/>
              </a:ext>
            </a:extLst>
          </p:cNvPr>
          <p:cNvSpPr/>
          <p:nvPr/>
        </p:nvSpPr>
        <p:spPr>
          <a:xfrm rot="20911110">
            <a:off x="5457057" y="5810026"/>
            <a:ext cx="1873118" cy="533400"/>
          </a:xfrm>
          <a:prstGeom prst="curvedUp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3755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1937-2C7B-69AA-98C5-98C7E50F6E2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41EFCFD-DDF9-7B14-306E-08C2AAE6F0B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Transformers across Modalities (cont…)</a:t>
            </a:r>
          </a:p>
        </p:txBody>
      </p:sp>
      <p:sp>
        <p:nvSpPr>
          <p:cNvPr id="9" name="Rectangle 4">
            <a:extLst>
              <a:ext uri="{FF2B5EF4-FFF2-40B4-BE49-F238E27FC236}">
                <a16:creationId xmlns:a16="http://schemas.microsoft.com/office/drawing/2014/main" id="{AD4C4BC6-F036-F2EB-AE28-67087432AC52}"/>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69F598F8-7231-C1F5-3EE2-D9A952864454}"/>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38</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A3931C9-987E-A75F-411E-6DD6BEC48861}"/>
              </a:ext>
            </a:extLst>
          </p:cNvPr>
          <p:cNvSpPr txBox="1"/>
          <p:nvPr/>
        </p:nvSpPr>
        <p:spPr>
          <a:xfrm>
            <a:off x="377925" y="1259175"/>
            <a:ext cx="5715000" cy="4278094"/>
          </a:xfrm>
          <a:prstGeom prst="rect">
            <a:avLst/>
          </a:prstGeom>
          <a:noFill/>
        </p:spPr>
        <p:txBody>
          <a:bodyPr wrap="square">
            <a:spAutoFit/>
          </a:bodyPr>
          <a:lstStyle/>
          <a:p>
            <a:pPr algn="just"/>
            <a:r>
              <a:rPr lang="en-US" sz="2400" b="1" dirty="0">
                <a:latin typeface="Calibri" panose="020F0502020204030204" pitchFamily="34" charset="0"/>
                <a:cs typeface="Calibri" panose="020F0502020204030204" pitchFamily="34" charset="0"/>
              </a:rPr>
              <a:t>Audio → Segments</a:t>
            </a:r>
          </a:p>
          <a:p>
            <a:pPr marL="342900" lvl="0" indent="-342900" algn="just">
              <a:buFont typeface="+mj-lt"/>
              <a:buAutoNum type="arabicPeriod"/>
            </a:pPr>
            <a:endParaRPr lang="en-US" dirty="0">
              <a:latin typeface="Calibri" panose="020F0502020204030204" pitchFamily="34" charset="0"/>
              <a:cs typeface="Calibri" panose="020F0502020204030204" pitchFamily="34" charset="0"/>
            </a:endParaRPr>
          </a:p>
          <a:p>
            <a:pPr marL="342900" lvl="0" indent="-342900" algn="just">
              <a:buFont typeface="+mj-lt"/>
              <a:buAutoNum type="arabicPeriod"/>
            </a:pPr>
            <a:r>
              <a:rPr lang="en-US" dirty="0">
                <a:latin typeface="Calibri" panose="020F0502020204030204" pitchFamily="34" charset="0"/>
                <a:cs typeface="Calibri" panose="020F0502020204030204" pitchFamily="34" charset="0"/>
              </a:rPr>
              <a:t>Audio is a continuous waveform, so it is divided into short time segments, often called frames.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Each segment is converted into features, such as a spectrogram, and then into an embedding vector.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Positional encoding is added so the model knows the order of the segments in time.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The result is a sequence of audio embeddings that can be processed by the Transformer.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Example: The 5</a:t>
            </a:r>
            <a:r>
              <a:rPr lang="en-US" baseline="30000" dirty="0">
                <a:latin typeface="Calibri" panose="020F0502020204030204" pitchFamily="34" charset="0"/>
                <a:cs typeface="Calibri" panose="020F0502020204030204" pitchFamily="34" charset="0"/>
              </a:rPr>
              <a:t>th</a:t>
            </a:r>
            <a:r>
              <a:rPr lang="en-US" dirty="0">
                <a:latin typeface="Calibri" panose="020F0502020204030204" pitchFamily="34" charset="0"/>
                <a:cs typeface="Calibri" panose="020F0502020204030204" pitchFamily="34" charset="0"/>
              </a:rPr>
              <a:t> segment keeps its position, so the model knows when it occurs. </a:t>
            </a:r>
          </a:p>
          <a:p>
            <a:pPr marL="342900" indent="-342900" algn="just">
              <a:buFont typeface="+mj-lt"/>
              <a:buAutoNum type="arabicPeriod"/>
            </a:pPr>
            <a:endParaRPr lang="en-US" dirty="0">
              <a:latin typeface="Calibri" panose="020F0502020204030204" pitchFamily="34" charset="0"/>
              <a:cs typeface="Calibri" panose="020F0502020204030204" pitchFamily="34" charset="0"/>
            </a:endParaRPr>
          </a:p>
          <a:p>
            <a:pPr marL="342900" indent="-342900" algn="just">
              <a:buFont typeface="+mj-lt"/>
              <a:buAutoNum type="arabicPeriod"/>
            </a:pPr>
            <a:r>
              <a:rPr lang="en-US" sz="1600" dirty="0">
                <a:latin typeface="Calibri" panose="020F0502020204030204" pitchFamily="34" charset="0"/>
                <a:cs typeface="Calibri" panose="020F0502020204030204" pitchFamily="34" charset="0"/>
              </a:rPr>
              <a:t>Audio → Segments → Audio Embeddings + Positional Encoding → Transformer</a:t>
            </a:r>
          </a:p>
        </p:txBody>
      </p:sp>
      <p:pic>
        <p:nvPicPr>
          <p:cNvPr id="7" name="Picture 6">
            <a:extLst>
              <a:ext uri="{FF2B5EF4-FFF2-40B4-BE49-F238E27FC236}">
                <a16:creationId xmlns:a16="http://schemas.microsoft.com/office/drawing/2014/main" id="{6E927F49-A93A-3905-19DE-2B6D4DDDFF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806" y="1208717"/>
            <a:ext cx="5414167" cy="5164282"/>
          </a:xfrm>
          <a:prstGeom prst="rect">
            <a:avLst/>
          </a:prstGeom>
        </p:spPr>
      </p:pic>
    </p:spTree>
    <p:extLst>
      <p:ext uri="{BB962C8B-B14F-4D97-AF65-F5344CB8AC3E}">
        <p14:creationId xmlns:p14="http://schemas.microsoft.com/office/powerpoint/2010/main" val="36137152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D99CF-822D-C0BD-8124-B8183B51502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97E94E8-79EE-2A6D-A53A-E68E9793C6F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Transformers across Modalities (cont…)</a:t>
            </a:r>
          </a:p>
        </p:txBody>
      </p:sp>
      <p:sp>
        <p:nvSpPr>
          <p:cNvPr id="9" name="Rectangle 4">
            <a:extLst>
              <a:ext uri="{FF2B5EF4-FFF2-40B4-BE49-F238E27FC236}">
                <a16:creationId xmlns:a16="http://schemas.microsoft.com/office/drawing/2014/main" id="{242DC2C7-CCCC-2904-9865-05512BFCCE8C}"/>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7B6356D3-EAE4-654F-84CD-C54F3CF00545}"/>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39</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28DF5B9-2FDB-B63D-910F-823557BE1C55}"/>
              </a:ext>
            </a:extLst>
          </p:cNvPr>
          <p:cNvSpPr txBox="1"/>
          <p:nvPr/>
        </p:nvSpPr>
        <p:spPr>
          <a:xfrm>
            <a:off x="457200" y="1028342"/>
            <a:ext cx="5486400" cy="5355312"/>
          </a:xfrm>
          <a:prstGeom prst="rect">
            <a:avLst/>
          </a:prstGeom>
          <a:noFill/>
        </p:spPr>
        <p:txBody>
          <a:bodyPr wrap="square">
            <a:spAutoFit/>
          </a:bodyPr>
          <a:lstStyle/>
          <a:p>
            <a:r>
              <a:rPr lang="en-US" sz="2200" b="1" dirty="0">
                <a:latin typeface="Calibri" panose="020F0502020204030204" pitchFamily="34" charset="0"/>
                <a:cs typeface="Calibri" panose="020F0502020204030204" pitchFamily="34" charset="0"/>
              </a:rPr>
              <a:t>A Common Attention-Based Architecture Across Inputs</a:t>
            </a:r>
          </a:p>
          <a:p>
            <a:pPr marL="342900" lvl="0" indent="-342900" algn="just">
              <a:buFont typeface="+mj-lt"/>
              <a:buAutoNum type="arabicPeriod"/>
            </a:pPr>
            <a:endParaRPr lang="en-US" dirty="0">
              <a:latin typeface="Calibri" panose="020F0502020204030204" pitchFamily="34" charset="0"/>
              <a:cs typeface="Calibri" panose="020F0502020204030204" pitchFamily="34" charset="0"/>
            </a:endParaRPr>
          </a:p>
          <a:p>
            <a:pPr marL="342900" lvl="0" indent="-342900" algn="just">
              <a:buFont typeface="+mj-lt"/>
              <a:buAutoNum type="arabicPeriod"/>
            </a:pPr>
            <a:r>
              <a:rPr lang="en-US" dirty="0">
                <a:latin typeface="Calibri" panose="020F0502020204030204" pitchFamily="34" charset="0"/>
                <a:cs typeface="Calibri" panose="020F0502020204030204" pitchFamily="34" charset="0"/>
              </a:rPr>
              <a:t>Text, images, and audio are converted into different types of input units.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These units are converted into embeddings, giving each modality a common vector-based representation.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Once represented as embeddings, they can be processed by a Transformer architecture.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The Transformer uses core components such as self-attention, multi-head attention, feed-forward layers, and normalization. </a:t>
            </a:r>
          </a:p>
          <a:p>
            <a:pPr marL="342900" lvl="0" indent="-342900" algn="just">
              <a:buFont typeface="+mj-lt"/>
              <a:buAutoNum type="arabicPeriod"/>
            </a:pPr>
            <a:r>
              <a:rPr lang="en-US" dirty="0">
                <a:latin typeface="Calibri" panose="020F0502020204030204" pitchFamily="34" charset="0"/>
                <a:cs typeface="Calibri" panose="020F0502020204030204" pitchFamily="34" charset="0"/>
              </a:rPr>
              <a:t>The main difference is how each modality is converted into tokens or segments before entering the Transformer. </a:t>
            </a:r>
          </a:p>
          <a:p>
            <a:pPr marL="342900" indent="-342900" algn="just">
              <a:buFont typeface="+mj-lt"/>
              <a:buAutoNum type="arabicPeriod"/>
            </a:pPr>
            <a:endParaRPr lang="en-US" dirty="0">
              <a:latin typeface="Calibri" panose="020F0502020204030204" pitchFamily="34" charset="0"/>
              <a:cs typeface="Calibri" panose="020F0502020204030204" pitchFamily="34" charset="0"/>
            </a:endParaRPr>
          </a:p>
          <a:p>
            <a:pPr marL="342900" indent="-342900" algn="just">
              <a:buFont typeface="+mj-lt"/>
              <a:buAutoNum type="arabicPeriod"/>
            </a:pPr>
            <a:r>
              <a:rPr lang="en-US" sz="1400" dirty="0">
                <a:latin typeface="Calibri" panose="020F0502020204030204" pitchFamily="34" charset="0"/>
                <a:cs typeface="Calibri" panose="020F0502020204030204" pitchFamily="34" charset="0"/>
              </a:rPr>
              <a:t>Different inputs → Different representations → Embeddings → Attention-Based Transformer</a:t>
            </a:r>
          </a:p>
        </p:txBody>
      </p:sp>
      <p:pic>
        <p:nvPicPr>
          <p:cNvPr id="7" name="Picture 6">
            <a:extLst>
              <a:ext uri="{FF2B5EF4-FFF2-40B4-BE49-F238E27FC236}">
                <a16:creationId xmlns:a16="http://schemas.microsoft.com/office/drawing/2014/main" id="{B8D63C7C-CAFE-F528-179C-0D3149A99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7648" y="1233352"/>
            <a:ext cx="5367152" cy="4606738"/>
          </a:xfrm>
          <a:prstGeom prst="rect">
            <a:avLst/>
          </a:prstGeom>
        </p:spPr>
      </p:pic>
    </p:spTree>
    <p:extLst>
      <p:ext uri="{BB962C8B-B14F-4D97-AF65-F5344CB8AC3E}">
        <p14:creationId xmlns:p14="http://schemas.microsoft.com/office/powerpoint/2010/main" val="1909996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4AD4E-9B48-4E1B-1B15-61736016865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A1521EB-57DC-C558-F02B-3142E4F089A4}"/>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latin typeface="Calibri" panose="020F0502020204030204" pitchFamily="34" charset="0"/>
                <a:cs typeface="Calibri" panose="020F0502020204030204" pitchFamily="34" charset="0"/>
              </a:rPr>
              <a:t>Transformers across Modalities (cont…)</a:t>
            </a:r>
          </a:p>
        </p:txBody>
      </p:sp>
      <p:sp>
        <p:nvSpPr>
          <p:cNvPr id="9" name="Rectangle 4">
            <a:extLst>
              <a:ext uri="{FF2B5EF4-FFF2-40B4-BE49-F238E27FC236}">
                <a16:creationId xmlns:a16="http://schemas.microsoft.com/office/drawing/2014/main" id="{D98CDE3D-68F5-3BF3-DD2C-5105F641B071}"/>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39A0059B-1929-7048-8E82-F4163650B6E2}"/>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40</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9DA1614-830C-8F34-687E-2A95F9FC7E83}"/>
              </a:ext>
            </a:extLst>
          </p:cNvPr>
          <p:cNvSpPr txBox="1"/>
          <p:nvPr/>
        </p:nvSpPr>
        <p:spPr>
          <a:xfrm>
            <a:off x="136476" y="889873"/>
            <a:ext cx="7315200" cy="461665"/>
          </a:xfrm>
          <a:prstGeom prst="rect">
            <a:avLst/>
          </a:prstGeom>
          <a:noFill/>
        </p:spPr>
        <p:txBody>
          <a:bodyPr wrap="square">
            <a:spAutoFit/>
          </a:bodyPr>
          <a:lstStyle/>
          <a:p>
            <a:pPr marL="342900" indent="-342900">
              <a:buFont typeface="Wingdings" panose="05000000000000000000" pitchFamily="2" charset="2"/>
              <a:buChar char="q"/>
            </a:pPr>
            <a:r>
              <a:rPr lang="en-US" sz="2400" b="1" dirty="0">
                <a:latin typeface="Calibri" panose="020F0502020204030204" pitchFamily="34" charset="0"/>
                <a:cs typeface="Calibri" panose="020F0502020204030204" pitchFamily="34" charset="0"/>
              </a:rPr>
              <a:t>Overview of Cross-Modal AI Models &amp; Applications</a:t>
            </a:r>
          </a:p>
        </p:txBody>
      </p:sp>
      <p:pic>
        <p:nvPicPr>
          <p:cNvPr id="10" name="Picture 9">
            <a:extLst>
              <a:ext uri="{FF2B5EF4-FFF2-40B4-BE49-F238E27FC236}">
                <a16:creationId xmlns:a16="http://schemas.microsoft.com/office/drawing/2014/main" id="{E9F063BC-1A19-8A6A-D6DF-86E50D469998}"/>
              </a:ext>
            </a:extLst>
          </p:cNvPr>
          <p:cNvPicPr>
            <a:picLocks noChangeAspect="1"/>
          </p:cNvPicPr>
          <p:nvPr/>
        </p:nvPicPr>
        <p:blipFill>
          <a:blip r:embed="rId2"/>
          <a:stretch>
            <a:fillRect/>
          </a:stretch>
        </p:blipFill>
        <p:spPr>
          <a:xfrm>
            <a:off x="213730" y="1596270"/>
            <a:ext cx="6583622" cy="4506952"/>
          </a:xfrm>
          <a:prstGeom prst="rect">
            <a:avLst/>
          </a:prstGeom>
        </p:spPr>
      </p:pic>
      <p:sp>
        <p:nvSpPr>
          <p:cNvPr id="14" name="TextBox 13">
            <a:extLst>
              <a:ext uri="{FF2B5EF4-FFF2-40B4-BE49-F238E27FC236}">
                <a16:creationId xmlns:a16="http://schemas.microsoft.com/office/drawing/2014/main" id="{C352932D-A863-FE25-C055-BBAC4FD4319C}"/>
              </a:ext>
            </a:extLst>
          </p:cNvPr>
          <p:cNvSpPr txBox="1"/>
          <p:nvPr/>
        </p:nvSpPr>
        <p:spPr>
          <a:xfrm>
            <a:off x="8101129" y="1432321"/>
            <a:ext cx="3938471" cy="3693319"/>
          </a:xfrm>
          <a:prstGeom prst="rect">
            <a:avLst/>
          </a:prstGeom>
          <a:noFill/>
        </p:spPr>
        <p:txBody>
          <a:bodyPr wrap="square">
            <a:spAutoFit/>
          </a:bodyPr>
          <a:lstStyle/>
          <a:p>
            <a:pPr marL="0" marR="0" lvl="0" indent="-342900">
              <a:buFont typeface="+mj-lt"/>
              <a:buAutoNum type="arabicPeriod"/>
            </a:pPr>
            <a:r>
              <a:rPr lang="en-US" b="1" dirty="0">
                <a:effectLst/>
                <a:latin typeface="Calibri" panose="020F0502020204030204" pitchFamily="34" charset="0"/>
                <a:cs typeface="Calibri" panose="020F0502020204030204" pitchFamily="34" charset="0"/>
              </a:rPr>
              <a:t>Start with Input:</a:t>
            </a:r>
            <a:r>
              <a:rPr lang="en-US" dirty="0">
                <a:effectLst/>
                <a:latin typeface="Calibri" panose="020F0502020204030204" pitchFamily="34" charset="0"/>
                <a:cs typeface="Calibri" panose="020F0502020204030204" pitchFamily="34" charset="0"/>
              </a:rPr>
              <a:t> You give the AI text, a picture, or audio. </a:t>
            </a:r>
          </a:p>
          <a:p>
            <a:pPr marL="0" marR="0" lvl="0" indent="-342900">
              <a:buFont typeface="+mj-lt"/>
              <a:buAutoNum type="arabicPeriod"/>
            </a:pPr>
            <a:endParaRPr lang="en-US" b="1" dirty="0">
              <a:effectLst/>
              <a:latin typeface="Calibri" panose="020F0502020204030204" pitchFamily="34" charset="0"/>
              <a:cs typeface="Calibri" panose="020F0502020204030204" pitchFamily="34" charset="0"/>
            </a:endParaRPr>
          </a:p>
          <a:p>
            <a:pPr marL="0" marR="0" lvl="0" indent="-342900">
              <a:buFont typeface="+mj-lt"/>
              <a:buAutoNum type="arabicPeriod"/>
            </a:pPr>
            <a:r>
              <a:rPr lang="en-US" b="1" dirty="0">
                <a:effectLst/>
                <a:latin typeface="Calibri" panose="020F0502020204030204" pitchFamily="34" charset="0"/>
                <a:cs typeface="Calibri" panose="020F0502020204030204" pitchFamily="34" charset="0"/>
              </a:rPr>
              <a:t>Choose Output:</a:t>
            </a:r>
            <a:r>
              <a:rPr lang="en-US" dirty="0">
                <a:effectLst/>
                <a:latin typeface="Calibri" panose="020F0502020204030204" pitchFamily="34" charset="0"/>
                <a:cs typeface="Calibri" panose="020F0502020204030204" pitchFamily="34" charset="0"/>
              </a:rPr>
              <a:t> You decide what form you want the result to be in. </a:t>
            </a:r>
          </a:p>
          <a:p>
            <a:pPr marL="0" marR="0" lvl="0" indent="-342900">
              <a:buFont typeface="+mj-lt"/>
              <a:buAutoNum type="arabicPeriod"/>
            </a:pPr>
            <a:endParaRPr lang="en-US" b="1" dirty="0">
              <a:effectLst/>
              <a:latin typeface="Calibri" panose="020F0502020204030204" pitchFamily="34" charset="0"/>
              <a:cs typeface="Calibri" panose="020F0502020204030204" pitchFamily="34" charset="0"/>
            </a:endParaRPr>
          </a:p>
          <a:p>
            <a:pPr marL="0" marR="0" lvl="0" indent="-342900">
              <a:buFont typeface="+mj-lt"/>
              <a:buAutoNum type="arabicPeriod"/>
            </a:pPr>
            <a:r>
              <a:rPr lang="en-US" b="1" dirty="0">
                <a:effectLst/>
                <a:latin typeface="Calibri" panose="020F0502020204030204" pitchFamily="34" charset="0"/>
                <a:cs typeface="Calibri" panose="020F0502020204030204" pitchFamily="34" charset="0"/>
              </a:rPr>
              <a:t>Define Task:</a:t>
            </a:r>
            <a:r>
              <a:rPr lang="en-US" dirty="0">
                <a:effectLst/>
                <a:latin typeface="Calibri" panose="020F0502020204030204" pitchFamily="34" charset="0"/>
                <a:cs typeface="Calibri" panose="020F0502020204030204" pitchFamily="34" charset="0"/>
              </a:rPr>
              <a:t> The AI picks the exact job to do (e.g., </a:t>
            </a:r>
            <a:r>
              <a:rPr lang="en-US" i="1" dirty="0">
                <a:effectLst/>
                <a:latin typeface="Calibri" panose="020F0502020204030204" pitchFamily="34" charset="0"/>
                <a:cs typeface="Calibri" panose="020F0502020204030204" pitchFamily="34" charset="0"/>
              </a:rPr>
              <a:t>Text to Image</a:t>
            </a:r>
            <a:r>
              <a:rPr lang="en-US" dirty="0">
                <a:effectLst/>
                <a:latin typeface="Calibri" panose="020F0502020204030204" pitchFamily="34" charset="0"/>
                <a:cs typeface="Calibri" panose="020F0502020204030204" pitchFamily="34" charset="0"/>
              </a:rPr>
              <a:t> or </a:t>
            </a:r>
            <a:r>
              <a:rPr lang="en-US" i="1" dirty="0">
                <a:effectLst/>
                <a:latin typeface="Calibri" panose="020F0502020204030204" pitchFamily="34" charset="0"/>
                <a:cs typeface="Calibri" panose="020F0502020204030204" pitchFamily="34" charset="0"/>
              </a:rPr>
              <a:t>Speech to Text</a:t>
            </a:r>
            <a:r>
              <a:rPr lang="en-US" dirty="0">
                <a:effectLst/>
                <a:latin typeface="Calibri" panose="020F0502020204030204" pitchFamily="34" charset="0"/>
                <a:cs typeface="Calibri" panose="020F0502020204030204" pitchFamily="34" charset="0"/>
              </a:rPr>
              <a:t>). </a:t>
            </a:r>
          </a:p>
          <a:p>
            <a:pPr marL="0" marR="0" lvl="0" indent="-342900">
              <a:buFont typeface="+mj-lt"/>
              <a:buAutoNum type="arabicPeriod"/>
            </a:pPr>
            <a:endParaRPr lang="en-US" b="1" dirty="0">
              <a:effectLst/>
              <a:latin typeface="Calibri" panose="020F0502020204030204" pitchFamily="34" charset="0"/>
              <a:cs typeface="Calibri" panose="020F0502020204030204" pitchFamily="34" charset="0"/>
            </a:endParaRPr>
          </a:p>
          <a:p>
            <a:pPr marL="0" marR="0" lvl="0" indent="-342900">
              <a:buFont typeface="+mj-lt"/>
              <a:buAutoNum type="arabicPeriod"/>
            </a:pPr>
            <a:r>
              <a:rPr lang="en-US" b="1" dirty="0">
                <a:effectLst/>
                <a:latin typeface="Calibri" panose="020F0502020204030204" pitchFamily="34" charset="0"/>
                <a:cs typeface="Calibri" panose="020F0502020204030204" pitchFamily="34" charset="0"/>
              </a:rPr>
              <a:t>Name the Tool:</a:t>
            </a:r>
            <a:r>
              <a:rPr lang="en-US" dirty="0">
                <a:effectLst/>
                <a:latin typeface="Calibri" panose="020F0502020204030204" pitchFamily="34" charset="0"/>
                <a:cs typeface="Calibri" panose="020F0502020204030204" pitchFamily="34" charset="0"/>
              </a:rPr>
              <a:t> Real-world AI models (like GPT, DALL-E, or Whisper) execute that specific path.</a:t>
            </a:r>
          </a:p>
        </p:txBody>
      </p:sp>
      <p:sp>
        <p:nvSpPr>
          <p:cNvPr id="16" name="TextBox 15">
            <a:extLst>
              <a:ext uri="{FF2B5EF4-FFF2-40B4-BE49-F238E27FC236}">
                <a16:creationId xmlns:a16="http://schemas.microsoft.com/office/drawing/2014/main" id="{51CFF28E-4ADF-8E73-D8AF-D9FCCCBA7C9F}"/>
              </a:ext>
            </a:extLst>
          </p:cNvPr>
          <p:cNvSpPr txBox="1"/>
          <p:nvPr/>
        </p:nvSpPr>
        <p:spPr>
          <a:xfrm>
            <a:off x="136476" y="6198510"/>
            <a:ext cx="10988724" cy="307777"/>
          </a:xfrm>
          <a:prstGeom prst="rect">
            <a:avLst/>
          </a:prstGeom>
          <a:noFill/>
        </p:spPr>
        <p:txBody>
          <a:bodyPr wrap="square">
            <a:spAutoFit/>
          </a:bodyPr>
          <a:lstStyle/>
          <a:p>
            <a:pPr marL="0" marR="0" rtl="0">
              <a:buNone/>
            </a:pPr>
            <a:r>
              <a:rPr lang="en-US" sz="1400" b="1" dirty="0">
                <a:solidFill>
                  <a:schemeClr val="tx1"/>
                </a:solidFill>
                <a:effectLst/>
                <a:latin typeface="Calibri" panose="020F0502020204030204" pitchFamily="34" charset="0"/>
                <a:cs typeface="Calibri" panose="020F0502020204030204" pitchFamily="34" charset="0"/>
              </a:rPr>
              <a:t>Figure 1:</a:t>
            </a:r>
            <a:r>
              <a:rPr lang="en-US" sz="1400" dirty="0">
                <a:solidFill>
                  <a:schemeClr val="tx1"/>
                </a:solidFill>
                <a:effectLst/>
                <a:latin typeface="Calibri" panose="020F0502020204030204" pitchFamily="34" charset="0"/>
                <a:cs typeface="Calibri" panose="020F0502020204030204" pitchFamily="34" charset="0"/>
              </a:rPr>
              <a:t> Overview of multimodal AI workflows—mapping input data types to target outputs, specific processing tasks, and real-world models.</a:t>
            </a:r>
            <a:endParaRPr lang="en-US" sz="1400" dirty="0">
              <a:solidFill>
                <a:srgbClr val="1F1F1F"/>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9210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525D5-865B-43ED-4035-4514398FB585}"/>
            </a:ext>
          </a:extLst>
        </p:cNvPr>
        <p:cNvGrpSpPr/>
        <p:nvPr/>
      </p:nvGrpSpPr>
      <p:grpSpPr>
        <a:xfrm>
          <a:off x="0" y="0"/>
          <a:ext cx="0" cy="0"/>
          <a:chOff x="0" y="0"/>
          <a:chExt cx="0" cy="0"/>
        </a:xfrm>
      </p:grpSpPr>
      <p:grpSp>
        <p:nvGrpSpPr>
          <p:cNvPr id="3" name="object 2">
            <a:extLst>
              <a:ext uri="{FF2B5EF4-FFF2-40B4-BE49-F238E27FC236}">
                <a16:creationId xmlns:a16="http://schemas.microsoft.com/office/drawing/2014/main" id="{FF50723B-09EB-D908-52C0-98CC4F7C4CFC}"/>
              </a:ext>
            </a:extLst>
          </p:cNvPr>
          <p:cNvGrpSpPr/>
          <p:nvPr/>
        </p:nvGrpSpPr>
        <p:grpSpPr>
          <a:xfrm>
            <a:off x="1137" y="0"/>
            <a:ext cx="12192000" cy="6858000"/>
            <a:chOff x="0" y="0"/>
            <a:chExt cx="12192000" cy="6858000"/>
          </a:xfrm>
        </p:grpSpPr>
        <p:sp>
          <p:nvSpPr>
            <p:cNvPr id="4" name="object 3">
              <a:extLst>
                <a:ext uri="{FF2B5EF4-FFF2-40B4-BE49-F238E27FC236}">
                  <a16:creationId xmlns:a16="http://schemas.microsoft.com/office/drawing/2014/main" id="{4E609BE3-18CE-8282-241A-A6231CEB71DB}"/>
                </a:ext>
              </a:extLst>
            </p:cNvPr>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chemeClr val="tx1">
                <a:lumMod val="85000"/>
                <a:lumOff val="15000"/>
              </a:schemeClr>
            </a:solidFill>
          </p:spPr>
          <p:txBody>
            <a:bodyPr wrap="square" lIns="0" tIns="0" rIns="0" bIns="0" rtlCol="0"/>
            <a:lstStyle/>
            <a:p>
              <a:endParaRPr dirty="0">
                <a:latin typeface="Calibri" panose="020F0502020204030204" pitchFamily="34" charset="0"/>
                <a:cs typeface="Calibri" panose="020F0502020204030204" pitchFamily="34" charset="0"/>
              </a:endParaRPr>
            </a:p>
          </p:txBody>
        </p:sp>
        <p:sp>
          <p:nvSpPr>
            <p:cNvPr id="6" name="object 4">
              <a:extLst>
                <a:ext uri="{FF2B5EF4-FFF2-40B4-BE49-F238E27FC236}">
                  <a16:creationId xmlns:a16="http://schemas.microsoft.com/office/drawing/2014/main" id="{FB0CA052-B527-2031-1521-D74275C9F1F7}"/>
                </a:ext>
              </a:extLst>
            </p:cNvPr>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endParaRPr>
                <a:latin typeface="Calibri" panose="020F0502020204030204" pitchFamily="34" charset="0"/>
                <a:cs typeface="Calibri" panose="020F0502020204030204" pitchFamily="34" charset="0"/>
              </a:endParaRPr>
            </a:p>
          </p:txBody>
        </p:sp>
      </p:grpSp>
      <p:sp>
        <p:nvSpPr>
          <p:cNvPr id="37" name="Slide Number Placeholder 36">
            <a:extLst>
              <a:ext uri="{FF2B5EF4-FFF2-40B4-BE49-F238E27FC236}">
                <a16:creationId xmlns:a16="http://schemas.microsoft.com/office/drawing/2014/main" id="{DF1A1C18-B171-5E87-D98C-0E81A6A8FE31}"/>
              </a:ext>
            </a:extLst>
          </p:cNvPr>
          <p:cNvSpPr>
            <a:spLocks noGrp="1"/>
          </p:cNvSpPr>
          <p:nvPr>
            <p:ph type="sldNum" sz="quarter" idx="7"/>
          </p:nvPr>
        </p:nvSpPr>
        <p:spPr>
          <a:xfrm>
            <a:off x="11430000" y="64770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41</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11" name="object 5" descr="$PPTXTitle">
            <a:extLst>
              <a:ext uri="{FF2B5EF4-FFF2-40B4-BE49-F238E27FC236}">
                <a16:creationId xmlns:a16="http://schemas.microsoft.com/office/drawing/2014/main" id="{F32F52BC-95B2-DF5B-3754-1EB620EAF1BF}"/>
              </a:ext>
            </a:extLst>
          </p:cNvPr>
          <p:cNvSpPr txBox="1">
            <a:spLocks noGrp="1"/>
          </p:cNvSpPr>
          <p:nvPr>
            <p:ph type="title"/>
          </p:nvPr>
        </p:nvSpPr>
        <p:spPr>
          <a:xfrm>
            <a:off x="1137" y="3047036"/>
            <a:ext cx="12190863" cy="763927"/>
          </a:xfrm>
          <a:prstGeom prst="rect">
            <a:avLst/>
          </a:prstGeom>
        </p:spPr>
        <p:txBody>
          <a:bodyPr vert="horz" wrap="square" lIns="0" tIns="12700" rIns="0" bIns="0" rtlCol="0">
            <a:spAutoFit/>
          </a:bodyPr>
          <a:lstStyle/>
          <a:p>
            <a:pPr marL="0" indent="0" algn="ctr"/>
            <a:r>
              <a:rPr lang="en-US" sz="6000" b="0" dirty="0">
                <a:solidFill>
                  <a:srgbClr val="FFFFFF"/>
                </a:solidFill>
                <a:latin typeface="Calibri" panose="020F0502020204030204" pitchFamily="34" charset="0"/>
                <a:ea typeface="Calibri" pitchFamily="34" charset="-122"/>
                <a:cs typeface="Calibri" panose="020F0502020204030204" pitchFamily="34" charset="0"/>
              </a:rPr>
              <a:t>Transformers for Multimodal AI</a:t>
            </a:r>
            <a:endParaRPr lang="en-US" sz="6000" b="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F49335F-7082-872F-9D87-ADFFBF9093E9}"/>
              </a:ext>
            </a:extLst>
          </p:cNvPr>
          <p:cNvSpPr txBox="1"/>
          <p:nvPr/>
        </p:nvSpPr>
        <p:spPr>
          <a:xfrm>
            <a:off x="0" y="4343400"/>
            <a:ext cx="12192000" cy="307777"/>
          </a:xfrm>
          <a:prstGeom prst="rect">
            <a:avLst/>
          </a:prstGeom>
          <a:noFill/>
        </p:spPr>
        <p:txBody>
          <a:bodyPr wrap="square" rtlCol="0">
            <a:spAutoFit/>
          </a:bodyPr>
          <a:lstStyle/>
          <a:p>
            <a:pPr algn="ctr"/>
            <a:r>
              <a:rPr lang="en-US" sz="1400" i="1" dirty="0">
                <a:solidFill>
                  <a:schemeClr val="bg1">
                    <a:lumMod val="65000"/>
                  </a:schemeClr>
                </a:solidFill>
                <a:latin typeface="Calibri" panose="020F0502020204030204" pitchFamily="34" charset="0"/>
                <a:cs typeface="Calibri" panose="020F0502020204030204" pitchFamily="34" charset="0"/>
              </a:rPr>
              <a:t>How Transformers connect multiple types of input together</a:t>
            </a:r>
          </a:p>
        </p:txBody>
      </p:sp>
    </p:spTree>
    <p:extLst>
      <p:ext uri="{BB962C8B-B14F-4D97-AF65-F5344CB8AC3E}">
        <p14:creationId xmlns:p14="http://schemas.microsoft.com/office/powerpoint/2010/main" val="3012734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AB8FC-8320-0703-F66C-72E9034D12C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4396087-C1B1-6771-B7D3-6E834A234114}"/>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solidFill>
                  <a:srgbClr val="FFFFFF"/>
                </a:solidFill>
                <a:latin typeface="Calibri" panose="020F0502020204030204" pitchFamily="34" charset="0"/>
                <a:ea typeface="Calibri" pitchFamily="34" charset="-122"/>
                <a:cs typeface="Calibri" panose="020F0502020204030204" pitchFamily="34" charset="0"/>
              </a:rPr>
              <a:t>7. Transformers for Multimodal AI</a:t>
            </a:r>
            <a:endParaRPr lang="en-US" sz="3200" b="1" dirty="0">
              <a:latin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4921961D-8549-4882-0F47-654C3C7B56AD}"/>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3B8F71A0-D438-A840-1865-B852D6E05844}"/>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42</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F88D62F-D2EC-E467-3E6A-D7F27DD4E257}"/>
              </a:ext>
            </a:extLst>
          </p:cNvPr>
          <p:cNvSpPr txBox="1"/>
          <p:nvPr/>
        </p:nvSpPr>
        <p:spPr>
          <a:xfrm>
            <a:off x="361601" y="1073133"/>
            <a:ext cx="5784487" cy="4278094"/>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Vision + Language</a:t>
            </a:r>
          </a:p>
          <a:p>
            <a:pPr marL="457200" lvl="0" indent="-457200" algn="just">
              <a:buFont typeface="+mj-lt"/>
              <a:buAutoNum type="arabicPeriod"/>
            </a:pPr>
            <a:endParaRPr lang="en-US" dirty="0">
              <a:latin typeface="Calibri" panose="020F0502020204030204" pitchFamily="34" charset="0"/>
              <a:cs typeface="Calibri" panose="020F0502020204030204" pitchFamily="34" charset="0"/>
            </a:endParaRPr>
          </a:p>
          <a:p>
            <a:pPr marL="457200" lvl="0" indent="-457200" algn="just">
              <a:buFont typeface="+mj-lt"/>
              <a:buAutoNum type="arabicPeriod"/>
            </a:pPr>
            <a:r>
              <a:rPr lang="en-US" dirty="0">
                <a:latin typeface="Calibri" panose="020F0502020204030204" pitchFamily="34" charset="0"/>
                <a:cs typeface="Calibri" panose="020F0502020204030204" pitchFamily="34" charset="0"/>
              </a:rPr>
              <a:t>Images and text are converted into embeddings.</a:t>
            </a:r>
          </a:p>
          <a:p>
            <a:pPr marL="457200" lvl="0" indent="-457200" algn="just">
              <a:buFont typeface="+mj-lt"/>
              <a:buAutoNum type="arabicPeriod"/>
            </a:pPr>
            <a:r>
              <a:rPr lang="en-US" i="1" dirty="0">
                <a:latin typeface="Calibri" panose="020F0502020204030204" pitchFamily="34" charset="0"/>
                <a:cs typeface="Calibri" panose="020F0502020204030204" pitchFamily="34" charset="0"/>
              </a:rPr>
              <a:t>Cross-attention</a:t>
            </a:r>
            <a:r>
              <a:rPr lang="en-US" dirty="0">
                <a:latin typeface="Calibri" panose="020F0502020204030204" pitchFamily="34" charset="0"/>
                <a:cs typeface="Calibri" panose="020F0502020204030204" pitchFamily="34" charset="0"/>
              </a:rPr>
              <a:t> connects the two modalities, allowing information from one to influence the other. </a:t>
            </a:r>
          </a:p>
          <a:p>
            <a:pPr marL="800100" lvl="1" indent="-342900" algn="just">
              <a:buFont typeface="Arial" panose="020B0604020202020204" pitchFamily="34" charset="0"/>
              <a:buChar char="•"/>
            </a:pPr>
            <a:r>
              <a:rPr lang="en-US" sz="1600" i="1" dirty="0">
                <a:latin typeface="Calibri" panose="020F0502020204030204" pitchFamily="34" charset="0"/>
                <a:cs typeface="Calibri" panose="020F0502020204030204" pitchFamily="34" charset="0"/>
              </a:rPr>
              <a:t>Example: “What color is the car?” → the text focuses on the relevant image region → “Red.”</a:t>
            </a:r>
            <a:r>
              <a:rPr lang="en-US" sz="1600" dirty="0">
                <a:latin typeface="Calibri" panose="020F0502020204030204" pitchFamily="34" charset="0"/>
                <a:cs typeface="Calibri" panose="020F0502020204030204" pitchFamily="34" charset="0"/>
              </a:rPr>
              <a:t> </a:t>
            </a:r>
          </a:p>
          <a:p>
            <a:pPr marL="457200" lvl="0" indent="-457200" algn="just">
              <a:buFont typeface="+mj-lt"/>
              <a:buAutoNum type="arabicPeriod"/>
            </a:pPr>
            <a:r>
              <a:rPr lang="en-US" dirty="0">
                <a:latin typeface="Calibri" panose="020F0502020204030204" pitchFamily="34" charset="0"/>
                <a:cs typeface="Calibri" panose="020F0502020204030204" pitchFamily="34" charset="0"/>
              </a:rPr>
              <a:t>This supports tasks such as image captioning, visual question answering, and image–text retrieval. </a:t>
            </a:r>
          </a:p>
          <a:p>
            <a:pPr marL="457200" lvl="0" indent="-457200" algn="just">
              <a:buFont typeface="+mj-lt"/>
              <a:buAutoNum type="arabicPeriod"/>
            </a:pPr>
            <a:r>
              <a:rPr lang="en-US" dirty="0">
                <a:latin typeface="Calibri" panose="020F0502020204030204" pitchFamily="34" charset="0"/>
                <a:cs typeface="Calibri" panose="020F0502020204030204" pitchFamily="34" charset="0"/>
              </a:rPr>
              <a:t>During training, paired images and text help the model learn relationships between visual content and language. </a:t>
            </a:r>
          </a:p>
          <a:p>
            <a:pPr marL="457200" indent="-457200" algn="just">
              <a:buFont typeface="+mj-lt"/>
              <a:buAutoNum type="arabicPeriod"/>
            </a:pPr>
            <a:endParaRPr lang="en-US" dirty="0">
              <a:latin typeface="Calibri" panose="020F0502020204030204" pitchFamily="34" charset="0"/>
              <a:cs typeface="Calibri" panose="020F0502020204030204" pitchFamily="34" charset="0"/>
            </a:endParaRPr>
          </a:p>
          <a:p>
            <a:pPr marL="457200" indent="-457200" algn="just">
              <a:buFont typeface="+mj-lt"/>
              <a:buAutoNum type="arabicPeriod"/>
            </a:pPr>
            <a:r>
              <a:rPr lang="en-US" dirty="0">
                <a:latin typeface="Calibri" panose="020F0502020204030204" pitchFamily="34" charset="0"/>
                <a:cs typeface="Calibri" panose="020F0502020204030204" pitchFamily="34" charset="0"/>
              </a:rPr>
              <a:t>Vision provides visual information + Language provides meaning → Cross-Attention connects them.</a:t>
            </a:r>
          </a:p>
        </p:txBody>
      </p:sp>
      <p:grpSp>
        <p:nvGrpSpPr>
          <p:cNvPr id="12" name="Group 11">
            <a:extLst>
              <a:ext uri="{FF2B5EF4-FFF2-40B4-BE49-F238E27FC236}">
                <a16:creationId xmlns:a16="http://schemas.microsoft.com/office/drawing/2014/main" id="{DA1F6986-6257-8046-7D4E-21EF35A4D4EF}"/>
              </a:ext>
            </a:extLst>
          </p:cNvPr>
          <p:cNvGrpSpPr/>
          <p:nvPr/>
        </p:nvGrpSpPr>
        <p:grpSpPr>
          <a:xfrm>
            <a:off x="6907068" y="913087"/>
            <a:ext cx="4827732" cy="5667913"/>
            <a:chOff x="6907068" y="913087"/>
            <a:chExt cx="4827732" cy="5667913"/>
          </a:xfrm>
        </p:grpSpPr>
        <p:grpSp>
          <p:nvGrpSpPr>
            <p:cNvPr id="310" name="Group 309">
              <a:extLst>
                <a:ext uri="{FF2B5EF4-FFF2-40B4-BE49-F238E27FC236}">
                  <a16:creationId xmlns:a16="http://schemas.microsoft.com/office/drawing/2014/main" id="{41045F67-6DAD-3D09-4FF7-839293E8B4D2}"/>
                </a:ext>
              </a:extLst>
            </p:cNvPr>
            <p:cNvGrpSpPr/>
            <p:nvPr/>
          </p:nvGrpSpPr>
          <p:grpSpPr>
            <a:xfrm>
              <a:off x="6907068" y="913087"/>
              <a:ext cx="4827732" cy="5667913"/>
              <a:chOff x="6889738" y="913712"/>
              <a:chExt cx="4827732" cy="5667913"/>
            </a:xfrm>
          </p:grpSpPr>
          <p:grpSp>
            <p:nvGrpSpPr>
              <p:cNvPr id="262" name="Group 261">
                <a:extLst>
                  <a:ext uri="{FF2B5EF4-FFF2-40B4-BE49-F238E27FC236}">
                    <a16:creationId xmlns:a16="http://schemas.microsoft.com/office/drawing/2014/main" id="{A3A2A8A0-202A-221B-2591-5356217A6B23}"/>
                  </a:ext>
                </a:extLst>
              </p:cNvPr>
              <p:cNvGrpSpPr/>
              <p:nvPr/>
            </p:nvGrpSpPr>
            <p:grpSpPr>
              <a:xfrm>
                <a:off x="6889738" y="913712"/>
                <a:ext cx="4562098" cy="5628867"/>
                <a:chOff x="7207533" y="917261"/>
                <a:chExt cx="4638665" cy="5660171"/>
              </a:xfrm>
            </p:grpSpPr>
            <p:sp>
              <p:nvSpPr>
                <p:cNvPr id="95" name="TextBox 94">
                  <a:extLst>
                    <a:ext uri="{FF2B5EF4-FFF2-40B4-BE49-F238E27FC236}">
                      <a16:creationId xmlns:a16="http://schemas.microsoft.com/office/drawing/2014/main" id="{C716C24A-F59A-82A0-E4A3-EA3D66097229}"/>
                    </a:ext>
                  </a:extLst>
                </p:cNvPr>
                <p:cNvSpPr txBox="1"/>
                <p:nvPr/>
              </p:nvSpPr>
              <p:spPr>
                <a:xfrm>
                  <a:off x="9289235" y="5496806"/>
                  <a:ext cx="228601" cy="400110"/>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a:t>
                  </a:r>
                </a:p>
              </p:txBody>
            </p:sp>
            <p:grpSp>
              <p:nvGrpSpPr>
                <p:cNvPr id="218" name="Group 217">
                  <a:extLst>
                    <a:ext uri="{FF2B5EF4-FFF2-40B4-BE49-F238E27FC236}">
                      <a16:creationId xmlns:a16="http://schemas.microsoft.com/office/drawing/2014/main" id="{1F423362-CF5F-513F-9650-C1FA6F0BD988}"/>
                    </a:ext>
                  </a:extLst>
                </p:cNvPr>
                <p:cNvGrpSpPr/>
                <p:nvPr/>
              </p:nvGrpSpPr>
              <p:grpSpPr>
                <a:xfrm>
                  <a:off x="7207533" y="917261"/>
                  <a:ext cx="4638665" cy="5660171"/>
                  <a:chOff x="7207533" y="917261"/>
                  <a:chExt cx="4638665" cy="5660171"/>
                </a:xfrm>
              </p:grpSpPr>
              <p:pic>
                <p:nvPicPr>
                  <p:cNvPr id="44" name="Picture 43">
                    <a:extLst>
                      <a:ext uri="{FF2B5EF4-FFF2-40B4-BE49-F238E27FC236}">
                        <a16:creationId xmlns:a16="http://schemas.microsoft.com/office/drawing/2014/main" id="{4016A512-1605-91D5-D6CB-AFF2E44CCE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7533" y="2261427"/>
                    <a:ext cx="1544306" cy="991164"/>
                  </a:xfrm>
                  <a:prstGeom prst="rect">
                    <a:avLst/>
                  </a:prstGeom>
                </p:spPr>
              </p:pic>
              <p:grpSp>
                <p:nvGrpSpPr>
                  <p:cNvPr id="217" name="Group 216">
                    <a:extLst>
                      <a:ext uri="{FF2B5EF4-FFF2-40B4-BE49-F238E27FC236}">
                        <a16:creationId xmlns:a16="http://schemas.microsoft.com/office/drawing/2014/main" id="{D0CF43FE-10B0-D38F-210D-4433C39A2D92}"/>
                      </a:ext>
                    </a:extLst>
                  </p:cNvPr>
                  <p:cNvGrpSpPr/>
                  <p:nvPr/>
                </p:nvGrpSpPr>
                <p:grpSpPr>
                  <a:xfrm>
                    <a:off x="7270360" y="917261"/>
                    <a:ext cx="4575838" cy="5660171"/>
                    <a:chOff x="7270360" y="917261"/>
                    <a:chExt cx="4575838" cy="5660171"/>
                  </a:xfrm>
                </p:grpSpPr>
                <p:sp>
                  <p:nvSpPr>
                    <p:cNvPr id="206" name="TextBox 205">
                      <a:extLst>
                        <a:ext uri="{FF2B5EF4-FFF2-40B4-BE49-F238E27FC236}">
                          <a16:creationId xmlns:a16="http://schemas.microsoft.com/office/drawing/2014/main" id="{03C1340A-BB63-72E3-6056-CCA6FAB4FC2A}"/>
                        </a:ext>
                      </a:extLst>
                    </p:cNvPr>
                    <p:cNvSpPr txBox="1"/>
                    <p:nvPr/>
                  </p:nvSpPr>
                  <p:spPr>
                    <a:xfrm>
                      <a:off x="7854962" y="3250119"/>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208" name="TextBox 207">
                      <a:extLst>
                        <a:ext uri="{FF2B5EF4-FFF2-40B4-BE49-F238E27FC236}">
                          <a16:creationId xmlns:a16="http://schemas.microsoft.com/office/drawing/2014/main" id="{C5326151-7203-C46F-5BC2-49F19749F172}"/>
                        </a:ext>
                      </a:extLst>
                    </p:cNvPr>
                    <p:cNvSpPr txBox="1"/>
                    <p:nvPr/>
                  </p:nvSpPr>
                  <p:spPr>
                    <a:xfrm>
                      <a:off x="10685419" y="3280583"/>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210" name="TextBox 209">
                      <a:extLst>
                        <a:ext uri="{FF2B5EF4-FFF2-40B4-BE49-F238E27FC236}">
                          <a16:creationId xmlns:a16="http://schemas.microsoft.com/office/drawing/2014/main" id="{6E0BB7CA-E67A-DD03-5108-5BD40AD2A531}"/>
                        </a:ext>
                      </a:extLst>
                    </p:cNvPr>
                    <p:cNvSpPr txBox="1"/>
                    <p:nvPr/>
                  </p:nvSpPr>
                  <p:spPr>
                    <a:xfrm>
                      <a:off x="7873210" y="1379204"/>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211" name="TextBox 210">
                      <a:extLst>
                        <a:ext uri="{FF2B5EF4-FFF2-40B4-BE49-F238E27FC236}">
                          <a16:creationId xmlns:a16="http://schemas.microsoft.com/office/drawing/2014/main" id="{1AB03BCC-01A7-D545-57CE-1E17A8559215}"/>
                        </a:ext>
                      </a:extLst>
                    </p:cNvPr>
                    <p:cNvSpPr txBox="1"/>
                    <p:nvPr/>
                  </p:nvSpPr>
                  <p:spPr>
                    <a:xfrm>
                      <a:off x="10674315" y="1370079"/>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212" name="TextBox 211">
                      <a:extLst>
                        <a:ext uri="{FF2B5EF4-FFF2-40B4-BE49-F238E27FC236}">
                          <a16:creationId xmlns:a16="http://schemas.microsoft.com/office/drawing/2014/main" id="{9A12A3EE-8BD1-F24F-284B-E9AA8926889E}"/>
                        </a:ext>
                      </a:extLst>
                    </p:cNvPr>
                    <p:cNvSpPr txBox="1"/>
                    <p:nvPr/>
                  </p:nvSpPr>
                  <p:spPr>
                    <a:xfrm>
                      <a:off x="7854963" y="2129606"/>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213" name="TextBox 212">
                      <a:extLst>
                        <a:ext uri="{FF2B5EF4-FFF2-40B4-BE49-F238E27FC236}">
                          <a16:creationId xmlns:a16="http://schemas.microsoft.com/office/drawing/2014/main" id="{F17548DE-AB51-7A2C-A88D-F5EC51AFA513}"/>
                        </a:ext>
                      </a:extLst>
                    </p:cNvPr>
                    <p:cNvSpPr txBox="1"/>
                    <p:nvPr/>
                  </p:nvSpPr>
                  <p:spPr>
                    <a:xfrm>
                      <a:off x="10674314" y="2236410"/>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grpSp>
                  <p:nvGrpSpPr>
                    <p:cNvPr id="216" name="Group 215">
                      <a:extLst>
                        <a:ext uri="{FF2B5EF4-FFF2-40B4-BE49-F238E27FC236}">
                          <a16:creationId xmlns:a16="http://schemas.microsoft.com/office/drawing/2014/main" id="{C8F6D7FC-2F4D-EAA4-8C96-145B339A1C85}"/>
                        </a:ext>
                      </a:extLst>
                    </p:cNvPr>
                    <p:cNvGrpSpPr/>
                    <p:nvPr/>
                  </p:nvGrpSpPr>
                  <p:grpSpPr>
                    <a:xfrm>
                      <a:off x="7270360" y="917261"/>
                      <a:ext cx="4575838" cy="5660171"/>
                      <a:chOff x="7270360" y="917261"/>
                      <a:chExt cx="4575838" cy="5660171"/>
                    </a:xfrm>
                  </p:grpSpPr>
                  <p:cxnSp>
                    <p:nvCxnSpPr>
                      <p:cNvPr id="99" name="Connector: Elbow 98">
                        <a:extLst>
                          <a:ext uri="{FF2B5EF4-FFF2-40B4-BE49-F238E27FC236}">
                            <a16:creationId xmlns:a16="http://schemas.microsoft.com/office/drawing/2014/main" id="{A32838F5-BFE2-A36B-BFB3-CC4E9DBF4457}"/>
                          </a:ext>
                        </a:extLst>
                      </p:cNvPr>
                      <p:cNvCxnSpPr>
                        <a:cxnSpLocks/>
                      </p:cNvCxnSpPr>
                      <p:nvPr/>
                    </p:nvCxnSpPr>
                    <p:spPr>
                      <a:xfrm>
                        <a:off x="9442517" y="6015988"/>
                        <a:ext cx="675788" cy="367585"/>
                      </a:xfrm>
                      <a:prstGeom prst="bentConnector3">
                        <a:avLst>
                          <a:gd name="adj1" fmla="val 2554"/>
                        </a:avLst>
                      </a:prstGeom>
                      <a:ln>
                        <a:tailEnd type="triangle"/>
                      </a:ln>
                    </p:spPr>
                    <p:style>
                      <a:lnRef idx="1">
                        <a:schemeClr val="dk1"/>
                      </a:lnRef>
                      <a:fillRef idx="0">
                        <a:schemeClr val="dk1"/>
                      </a:fillRef>
                      <a:effectRef idx="0">
                        <a:schemeClr val="dk1"/>
                      </a:effectRef>
                      <a:fontRef idx="minor">
                        <a:schemeClr val="tx1"/>
                      </a:fontRef>
                    </p:style>
                  </p:cxnSp>
                  <p:grpSp>
                    <p:nvGrpSpPr>
                      <p:cNvPr id="202" name="Group 201">
                        <a:extLst>
                          <a:ext uri="{FF2B5EF4-FFF2-40B4-BE49-F238E27FC236}">
                            <a16:creationId xmlns:a16="http://schemas.microsoft.com/office/drawing/2014/main" id="{CC324055-F94F-3702-812A-A1CE3154AD81}"/>
                          </a:ext>
                        </a:extLst>
                      </p:cNvPr>
                      <p:cNvGrpSpPr/>
                      <p:nvPr/>
                    </p:nvGrpSpPr>
                    <p:grpSpPr>
                      <a:xfrm>
                        <a:off x="7270360" y="917261"/>
                        <a:ext cx="4575838" cy="5660171"/>
                        <a:chOff x="7270360" y="917261"/>
                        <a:chExt cx="4575838" cy="5660171"/>
                      </a:xfrm>
                    </p:grpSpPr>
                    <p:grpSp>
                      <p:nvGrpSpPr>
                        <p:cNvPr id="164" name="Group 163">
                          <a:extLst>
                            <a:ext uri="{FF2B5EF4-FFF2-40B4-BE49-F238E27FC236}">
                              <a16:creationId xmlns:a16="http://schemas.microsoft.com/office/drawing/2014/main" id="{A13EE639-0252-E6ED-1CCE-9C433AB955D9}"/>
                            </a:ext>
                          </a:extLst>
                        </p:cNvPr>
                        <p:cNvGrpSpPr/>
                        <p:nvPr/>
                      </p:nvGrpSpPr>
                      <p:grpSpPr>
                        <a:xfrm>
                          <a:off x="7350631" y="917261"/>
                          <a:ext cx="4495567" cy="5660171"/>
                          <a:chOff x="7350631" y="917261"/>
                          <a:chExt cx="4495567" cy="5660171"/>
                        </a:xfrm>
                      </p:grpSpPr>
                      <p:grpSp>
                        <p:nvGrpSpPr>
                          <p:cNvPr id="140" name="Group 139">
                            <a:extLst>
                              <a:ext uri="{FF2B5EF4-FFF2-40B4-BE49-F238E27FC236}">
                                <a16:creationId xmlns:a16="http://schemas.microsoft.com/office/drawing/2014/main" id="{DC85ECF9-1D8C-60B8-3EFF-1322E0CBE9A9}"/>
                              </a:ext>
                            </a:extLst>
                          </p:cNvPr>
                          <p:cNvGrpSpPr/>
                          <p:nvPr/>
                        </p:nvGrpSpPr>
                        <p:grpSpPr>
                          <a:xfrm>
                            <a:off x="7979686" y="2267507"/>
                            <a:ext cx="2868267" cy="2472872"/>
                            <a:chOff x="7979686" y="2267507"/>
                            <a:chExt cx="2868267" cy="2472872"/>
                          </a:xfrm>
                        </p:grpSpPr>
                        <p:sp>
                          <p:nvSpPr>
                            <p:cNvPr id="61" name="TextBox 60">
                              <a:extLst>
                                <a:ext uri="{FF2B5EF4-FFF2-40B4-BE49-F238E27FC236}">
                                  <a16:creationId xmlns:a16="http://schemas.microsoft.com/office/drawing/2014/main" id="{725A8A51-07AB-D890-BC65-8239CFBA9D8F}"/>
                                </a:ext>
                              </a:extLst>
                            </p:cNvPr>
                            <p:cNvSpPr txBox="1"/>
                            <p:nvPr/>
                          </p:nvSpPr>
                          <p:spPr>
                            <a:xfrm>
                              <a:off x="9939764" y="2267507"/>
                              <a:ext cx="278725" cy="461665"/>
                            </a:xfrm>
                            <a:prstGeom prst="rect">
                              <a:avLst/>
                            </a:prstGeom>
                            <a:noFill/>
                          </p:spPr>
                          <p:txBody>
                            <a:bodyPr wrap="square">
                              <a:spAutoFit/>
                            </a:bodyPr>
                            <a:lstStyle/>
                            <a:p>
                              <a:endParaRPr lang="en-US" sz="2400" b="1" dirty="0">
                                <a:latin typeface="Calibri" panose="020F0502020204030204" pitchFamily="34" charset="0"/>
                                <a:cs typeface="Calibri" panose="020F0502020204030204" pitchFamily="34" charset="0"/>
                              </a:endParaRPr>
                            </a:p>
                          </p:txBody>
                        </p:sp>
                        <p:cxnSp>
                          <p:nvCxnSpPr>
                            <p:cNvPr id="77" name="Connector: Elbow 76">
                              <a:extLst>
                                <a:ext uri="{FF2B5EF4-FFF2-40B4-BE49-F238E27FC236}">
                                  <a16:creationId xmlns:a16="http://schemas.microsoft.com/office/drawing/2014/main" id="{517D88A9-0736-F020-38AD-4AD29B843DA6}"/>
                                </a:ext>
                              </a:extLst>
                            </p:cNvPr>
                            <p:cNvCxnSpPr>
                              <a:cxnSpLocks/>
                            </p:cNvCxnSpPr>
                            <p:nvPr/>
                          </p:nvCxnSpPr>
                          <p:spPr>
                            <a:xfrm>
                              <a:off x="7979686" y="4381512"/>
                              <a:ext cx="557581" cy="352887"/>
                            </a:xfrm>
                            <a:prstGeom prst="bentConnector3">
                              <a:avLst>
                                <a:gd name="adj1" fmla="val -1115"/>
                              </a:avLst>
                            </a:prstGeom>
                            <a:ln>
                              <a:tailEnd type="triangle"/>
                            </a:ln>
                          </p:spPr>
                          <p:style>
                            <a:lnRef idx="1">
                              <a:schemeClr val="dk1"/>
                            </a:lnRef>
                            <a:fillRef idx="0">
                              <a:schemeClr val="dk1"/>
                            </a:fillRef>
                            <a:effectRef idx="0">
                              <a:schemeClr val="dk1"/>
                            </a:effectRef>
                            <a:fontRef idx="minor">
                              <a:schemeClr val="tx1"/>
                            </a:fontRef>
                          </p:style>
                        </p:cxnSp>
                        <p:cxnSp>
                          <p:nvCxnSpPr>
                            <p:cNvPr id="85" name="Connector: Elbow 84">
                              <a:extLst>
                                <a:ext uri="{FF2B5EF4-FFF2-40B4-BE49-F238E27FC236}">
                                  <a16:creationId xmlns:a16="http://schemas.microsoft.com/office/drawing/2014/main" id="{744C6BD2-39B3-8082-C05F-5EB6433780AE}"/>
                                </a:ext>
                              </a:extLst>
                            </p:cNvPr>
                            <p:cNvCxnSpPr>
                              <a:cxnSpLocks/>
                            </p:cNvCxnSpPr>
                            <p:nvPr/>
                          </p:nvCxnSpPr>
                          <p:spPr>
                            <a:xfrm rot="10800000" flipV="1">
                              <a:off x="10189496" y="4340361"/>
                              <a:ext cx="658457" cy="400018"/>
                            </a:xfrm>
                            <a:prstGeom prst="bentConnector3">
                              <a:avLst>
                                <a:gd name="adj1" fmla="val -498"/>
                              </a:avLst>
                            </a:prstGeom>
                            <a:ln>
                              <a:tailEnd type="triangle"/>
                            </a:ln>
                          </p:spPr>
                          <p:style>
                            <a:lnRef idx="1">
                              <a:schemeClr val="dk1"/>
                            </a:lnRef>
                            <a:fillRef idx="0">
                              <a:schemeClr val="dk1"/>
                            </a:fillRef>
                            <a:effectRef idx="0">
                              <a:schemeClr val="dk1"/>
                            </a:effectRef>
                            <a:fontRef idx="minor">
                              <a:schemeClr val="tx1"/>
                            </a:fontRef>
                          </p:style>
                        </p:cxnSp>
                      </p:grpSp>
                      <p:cxnSp>
                        <p:nvCxnSpPr>
                          <p:cNvPr id="124" name="Straight Arrow Connector 123">
                            <a:extLst>
                              <a:ext uri="{FF2B5EF4-FFF2-40B4-BE49-F238E27FC236}">
                                <a16:creationId xmlns:a16="http://schemas.microsoft.com/office/drawing/2014/main" id="{1C3E9DF6-1E3A-8D98-E75C-1C75C5D87C38}"/>
                              </a:ext>
                            </a:extLst>
                          </p:cNvPr>
                          <p:cNvCxnSpPr>
                            <a:cxnSpLocks/>
                          </p:cNvCxnSpPr>
                          <p:nvPr/>
                        </p:nvCxnSpPr>
                        <p:spPr>
                          <a:xfrm>
                            <a:off x="10127144" y="5870189"/>
                            <a:ext cx="311663"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141" name="Group 140">
                            <a:extLst>
                              <a:ext uri="{FF2B5EF4-FFF2-40B4-BE49-F238E27FC236}">
                                <a16:creationId xmlns:a16="http://schemas.microsoft.com/office/drawing/2014/main" id="{C67AE14E-5E2B-5094-CD60-225612896E92}"/>
                              </a:ext>
                            </a:extLst>
                          </p:cNvPr>
                          <p:cNvGrpSpPr/>
                          <p:nvPr/>
                        </p:nvGrpSpPr>
                        <p:grpSpPr>
                          <a:xfrm>
                            <a:off x="7350631" y="917261"/>
                            <a:ext cx="4495567" cy="5660171"/>
                            <a:chOff x="7350631" y="917261"/>
                            <a:chExt cx="4495567" cy="5660171"/>
                          </a:xfrm>
                        </p:grpSpPr>
                        <p:grpSp>
                          <p:nvGrpSpPr>
                            <p:cNvPr id="138" name="Group 137">
                              <a:extLst>
                                <a:ext uri="{FF2B5EF4-FFF2-40B4-BE49-F238E27FC236}">
                                  <a16:creationId xmlns:a16="http://schemas.microsoft.com/office/drawing/2014/main" id="{7B3139F3-0B0A-08C9-F543-BC4EF035FC2E}"/>
                                </a:ext>
                              </a:extLst>
                            </p:cNvPr>
                            <p:cNvGrpSpPr/>
                            <p:nvPr/>
                          </p:nvGrpSpPr>
                          <p:grpSpPr>
                            <a:xfrm>
                              <a:off x="7436745" y="917261"/>
                              <a:ext cx="4088126" cy="1390477"/>
                              <a:chOff x="7436745" y="917261"/>
                              <a:chExt cx="4088126" cy="1390477"/>
                            </a:xfrm>
                          </p:grpSpPr>
                          <p:pic>
                            <p:nvPicPr>
                              <p:cNvPr id="33" name="Picture 32">
                                <a:extLst>
                                  <a:ext uri="{FF2B5EF4-FFF2-40B4-BE49-F238E27FC236}">
                                    <a16:creationId xmlns:a16="http://schemas.microsoft.com/office/drawing/2014/main" id="{58FB380C-E325-4C4E-F290-F870F94196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34996" y="1693135"/>
                                <a:ext cx="979824" cy="549818"/>
                              </a:xfrm>
                              <a:prstGeom prst="rect">
                                <a:avLst/>
                              </a:prstGeom>
                            </p:spPr>
                          </p:pic>
                          <p:grpSp>
                            <p:nvGrpSpPr>
                              <p:cNvPr id="137" name="Group 136">
                                <a:extLst>
                                  <a:ext uri="{FF2B5EF4-FFF2-40B4-BE49-F238E27FC236}">
                                    <a16:creationId xmlns:a16="http://schemas.microsoft.com/office/drawing/2014/main" id="{E23E375B-F1CB-9B70-0222-D90039B0FB20}"/>
                                  </a:ext>
                                </a:extLst>
                              </p:cNvPr>
                              <p:cNvGrpSpPr/>
                              <p:nvPr/>
                            </p:nvGrpSpPr>
                            <p:grpSpPr>
                              <a:xfrm>
                                <a:off x="7436745" y="917261"/>
                                <a:ext cx="3934514" cy="584224"/>
                                <a:chOff x="7436745" y="917261"/>
                                <a:chExt cx="3934514" cy="584224"/>
                              </a:xfrm>
                            </p:grpSpPr>
                            <p:sp>
                              <p:nvSpPr>
                                <p:cNvPr id="35" name="Oval 34">
                                  <a:extLst>
                                    <a:ext uri="{FF2B5EF4-FFF2-40B4-BE49-F238E27FC236}">
                                      <a16:creationId xmlns:a16="http://schemas.microsoft.com/office/drawing/2014/main" id="{F824D86B-B354-D1AB-6278-228D3B1CB2FE}"/>
                                    </a:ext>
                                  </a:extLst>
                                </p:cNvPr>
                                <p:cNvSpPr/>
                                <p:nvPr/>
                              </p:nvSpPr>
                              <p:spPr>
                                <a:xfrm>
                                  <a:off x="10256097" y="917261"/>
                                  <a:ext cx="1115162" cy="571189"/>
                                </a:xfrm>
                                <a:prstGeom prst="ellipse">
                                  <a:avLst/>
                                </a:prstGeom>
                                <a:solidFill>
                                  <a:srgbClr val="3535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alibri" panose="020F0502020204030204" pitchFamily="34" charset="0"/>
                                      <a:cs typeface="Calibri" panose="020F0502020204030204" pitchFamily="34" charset="0"/>
                                    </a:rPr>
                                    <a:t>Language</a:t>
                                  </a:r>
                                </a:p>
                              </p:txBody>
                            </p:sp>
                            <p:sp>
                              <p:nvSpPr>
                                <p:cNvPr id="38" name="Oval 37">
                                  <a:extLst>
                                    <a:ext uri="{FF2B5EF4-FFF2-40B4-BE49-F238E27FC236}">
                                      <a16:creationId xmlns:a16="http://schemas.microsoft.com/office/drawing/2014/main" id="{C520487B-A825-385C-43A3-C2AA120413A7}"/>
                                    </a:ext>
                                  </a:extLst>
                                </p:cNvPr>
                                <p:cNvSpPr/>
                                <p:nvPr/>
                              </p:nvSpPr>
                              <p:spPr>
                                <a:xfrm>
                                  <a:off x="7436745" y="930296"/>
                                  <a:ext cx="1115162" cy="571189"/>
                                </a:xfrm>
                                <a:prstGeom prst="ellipse">
                                  <a:avLst/>
                                </a:prstGeom>
                                <a:solidFill>
                                  <a:srgbClr val="3535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alibri" panose="020F0502020204030204" pitchFamily="34" charset="0"/>
                                      <a:cs typeface="Calibri" panose="020F0502020204030204" pitchFamily="34" charset="0"/>
                                    </a:rPr>
                                    <a:t>Vision</a:t>
                                  </a:r>
                                </a:p>
                              </p:txBody>
                            </p:sp>
                          </p:grpSp>
                          <p:sp>
                            <p:nvSpPr>
                              <p:cNvPr id="57" name="Rectangle: Rounded Corners 56">
                                <a:extLst>
                                  <a:ext uri="{FF2B5EF4-FFF2-40B4-BE49-F238E27FC236}">
                                    <a16:creationId xmlns:a16="http://schemas.microsoft.com/office/drawing/2014/main" id="{1C39E8AC-3CDC-B140-35F6-FB2C06172E90}"/>
                                  </a:ext>
                                </a:extLst>
                              </p:cNvPr>
                              <p:cNvSpPr/>
                              <p:nvPr/>
                            </p:nvSpPr>
                            <p:spPr>
                              <a:xfrm>
                                <a:off x="10189495" y="1872419"/>
                                <a:ext cx="1335376" cy="435319"/>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What color is the car?</a:t>
                                </a:r>
                              </a:p>
                            </p:txBody>
                          </p:sp>
                        </p:grpSp>
                        <p:sp>
                          <p:nvSpPr>
                            <p:cNvPr id="63" name="Rectangle: Rounded Corners 62">
                              <a:extLst>
                                <a:ext uri="{FF2B5EF4-FFF2-40B4-BE49-F238E27FC236}">
                                  <a16:creationId xmlns:a16="http://schemas.microsoft.com/office/drawing/2014/main" id="{0236F142-BD93-A1A0-5534-E79D2EF4A3C7}"/>
                                </a:ext>
                              </a:extLst>
                            </p:cNvPr>
                            <p:cNvSpPr/>
                            <p:nvPr/>
                          </p:nvSpPr>
                          <p:spPr>
                            <a:xfrm>
                              <a:off x="10169343" y="2585739"/>
                              <a:ext cx="1406317" cy="750573"/>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“what”  “color”  “is”  “the ” “car”  “?”</a:t>
                              </a:r>
                            </a:p>
                          </p:txBody>
                        </p:sp>
                        <p:grpSp>
                          <p:nvGrpSpPr>
                            <p:cNvPr id="139" name="Group 138">
                              <a:extLst>
                                <a:ext uri="{FF2B5EF4-FFF2-40B4-BE49-F238E27FC236}">
                                  <a16:creationId xmlns:a16="http://schemas.microsoft.com/office/drawing/2014/main" id="{A4D81964-AC52-0716-DB7E-0D1E0AC71349}"/>
                                </a:ext>
                              </a:extLst>
                            </p:cNvPr>
                            <p:cNvGrpSpPr/>
                            <p:nvPr/>
                          </p:nvGrpSpPr>
                          <p:grpSpPr>
                            <a:xfrm>
                              <a:off x="8776474" y="4600564"/>
                              <a:ext cx="1254125" cy="1056614"/>
                              <a:chOff x="8776474" y="4600564"/>
                              <a:chExt cx="1254125" cy="1056614"/>
                            </a:xfrm>
                          </p:grpSpPr>
                          <p:grpSp>
                            <p:nvGrpSpPr>
                              <p:cNvPr id="135" name="Group 134">
                                <a:extLst>
                                  <a:ext uri="{FF2B5EF4-FFF2-40B4-BE49-F238E27FC236}">
                                    <a16:creationId xmlns:a16="http://schemas.microsoft.com/office/drawing/2014/main" id="{9E48BD7A-C45F-3EFA-718B-A80DBAE42D28}"/>
                                  </a:ext>
                                </a:extLst>
                              </p:cNvPr>
                              <p:cNvGrpSpPr/>
                              <p:nvPr/>
                            </p:nvGrpSpPr>
                            <p:grpSpPr>
                              <a:xfrm>
                                <a:off x="8776474" y="4600564"/>
                                <a:ext cx="1254125" cy="1056614"/>
                                <a:chOff x="8776474" y="4600564"/>
                                <a:chExt cx="1254125" cy="1056614"/>
                              </a:xfrm>
                            </p:grpSpPr>
                            <p:sp>
                              <p:nvSpPr>
                                <p:cNvPr id="55" name="Flowchart: Multidocument 54">
                                  <a:extLst>
                                    <a:ext uri="{FF2B5EF4-FFF2-40B4-BE49-F238E27FC236}">
                                      <a16:creationId xmlns:a16="http://schemas.microsoft.com/office/drawing/2014/main" id="{52FBBE8E-49A7-4D89-264A-0F93C1321155}"/>
                                    </a:ext>
                                  </a:extLst>
                                </p:cNvPr>
                                <p:cNvSpPr/>
                                <p:nvPr/>
                              </p:nvSpPr>
                              <p:spPr>
                                <a:xfrm>
                                  <a:off x="8817895" y="4600564"/>
                                  <a:ext cx="1212704" cy="414006"/>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alibri" panose="020F0502020204030204" pitchFamily="34" charset="0"/>
                                      <a:cs typeface="Calibri" panose="020F0502020204030204" pitchFamily="34" charset="0"/>
                                    </a:rPr>
                                    <a:t>Self-Attention</a:t>
                                  </a:r>
                                </a:p>
                              </p:txBody>
                            </p:sp>
                            <p:sp>
                              <p:nvSpPr>
                                <p:cNvPr id="71" name="Flowchart: Multidocument 70">
                                  <a:extLst>
                                    <a:ext uri="{FF2B5EF4-FFF2-40B4-BE49-F238E27FC236}">
                                      <a16:creationId xmlns:a16="http://schemas.microsoft.com/office/drawing/2014/main" id="{EB08C06F-E82A-486F-BF40-8AA58CAD0937}"/>
                                    </a:ext>
                                  </a:extLst>
                                </p:cNvPr>
                                <p:cNvSpPr/>
                                <p:nvPr/>
                              </p:nvSpPr>
                              <p:spPr>
                                <a:xfrm>
                                  <a:off x="8776474" y="5243172"/>
                                  <a:ext cx="1254125" cy="414006"/>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libri" panose="020F0502020204030204" pitchFamily="34" charset="0"/>
                                      <a:cs typeface="Calibri" panose="020F0502020204030204" pitchFamily="34" charset="0"/>
                                    </a:rPr>
                                    <a:t>Cross-Attention</a:t>
                                  </a:r>
                                </a:p>
                              </p:txBody>
                            </p:sp>
                          </p:grpSp>
                          <p:sp>
                            <p:nvSpPr>
                              <p:cNvPr id="73" name="TextBox 72">
                                <a:extLst>
                                  <a:ext uri="{FF2B5EF4-FFF2-40B4-BE49-F238E27FC236}">
                                    <a16:creationId xmlns:a16="http://schemas.microsoft.com/office/drawing/2014/main" id="{02DC00D4-0D74-4355-9FE0-7B09BDC07404}"/>
                                  </a:ext>
                                </a:extLst>
                              </p:cNvPr>
                              <p:cNvSpPr txBox="1"/>
                              <p:nvPr/>
                            </p:nvSpPr>
                            <p:spPr>
                              <a:xfrm>
                                <a:off x="9280108" y="4848630"/>
                                <a:ext cx="228601" cy="400110"/>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a:t>
                                </a:r>
                              </a:p>
                            </p:txBody>
                          </p:sp>
                        </p:grpSp>
                        <p:pic>
                          <p:nvPicPr>
                            <p:cNvPr id="98" name="Graphic 97" descr="Gears with solid fill">
                              <a:extLst>
                                <a:ext uri="{FF2B5EF4-FFF2-40B4-BE49-F238E27FC236}">
                                  <a16:creationId xmlns:a16="http://schemas.microsoft.com/office/drawing/2014/main" id="{E150D374-C116-FC78-2257-4B343D6648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3238919">
                              <a:off x="9152731" y="5695583"/>
                              <a:ext cx="543031" cy="543031"/>
                            </a:xfrm>
                            <a:prstGeom prst="rect">
                              <a:avLst/>
                            </a:prstGeom>
                          </p:spPr>
                        </p:pic>
                        <p:grpSp>
                          <p:nvGrpSpPr>
                            <p:cNvPr id="121" name="Group 120">
                              <a:extLst>
                                <a:ext uri="{FF2B5EF4-FFF2-40B4-BE49-F238E27FC236}">
                                  <a16:creationId xmlns:a16="http://schemas.microsoft.com/office/drawing/2014/main" id="{65705007-4EA9-E9AC-109F-45C4A597A15C}"/>
                                </a:ext>
                              </a:extLst>
                            </p:cNvPr>
                            <p:cNvGrpSpPr/>
                            <p:nvPr/>
                          </p:nvGrpSpPr>
                          <p:grpSpPr>
                            <a:xfrm>
                              <a:off x="10122724" y="5208365"/>
                              <a:ext cx="311663" cy="1309900"/>
                              <a:chOff x="10411071" y="4934148"/>
                              <a:chExt cx="341728" cy="1739430"/>
                            </a:xfrm>
                          </p:grpSpPr>
                          <p:cxnSp>
                            <p:nvCxnSpPr>
                              <p:cNvPr id="100" name="Straight Arrow Connector 99">
                                <a:extLst>
                                  <a:ext uri="{FF2B5EF4-FFF2-40B4-BE49-F238E27FC236}">
                                    <a16:creationId xmlns:a16="http://schemas.microsoft.com/office/drawing/2014/main" id="{2F68517D-693C-4759-5B99-C79F02F07D5B}"/>
                                  </a:ext>
                                </a:extLst>
                              </p:cNvPr>
                              <p:cNvCxnSpPr>
                                <a:cxnSpLocks/>
                              </p:cNvCxnSpPr>
                              <p:nvPr/>
                            </p:nvCxnSpPr>
                            <p:spPr>
                              <a:xfrm>
                                <a:off x="10411071" y="6671275"/>
                                <a:ext cx="34172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A270E168-1324-D04C-65CE-6B188B9FD17B}"/>
                                  </a:ext>
                                </a:extLst>
                              </p:cNvPr>
                              <p:cNvCxnSpPr>
                                <a:cxnSpLocks/>
                              </p:cNvCxnSpPr>
                              <p:nvPr/>
                            </p:nvCxnSpPr>
                            <p:spPr>
                              <a:xfrm>
                                <a:off x="10411071" y="4934726"/>
                                <a:ext cx="341728" cy="424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2" name="Straight Connector 101">
                                <a:extLst>
                                  <a:ext uri="{FF2B5EF4-FFF2-40B4-BE49-F238E27FC236}">
                                    <a16:creationId xmlns:a16="http://schemas.microsoft.com/office/drawing/2014/main" id="{8109D0E3-84A1-E15F-ECB4-C6893F4B2260}"/>
                                  </a:ext>
                                </a:extLst>
                              </p:cNvPr>
                              <p:cNvCxnSpPr>
                                <a:cxnSpLocks/>
                              </p:cNvCxnSpPr>
                              <p:nvPr/>
                            </p:nvCxnSpPr>
                            <p:spPr>
                              <a:xfrm flipV="1">
                                <a:off x="10411071" y="4934148"/>
                                <a:ext cx="0" cy="173943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grpSp>
                        <p:sp>
                          <p:nvSpPr>
                            <p:cNvPr id="125" name="TextBox 124">
                              <a:extLst>
                                <a:ext uri="{FF2B5EF4-FFF2-40B4-BE49-F238E27FC236}">
                                  <a16:creationId xmlns:a16="http://schemas.microsoft.com/office/drawing/2014/main" id="{F8C4291E-A1A0-DB25-708A-BA46DABD4B4E}"/>
                                </a:ext>
                              </a:extLst>
                            </p:cNvPr>
                            <p:cNvSpPr txBox="1"/>
                            <p:nvPr/>
                          </p:nvSpPr>
                          <p:spPr>
                            <a:xfrm>
                              <a:off x="10434387" y="5106259"/>
                              <a:ext cx="1367426" cy="27853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 Image Captioning </a:t>
                              </a:r>
                            </a:p>
                          </p:txBody>
                        </p:sp>
                        <p:sp>
                          <p:nvSpPr>
                            <p:cNvPr id="127" name="TextBox 126">
                              <a:extLst>
                                <a:ext uri="{FF2B5EF4-FFF2-40B4-BE49-F238E27FC236}">
                                  <a16:creationId xmlns:a16="http://schemas.microsoft.com/office/drawing/2014/main" id="{A74B15FA-3203-837B-8D48-41C43F684CB0}"/>
                                </a:ext>
                              </a:extLst>
                            </p:cNvPr>
                            <p:cNvSpPr txBox="1"/>
                            <p:nvPr/>
                          </p:nvSpPr>
                          <p:spPr>
                            <a:xfrm>
                              <a:off x="10501004" y="5696861"/>
                              <a:ext cx="470913" cy="27853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VQA</a:t>
                              </a:r>
                            </a:p>
                          </p:txBody>
                        </p:sp>
                        <p:sp>
                          <p:nvSpPr>
                            <p:cNvPr id="129" name="TextBox 128">
                              <a:extLst>
                                <a:ext uri="{FF2B5EF4-FFF2-40B4-BE49-F238E27FC236}">
                                  <a16:creationId xmlns:a16="http://schemas.microsoft.com/office/drawing/2014/main" id="{95E4CB30-0B3E-466A-213C-793D53BFDEBC}"/>
                                </a:ext>
                              </a:extLst>
                            </p:cNvPr>
                            <p:cNvSpPr txBox="1"/>
                            <p:nvPr/>
                          </p:nvSpPr>
                          <p:spPr>
                            <a:xfrm>
                              <a:off x="10501003" y="6298893"/>
                              <a:ext cx="1345195" cy="27853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Image-Text Search</a:t>
                              </a:r>
                            </a:p>
                          </p:txBody>
                        </p:sp>
                        <p:sp>
                          <p:nvSpPr>
                            <p:cNvPr id="133" name="TextBox 132">
                              <a:extLst>
                                <a:ext uri="{FF2B5EF4-FFF2-40B4-BE49-F238E27FC236}">
                                  <a16:creationId xmlns:a16="http://schemas.microsoft.com/office/drawing/2014/main" id="{E7B109A1-EFC1-4113-2320-C96E031F4239}"/>
                                </a:ext>
                              </a:extLst>
                            </p:cNvPr>
                            <p:cNvSpPr txBox="1"/>
                            <p:nvPr/>
                          </p:nvSpPr>
                          <p:spPr>
                            <a:xfrm>
                              <a:off x="7350631" y="5807002"/>
                              <a:ext cx="1896104" cy="27853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Multimodal Understanding</a:t>
                              </a:r>
                            </a:p>
                          </p:txBody>
                        </p:sp>
                      </p:grpSp>
                    </p:grpSp>
                    <p:pic>
                      <p:nvPicPr>
                        <p:cNvPr id="201" name="Picture 200">
                          <a:extLst>
                            <a:ext uri="{FF2B5EF4-FFF2-40B4-BE49-F238E27FC236}">
                              <a16:creationId xmlns:a16="http://schemas.microsoft.com/office/drawing/2014/main" id="{EC2FC6BB-93D7-2034-3267-0F0D9CA82D6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70360" y="2456409"/>
                          <a:ext cx="1418651" cy="753278"/>
                        </a:xfrm>
                        <a:prstGeom prst="rect">
                          <a:avLst/>
                        </a:prstGeom>
                      </p:spPr>
                    </p:pic>
                  </p:grpSp>
                  <p:pic>
                    <p:nvPicPr>
                      <p:cNvPr id="204" name="Picture 203">
                        <a:extLst>
                          <a:ext uri="{FF2B5EF4-FFF2-40B4-BE49-F238E27FC236}">
                            <a16:creationId xmlns:a16="http://schemas.microsoft.com/office/drawing/2014/main" id="{12308D50-C738-0389-86C0-2617B2CF2C24}"/>
                          </a:ext>
                        </a:extLst>
                      </p:cNvPr>
                      <p:cNvPicPr>
                        <a:picLocks noChangeAspect="1"/>
                      </p:cNvPicPr>
                      <p:nvPr/>
                    </p:nvPicPr>
                    <p:blipFill>
                      <a:blip r:embed="rId6"/>
                      <a:stretch>
                        <a:fillRect/>
                      </a:stretch>
                    </p:blipFill>
                    <p:spPr>
                      <a:xfrm>
                        <a:off x="7483478" y="3619451"/>
                        <a:ext cx="1132209" cy="835068"/>
                      </a:xfrm>
                      <a:prstGeom prst="rect">
                        <a:avLst/>
                      </a:prstGeom>
                    </p:spPr>
                  </p:pic>
                  <p:pic>
                    <p:nvPicPr>
                      <p:cNvPr id="215" name="Picture 214">
                        <a:extLst>
                          <a:ext uri="{FF2B5EF4-FFF2-40B4-BE49-F238E27FC236}">
                            <a16:creationId xmlns:a16="http://schemas.microsoft.com/office/drawing/2014/main" id="{30DB2AB0-D9C3-13BB-D03F-0784BC21D1B6}"/>
                          </a:ext>
                        </a:extLst>
                      </p:cNvPr>
                      <p:cNvPicPr>
                        <a:picLocks noChangeAspect="1"/>
                      </p:cNvPicPr>
                      <p:nvPr/>
                    </p:nvPicPr>
                    <p:blipFill>
                      <a:blip r:embed="rId6"/>
                      <a:stretch>
                        <a:fillRect/>
                      </a:stretch>
                    </p:blipFill>
                    <p:spPr>
                      <a:xfrm>
                        <a:off x="10313656" y="3646950"/>
                        <a:ext cx="1132209" cy="835068"/>
                      </a:xfrm>
                      <a:prstGeom prst="rect">
                        <a:avLst/>
                      </a:prstGeom>
                    </p:spPr>
                  </p:pic>
                </p:grpSp>
              </p:grpSp>
            </p:grpSp>
          </p:grpSp>
          <p:sp>
            <p:nvSpPr>
              <p:cNvPr id="309" name="Arrow: Up-Down 308">
                <a:extLst>
                  <a:ext uri="{FF2B5EF4-FFF2-40B4-BE49-F238E27FC236}">
                    <a16:creationId xmlns:a16="http://schemas.microsoft.com/office/drawing/2014/main" id="{6005E5A2-E570-89C6-631A-E8EB2F1C044F}"/>
                  </a:ext>
                </a:extLst>
              </p:cNvPr>
              <p:cNvSpPr/>
              <p:nvPr/>
            </p:nvSpPr>
            <p:spPr>
              <a:xfrm>
                <a:off x="11407113" y="5097827"/>
                <a:ext cx="310357" cy="1483798"/>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dirty="0">
                    <a:latin typeface="Calibri" panose="020F0502020204030204" pitchFamily="34" charset="0"/>
                    <a:cs typeface="Calibri" panose="020F0502020204030204" pitchFamily="34" charset="0"/>
                  </a:rPr>
                  <a:t>O</a:t>
                </a:r>
              </a:p>
              <a:p>
                <a:pPr algn="ctr"/>
                <a:r>
                  <a:rPr lang="en-US" sz="1100" dirty="0">
                    <a:latin typeface="Calibri" panose="020F0502020204030204" pitchFamily="34" charset="0"/>
                    <a:cs typeface="Calibri" panose="020F0502020204030204" pitchFamily="34" charset="0"/>
                  </a:rPr>
                  <a:t>U</a:t>
                </a:r>
              </a:p>
              <a:p>
                <a:pPr algn="ctr"/>
                <a:r>
                  <a:rPr lang="en-US" sz="1100" dirty="0">
                    <a:latin typeface="Calibri" panose="020F0502020204030204" pitchFamily="34" charset="0"/>
                    <a:cs typeface="Calibri" panose="020F0502020204030204" pitchFamily="34" charset="0"/>
                  </a:rPr>
                  <a:t>T</a:t>
                </a:r>
              </a:p>
              <a:p>
                <a:pPr algn="ctr"/>
                <a:r>
                  <a:rPr lang="en-US" sz="1100" dirty="0">
                    <a:latin typeface="Calibri" panose="020F0502020204030204" pitchFamily="34" charset="0"/>
                    <a:cs typeface="Calibri" panose="020F0502020204030204" pitchFamily="34" charset="0"/>
                  </a:rPr>
                  <a:t>P</a:t>
                </a:r>
              </a:p>
              <a:p>
                <a:pPr algn="ctr"/>
                <a:r>
                  <a:rPr lang="en-US" sz="1100" dirty="0">
                    <a:latin typeface="Calibri" panose="020F0502020204030204" pitchFamily="34" charset="0"/>
                    <a:cs typeface="Calibri" panose="020F0502020204030204" pitchFamily="34" charset="0"/>
                  </a:rPr>
                  <a:t>U</a:t>
                </a:r>
              </a:p>
              <a:p>
                <a:pPr algn="ctr"/>
                <a:r>
                  <a:rPr lang="en-US" sz="1100" dirty="0">
                    <a:latin typeface="Calibri" panose="020F0502020204030204" pitchFamily="34" charset="0"/>
                    <a:cs typeface="Calibri" panose="020F0502020204030204" pitchFamily="34" charset="0"/>
                  </a:rPr>
                  <a:t>T</a:t>
                </a:r>
              </a:p>
              <a:p>
                <a:pPr algn="ctr"/>
                <a:endParaRPr lang="en-US" sz="1100" dirty="0">
                  <a:latin typeface="Calibri" panose="020F0502020204030204" pitchFamily="34" charset="0"/>
                  <a:cs typeface="Calibri" panose="020F0502020204030204" pitchFamily="34" charset="0"/>
                </a:endParaRPr>
              </a:p>
            </p:txBody>
          </p:sp>
        </p:grpSp>
        <p:cxnSp>
          <p:nvCxnSpPr>
            <p:cNvPr id="3" name="Straight Connector 2">
              <a:extLst>
                <a:ext uri="{FF2B5EF4-FFF2-40B4-BE49-F238E27FC236}">
                  <a16:creationId xmlns:a16="http://schemas.microsoft.com/office/drawing/2014/main" id="{15EBD375-B3ED-C70E-A986-4AC7C59660DF}"/>
                </a:ext>
              </a:extLst>
            </p:cNvPr>
            <p:cNvCxnSpPr/>
            <p:nvPr/>
          </p:nvCxnSpPr>
          <p:spPr>
            <a:xfrm>
              <a:off x="7467600" y="2443723"/>
              <a:ext cx="0" cy="852465"/>
            </a:xfrm>
            <a:prstGeom prst="line">
              <a:avLst/>
            </a:prstGeom>
            <a:ln w="57150">
              <a:solidFill>
                <a:schemeClr val="bg1"/>
              </a:solidFill>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4B34A267-9DF4-AFCE-9A71-282A0C36CBB8}"/>
                </a:ext>
              </a:extLst>
            </p:cNvPr>
            <p:cNvCxnSpPr/>
            <p:nvPr/>
          </p:nvCxnSpPr>
          <p:spPr>
            <a:xfrm>
              <a:off x="7908669" y="2359715"/>
              <a:ext cx="0" cy="852465"/>
            </a:xfrm>
            <a:prstGeom prst="line">
              <a:avLst/>
            </a:prstGeom>
            <a:ln w="57150">
              <a:solidFill>
                <a:schemeClr val="bg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2BF95FAE-956E-DC97-F48F-E519102DEC4F}"/>
                </a:ext>
              </a:extLst>
            </p:cNvPr>
            <p:cNvCxnSpPr>
              <a:cxnSpLocks/>
            </p:cNvCxnSpPr>
            <p:nvPr/>
          </p:nvCxnSpPr>
          <p:spPr>
            <a:xfrm>
              <a:off x="6968858" y="2702933"/>
              <a:ext cx="1481254" cy="0"/>
            </a:xfrm>
            <a:prstGeom prst="line">
              <a:avLst/>
            </a:prstGeom>
            <a:ln w="57150">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E341CD3-D4AD-C151-08C4-8B1FD2FBBF91}"/>
                </a:ext>
              </a:extLst>
            </p:cNvPr>
            <p:cNvCxnSpPr>
              <a:cxnSpLocks/>
            </p:cNvCxnSpPr>
            <p:nvPr/>
          </p:nvCxnSpPr>
          <p:spPr>
            <a:xfrm>
              <a:off x="6944629" y="2975794"/>
              <a:ext cx="1481254" cy="0"/>
            </a:xfrm>
            <a:prstGeom prst="line">
              <a:avLst/>
            </a:prstGeom>
            <a:ln w="57150">
              <a:solidFill>
                <a:schemeClr val="bg1"/>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893061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8DB28-669E-1919-80B4-1510D65DC30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5A600AB-A0D7-155F-F281-E28E32ECE471}"/>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solidFill>
                  <a:srgbClr val="FFFFFF"/>
                </a:solidFill>
                <a:latin typeface="Calibri" panose="020F0502020204030204" pitchFamily="34" charset="0"/>
                <a:ea typeface="Calibri" pitchFamily="34" charset="-122"/>
                <a:cs typeface="Calibri" panose="020F0502020204030204" pitchFamily="34" charset="0"/>
              </a:rPr>
              <a:t>Transformers for Multimodal AI (cont…)</a:t>
            </a:r>
            <a:endParaRPr lang="en-US" sz="3200" b="1" dirty="0">
              <a:latin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991D17D8-F5A4-7439-68EE-4773F87C7610}"/>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527A56CF-6EBF-684A-7787-B52805A1EBA3}"/>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43</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7BA9E26-D2D4-F8C7-6EB7-1DDC88B10882}"/>
              </a:ext>
            </a:extLst>
          </p:cNvPr>
          <p:cNvSpPr txBox="1"/>
          <p:nvPr/>
        </p:nvSpPr>
        <p:spPr>
          <a:xfrm>
            <a:off x="300397" y="1006212"/>
            <a:ext cx="5848678" cy="4647426"/>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Audio + Language</a:t>
            </a:r>
          </a:p>
          <a:p>
            <a:endParaRPr lang="en-US" sz="2400" b="1" dirty="0">
              <a:latin typeface="Calibri" panose="020F0502020204030204" pitchFamily="34" charset="0"/>
              <a:cs typeface="Calibri" panose="020F0502020204030204" pitchFamily="34" charset="0"/>
            </a:endParaRPr>
          </a:p>
          <a:p>
            <a:pPr marL="457200" lvl="0" indent="-457200" algn="just">
              <a:buFont typeface="+mj-lt"/>
              <a:buAutoNum type="arabicPeriod"/>
            </a:pPr>
            <a:r>
              <a:rPr lang="en-US" dirty="0">
                <a:latin typeface="Calibri" panose="020F0502020204030204" pitchFamily="34" charset="0"/>
                <a:cs typeface="Calibri" panose="020F0502020204030204" pitchFamily="34" charset="0"/>
              </a:rPr>
              <a:t>Audio is divided into short segments and converted into audio embeddings, while text is represented as word or sub-word tokens.</a:t>
            </a:r>
          </a:p>
          <a:p>
            <a:pPr marL="457200" lvl="0" indent="-457200" algn="just">
              <a:buFont typeface="+mj-lt"/>
              <a:buAutoNum type="arabicPeriod"/>
            </a:pPr>
            <a:r>
              <a:rPr lang="en-US" dirty="0">
                <a:latin typeface="Calibri" panose="020F0502020204030204" pitchFamily="34" charset="0"/>
                <a:cs typeface="Calibri" panose="020F0502020204030204" pitchFamily="34" charset="0"/>
              </a:rPr>
              <a:t>Cross-attention connects the two modalities, allowing language to use relevant information from the audio.</a:t>
            </a:r>
          </a:p>
          <a:p>
            <a:pPr marL="800100" lvl="1" indent="-342900" algn="just">
              <a:buFont typeface="Arial" panose="020B0604020202020204" pitchFamily="34" charset="0"/>
              <a:buChar char="•"/>
            </a:pPr>
            <a:r>
              <a:rPr lang="en-US" sz="1600" i="1" dirty="0">
                <a:latin typeface="Calibri" panose="020F0502020204030204" pitchFamily="34" charset="0"/>
                <a:cs typeface="Calibri" panose="020F0502020204030204" pitchFamily="34" charset="0"/>
              </a:rPr>
              <a:t>Example: A spoken lecture → the model focuses on relevant audio segments → written transcript.</a:t>
            </a:r>
          </a:p>
          <a:p>
            <a:pPr marL="457200" lvl="0" indent="-457200" algn="just">
              <a:buFont typeface="+mj-lt"/>
              <a:buAutoNum type="arabicPeriod"/>
            </a:pPr>
            <a:r>
              <a:rPr lang="en-US" dirty="0">
                <a:latin typeface="Calibri" panose="020F0502020204030204" pitchFamily="34" charset="0"/>
                <a:cs typeface="Calibri" panose="020F0502020204030204" pitchFamily="34" charset="0"/>
              </a:rPr>
              <a:t>This supports tasks such as speech recognition, speech translation, and audio captioning.</a:t>
            </a:r>
          </a:p>
          <a:p>
            <a:pPr marL="457200" lvl="0" indent="-457200" algn="just">
              <a:buFont typeface="+mj-lt"/>
              <a:buAutoNum type="arabicPeriod"/>
            </a:pPr>
            <a:r>
              <a:rPr lang="en-US" dirty="0">
                <a:latin typeface="Calibri" panose="020F0502020204030204" pitchFamily="34" charset="0"/>
                <a:cs typeface="Calibri" panose="020F0502020204030204" pitchFamily="34" charset="0"/>
              </a:rPr>
              <a:t>The same approach can work in the opposite direction, where text guides speech generation.</a:t>
            </a:r>
          </a:p>
          <a:p>
            <a:pPr marL="457200" indent="-457200" algn="just">
              <a:buFont typeface="+mj-lt"/>
              <a:buAutoNum type="arabicPeriod"/>
            </a:pPr>
            <a:endParaRPr lang="en-US" dirty="0">
              <a:latin typeface="Calibri" panose="020F0502020204030204" pitchFamily="34" charset="0"/>
              <a:cs typeface="Calibri" panose="020F0502020204030204" pitchFamily="34" charset="0"/>
            </a:endParaRPr>
          </a:p>
          <a:p>
            <a:pPr marL="457200" indent="-457200" algn="just">
              <a:buFont typeface="+mj-lt"/>
              <a:buAutoNum type="arabicPeriod"/>
            </a:pPr>
            <a:r>
              <a:rPr lang="en-US" dirty="0">
                <a:latin typeface="Calibri" panose="020F0502020204030204" pitchFamily="34" charset="0"/>
                <a:cs typeface="Calibri" panose="020F0502020204030204" pitchFamily="34" charset="0"/>
              </a:rPr>
              <a:t>Audio provides spoken information + Language provides meaning → Cross-Attention connects them.</a:t>
            </a:r>
          </a:p>
        </p:txBody>
      </p:sp>
      <p:grpSp>
        <p:nvGrpSpPr>
          <p:cNvPr id="175" name="Group 174">
            <a:extLst>
              <a:ext uri="{FF2B5EF4-FFF2-40B4-BE49-F238E27FC236}">
                <a16:creationId xmlns:a16="http://schemas.microsoft.com/office/drawing/2014/main" id="{004FFC82-157C-7D07-E887-6500A9AADF9F}"/>
              </a:ext>
            </a:extLst>
          </p:cNvPr>
          <p:cNvGrpSpPr/>
          <p:nvPr/>
        </p:nvGrpSpPr>
        <p:grpSpPr>
          <a:xfrm>
            <a:off x="7118191" y="1010244"/>
            <a:ext cx="4773411" cy="5547453"/>
            <a:chOff x="7426522" y="1010244"/>
            <a:chExt cx="4644698" cy="5547453"/>
          </a:xfrm>
        </p:grpSpPr>
        <p:grpSp>
          <p:nvGrpSpPr>
            <p:cNvPr id="102" name="Group 101">
              <a:extLst>
                <a:ext uri="{FF2B5EF4-FFF2-40B4-BE49-F238E27FC236}">
                  <a16:creationId xmlns:a16="http://schemas.microsoft.com/office/drawing/2014/main" id="{1CE60D1D-556C-49F5-A42F-AA6C0ABF02BA}"/>
                </a:ext>
              </a:extLst>
            </p:cNvPr>
            <p:cNvGrpSpPr/>
            <p:nvPr/>
          </p:nvGrpSpPr>
          <p:grpSpPr>
            <a:xfrm>
              <a:off x="7426522" y="1010244"/>
              <a:ext cx="4332593" cy="5547453"/>
              <a:chOff x="7365228" y="904438"/>
              <a:chExt cx="4513090" cy="5638991"/>
            </a:xfrm>
          </p:grpSpPr>
          <p:grpSp>
            <p:nvGrpSpPr>
              <p:cNvPr id="95" name="Group 94">
                <a:extLst>
                  <a:ext uri="{FF2B5EF4-FFF2-40B4-BE49-F238E27FC236}">
                    <a16:creationId xmlns:a16="http://schemas.microsoft.com/office/drawing/2014/main" id="{6682D4D1-99E6-4DCE-6868-64AD1EA03D79}"/>
                  </a:ext>
                </a:extLst>
              </p:cNvPr>
              <p:cNvGrpSpPr/>
              <p:nvPr/>
            </p:nvGrpSpPr>
            <p:grpSpPr>
              <a:xfrm>
                <a:off x="7365228" y="904438"/>
                <a:ext cx="4513090" cy="5638991"/>
                <a:chOff x="7365228" y="904438"/>
                <a:chExt cx="4513090" cy="5638991"/>
              </a:xfrm>
            </p:grpSpPr>
            <p:sp>
              <p:nvSpPr>
                <p:cNvPr id="39" name="TextBox 38">
                  <a:extLst>
                    <a:ext uri="{FF2B5EF4-FFF2-40B4-BE49-F238E27FC236}">
                      <a16:creationId xmlns:a16="http://schemas.microsoft.com/office/drawing/2014/main" id="{8A097A50-0E41-FCA3-67A7-85BA65AE9728}"/>
                    </a:ext>
                  </a:extLst>
                </p:cNvPr>
                <p:cNvSpPr txBox="1"/>
                <p:nvPr/>
              </p:nvSpPr>
              <p:spPr>
                <a:xfrm>
                  <a:off x="10515601" y="6261859"/>
                  <a:ext cx="1275047" cy="281570"/>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Audio Captioning</a:t>
                  </a:r>
                </a:p>
              </p:txBody>
            </p:sp>
            <p:grpSp>
              <p:nvGrpSpPr>
                <p:cNvPr id="94" name="Group 93">
                  <a:extLst>
                    <a:ext uri="{FF2B5EF4-FFF2-40B4-BE49-F238E27FC236}">
                      <a16:creationId xmlns:a16="http://schemas.microsoft.com/office/drawing/2014/main" id="{62C63541-8D9A-A3EC-B936-037C46428D5E}"/>
                    </a:ext>
                  </a:extLst>
                </p:cNvPr>
                <p:cNvGrpSpPr/>
                <p:nvPr/>
              </p:nvGrpSpPr>
              <p:grpSpPr>
                <a:xfrm>
                  <a:off x="7365228" y="904438"/>
                  <a:ext cx="4513090" cy="5529315"/>
                  <a:chOff x="7350631" y="988950"/>
                  <a:chExt cx="4513090" cy="5529315"/>
                </a:xfrm>
              </p:grpSpPr>
              <p:grpSp>
                <p:nvGrpSpPr>
                  <p:cNvPr id="49" name="Group 48">
                    <a:extLst>
                      <a:ext uri="{FF2B5EF4-FFF2-40B4-BE49-F238E27FC236}">
                        <a16:creationId xmlns:a16="http://schemas.microsoft.com/office/drawing/2014/main" id="{A0F29437-1D82-5B3A-772F-AFAD0BE83FCB}"/>
                      </a:ext>
                    </a:extLst>
                  </p:cNvPr>
                  <p:cNvGrpSpPr/>
                  <p:nvPr/>
                </p:nvGrpSpPr>
                <p:grpSpPr>
                  <a:xfrm>
                    <a:off x="7422105" y="988950"/>
                    <a:ext cx="3949157" cy="571189"/>
                    <a:chOff x="7422105" y="988950"/>
                    <a:chExt cx="3949157" cy="571189"/>
                  </a:xfrm>
                </p:grpSpPr>
                <p:sp>
                  <p:nvSpPr>
                    <p:cNvPr id="51" name="Oval 50">
                      <a:extLst>
                        <a:ext uri="{FF2B5EF4-FFF2-40B4-BE49-F238E27FC236}">
                          <a16:creationId xmlns:a16="http://schemas.microsoft.com/office/drawing/2014/main" id="{AABE63F9-4F7C-388D-A97C-4A352403EC17}"/>
                        </a:ext>
                      </a:extLst>
                    </p:cNvPr>
                    <p:cNvSpPr/>
                    <p:nvPr/>
                  </p:nvSpPr>
                  <p:spPr>
                    <a:xfrm>
                      <a:off x="10256100" y="988950"/>
                      <a:ext cx="1115162" cy="571189"/>
                    </a:xfrm>
                    <a:prstGeom prst="ellipse">
                      <a:avLst/>
                    </a:prstGeom>
                    <a:solidFill>
                      <a:srgbClr val="3535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alibri" panose="020F0502020204030204" pitchFamily="34" charset="0"/>
                          <a:cs typeface="Calibri" panose="020F0502020204030204" pitchFamily="34" charset="0"/>
                        </a:rPr>
                        <a:t>Language</a:t>
                      </a:r>
                    </a:p>
                  </p:txBody>
                </p:sp>
                <p:sp>
                  <p:nvSpPr>
                    <p:cNvPr id="52" name="Oval 51">
                      <a:extLst>
                        <a:ext uri="{FF2B5EF4-FFF2-40B4-BE49-F238E27FC236}">
                          <a16:creationId xmlns:a16="http://schemas.microsoft.com/office/drawing/2014/main" id="{8187A369-D8A8-1FCB-3FE9-D2E88EF8A2F8}"/>
                        </a:ext>
                      </a:extLst>
                    </p:cNvPr>
                    <p:cNvSpPr/>
                    <p:nvPr/>
                  </p:nvSpPr>
                  <p:spPr>
                    <a:xfrm>
                      <a:off x="7422105" y="988950"/>
                      <a:ext cx="1115162" cy="571189"/>
                    </a:xfrm>
                    <a:prstGeom prst="ellipse">
                      <a:avLst/>
                    </a:prstGeom>
                    <a:solidFill>
                      <a:srgbClr val="3535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alibri" panose="020F0502020204030204" pitchFamily="34" charset="0"/>
                          <a:cs typeface="Calibri" panose="020F0502020204030204" pitchFamily="34" charset="0"/>
                        </a:rPr>
                        <a:t>Audio</a:t>
                      </a:r>
                    </a:p>
                  </p:txBody>
                </p:sp>
              </p:grpSp>
              <p:grpSp>
                <p:nvGrpSpPr>
                  <p:cNvPr id="93" name="Group 92">
                    <a:extLst>
                      <a:ext uri="{FF2B5EF4-FFF2-40B4-BE49-F238E27FC236}">
                        <a16:creationId xmlns:a16="http://schemas.microsoft.com/office/drawing/2014/main" id="{7FF73871-7CE3-25A3-339D-E1F15099560A}"/>
                      </a:ext>
                    </a:extLst>
                  </p:cNvPr>
                  <p:cNvGrpSpPr/>
                  <p:nvPr/>
                </p:nvGrpSpPr>
                <p:grpSpPr>
                  <a:xfrm>
                    <a:off x="7350631" y="1427256"/>
                    <a:ext cx="4513090" cy="5091009"/>
                    <a:chOff x="7350631" y="1427256"/>
                    <a:chExt cx="4513090" cy="5091009"/>
                  </a:xfrm>
                </p:grpSpPr>
                <p:sp>
                  <p:nvSpPr>
                    <p:cNvPr id="55" name="TextBox 54">
                      <a:extLst>
                        <a:ext uri="{FF2B5EF4-FFF2-40B4-BE49-F238E27FC236}">
                          <a16:creationId xmlns:a16="http://schemas.microsoft.com/office/drawing/2014/main" id="{19C34EDD-C6E1-31FB-D46B-5D8B0760EACE}"/>
                        </a:ext>
                      </a:extLst>
                    </p:cNvPr>
                    <p:cNvSpPr txBox="1"/>
                    <p:nvPr/>
                  </p:nvSpPr>
                  <p:spPr>
                    <a:xfrm>
                      <a:off x="7791994" y="3133650"/>
                      <a:ext cx="278725" cy="375426"/>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cxnSp>
                  <p:nvCxnSpPr>
                    <p:cNvPr id="59" name="Connector: Elbow 58">
                      <a:extLst>
                        <a:ext uri="{FF2B5EF4-FFF2-40B4-BE49-F238E27FC236}">
                          <a16:creationId xmlns:a16="http://schemas.microsoft.com/office/drawing/2014/main" id="{4523B347-0494-64B6-F290-FD7108988BF6}"/>
                        </a:ext>
                      </a:extLst>
                    </p:cNvPr>
                    <p:cNvCxnSpPr>
                      <a:cxnSpLocks/>
                    </p:cNvCxnSpPr>
                    <p:nvPr/>
                  </p:nvCxnSpPr>
                  <p:spPr>
                    <a:xfrm>
                      <a:off x="7979686" y="4251847"/>
                      <a:ext cx="679312" cy="488306"/>
                    </a:xfrm>
                    <a:prstGeom prst="bentConnector3">
                      <a:avLst>
                        <a:gd name="adj1" fmla="val 1052"/>
                      </a:avLst>
                    </a:prstGeom>
                    <a:ln>
                      <a:tailEnd type="triangle"/>
                    </a:ln>
                  </p:spPr>
                  <p:style>
                    <a:lnRef idx="1">
                      <a:schemeClr val="dk1"/>
                    </a:lnRef>
                    <a:fillRef idx="0">
                      <a:schemeClr val="dk1"/>
                    </a:fillRef>
                    <a:effectRef idx="0">
                      <a:schemeClr val="dk1"/>
                    </a:effectRef>
                    <a:fontRef idx="minor">
                      <a:schemeClr val="tx1"/>
                    </a:fontRef>
                  </p:style>
                </p:cxnSp>
                <p:cxnSp>
                  <p:nvCxnSpPr>
                    <p:cNvPr id="60" name="Connector: Elbow 59">
                      <a:extLst>
                        <a:ext uri="{FF2B5EF4-FFF2-40B4-BE49-F238E27FC236}">
                          <a16:creationId xmlns:a16="http://schemas.microsoft.com/office/drawing/2014/main" id="{E06608EF-12E8-65DF-8921-BECFCA656E68}"/>
                        </a:ext>
                      </a:extLst>
                    </p:cNvPr>
                    <p:cNvCxnSpPr>
                      <a:cxnSpLocks/>
                    </p:cNvCxnSpPr>
                    <p:nvPr/>
                  </p:nvCxnSpPr>
                  <p:spPr>
                    <a:xfrm rot="10800000" flipV="1">
                      <a:off x="10150466" y="4265559"/>
                      <a:ext cx="763544" cy="463161"/>
                    </a:xfrm>
                    <a:prstGeom prst="bentConnector3">
                      <a:avLst>
                        <a:gd name="adj1" fmla="val 23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9B607332-646E-759B-B21D-54E120924775}"/>
                        </a:ext>
                      </a:extLst>
                    </p:cNvPr>
                    <p:cNvCxnSpPr>
                      <a:cxnSpLocks/>
                    </p:cNvCxnSpPr>
                    <p:nvPr/>
                  </p:nvCxnSpPr>
                  <p:spPr>
                    <a:xfrm>
                      <a:off x="10127144" y="5870189"/>
                      <a:ext cx="311663"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6" name="Flowchart: Multidocument 45">
                      <a:extLst>
                        <a:ext uri="{FF2B5EF4-FFF2-40B4-BE49-F238E27FC236}">
                          <a16:creationId xmlns:a16="http://schemas.microsoft.com/office/drawing/2014/main" id="{85CB70B5-6702-6DA8-5139-5A2E40E1ACFE}"/>
                        </a:ext>
                      </a:extLst>
                    </p:cNvPr>
                    <p:cNvSpPr/>
                    <p:nvPr/>
                  </p:nvSpPr>
                  <p:spPr>
                    <a:xfrm>
                      <a:off x="8817895" y="4564463"/>
                      <a:ext cx="1212704" cy="414006"/>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alibri" panose="020F0502020204030204" pitchFamily="34" charset="0"/>
                          <a:cs typeface="Calibri" panose="020F0502020204030204" pitchFamily="34" charset="0"/>
                        </a:rPr>
                        <a:t>Self-Attention</a:t>
                      </a:r>
                    </a:p>
                  </p:txBody>
                </p:sp>
                <p:sp>
                  <p:nvSpPr>
                    <p:cNvPr id="47" name="Flowchart: Multidocument 46">
                      <a:extLst>
                        <a:ext uri="{FF2B5EF4-FFF2-40B4-BE49-F238E27FC236}">
                          <a16:creationId xmlns:a16="http://schemas.microsoft.com/office/drawing/2014/main" id="{C84B54A9-6CB2-3106-7B21-9C53F69B7D66}"/>
                        </a:ext>
                      </a:extLst>
                    </p:cNvPr>
                    <p:cNvSpPr/>
                    <p:nvPr/>
                  </p:nvSpPr>
                  <p:spPr>
                    <a:xfrm>
                      <a:off x="8776474" y="5243172"/>
                      <a:ext cx="1254125" cy="414006"/>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libri" panose="020F0502020204030204" pitchFamily="34" charset="0"/>
                          <a:cs typeface="Calibri" panose="020F0502020204030204" pitchFamily="34" charset="0"/>
                        </a:rPr>
                        <a:t>Cross-Attention</a:t>
                      </a:r>
                    </a:p>
                  </p:txBody>
                </p:sp>
                <p:sp>
                  <p:nvSpPr>
                    <p:cNvPr id="45" name="TextBox 44">
                      <a:extLst>
                        <a:ext uri="{FF2B5EF4-FFF2-40B4-BE49-F238E27FC236}">
                          <a16:creationId xmlns:a16="http://schemas.microsoft.com/office/drawing/2014/main" id="{B73B84F6-57D0-3CC2-383A-CEA474FA8BD4}"/>
                        </a:ext>
                      </a:extLst>
                    </p:cNvPr>
                    <p:cNvSpPr txBox="1"/>
                    <p:nvPr/>
                  </p:nvSpPr>
                  <p:spPr>
                    <a:xfrm>
                      <a:off x="9280108" y="4848630"/>
                      <a:ext cx="228601" cy="406712"/>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a:t>
                      </a:r>
                    </a:p>
                  </p:txBody>
                </p:sp>
                <p:pic>
                  <p:nvPicPr>
                    <p:cNvPr id="34" name="Graphic 33" descr="Gears with solid fill">
                      <a:extLst>
                        <a:ext uri="{FF2B5EF4-FFF2-40B4-BE49-F238E27FC236}">
                          <a16:creationId xmlns:a16="http://schemas.microsoft.com/office/drawing/2014/main" id="{F90FA080-11A3-0BEC-4BDA-D38370AB5E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3238919">
                      <a:off x="9152731" y="5695583"/>
                      <a:ext cx="543031" cy="543031"/>
                    </a:xfrm>
                    <a:prstGeom prst="rect">
                      <a:avLst/>
                    </a:prstGeom>
                  </p:spPr>
                </p:pic>
                <p:cxnSp>
                  <p:nvCxnSpPr>
                    <p:cNvPr id="41" name="Straight Arrow Connector 40">
                      <a:extLst>
                        <a:ext uri="{FF2B5EF4-FFF2-40B4-BE49-F238E27FC236}">
                          <a16:creationId xmlns:a16="http://schemas.microsoft.com/office/drawing/2014/main" id="{0937E6B3-3A24-2BCC-A168-4DBBD20164CE}"/>
                        </a:ext>
                      </a:extLst>
                    </p:cNvPr>
                    <p:cNvCxnSpPr>
                      <a:cxnSpLocks/>
                    </p:cNvCxnSpPr>
                    <p:nvPr/>
                  </p:nvCxnSpPr>
                  <p:spPr>
                    <a:xfrm>
                      <a:off x="10122724" y="6516531"/>
                      <a:ext cx="311663"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72648630-A21E-FF5F-B1A1-257322C4BE90}"/>
                        </a:ext>
                      </a:extLst>
                    </p:cNvPr>
                    <p:cNvCxnSpPr>
                      <a:cxnSpLocks/>
                    </p:cNvCxnSpPr>
                    <p:nvPr/>
                  </p:nvCxnSpPr>
                  <p:spPr>
                    <a:xfrm>
                      <a:off x="10122724" y="5208800"/>
                      <a:ext cx="311663" cy="319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FD56E3AD-140C-FCAB-AF1F-341679EE8F2F}"/>
                        </a:ext>
                      </a:extLst>
                    </p:cNvPr>
                    <p:cNvCxnSpPr>
                      <a:cxnSpLocks/>
                    </p:cNvCxnSpPr>
                    <p:nvPr/>
                  </p:nvCxnSpPr>
                  <p:spPr>
                    <a:xfrm flipV="1">
                      <a:off x="10122724" y="5208365"/>
                      <a:ext cx="0" cy="130990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F5EFA024-CE6A-4E99-F7D7-749FD8BB87E5}"/>
                        </a:ext>
                      </a:extLst>
                    </p:cNvPr>
                    <p:cNvSpPr txBox="1"/>
                    <p:nvPr/>
                  </p:nvSpPr>
                  <p:spPr>
                    <a:xfrm>
                      <a:off x="10434387" y="5106259"/>
                      <a:ext cx="1429334" cy="281570"/>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Speech Recognition</a:t>
                      </a:r>
                    </a:p>
                  </p:txBody>
                </p:sp>
                <p:sp>
                  <p:nvSpPr>
                    <p:cNvPr id="38" name="TextBox 37">
                      <a:extLst>
                        <a:ext uri="{FF2B5EF4-FFF2-40B4-BE49-F238E27FC236}">
                          <a16:creationId xmlns:a16="http://schemas.microsoft.com/office/drawing/2014/main" id="{683E39C6-FE30-A78D-4364-94C3A34BD0E3}"/>
                        </a:ext>
                      </a:extLst>
                    </p:cNvPr>
                    <p:cNvSpPr txBox="1"/>
                    <p:nvPr/>
                  </p:nvSpPr>
                  <p:spPr>
                    <a:xfrm>
                      <a:off x="10501004" y="5720844"/>
                      <a:ext cx="882894" cy="281570"/>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Translation</a:t>
                      </a:r>
                    </a:p>
                  </p:txBody>
                </p:sp>
                <p:sp>
                  <p:nvSpPr>
                    <p:cNvPr id="40" name="TextBox 39">
                      <a:extLst>
                        <a:ext uri="{FF2B5EF4-FFF2-40B4-BE49-F238E27FC236}">
                          <a16:creationId xmlns:a16="http://schemas.microsoft.com/office/drawing/2014/main" id="{3C9AF3EC-B8F3-A90B-50E1-CD67CB68E7A0}"/>
                        </a:ext>
                      </a:extLst>
                    </p:cNvPr>
                    <p:cNvSpPr txBox="1"/>
                    <p:nvPr/>
                  </p:nvSpPr>
                  <p:spPr>
                    <a:xfrm>
                      <a:off x="7350631" y="5807002"/>
                      <a:ext cx="1890116" cy="281570"/>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Multimodal Understanding</a:t>
                      </a:r>
                    </a:p>
                  </p:txBody>
                </p:sp>
                <p:sp>
                  <p:nvSpPr>
                    <p:cNvPr id="62" name="TextBox 61">
                      <a:extLst>
                        <a:ext uri="{FF2B5EF4-FFF2-40B4-BE49-F238E27FC236}">
                          <a16:creationId xmlns:a16="http://schemas.microsoft.com/office/drawing/2014/main" id="{9DEF9A60-00D5-B01A-6E0C-05C9518DA154}"/>
                        </a:ext>
                      </a:extLst>
                    </p:cNvPr>
                    <p:cNvSpPr txBox="1"/>
                    <p:nvPr/>
                  </p:nvSpPr>
                  <p:spPr>
                    <a:xfrm>
                      <a:off x="9284883" y="5511569"/>
                      <a:ext cx="278725" cy="375426"/>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53" name="TextBox 52">
                      <a:extLst>
                        <a:ext uri="{FF2B5EF4-FFF2-40B4-BE49-F238E27FC236}">
                          <a16:creationId xmlns:a16="http://schemas.microsoft.com/office/drawing/2014/main" id="{5D24B52F-62E5-CB10-B6B7-BF7F5E1C70AE}"/>
                        </a:ext>
                      </a:extLst>
                    </p:cNvPr>
                    <p:cNvSpPr txBox="1"/>
                    <p:nvPr/>
                  </p:nvSpPr>
                  <p:spPr>
                    <a:xfrm>
                      <a:off x="7791992" y="1427256"/>
                      <a:ext cx="278725" cy="375426"/>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54" name="TextBox 53">
                      <a:extLst>
                        <a:ext uri="{FF2B5EF4-FFF2-40B4-BE49-F238E27FC236}">
                          <a16:creationId xmlns:a16="http://schemas.microsoft.com/office/drawing/2014/main" id="{9092AD96-FE57-B7B6-4A22-60DC47FC6E67}"/>
                        </a:ext>
                      </a:extLst>
                    </p:cNvPr>
                    <p:cNvSpPr txBox="1"/>
                    <p:nvPr/>
                  </p:nvSpPr>
                  <p:spPr>
                    <a:xfrm>
                      <a:off x="7791993" y="2109518"/>
                      <a:ext cx="278725" cy="406712"/>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a:t>
                      </a:r>
                    </a:p>
                  </p:txBody>
                </p:sp>
                <p:sp>
                  <p:nvSpPr>
                    <p:cNvPr id="56" name="TextBox 55">
                      <a:extLst>
                        <a:ext uri="{FF2B5EF4-FFF2-40B4-BE49-F238E27FC236}">
                          <a16:creationId xmlns:a16="http://schemas.microsoft.com/office/drawing/2014/main" id="{9AE697FE-9472-5033-9A99-FB338C7B0F14}"/>
                        </a:ext>
                      </a:extLst>
                    </p:cNvPr>
                    <p:cNvSpPr txBox="1"/>
                    <p:nvPr/>
                  </p:nvSpPr>
                  <p:spPr>
                    <a:xfrm>
                      <a:off x="10639685" y="1428477"/>
                      <a:ext cx="278725" cy="406712"/>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a:t>
                      </a:r>
                    </a:p>
                  </p:txBody>
                </p:sp>
                <p:sp>
                  <p:nvSpPr>
                    <p:cNvPr id="50" name="Rectangle: Rounded Corners 49">
                      <a:extLst>
                        <a:ext uri="{FF2B5EF4-FFF2-40B4-BE49-F238E27FC236}">
                          <a16:creationId xmlns:a16="http://schemas.microsoft.com/office/drawing/2014/main" id="{D08B3F56-DB18-53CC-36E3-469C3240802A}"/>
                        </a:ext>
                      </a:extLst>
                    </p:cNvPr>
                    <p:cNvSpPr/>
                    <p:nvPr/>
                  </p:nvSpPr>
                  <p:spPr>
                    <a:xfrm>
                      <a:off x="10189495" y="1872419"/>
                      <a:ext cx="1335376" cy="435319"/>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A bird can fly</a:t>
                      </a:r>
                    </a:p>
                  </p:txBody>
                </p:sp>
                <p:sp>
                  <p:nvSpPr>
                    <p:cNvPr id="32" name="Rectangle: Rounded Corners 31">
                      <a:extLst>
                        <a:ext uri="{FF2B5EF4-FFF2-40B4-BE49-F238E27FC236}">
                          <a16:creationId xmlns:a16="http://schemas.microsoft.com/office/drawing/2014/main" id="{D725F042-3530-1336-1EF8-381D7ABE6195}"/>
                        </a:ext>
                      </a:extLst>
                    </p:cNvPr>
                    <p:cNvSpPr/>
                    <p:nvPr/>
                  </p:nvSpPr>
                  <p:spPr>
                    <a:xfrm>
                      <a:off x="10122724" y="2669676"/>
                      <a:ext cx="1413135" cy="669357"/>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“A”  “Bird”  “can”  “fly”</a:t>
                      </a:r>
                    </a:p>
                  </p:txBody>
                </p:sp>
                <p:pic>
                  <p:nvPicPr>
                    <p:cNvPr id="69" name="Picture 68">
                      <a:extLst>
                        <a:ext uri="{FF2B5EF4-FFF2-40B4-BE49-F238E27FC236}">
                          <a16:creationId xmlns:a16="http://schemas.microsoft.com/office/drawing/2014/main" id="{F92AEE02-C4E7-7790-F247-5B39AA1269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0631" y="1824301"/>
                      <a:ext cx="1230064" cy="352887"/>
                    </a:xfrm>
                    <a:prstGeom prst="rect">
                      <a:avLst/>
                    </a:prstGeom>
                  </p:spPr>
                </p:pic>
                <p:pic>
                  <p:nvPicPr>
                    <p:cNvPr id="83" name="Picture 82">
                      <a:extLst>
                        <a:ext uri="{FF2B5EF4-FFF2-40B4-BE49-F238E27FC236}">
                          <a16:creationId xmlns:a16="http://schemas.microsoft.com/office/drawing/2014/main" id="{A5556754-CCA8-B885-7533-32B6BEE0031A}"/>
                        </a:ext>
                      </a:extLst>
                    </p:cNvPr>
                    <p:cNvPicPr>
                      <a:picLocks noChangeAspect="1"/>
                    </p:cNvPicPr>
                    <p:nvPr/>
                  </p:nvPicPr>
                  <p:blipFill>
                    <a:blip r:embed="rId4"/>
                    <a:stretch>
                      <a:fillRect/>
                    </a:stretch>
                  </p:blipFill>
                  <p:spPr>
                    <a:xfrm>
                      <a:off x="7413580" y="3618736"/>
                      <a:ext cx="1132209" cy="835068"/>
                    </a:xfrm>
                    <a:prstGeom prst="rect">
                      <a:avLst/>
                    </a:prstGeom>
                  </p:spPr>
                </p:pic>
                <p:pic>
                  <p:nvPicPr>
                    <p:cNvPr id="85" name="Picture 84">
                      <a:extLst>
                        <a:ext uri="{FF2B5EF4-FFF2-40B4-BE49-F238E27FC236}">
                          <a16:creationId xmlns:a16="http://schemas.microsoft.com/office/drawing/2014/main" id="{14C41916-08BA-EFDE-BC61-8FDCDB90AB32}"/>
                        </a:ext>
                      </a:extLst>
                    </p:cNvPr>
                    <p:cNvPicPr>
                      <a:picLocks noChangeAspect="1"/>
                    </p:cNvPicPr>
                    <p:nvPr/>
                  </p:nvPicPr>
                  <p:blipFill>
                    <a:blip r:embed="rId4"/>
                    <a:stretch>
                      <a:fillRect/>
                    </a:stretch>
                  </p:blipFill>
                  <p:spPr>
                    <a:xfrm>
                      <a:off x="10297791" y="3604560"/>
                      <a:ext cx="1132209" cy="835068"/>
                    </a:xfrm>
                    <a:prstGeom prst="rect">
                      <a:avLst/>
                    </a:prstGeom>
                  </p:spPr>
                </p:pic>
                <p:sp>
                  <p:nvSpPr>
                    <p:cNvPr id="87" name="TextBox 86">
                      <a:extLst>
                        <a:ext uri="{FF2B5EF4-FFF2-40B4-BE49-F238E27FC236}">
                          <a16:creationId xmlns:a16="http://schemas.microsoft.com/office/drawing/2014/main" id="{4B830308-D361-F2F7-1556-3C67418B419C}"/>
                        </a:ext>
                      </a:extLst>
                    </p:cNvPr>
                    <p:cNvSpPr txBox="1"/>
                    <p:nvPr/>
                  </p:nvSpPr>
                  <p:spPr>
                    <a:xfrm>
                      <a:off x="10689928" y="3258232"/>
                      <a:ext cx="278725" cy="375426"/>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89" name="TextBox 88">
                      <a:extLst>
                        <a:ext uri="{FF2B5EF4-FFF2-40B4-BE49-F238E27FC236}">
                          <a16:creationId xmlns:a16="http://schemas.microsoft.com/office/drawing/2014/main" id="{48B68819-DCBF-1FE5-2E0E-30E1EE8B637D}"/>
                        </a:ext>
                      </a:extLst>
                    </p:cNvPr>
                    <p:cNvSpPr txBox="1"/>
                    <p:nvPr/>
                  </p:nvSpPr>
                  <p:spPr>
                    <a:xfrm>
                      <a:off x="10641965" y="2212380"/>
                      <a:ext cx="278725" cy="406712"/>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a:t>
                      </a:r>
                    </a:p>
                  </p:txBody>
                </p:sp>
              </p:grpSp>
            </p:grpSp>
          </p:grpSp>
          <p:cxnSp>
            <p:nvCxnSpPr>
              <p:cNvPr id="96" name="Connector: Elbow 95">
                <a:extLst>
                  <a:ext uri="{FF2B5EF4-FFF2-40B4-BE49-F238E27FC236}">
                    <a16:creationId xmlns:a16="http://schemas.microsoft.com/office/drawing/2014/main" id="{052BFF2C-C50C-1413-45F3-0A73B89FE4E8}"/>
                  </a:ext>
                </a:extLst>
              </p:cNvPr>
              <p:cNvCxnSpPr>
                <a:cxnSpLocks/>
              </p:cNvCxnSpPr>
              <p:nvPr/>
            </p:nvCxnSpPr>
            <p:spPr>
              <a:xfrm>
                <a:off x="9455302" y="5943636"/>
                <a:ext cx="404691" cy="310466"/>
              </a:xfrm>
              <a:prstGeom prst="bentConnector3">
                <a:avLst>
                  <a:gd name="adj1" fmla="val 115"/>
                </a:avLst>
              </a:prstGeom>
              <a:ln>
                <a:tailEnd type="triangle"/>
              </a:ln>
            </p:spPr>
            <p:style>
              <a:lnRef idx="1">
                <a:schemeClr val="dk1"/>
              </a:lnRef>
              <a:fillRef idx="0">
                <a:schemeClr val="dk1"/>
              </a:fillRef>
              <a:effectRef idx="0">
                <a:schemeClr val="dk1"/>
              </a:effectRef>
              <a:fontRef idx="minor">
                <a:schemeClr val="tx1"/>
              </a:fontRef>
            </p:style>
          </p:cxnSp>
        </p:grpSp>
        <p:sp>
          <p:nvSpPr>
            <p:cNvPr id="174" name="Arrow: Up-Down 173">
              <a:extLst>
                <a:ext uri="{FF2B5EF4-FFF2-40B4-BE49-F238E27FC236}">
                  <a16:creationId xmlns:a16="http://schemas.microsoft.com/office/drawing/2014/main" id="{DA0F13A3-6A41-0B2C-C513-36570BF22C25}"/>
                </a:ext>
              </a:extLst>
            </p:cNvPr>
            <p:cNvSpPr/>
            <p:nvPr/>
          </p:nvSpPr>
          <p:spPr>
            <a:xfrm>
              <a:off x="11760863" y="5069402"/>
              <a:ext cx="310357" cy="1483798"/>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dirty="0">
                  <a:latin typeface="Calibri" panose="020F0502020204030204" pitchFamily="34" charset="0"/>
                  <a:cs typeface="Calibri" panose="020F0502020204030204" pitchFamily="34" charset="0"/>
                </a:rPr>
                <a:t>O</a:t>
              </a:r>
            </a:p>
            <a:p>
              <a:pPr algn="ctr"/>
              <a:r>
                <a:rPr lang="en-US" sz="1100" dirty="0">
                  <a:latin typeface="Calibri" panose="020F0502020204030204" pitchFamily="34" charset="0"/>
                  <a:cs typeface="Calibri" panose="020F0502020204030204" pitchFamily="34" charset="0"/>
                </a:rPr>
                <a:t>U</a:t>
              </a:r>
            </a:p>
            <a:p>
              <a:pPr algn="ctr"/>
              <a:r>
                <a:rPr lang="en-US" sz="1100" dirty="0">
                  <a:latin typeface="Calibri" panose="020F0502020204030204" pitchFamily="34" charset="0"/>
                  <a:cs typeface="Calibri" panose="020F0502020204030204" pitchFamily="34" charset="0"/>
                </a:rPr>
                <a:t>T</a:t>
              </a:r>
            </a:p>
            <a:p>
              <a:pPr algn="ctr"/>
              <a:r>
                <a:rPr lang="en-US" sz="1100" dirty="0">
                  <a:latin typeface="Calibri" panose="020F0502020204030204" pitchFamily="34" charset="0"/>
                  <a:cs typeface="Calibri" panose="020F0502020204030204" pitchFamily="34" charset="0"/>
                </a:rPr>
                <a:t>P</a:t>
              </a:r>
            </a:p>
            <a:p>
              <a:pPr algn="ctr"/>
              <a:r>
                <a:rPr lang="en-US" sz="1100" dirty="0">
                  <a:latin typeface="Calibri" panose="020F0502020204030204" pitchFamily="34" charset="0"/>
                  <a:cs typeface="Calibri" panose="020F0502020204030204" pitchFamily="34" charset="0"/>
                </a:rPr>
                <a:t>U</a:t>
              </a:r>
            </a:p>
            <a:p>
              <a:pPr algn="ctr"/>
              <a:r>
                <a:rPr lang="en-US" sz="1100" dirty="0">
                  <a:latin typeface="Calibri" panose="020F0502020204030204" pitchFamily="34" charset="0"/>
                  <a:cs typeface="Calibri" panose="020F0502020204030204" pitchFamily="34" charset="0"/>
                </a:rPr>
                <a:t>T</a:t>
              </a:r>
            </a:p>
            <a:p>
              <a:pPr algn="ctr"/>
              <a:endParaRPr lang="en-US" sz="1100" dirty="0">
                <a:latin typeface="Calibri" panose="020F0502020204030204" pitchFamily="34" charset="0"/>
                <a:cs typeface="Calibri" panose="020F0502020204030204" pitchFamily="34" charset="0"/>
              </a:endParaRPr>
            </a:p>
          </p:txBody>
        </p:sp>
      </p:grpSp>
      <p:pic>
        <p:nvPicPr>
          <p:cNvPr id="3" name="Picture 2">
            <a:extLst>
              <a:ext uri="{FF2B5EF4-FFF2-40B4-BE49-F238E27FC236}">
                <a16:creationId xmlns:a16="http://schemas.microsoft.com/office/drawing/2014/main" id="{AC7DFC4F-1220-1158-EFAD-D89FB6566E94}"/>
              </a:ext>
            </a:extLst>
          </p:cNvPr>
          <p:cNvPicPr>
            <a:picLocks noChangeAspect="1"/>
          </p:cNvPicPr>
          <p:nvPr/>
        </p:nvPicPr>
        <p:blipFill>
          <a:blip r:embed="rId5"/>
          <a:srcRect l="13749" t="11829" r="10001" b="13971"/>
          <a:stretch>
            <a:fillRect/>
          </a:stretch>
        </p:blipFill>
        <p:spPr>
          <a:xfrm>
            <a:off x="6858000" y="2606394"/>
            <a:ext cx="1718645" cy="612364"/>
          </a:xfrm>
          <a:prstGeom prst="rect">
            <a:avLst/>
          </a:prstGeom>
        </p:spPr>
      </p:pic>
    </p:spTree>
    <p:extLst>
      <p:ext uri="{BB962C8B-B14F-4D97-AF65-F5344CB8AC3E}">
        <p14:creationId xmlns:p14="http://schemas.microsoft.com/office/powerpoint/2010/main" val="6293735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8ABB2-9750-5689-BCEC-F7251041BBE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AD0ADDE-0FF6-855E-813F-DA0CFB68713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solidFill>
                  <a:srgbClr val="FFFFFF"/>
                </a:solidFill>
                <a:latin typeface="Calibri" panose="020F0502020204030204" pitchFamily="34" charset="0"/>
                <a:ea typeface="Calibri" pitchFamily="34" charset="-122"/>
                <a:cs typeface="Calibri" panose="020F0502020204030204" pitchFamily="34" charset="0"/>
              </a:rPr>
              <a:t>Transformers for Multimodal AI (cont…)</a:t>
            </a:r>
            <a:endParaRPr lang="en-US" sz="3200" b="1" dirty="0">
              <a:latin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D00D23C1-B4CF-9DFF-B869-C57E2A7BE175}"/>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D053680D-F081-CBA4-3BCA-B9FC228F8B43}"/>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44</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22187B1-B089-DAA7-502B-B5CBB38483C4}"/>
              </a:ext>
            </a:extLst>
          </p:cNvPr>
          <p:cNvSpPr txBox="1"/>
          <p:nvPr/>
        </p:nvSpPr>
        <p:spPr>
          <a:xfrm>
            <a:off x="358681" y="969812"/>
            <a:ext cx="5548658" cy="5109091"/>
          </a:xfrm>
          <a:prstGeom prst="rect">
            <a:avLst/>
          </a:prstGeom>
          <a:noFill/>
        </p:spPr>
        <p:txBody>
          <a:bodyPr wrap="square">
            <a:spAutoFit/>
          </a:bodyPr>
          <a:lstStyle/>
          <a:p>
            <a:pPr algn="just"/>
            <a:r>
              <a:rPr lang="en-US" sz="2400" b="1">
                <a:latin typeface="Calibri" panose="020F0502020204030204" pitchFamily="34" charset="0"/>
                <a:cs typeface="Calibri" panose="020F0502020204030204" pitchFamily="34" charset="0"/>
              </a:rPr>
              <a:t>Video + Language</a:t>
            </a:r>
          </a:p>
          <a:p>
            <a:pPr marL="457200" lvl="0" indent="-457200" algn="just">
              <a:buFont typeface="+mj-lt"/>
              <a:buAutoNum type="arabicPeriod"/>
            </a:pPr>
            <a:endParaRPr lang="en-US">
              <a:latin typeface="Calibri" panose="020F0502020204030204" pitchFamily="34" charset="0"/>
              <a:cs typeface="Calibri" panose="020F0502020204030204" pitchFamily="34" charset="0"/>
            </a:endParaRPr>
          </a:p>
          <a:p>
            <a:pPr marL="457200" lvl="0" indent="-457200" algn="just">
              <a:buFont typeface="+mj-lt"/>
              <a:buAutoNum type="arabicPeriod"/>
            </a:pPr>
            <a:r>
              <a:rPr lang="en-US">
                <a:latin typeface="Calibri" panose="020F0502020204030204" pitchFamily="34" charset="0"/>
                <a:cs typeface="Calibri" panose="020F0502020204030204" pitchFamily="34" charset="0"/>
              </a:rPr>
              <a:t>Video contains visual information and time. Each frame can be divided into patches and converted into embeddings.</a:t>
            </a:r>
          </a:p>
          <a:p>
            <a:pPr marL="457200" lvl="0" indent="-457200" algn="just">
              <a:buFont typeface="+mj-lt"/>
              <a:buAutoNum type="arabicPeriod"/>
            </a:pPr>
            <a:r>
              <a:rPr lang="en-US">
                <a:latin typeface="Calibri" panose="020F0502020204030204" pitchFamily="34" charset="0"/>
                <a:cs typeface="Calibri" panose="020F0502020204030204" pitchFamily="34" charset="0"/>
              </a:rPr>
              <a:t>The model needs to understand where something appears and when it happens.</a:t>
            </a:r>
          </a:p>
          <a:p>
            <a:pPr marL="457200" lvl="0" indent="-457200" algn="just">
              <a:buFont typeface="+mj-lt"/>
              <a:buAutoNum type="arabicPeriod"/>
            </a:pPr>
            <a:r>
              <a:rPr lang="en-US">
                <a:latin typeface="Calibri" panose="020F0502020204030204" pitchFamily="34" charset="0"/>
                <a:cs typeface="Calibri" panose="020F0502020204030204" pitchFamily="34" charset="0"/>
              </a:rPr>
              <a:t>Cross-attention connects language with video, allowing a text query to focus on relevant frames and regions.</a:t>
            </a:r>
          </a:p>
          <a:p>
            <a:pPr marL="800100" lvl="1" indent="-342900" algn="just">
              <a:buFont typeface="Arial" panose="020B0604020202020204" pitchFamily="34" charset="0"/>
              <a:buChar char="•"/>
            </a:pPr>
            <a:r>
              <a:rPr lang="en-US" sz="1600" i="1">
                <a:latin typeface="Calibri" panose="020F0502020204030204" pitchFamily="34" charset="0"/>
                <a:cs typeface="Calibri" panose="020F0502020204030204" pitchFamily="34" charset="0"/>
              </a:rPr>
              <a:t>Example: “When does the person throw?” → the model focuses on the relevant frames → identifies the action.</a:t>
            </a:r>
            <a:endParaRPr lang="en-US" sz="1600">
              <a:latin typeface="Calibri" panose="020F0502020204030204" pitchFamily="34" charset="0"/>
              <a:cs typeface="Calibri" panose="020F0502020204030204" pitchFamily="34" charset="0"/>
            </a:endParaRPr>
          </a:p>
          <a:p>
            <a:pPr marL="457200" lvl="0" indent="-457200" algn="just">
              <a:buFont typeface="+mj-lt"/>
              <a:buAutoNum type="arabicPeriod"/>
            </a:pPr>
            <a:r>
              <a:rPr lang="en-US">
                <a:latin typeface="Calibri" panose="020F0502020204030204" pitchFamily="34" charset="0"/>
                <a:cs typeface="Calibri" panose="020F0502020204030204" pitchFamily="34" charset="0"/>
              </a:rPr>
              <a:t>This supports tasks such as video captioning, video question answering, and video search.</a:t>
            </a:r>
          </a:p>
          <a:p>
            <a:pPr marL="457200" indent="-457200" algn="just">
              <a:buFont typeface="+mj-lt"/>
              <a:buAutoNum type="arabicPeriod"/>
            </a:pPr>
            <a:endParaRPr lang="en-US">
              <a:latin typeface="Calibri" panose="020F0502020204030204" pitchFamily="34" charset="0"/>
              <a:cs typeface="Calibri" panose="020F0502020204030204" pitchFamily="34" charset="0"/>
            </a:endParaRPr>
          </a:p>
          <a:p>
            <a:pPr marL="457200" indent="-457200" algn="just">
              <a:buFont typeface="+mj-lt"/>
              <a:buAutoNum type="arabicPeriod"/>
            </a:pPr>
            <a:r>
              <a:rPr lang="en-US">
                <a:latin typeface="Calibri" panose="020F0502020204030204" pitchFamily="34" charset="0"/>
                <a:cs typeface="Calibri" panose="020F0502020204030204" pitchFamily="34" charset="0"/>
              </a:rPr>
              <a:t>Video provides visual information over time + Language describes what to look for → Cross-Attention connects them.</a:t>
            </a:r>
            <a:endParaRPr lang="en-US" dirty="0">
              <a:latin typeface="Calibri" panose="020F0502020204030204" pitchFamily="34" charset="0"/>
              <a:cs typeface="Calibri" panose="020F0502020204030204" pitchFamily="34" charset="0"/>
            </a:endParaRPr>
          </a:p>
        </p:txBody>
      </p:sp>
      <p:sp>
        <p:nvSpPr>
          <p:cNvPr id="71" name="TextBox 70">
            <a:extLst>
              <a:ext uri="{FF2B5EF4-FFF2-40B4-BE49-F238E27FC236}">
                <a16:creationId xmlns:a16="http://schemas.microsoft.com/office/drawing/2014/main" id="{C3C5E44D-9B39-9DFE-FAA9-C82E24DD118E}"/>
              </a:ext>
            </a:extLst>
          </p:cNvPr>
          <p:cNvSpPr txBox="1"/>
          <p:nvPr/>
        </p:nvSpPr>
        <p:spPr>
          <a:xfrm>
            <a:off x="7659086" y="3142077"/>
            <a:ext cx="306467"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grpSp>
        <p:nvGrpSpPr>
          <p:cNvPr id="75" name="Group 74">
            <a:extLst>
              <a:ext uri="{FF2B5EF4-FFF2-40B4-BE49-F238E27FC236}">
                <a16:creationId xmlns:a16="http://schemas.microsoft.com/office/drawing/2014/main" id="{BF4D938F-A23C-BCAB-7083-90070D999866}"/>
              </a:ext>
            </a:extLst>
          </p:cNvPr>
          <p:cNvGrpSpPr/>
          <p:nvPr/>
        </p:nvGrpSpPr>
        <p:grpSpPr>
          <a:xfrm>
            <a:off x="6441362" y="931248"/>
            <a:ext cx="5293438" cy="5674331"/>
            <a:chOff x="6516797" y="939764"/>
            <a:chExt cx="5293438" cy="5674331"/>
          </a:xfrm>
        </p:grpSpPr>
        <p:grpSp>
          <p:nvGrpSpPr>
            <p:cNvPr id="56" name="Group 55">
              <a:extLst>
                <a:ext uri="{FF2B5EF4-FFF2-40B4-BE49-F238E27FC236}">
                  <a16:creationId xmlns:a16="http://schemas.microsoft.com/office/drawing/2014/main" id="{1BAB2046-7215-1387-331B-CA46D2E4085D}"/>
                </a:ext>
              </a:extLst>
            </p:cNvPr>
            <p:cNvGrpSpPr/>
            <p:nvPr/>
          </p:nvGrpSpPr>
          <p:grpSpPr>
            <a:xfrm>
              <a:off x="7151138" y="939764"/>
              <a:ext cx="4659097" cy="5674331"/>
              <a:chOff x="7151138" y="939764"/>
              <a:chExt cx="4659097" cy="5674331"/>
            </a:xfrm>
          </p:grpSpPr>
          <p:grpSp>
            <p:nvGrpSpPr>
              <p:cNvPr id="2" name="Group 1">
                <a:extLst>
                  <a:ext uri="{FF2B5EF4-FFF2-40B4-BE49-F238E27FC236}">
                    <a16:creationId xmlns:a16="http://schemas.microsoft.com/office/drawing/2014/main" id="{F51FF207-5923-329B-43F9-B70132EC7034}"/>
                  </a:ext>
                </a:extLst>
              </p:cNvPr>
              <p:cNvGrpSpPr/>
              <p:nvPr/>
            </p:nvGrpSpPr>
            <p:grpSpPr>
              <a:xfrm>
                <a:off x="7151138" y="939764"/>
                <a:ext cx="4258842" cy="5674331"/>
                <a:chOff x="7350631" y="917261"/>
                <a:chExt cx="4330318" cy="5705888"/>
              </a:xfrm>
            </p:grpSpPr>
            <p:sp>
              <p:nvSpPr>
                <p:cNvPr id="3" name="TextBox 2">
                  <a:extLst>
                    <a:ext uri="{FF2B5EF4-FFF2-40B4-BE49-F238E27FC236}">
                      <a16:creationId xmlns:a16="http://schemas.microsoft.com/office/drawing/2014/main" id="{F11A8D0F-D0F3-B5F4-A2C2-6B72DD33B485}"/>
                    </a:ext>
                  </a:extLst>
                </p:cNvPr>
                <p:cNvSpPr txBox="1"/>
                <p:nvPr/>
              </p:nvSpPr>
              <p:spPr>
                <a:xfrm>
                  <a:off x="9289235" y="5496806"/>
                  <a:ext cx="228601" cy="400110"/>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a:t>
                  </a:r>
                </a:p>
              </p:txBody>
            </p:sp>
            <p:grpSp>
              <p:nvGrpSpPr>
                <p:cNvPr id="8" name="Group 7">
                  <a:extLst>
                    <a:ext uri="{FF2B5EF4-FFF2-40B4-BE49-F238E27FC236}">
                      <a16:creationId xmlns:a16="http://schemas.microsoft.com/office/drawing/2014/main" id="{7560C647-A771-3C5F-7588-CA7C56460D32}"/>
                    </a:ext>
                  </a:extLst>
                </p:cNvPr>
                <p:cNvGrpSpPr/>
                <p:nvPr/>
              </p:nvGrpSpPr>
              <p:grpSpPr>
                <a:xfrm>
                  <a:off x="7350631" y="917261"/>
                  <a:ext cx="4330318" cy="5705888"/>
                  <a:chOff x="7350631" y="917261"/>
                  <a:chExt cx="4330318" cy="5705888"/>
                </a:xfrm>
              </p:grpSpPr>
              <p:sp>
                <p:nvSpPr>
                  <p:cNvPr id="11" name="TextBox 10">
                    <a:extLst>
                      <a:ext uri="{FF2B5EF4-FFF2-40B4-BE49-F238E27FC236}">
                        <a16:creationId xmlns:a16="http://schemas.microsoft.com/office/drawing/2014/main" id="{7759D6ED-0BDE-DC6D-AD39-DD4472D6E009}"/>
                      </a:ext>
                    </a:extLst>
                  </p:cNvPr>
                  <p:cNvSpPr txBox="1"/>
                  <p:nvPr/>
                </p:nvSpPr>
                <p:spPr>
                  <a:xfrm>
                    <a:off x="10685419" y="3280583"/>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12" name="TextBox 11">
                    <a:extLst>
                      <a:ext uri="{FF2B5EF4-FFF2-40B4-BE49-F238E27FC236}">
                        <a16:creationId xmlns:a16="http://schemas.microsoft.com/office/drawing/2014/main" id="{7D6C1F59-9F5D-5580-23CE-774A2C875997}"/>
                      </a:ext>
                    </a:extLst>
                  </p:cNvPr>
                  <p:cNvSpPr txBox="1"/>
                  <p:nvPr/>
                </p:nvSpPr>
                <p:spPr>
                  <a:xfrm>
                    <a:off x="7873210" y="1379204"/>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13" name="TextBox 12">
                    <a:extLst>
                      <a:ext uri="{FF2B5EF4-FFF2-40B4-BE49-F238E27FC236}">
                        <a16:creationId xmlns:a16="http://schemas.microsoft.com/office/drawing/2014/main" id="{BBA0AC03-8D7B-7D63-A0BF-85325C1C459A}"/>
                      </a:ext>
                    </a:extLst>
                  </p:cNvPr>
                  <p:cNvSpPr txBox="1"/>
                  <p:nvPr/>
                </p:nvSpPr>
                <p:spPr>
                  <a:xfrm>
                    <a:off x="10674315" y="1370079"/>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14" name="TextBox 13">
                    <a:extLst>
                      <a:ext uri="{FF2B5EF4-FFF2-40B4-BE49-F238E27FC236}">
                        <a16:creationId xmlns:a16="http://schemas.microsoft.com/office/drawing/2014/main" id="{20CB06CC-CD96-0806-1283-B3FC8604476B}"/>
                      </a:ext>
                    </a:extLst>
                  </p:cNvPr>
                  <p:cNvSpPr txBox="1"/>
                  <p:nvPr/>
                </p:nvSpPr>
                <p:spPr>
                  <a:xfrm>
                    <a:off x="7854963" y="2270714"/>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sp>
                <p:nvSpPr>
                  <p:cNvPr id="15" name="TextBox 14">
                    <a:extLst>
                      <a:ext uri="{FF2B5EF4-FFF2-40B4-BE49-F238E27FC236}">
                        <a16:creationId xmlns:a16="http://schemas.microsoft.com/office/drawing/2014/main" id="{0EA0DB48-5EC0-6CE0-51B2-4E3039210EFA}"/>
                      </a:ext>
                    </a:extLst>
                  </p:cNvPr>
                  <p:cNvSpPr txBox="1"/>
                  <p:nvPr/>
                </p:nvSpPr>
                <p:spPr>
                  <a:xfrm>
                    <a:off x="10674314" y="2236410"/>
                    <a:ext cx="278725" cy="369332"/>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a:t>
                    </a:r>
                  </a:p>
                </p:txBody>
              </p:sp>
              <p:grpSp>
                <p:nvGrpSpPr>
                  <p:cNvPr id="16" name="Group 15">
                    <a:extLst>
                      <a:ext uri="{FF2B5EF4-FFF2-40B4-BE49-F238E27FC236}">
                        <a16:creationId xmlns:a16="http://schemas.microsoft.com/office/drawing/2014/main" id="{EFB8794F-5661-B5B9-172A-46F369939750}"/>
                      </a:ext>
                    </a:extLst>
                  </p:cNvPr>
                  <p:cNvGrpSpPr/>
                  <p:nvPr/>
                </p:nvGrpSpPr>
                <p:grpSpPr>
                  <a:xfrm>
                    <a:off x="7350631" y="917261"/>
                    <a:ext cx="4330318" cy="5705888"/>
                    <a:chOff x="7350631" y="917261"/>
                    <a:chExt cx="4330318" cy="5705888"/>
                  </a:xfrm>
                </p:grpSpPr>
                <p:cxnSp>
                  <p:nvCxnSpPr>
                    <p:cNvPr id="17" name="Connector: Elbow 16">
                      <a:extLst>
                        <a:ext uri="{FF2B5EF4-FFF2-40B4-BE49-F238E27FC236}">
                          <a16:creationId xmlns:a16="http://schemas.microsoft.com/office/drawing/2014/main" id="{155BBC2F-ACB5-04DE-3E36-AF34FDB2C81D}"/>
                        </a:ext>
                      </a:extLst>
                    </p:cNvPr>
                    <p:cNvCxnSpPr>
                      <a:cxnSpLocks/>
                    </p:cNvCxnSpPr>
                    <p:nvPr/>
                  </p:nvCxnSpPr>
                  <p:spPr>
                    <a:xfrm>
                      <a:off x="9471594" y="6127489"/>
                      <a:ext cx="504030" cy="205082"/>
                    </a:xfrm>
                    <a:prstGeom prst="bentConnector3">
                      <a:avLst>
                        <a:gd name="adj1" fmla="val -308"/>
                      </a:avLst>
                    </a:prstGeom>
                    <a:ln>
                      <a:tailEnd type="triangle"/>
                    </a:ln>
                  </p:spPr>
                  <p:style>
                    <a:lnRef idx="1">
                      <a:schemeClr val="dk1"/>
                    </a:lnRef>
                    <a:fillRef idx="0">
                      <a:schemeClr val="dk1"/>
                    </a:fillRef>
                    <a:effectRef idx="0">
                      <a:schemeClr val="dk1"/>
                    </a:effectRef>
                    <a:fontRef idx="minor">
                      <a:schemeClr val="tx1"/>
                    </a:fontRef>
                  </p:style>
                </p:cxnSp>
                <p:grpSp>
                  <p:nvGrpSpPr>
                    <p:cNvPr id="21" name="Group 20">
                      <a:extLst>
                        <a:ext uri="{FF2B5EF4-FFF2-40B4-BE49-F238E27FC236}">
                          <a16:creationId xmlns:a16="http://schemas.microsoft.com/office/drawing/2014/main" id="{BB9331F2-C251-C80E-BADA-84D69E1D795A}"/>
                        </a:ext>
                      </a:extLst>
                    </p:cNvPr>
                    <p:cNvGrpSpPr/>
                    <p:nvPr/>
                  </p:nvGrpSpPr>
                  <p:grpSpPr>
                    <a:xfrm>
                      <a:off x="7350631" y="917261"/>
                      <a:ext cx="4330318" cy="5705888"/>
                      <a:chOff x="7350631" y="917261"/>
                      <a:chExt cx="4330318" cy="5705888"/>
                    </a:xfrm>
                  </p:grpSpPr>
                  <p:grpSp>
                    <p:nvGrpSpPr>
                      <p:cNvPr id="23" name="Group 22">
                        <a:extLst>
                          <a:ext uri="{FF2B5EF4-FFF2-40B4-BE49-F238E27FC236}">
                            <a16:creationId xmlns:a16="http://schemas.microsoft.com/office/drawing/2014/main" id="{4E54FDDF-1CED-3380-4FB4-764AA99A422B}"/>
                          </a:ext>
                        </a:extLst>
                      </p:cNvPr>
                      <p:cNvGrpSpPr/>
                      <p:nvPr/>
                    </p:nvGrpSpPr>
                    <p:grpSpPr>
                      <a:xfrm>
                        <a:off x="7979686" y="2267507"/>
                        <a:ext cx="2868267" cy="2472872"/>
                        <a:chOff x="7979686" y="2267507"/>
                        <a:chExt cx="2868267" cy="2472872"/>
                      </a:xfrm>
                    </p:grpSpPr>
                    <p:sp>
                      <p:nvSpPr>
                        <p:cNvPr id="48" name="TextBox 47">
                          <a:extLst>
                            <a:ext uri="{FF2B5EF4-FFF2-40B4-BE49-F238E27FC236}">
                              <a16:creationId xmlns:a16="http://schemas.microsoft.com/office/drawing/2014/main" id="{178831AC-C320-8251-1FBE-91C353AFB4D3}"/>
                            </a:ext>
                          </a:extLst>
                        </p:cNvPr>
                        <p:cNvSpPr txBox="1"/>
                        <p:nvPr/>
                      </p:nvSpPr>
                      <p:spPr>
                        <a:xfrm>
                          <a:off x="9939764" y="2267507"/>
                          <a:ext cx="278725" cy="461665"/>
                        </a:xfrm>
                        <a:prstGeom prst="rect">
                          <a:avLst/>
                        </a:prstGeom>
                        <a:noFill/>
                      </p:spPr>
                      <p:txBody>
                        <a:bodyPr wrap="square">
                          <a:spAutoFit/>
                        </a:bodyPr>
                        <a:lstStyle/>
                        <a:p>
                          <a:endParaRPr lang="en-US" sz="2400" b="1" dirty="0">
                            <a:latin typeface="Calibri" panose="020F0502020204030204" pitchFamily="34" charset="0"/>
                            <a:cs typeface="Calibri" panose="020F0502020204030204" pitchFamily="34" charset="0"/>
                          </a:endParaRPr>
                        </a:p>
                      </p:txBody>
                    </p:sp>
                    <p:cxnSp>
                      <p:nvCxnSpPr>
                        <p:cNvPr id="49" name="Connector: Elbow 48">
                          <a:extLst>
                            <a:ext uri="{FF2B5EF4-FFF2-40B4-BE49-F238E27FC236}">
                              <a16:creationId xmlns:a16="http://schemas.microsoft.com/office/drawing/2014/main" id="{2A80C22D-6783-0A8C-4F34-F95FA0649A5C}"/>
                            </a:ext>
                          </a:extLst>
                        </p:cNvPr>
                        <p:cNvCxnSpPr>
                          <a:cxnSpLocks/>
                        </p:cNvCxnSpPr>
                        <p:nvPr/>
                      </p:nvCxnSpPr>
                      <p:spPr>
                        <a:xfrm>
                          <a:off x="7979686" y="4381512"/>
                          <a:ext cx="557581" cy="352887"/>
                        </a:xfrm>
                        <a:prstGeom prst="bentConnector3">
                          <a:avLst>
                            <a:gd name="adj1" fmla="val -1115"/>
                          </a:avLst>
                        </a:prstGeom>
                        <a:ln>
                          <a:tailEnd type="triangle"/>
                        </a:ln>
                      </p:spPr>
                      <p:style>
                        <a:lnRef idx="1">
                          <a:schemeClr val="dk1"/>
                        </a:lnRef>
                        <a:fillRef idx="0">
                          <a:schemeClr val="dk1"/>
                        </a:fillRef>
                        <a:effectRef idx="0">
                          <a:schemeClr val="dk1"/>
                        </a:effectRef>
                        <a:fontRef idx="minor">
                          <a:schemeClr val="tx1"/>
                        </a:fontRef>
                      </p:style>
                    </p:cxnSp>
                    <p:cxnSp>
                      <p:nvCxnSpPr>
                        <p:cNvPr id="50" name="Connector: Elbow 49">
                          <a:extLst>
                            <a:ext uri="{FF2B5EF4-FFF2-40B4-BE49-F238E27FC236}">
                              <a16:creationId xmlns:a16="http://schemas.microsoft.com/office/drawing/2014/main" id="{448B8D32-7583-65C5-9070-6214A8C7079D}"/>
                            </a:ext>
                          </a:extLst>
                        </p:cNvPr>
                        <p:cNvCxnSpPr>
                          <a:cxnSpLocks/>
                        </p:cNvCxnSpPr>
                        <p:nvPr/>
                      </p:nvCxnSpPr>
                      <p:spPr>
                        <a:xfrm rot="10800000" flipV="1">
                          <a:off x="10189496" y="4340361"/>
                          <a:ext cx="658457" cy="400018"/>
                        </a:xfrm>
                        <a:prstGeom prst="bentConnector3">
                          <a:avLst>
                            <a:gd name="adj1" fmla="val -498"/>
                          </a:avLst>
                        </a:prstGeom>
                        <a:ln>
                          <a:tailEnd type="triangle"/>
                        </a:ln>
                      </p:spPr>
                      <p:style>
                        <a:lnRef idx="1">
                          <a:schemeClr val="dk1"/>
                        </a:lnRef>
                        <a:fillRef idx="0">
                          <a:schemeClr val="dk1"/>
                        </a:fillRef>
                        <a:effectRef idx="0">
                          <a:schemeClr val="dk1"/>
                        </a:effectRef>
                        <a:fontRef idx="minor">
                          <a:schemeClr val="tx1"/>
                        </a:fontRef>
                      </p:style>
                    </p:cxnSp>
                  </p:grpSp>
                  <p:cxnSp>
                    <p:nvCxnSpPr>
                      <p:cNvPr id="24" name="Straight Arrow Connector 23">
                        <a:extLst>
                          <a:ext uri="{FF2B5EF4-FFF2-40B4-BE49-F238E27FC236}">
                            <a16:creationId xmlns:a16="http://schemas.microsoft.com/office/drawing/2014/main" id="{EFCA309B-6C57-D048-F44C-60BDEA0D0DE9}"/>
                          </a:ext>
                        </a:extLst>
                      </p:cNvPr>
                      <p:cNvCxnSpPr>
                        <a:cxnSpLocks/>
                      </p:cNvCxnSpPr>
                      <p:nvPr/>
                    </p:nvCxnSpPr>
                    <p:spPr>
                      <a:xfrm>
                        <a:off x="10127144" y="5870189"/>
                        <a:ext cx="311663"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25" name="Group 24">
                        <a:extLst>
                          <a:ext uri="{FF2B5EF4-FFF2-40B4-BE49-F238E27FC236}">
                            <a16:creationId xmlns:a16="http://schemas.microsoft.com/office/drawing/2014/main" id="{ED08349F-3C7B-29A0-C937-7D3D13A66A7A}"/>
                          </a:ext>
                        </a:extLst>
                      </p:cNvPr>
                      <p:cNvGrpSpPr/>
                      <p:nvPr/>
                    </p:nvGrpSpPr>
                    <p:grpSpPr>
                      <a:xfrm>
                        <a:off x="7350631" y="917261"/>
                        <a:ext cx="4330318" cy="5705888"/>
                        <a:chOff x="7350631" y="917261"/>
                        <a:chExt cx="4330318" cy="5705888"/>
                      </a:xfrm>
                    </p:grpSpPr>
                    <p:grpSp>
                      <p:nvGrpSpPr>
                        <p:cNvPr id="26" name="Group 25">
                          <a:extLst>
                            <a:ext uri="{FF2B5EF4-FFF2-40B4-BE49-F238E27FC236}">
                              <a16:creationId xmlns:a16="http://schemas.microsoft.com/office/drawing/2014/main" id="{8F752786-0C0B-32B7-828A-6562E8785340}"/>
                            </a:ext>
                          </a:extLst>
                        </p:cNvPr>
                        <p:cNvGrpSpPr/>
                        <p:nvPr/>
                      </p:nvGrpSpPr>
                      <p:grpSpPr>
                        <a:xfrm>
                          <a:off x="7486211" y="917261"/>
                          <a:ext cx="4038660" cy="1390477"/>
                          <a:chOff x="7486211" y="917261"/>
                          <a:chExt cx="4038660" cy="1390477"/>
                        </a:xfrm>
                      </p:grpSpPr>
                      <p:grpSp>
                        <p:nvGrpSpPr>
                          <p:cNvPr id="44" name="Group 43">
                            <a:extLst>
                              <a:ext uri="{FF2B5EF4-FFF2-40B4-BE49-F238E27FC236}">
                                <a16:creationId xmlns:a16="http://schemas.microsoft.com/office/drawing/2014/main" id="{0F316A59-652B-90CD-6FE4-09B3B9DC27CD}"/>
                              </a:ext>
                            </a:extLst>
                          </p:cNvPr>
                          <p:cNvGrpSpPr/>
                          <p:nvPr/>
                        </p:nvGrpSpPr>
                        <p:grpSpPr>
                          <a:xfrm>
                            <a:off x="7486211" y="917261"/>
                            <a:ext cx="3885048" cy="584224"/>
                            <a:chOff x="7486211" y="917261"/>
                            <a:chExt cx="3885048" cy="584224"/>
                          </a:xfrm>
                        </p:grpSpPr>
                        <p:sp>
                          <p:nvSpPr>
                            <p:cNvPr id="46" name="Oval 45">
                              <a:extLst>
                                <a:ext uri="{FF2B5EF4-FFF2-40B4-BE49-F238E27FC236}">
                                  <a16:creationId xmlns:a16="http://schemas.microsoft.com/office/drawing/2014/main" id="{B50F0379-FBD3-A01F-8537-43DB2EF94EF7}"/>
                                </a:ext>
                              </a:extLst>
                            </p:cNvPr>
                            <p:cNvSpPr/>
                            <p:nvPr/>
                          </p:nvSpPr>
                          <p:spPr>
                            <a:xfrm>
                              <a:off x="10256097" y="917261"/>
                              <a:ext cx="1115162" cy="571189"/>
                            </a:xfrm>
                            <a:prstGeom prst="ellipse">
                              <a:avLst/>
                            </a:prstGeom>
                            <a:solidFill>
                              <a:srgbClr val="3535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alibri" panose="020F0502020204030204" pitchFamily="34" charset="0"/>
                                  <a:cs typeface="Calibri" panose="020F0502020204030204" pitchFamily="34" charset="0"/>
                                </a:rPr>
                                <a:t>Language</a:t>
                              </a:r>
                            </a:p>
                          </p:txBody>
                        </p:sp>
                        <p:sp>
                          <p:nvSpPr>
                            <p:cNvPr id="47" name="Oval 46">
                              <a:extLst>
                                <a:ext uri="{FF2B5EF4-FFF2-40B4-BE49-F238E27FC236}">
                                  <a16:creationId xmlns:a16="http://schemas.microsoft.com/office/drawing/2014/main" id="{4D9E2409-31C0-5B05-F17B-77C6BF4FAE1E}"/>
                                </a:ext>
                              </a:extLst>
                            </p:cNvPr>
                            <p:cNvSpPr/>
                            <p:nvPr/>
                          </p:nvSpPr>
                          <p:spPr>
                            <a:xfrm>
                              <a:off x="7486211" y="930296"/>
                              <a:ext cx="1115162" cy="571189"/>
                            </a:xfrm>
                            <a:prstGeom prst="ellipse">
                              <a:avLst/>
                            </a:prstGeom>
                            <a:solidFill>
                              <a:srgbClr val="3535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Calibri" panose="020F0502020204030204" pitchFamily="34" charset="0"/>
                                  <a:cs typeface="Calibri" panose="020F0502020204030204" pitchFamily="34" charset="0"/>
                                </a:rPr>
                                <a:t>Video</a:t>
                              </a:r>
                            </a:p>
                          </p:txBody>
                        </p:sp>
                      </p:grpSp>
                      <p:sp>
                        <p:nvSpPr>
                          <p:cNvPr id="45" name="Rectangle: Rounded Corners 44">
                            <a:extLst>
                              <a:ext uri="{FF2B5EF4-FFF2-40B4-BE49-F238E27FC236}">
                                <a16:creationId xmlns:a16="http://schemas.microsoft.com/office/drawing/2014/main" id="{3BC51B32-3165-2EA8-ECAC-B330B2C31945}"/>
                              </a:ext>
                            </a:extLst>
                          </p:cNvPr>
                          <p:cNvSpPr/>
                          <p:nvPr/>
                        </p:nvSpPr>
                        <p:spPr>
                          <a:xfrm>
                            <a:off x="10189495" y="1764265"/>
                            <a:ext cx="1335376" cy="543473"/>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alibri" panose="020F0502020204030204" pitchFamily="34" charset="0"/>
                                <a:cs typeface="Calibri" panose="020F0502020204030204" pitchFamily="34" charset="0"/>
                              </a:rPr>
                              <a:t>When does the person throw ?</a:t>
                            </a:r>
                          </a:p>
                        </p:txBody>
                      </p:sp>
                    </p:grpSp>
                    <p:sp>
                      <p:nvSpPr>
                        <p:cNvPr id="27" name="Rectangle: Rounded Corners 26">
                          <a:extLst>
                            <a:ext uri="{FF2B5EF4-FFF2-40B4-BE49-F238E27FC236}">
                              <a16:creationId xmlns:a16="http://schemas.microsoft.com/office/drawing/2014/main" id="{C0375E84-AF6F-06F2-AC98-D437D2ABD19A}"/>
                            </a:ext>
                          </a:extLst>
                        </p:cNvPr>
                        <p:cNvSpPr/>
                        <p:nvPr/>
                      </p:nvSpPr>
                      <p:spPr>
                        <a:xfrm>
                          <a:off x="10169343" y="2585739"/>
                          <a:ext cx="1447580" cy="664338"/>
                        </a:xfrm>
                        <a:prstGeom prst="round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“when”  “does”  “the”  “person” “throw”  “?”</a:t>
                          </a:r>
                        </a:p>
                      </p:txBody>
                    </p:sp>
                    <p:grpSp>
                      <p:nvGrpSpPr>
                        <p:cNvPr id="28" name="Group 27">
                          <a:extLst>
                            <a:ext uri="{FF2B5EF4-FFF2-40B4-BE49-F238E27FC236}">
                              <a16:creationId xmlns:a16="http://schemas.microsoft.com/office/drawing/2014/main" id="{D258663D-8AA4-25C1-1F3F-26C525DB80EA}"/>
                            </a:ext>
                          </a:extLst>
                        </p:cNvPr>
                        <p:cNvGrpSpPr/>
                        <p:nvPr/>
                      </p:nvGrpSpPr>
                      <p:grpSpPr>
                        <a:xfrm>
                          <a:off x="8776474" y="4600564"/>
                          <a:ext cx="1254125" cy="1056614"/>
                          <a:chOff x="8776474" y="4600564"/>
                          <a:chExt cx="1254125" cy="1056614"/>
                        </a:xfrm>
                      </p:grpSpPr>
                      <p:grpSp>
                        <p:nvGrpSpPr>
                          <p:cNvPr id="39" name="Group 38">
                            <a:extLst>
                              <a:ext uri="{FF2B5EF4-FFF2-40B4-BE49-F238E27FC236}">
                                <a16:creationId xmlns:a16="http://schemas.microsoft.com/office/drawing/2014/main" id="{55B2CE3D-DDF6-9E7B-EC89-366D2980DCE5}"/>
                              </a:ext>
                            </a:extLst>
                          </p:cNvPr>
                          <p:cNvGrpSpPr/>
                          <p:nvPr/>
                        </p:nvGrpSpPr>
                        <p:grpSpPr>
                          <a:xfrm>
                            <a:off x="8776474" y="4600564"/>
                            <a:ext cx="1254125" cy="1056614"/>
                            <a:chOff x="8776474" y="4600564"/>
                            <a:chExt cx="1254125" cy="1056614"/>
                          </a:xfrm>
                        </p:grpSpPr>
                        <p:sp>
                          <p:nvSpPr>
                            <p:cNvPr id="41" name="Flowchart: Multidocument 40">
                              <a:extLst>
                                <a:ext uri="{FF2B5EF4-FFF2-40B4-BE49-F238E27FC236}">
                                  <a16:creationId xmlns:a16="http://schemas.microsoft.com/office/drawing/2014/main" id="{4C09CE7C-C3F7-3287-5335-8A3D96A85E17}"/>
                                </a:ext>
                              </a:extLst>
                            </p:cNvPr>
                            <p:cNvSpPr/>
                            <p:nvPr/>
                          </p:nvSpPr>
                          <p:spPr>
                            <a:xfrm>
                              <a:off x="8817895" y="4600564"/>
                              <a:ext cx="1212704" cy="414006"/>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alibri" panose="020F0502020204030204" pitchFamily="34" charset="0"/>
                                  <a:cs typeface="Calibri" panose="020F0502020204030204" pitchFamily="34" charset="0"/>
                                </a:rPr>
                                <a:t>Self-Attention</a:t>
                              </a:r>
                            </a:p>
                          </p:txBody>
                        </p:sp>
                        <p:sp>
                          <p:nvSpPr>
                            <p:cNvPr id="42" name="Flowchart: Multidocument 41">
                              <a:extLst>
                                <a:ext uri="{FF2B5EF4-FFF2-40B4-BE49-F238E27FC236}">
                                  <a16:creationId xmlns:a16="http://schemas.microsoft.com/office/drawing/2014/main" id="{B66DECBA-7691-8261-65D6-DA38E847456F}"/>
                                </a:ext>
                              </a:extLst>
                            </p:cNvPr>
                            <p:cNvSpPr/>
                            <p:nvPr/>
                          </p:nvSpPr>
                          <p:spPr>
                            <a:xfrm>
                              <a:off x="8776474" y="5243172"/>
                              <a:ext cx="1254125" cy="414006"/>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libri" panose="020F0502020204030204" pitchFamily="34" charset="0"/>
                                  <a:cs typeface="Calibri" panose="020F0502020204030204" pitchFamily="34" charset="0"/>
                                </a:rPr>
                                <a:t>Cross-Attention</a:t>
                              </a:r>
                            </a:p>
                          </p:txBody>
                        </p:sp>
                      </p:grpSp>
                      <p:sp>
                        <p:nvSpPr>
                          <p:cNvPr id="40" name="TextBox 39">
                            <a:extLst>
                              <a:ext uri="{FF2B5EF4-FFF2-40B4-BE49-F238E27FC236}">
                                <a16:creationId xmlns:a16="http://schemas.microsoft.com/office/drawing/2014/main" id="{27811A7D-AF92-2DD6-39FD-668B1D6F8AAF}"/>
                              </a:ext>
                            </a:extLst>
                          </p:cNvPr>
                          <p:cNvSpPr txBox="1"/>
                          <p:nvPr/>
                        </p:nvSpPr>
                        <p:spPr>
                          <a:xfrm>
                            <a:off x="9280108" y="4848630"/>
                            <a:ext cx="228601" cy="400110"/>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a:t>
                            </a:r>
                          </a:p>
                        </p:txBody>
                      </p:sp>
                    </p:grpSp>
                    <p:pic>
                      <p:nvPicPr>
                        <p:cNvPr id="29" name="Graphic 28" descr="Gears with solid fill">
                          <a:extLst>
                            <a:ext uri="{FF2B5EF4-FFF2-40B4-BE49-F238E27FC236}">
                              <a16:creationId xmlns:a16="http://schemas.microsoft.com/office/drawing/2014/main" id="{9C1E3E41-ED97-E225-49AB-592994E591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3238919">
                          <a:off x="9152731" y="5695583"/>
                          <a:ext cx="543031" cy="543031"/>
                        </a:xfrm>
                        <a:prstGeom prst="rect">
                          <a:avLst/>
                        </a:prstGeom>
                      </p:spPr>
                    </p:pic>
                    <p:grpSp>
                      <p:nvGrpSpPr>
                        <p:cNvPr id="30" name="Group 29">
                          <a:extLst>
                            <a:ext uri="{FF2B5EF4-FFF2-40B4-BE49-F238E27FC236}">
                              <a16:creationId xmlns:a16="http://schemas.microsoft.com/office/drawing/2014/main" id="{6162E2D7-7432-23AE-365C-67CC23EFA889}"/>
                            </a:ext>
                          </a:extLst>
                        </p:cNvPr>
                        <p:cNvGrpSpPr/>
                        <p:nvPr/>
                      </p:nvGrpSpPr>
                      <p:grpSpPr>
                        <a:xfrm>
                          <a:off x="10122724" y="5208365"/>
                          <a:ext cx="311663" cy="1309900"/>
                          <a:chOff x="10411071" y="4934148"/>
                          <a:chExt cx="341728" cy="1739430"/>
                        </a:xfrm>
                      </p:grpSpPr>
                      <p:cxnSp>
                        <p:nvCxnSpPr>
                          <p:cNvPr id="35" name="Straight Arrow Connector 34">
                            <a:extLst>
                              <a:ext uri="{FF2B5EF4-FFF2-40B4-BE49-F238E27FC236}">
                                <a16:creationId xmlns:a16="http://schemas.microsoft.com/office/drawing/2014/main" id="{7B76CD86-5953-CCD5-92C5-58D16AA302EE}"/>
                              </a:ext>
                            </a:extLst>
                          </p:cNvPr>
                          <p:cNvCxnSpPr>
                            <a:cxnSpLocks/>
                          </p:cNvCxnSpPr>
                          <p:nvPr/>
                        </p:nvCxnSpPr>
                        <p:spPr>
                          <a:xfrm>
                            <a:off x="10411071" y="6671275"/>
                            <a:ext cx="34172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1FACB445-3E5F-7B50-D503-9F606EADBD2E}"/>
                              </a:ext>
                            </a:extLst>
                          </p:cNvPr>
                          <p:cNvCxnSpPr>
                            <a:cxnSpLocks/>
                          </p:cNvCxnSpPr>
                          <p:nvPr/>
                        </p:nvCxnSpPr>
                        <p:spPr>
                          <a:xfrm>
                            <a:off x="10411071" y="4934726"/>
                            <a:ext cx="341728" cy="424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DE054F9D-8A82-C6B3-39D0-EF002BBA7870}"/>
                              </a:ext>
                            </a:extLst>
                          </p:cNvPr>
                          <p:cNvCxnSpPr>
                            <a:cxnSpLocks/>
                          </p:cNvCxnSpPr>
                          <p:nvPr/>
                        </p:nvCxnSpPr>
                        <p:spPr>
                          <a:xfrm flipV="1">
                            <a:off x="10411071" y="4934148"/>
                            <a:ext cx="0" cy="173943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grpSp>
                    <p:sp>
                      <p:nvSpPr>
                        <p:cNvPr id="31" name="TextBox 30">
                          <a:extLst>
                            <a:ext uri="{FF2B5EF4-FFF2-40B4-BE49-F238E27FC236}">
                              <a16:creationId xmlns:a16="http://schemas.microsoft.com/office/drawing/2014/main" id="{029F6989-8BE3-CFC2-EBCE-5C068CE9ECF7}"/>
                            </a:ext>
                          </a:extLst>
                        </p:cNvPr>
                        <p:cNvSpPr txBox="1"/>
                        <p:nvPr/>
                      </p:nvSpPr>
                      <p:spPr>
                        <a:xfrm>
                          <a:off x="10408383" y="5069865"/>
                          <a:ext cx="1272566" cy="27853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Video Captioning</a:t>
                          </a:r>
                        </a:p>
                      </p:txBody>
                    </p:sp>
                    <p:sp>
                      <p:nvSpPr>
                        <p:cNvPr id="32" name="TextBox 31">
                          <a:extLst>
                            <a:ext uri="{FF2B5EF4-FFF2-40B4-BE49-F238E27FC236}">
                              <a16:creationId xmlns:a16="http://schemas.microsoft.com/office/drawing/2014/main" id="{3FA9F85B-9460-6DD1-FA84-A19C3D60A1BB}"/>
                            </a:ext>
                          </a:extLst>
                        </p:cNvPr>
                        <p:cNvSpPr txBox="1"/>
                        <p:nvPr/>
                      </p:nvSpPr>
                      <p:spPr>
                        <a:xfrm>
                          <a:off x="10457415" y="5719786"/>
                          <a:ext cx="563178" cy="27853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VQA</a:t>
                          </a:r>
                        </a:p>
                      </p:txBody>
                    </p:sp>
                    <p:sp>
                      <p:nvSpPr>
                        <p:cNvPr id="33" name="TextBox 32">
                          <a:extLst>
                            <a:ext uri="{FF2B5EF4-FFF2-40B4-BE49-F238E27FC236}">
                              <a16:creationId xmlns:a16="http://schemas.microsoft.com/office/drawing/2014/main" id="{294CEC15-C1A1-F4A1-6834-E1BE25837D8C}"/>
                            </a:ext>
                          </a:extLst>
                        </p:cNvPr>
                        <p:cNvSpPr txBox="1"/>
                        <p:nvPr/>
                      </p:nvSpPr>
                      <p:spPr>
                        <a:xfrm>
                          <a:off x="10457415" y="6344610"/>
                          <a:ext cx="1015105" cy="27853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Video Search</a:t>
                          </a:r>
                        </a:p>
                      </p:txBody>
                    </p:sp>
                    <p:sp>
                      <p:nvSpPr>
                        <p:cNvPr id="34" name="TextBox 33">
                          <a:extLst>
                            <a:ext uri="{FF2B5EF4-FFF2-40B4-BE49-F238E27FC236}">
                              <a16:creationId xmlns:a16="http://schemas.microsoft.com/office/drawing/2014/main" id="{BF6895E1-AC8B-A6C7-7A7A-29CDADC7BB80}"/>
                            </a:ext>
                          </a:extLst>
                        </p:cNvPr>
                        <p:cNvSpPr txBox="1"/>
                        <p:nvPr/>
                      </p:nvSpPr>
                      <p:spPr>
                        <a:xfrm>
                          <a:off x="7350631" y="5807002"/>
                          <a:ext cx="1896103" cy="278539"/>
                        </a:xfrm>
                        <a:prstGeom prst="rect">
                          <a:avLst/>
                        </a:prstGeom>
                        <a:noFill/>
                      </p:spPr>
                      <p:txBody>
                        <a:bodyPr wrap="none" rtlCol="0">
                          <a:spAutoFit/>
                        </a:bodyPr>
                        <a:lstStyle/>
                        <a:p>
                          <a:r>
                            <a:rPr lang="en-US" sz="1200" dirty="0">
                              <a:latin typeface="Calibri" panose="020F0502020204030204" pitchFamily="34" charset="0"/>
                              <a:cs typeface="Calibri" panose="020F0502020204030204" pitchFamily="34" charset="0"/>
                            </a:rPr>
                            <a:t>Multimodal Understanding</a:t>
                          </a:r>
                        </a:p>
                      </p:txBody>
                    </p:sp>
                  </p:grpSp>
                </p:grpSp>
                <p:pic>
                  <p:nvPicPr>
                    <p:cNvPr id="20" name="Picture 19">
                      <a:extLst>
                        <a:ext uri="{FF2B5EF4-FFF2-40B4-BE49-F238E27FC236}">
                          <a16:creationId xmlns:a16="http://schemas.microsoft.com/office/drawing/2014/main" id="{8B2DD0C7-A4B2-70B9-BEE4-4F75A949CA60}"/>
                        </a:ext>
                      </a:extLst>
                    </p:cNvPr>
                    <p:cNvPicPr>
                      <a:picLocks noChangeAspect="1"/>
                    </p:cNvPicPr>
                    <p:nvPr/>
                  </p:nvPicPr>
                  <p:blipFill>
                    <a:blip r:embed="rId3"/>
                    <a:stretch>
                      <a:fillRect/>
                    </a:stretch>
                  </p:blipFill>
                  <p:spPr>
                    <a:xfrm>
                      <a:off x="10313656" y="3646950"/>
                      <a:ext cx="1132209" cy="835068"/>
                    </a:xfrm>
                    <a:prstGeom prst="rect">
                      <a:avLst/>
                    </a:prstGeom>
                  </p:spPr>
                </p:pic>
              </p:grpSp>
            </p:grpSp>
          </p:grpSp>
          <p:sp>
            <p:nvSpPr>
              <p:cNvPr id="55" name="Arrow: Up-Down 54">
                <a:extLst>
                  <a:ext uri="{FF2B5EF4-FFF2-40B4-BE49-F238E27FC236}">
                    <a16:creationId xmlns:a16="http://schemas.microsoft.com/office/drawing/2014/main" id="{63C75E80-B899-093A-8E62-542A09D06E9D}"/>
                  </a:ext>
                </a:extLst>
              </p:cNvPr>
              <p:cNvSpPr/>
              <p:nvPr/>
            </p:nvSpPr>
            <p:spPr>
              <a:xfrm>
                <a:off x="11499878" y="5069402"/>
                <a:ext cx="310357" cy="1483798"/>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100" dirty="0">
                    <a:latin typeface="Calibri" panose="020F0502020204030204" pitchFamily="34" charset="0"/>
                    <a:cs typeface="Calibri" panose="020F0502020204030204" pitchFamily="34" charset="0"/>
                  </a:rPr>
                  <a:t>O</a:t>
                </a:r>
              </a:p>
              <a:p>
                <a:pPr algn="ctr"/>
                <a:r>
                  <a:rPr lang="en-US" sz="1100" dirty="0">
                    <a:latin typeface="Calibri" panose="020F0502020204030204" pitchFamily="34" charset="0"/>
                    <a:cs typeface="Calibri" panose="020F0502020204030204" pitchFamily="34" charset="0"/>
                  </a:rPr>
                  <a:t>U</a:t>
                </a:r>
              </a:p>
              <a:p>
                <a:pPr algn="ctr"/>
                <a:r>
                  <a:rPr lang="en-US" sz="1100" dirty="0">
                    <a:latin typeface="Calibri" panose="020F0502020204030204" pitchFamily="34" charset="0"/>
                    <a:cs typeface="Calibri" panose="020F0502020204030204" pitchFamily="34" charset="0"/>
                  </a:rPr>
                  <a:t>T</a:t>
                </a:r>
              </a:p>
              <a:p>
                <a:pPr algn="ctr"/>
                <a:r>
                  <a:rPr lang="en-US" sz="1100" dirty="0">
                    <a:latin typeface="Calibri" panose="020F0502020204030204" pitchFamily="34" charset="0"/>
                    <a:cs typeface="Calibri" panose="020F0502020204030204" pitchFamily="34" charset="0"/>
                  </a:rPr>
                  <a:t>P</a:t>
                </a:r>
              </a:p>
              <a:p>
                <a:pPr algn="ctr"/>
                <a:r>
                  <a:rPr lang="en-US" sz="1100" dirty="0">
                    <a:latin typeface="Calibri" panose="020F0502020204030204" pitchFamily="34" charset="0"/>
                    <a:cs typeface="Calibri" panose="020F0502020204030204" pitchFamily="34" charset="0"/>
                  </a:rPr>
                  <a:t>U</a:t>
                </a:r>
              </a:p>
              <a:p>
                <a:pPr algn="ctr"/>
                <a:r>
                  <a:rPr lang="en-US" sz="1100" dirty="0">
                    <a:latin typeface="Calibri" panose="020F0502020204030204" pitchFamily="34" charset="0"/>
                    <a:cs typeface="Calibri" panose="020F0502020204030204" pitchFamily="34" charset="0"/>
                  </a:rPr>
                  <a:t>T</a:t>
                </a:r>
              </a:p>
              <a:p>
                <a:pPr algn="ctr"/>
                <a:endParaRPr lang="en-US" sz="1100" dirty="0">
                  <a:latin typeface="Calibri" panose="020F0502020204030204" pitchFamily="34" charset="0"/>
                  <a:cs typeface="Calibri" panose="020F0502020204030204" pitchFamily="34" charset="0"/>
                </a:endParaRPr>
              </a:p>
            </p:txBody>
          </p:sp>
        </p:grpSp>
        <p:pic>
          <p:nvPicPr>
            <p:cNvPr id="58" name="Picture 57">
              <a:extLst>
                <a:ext uri="{FF2B5EF4-FFF2-40B4-BE49-F238E27FC236}">
                  <a16:creationId xmlns:a16="http://schemas.microsoft.com/office/drawing/2014/main" id="{070E556B-FFDA-FC42-6995-932FA09A2DD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00611" y="2648066"/>
              <a:ext cx="1423687" cy="601436"/>
            </a:xfrm>
            <a:prstGeom prst="rect">
              <a:avLst/>
            </a:prstGeom>
          </p:spPr>
        </p:pic>
        <p:pic>
          <p:nvPicPr>
            <p:cNvPr id="60" name="Picture 59">
              <a:extLst>
                <a:ext uri="{FF2B5EF4-FFF2-40B4-BE49-F238E27FC236}">
                  <a16:creationId xmlns:a16="http://schemas.microsoft.com/office/drawing/2014/main" id="{385FB1A7-5760-E3CC-9D8E-671836A15433}"/>
                </a:ext>
              </a:extLst>
            </p:cNvPr>
            <p:cNvPicPr>
              <a:picLocks noChangeAspect="1"/>
            </p:cNvPicPr>
            <p:nvPr/>
          </p:nvPicPr>
          <p:blipFill>
            <a:blip r:embed="rId5">
              <a:extLst>
                <a:ext uri="{28A0092B-C50C-407E-A947-70E740481C1C}">
                  <a14:useLocalDpi xmlns:a14="http://schemas.microsoft.com/office/drawing/2010/main" val="0"/>
                </a:ext>
              </a:extLst>
            </a:blip>
            <a:srcRect t="8956" r="83839" b="60749"/>
            <a:stretch>
              <a:fillRect/>
            </a:stretch>
          </p:blipFill>
          <p:spPr>
            <a:xfrm>
              <a:off x="7443996" y="1748664"/>
              <a:ext cx="736918" cy="666993"/>
            </a:xfrm>
            <a:prstGeom prst="rect">
              <a:avLst/>
            </a:prstGeom>
          </p:spPr>
        </p:pic>
        <p:sp>
          <p:nvSpPr>
            <p:cNvPr id="64" name="Action Button: Go Back or Previous 63">
              <a:hlinkClick r:id="" action="ppaction://hlinkshowjump?jump=previousslide" highlightClick="1"/>
              <a:extLst>
                <a:ext uri="{FF2B5EF4-FFF2-40B4-BE49-F238E27FC236}">
                  <a16:creationId xmlns:a16="http://schemas.microsoft.com/office/drawing/2014/main" id="{7C1E3B86-5B96-016C-10F6-D4C6079F221A}"/>
                </a:ext>
              </a:extLst>
            </p:cNvPr>
            <p:cNvSpPr/>
            <p:nvPr/>
          </p:nvSpPr>
          <p:spPr>
            <a:xfrm>
              <a:off x="7007667" y="1964924"/>
              <a:ext cx="274124" cy="226813"/>
            </a:xfrm>
            <a:prstGeom prst="actionButtonBackPrevio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6" name="Action Button: Go Forward or Next 65">
              <a:hlinkClick r:id="" action="ppaction://hlinkshowjump?jump=nextslide" highlightClick="1"/>
              <a:extLst>
                <a:ext uri="{FF2B5EF4-FFF2-40B4-BE49-F238E27FC236}">
                  <a16:creationId xmlns:a16="http://schemas.microsoft.com/office/drawing/2014/main" id="{AFD54FC9-48D3-E7B9-8CE9-CFB0A2272E99}"/>
                </a:ext>
              </a:extLst>
            </p:cNvPr>
            <p:cNvSpPr/>
            <p:nvPr/>
          </p:nvSpPr>
          <p:spPr>
            <a:xfrm>
              <a:off x="8343120" y="1989716"/>
              <a:ext cx="274320" cy="228600"/>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pic>
          <p:nvPicPr>
            <p:cNvPr id="73" name="Picture 72">
              <a:extLst>
                <a:ext uri="{FF2B5EF4-FFF2-40B4-BE49-F238E27FC236}">
                  <a16:creationId xmlns:a16="http://schemas.microsoft.com/office/drawing/2014/main" id="{C4C19510-ACA0-462C-4FB9-C51C1D34A9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16797" y="3445841"/>
              <a:ext cx="2506026" cy="1058670"/>
            </a:xfrm>
            <a:prstGeom prst="rect">
              <a:avLst/>
            </a:prstGeom>
          </p:spPr>
        </p:pic>
        <p:sp>
          <p:nvSpPr>
            <p:cNvPr id="74" name="TextBox 73">
              <a:extLst>
                <a:ext uri="{FF2B5EF4-FFF2-40B4-BE49-F238E27FC236}">
                  <a16:creationId xmlns:a16="http://schemas.microsoft.com/office/drawing/2014/main" id="{3157DC31-DBD8-F5DD-E892-AE6A4E655889}"/>
                </a:ext>
              </a:extLst>
            </p:cNvPr>
            <p:cNvSpPr txBox="1"/>
            <p:nvPr/>
          </p:nvSpPr>
          <p:spPr>
            <a:xfrm>
              <a:off x="6634519" y="4490562"/>
              <a:ext cx="746295" cy="338554"/>
            </a:xfrm>
            <a:prstGeom prst="rect">
              <a:avLst/>
            </a:prstGeom>
            <a:noFill/>
          </p:spPr>
          <p:txBody>
            <a:bodyPr wrap="none" rtlCol="0">
              <a:spAutoFit/>
            </a:bodyPr>
            <a:lstStyle/>
            <a:p>
              <a:r>
                <a:rPr lang="en-US" sz="1600" dirty="0">
                  <a:latin typeface="Calibri" panose="020F0502020204030204" pitchFamily="34" charset="0"/>
                  <a:cs typeface="Calibri" panose="020F0502020204030204" pitchFamily="34" charset="0"/>
                </a:rPr>
                <a:t>120fps</a:t>
              </a:r>
            </a:p>
          </p:txBody>
        </p:sp>
      </p:grpSp>
    </p:spTree>
    <p:extLst>
      <p:ext uri="{BB962C8B-B14F-4D97-AF65-F5344CB8AC3E}">
        <p14:creationId xmlns:p14="http://schemas.microsoft.com/office/powerpoint/2010/main" val="2687366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3C9EF-5BC1-6BDA-E4A0-BC7F964A917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F25DF22-3AA0-10D8-97E3-5937B089E0CC}"/>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solidFill>
                  <a:srgbClr val="FFFFFF"/>
                </a:solidFill>
                <a:latin typeface="Calibri" panose="020F0502020204030204" pitchFamily="34" charset="0"/>
                <a:ea typeface="Calibri" pitchFamily="34" charset="-122"/>
                <a:cs typeface="Calibri" panose="020F0502020204030204" pitchFamily="34" charset="0"/>
              </a:rPr>
              <a:t>Transformers for Multimodal AI (cont…)</a:t>
            </a:r>
            <a:endParaRPr lang="en-US" sz="3200" b="1" dirty="0">
              <a:latin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14A0D9D8-5EF8-1C29-8056-B0633787610B}"/>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20809A51-E133-5B5B-9658-EC05E87F3DBC}"/>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45</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397DC4B-4355-86B2-C366-9E60D98F6677}"/>
              </a:ext>
            </a:extLst>
          </p:cNvPr>
          <p:cNvSpPr txBox="1"/>
          <p:nvPr/>
        </p:nvSpPr>
        <p:spPr>
          <a:xfrm>
            <a:off x="7771410" y="1626487"/>
            <a:ext cx="4268190" cy="3605026"/>
          </a:xfrm>
          <a:prstGeom prst="rect">
            <a:avLst/>
          </a:prstGeom>
          <a:noFill/>
        </p:spPr>
        <p:txBody>
          <a:bodyPr wrap="square">
            <a:spAutoFit/>
          </a:bodyPr>
          <a:lstStyle/>
          <a:p>
            <a:pPr marL="285750" lvl="0" indent="-285750" algn="just">
              <a:lnSpc>
                <a:spcPct val="150000"/>
              </a:lnSpc>
              <a:buFont typeface="Wingdings" panose="05000000000000000000" pitchFamily="2" charset="2"/>
              <a:buChar char="q"/>
            </a:pPr>
            <a:r>
              <a:rPr lang="en-US" sz="1400" dirty="0">
                <a:latin typeface="Calibri" panose="020F0502020204030204" pitchFamily="34" charset="0"/>
                <a:cs typeface="Calibri" panose="020F0502020204030204" pitchFamily="34" charset="0"/>
              </a:rPr>
              <a:t>Combining different modalities is not enough; the model must learn how they are related.</a:t>
            </a:r>
          </a:p>
          <a:p>
            <a:pPr marL="285750" lvl="0" indent="-285750" algn="just">
              <a:lnSpc>
                <a:spcPct val="150000"/>
              </a:lnSpc>
              <a:buFont typeface="Wingdings" panose="05000000000000000000" pitchFamily="2" charset="2"/>
              <a:buChar char="q"/>
            </a:pPr>
            <a:r>
              <a:rPr lang="en-US" sz="1400" i="1" dirty="0">
                <a:latin typeface="Calibri" panose="020F0502020204030204" pitchFamily="34" charset="0"/>
                <a:cs typeface="Calibri" panose="020F0502020204030204" pitchFamily="34" charset="0"/>
              </a:rPr>
              <a:t>Self-attention</a:t>
            </a:r>
            <a:r>
              <a:rPr lang="en-US" sz="1400" dirty="0">
                <a:latin typeface="Calibri" panose="020F0502020204030204" pitchFamily="34" charset="0"/>
                <a:cs typeface="Calibri" panose="020F0502020204030204" pitchFamily="34" charset="0"/>
              </a:rPr>
              <a:t> helps each modality understand its own information.</a:t>
            </a:r>
          </a:p>
          <a:p>
            <a:pPr marL="285750" lvl="0" indent="-285750" algn="just">
              <a:lnSpc>
                <a:spcPct val="150000"/>
              </a:lnSpc>
              <a:buFont typeface="Wingdings" panose="05000000000000000000" pitchFamily="2" charset="2"/>
              <a:buChar char="q"/>
            </a:pPr>
            <a:r>
              <a:rPr lang="en-US" sz="1400" i="1" dirty="0">
                <a:latin typeface="Calibri" panose="020F0502020204030204" pitchFamily="34" charset="0"/>
                <a:cs typeface="Calibri" panose="020F0502020204030204" pitchFamily="34" charset="0"/>
              </a:rPr>
              <a:t>Cross-attention</a:t>
            </a:r>
            <a:r>
              <a:rPr lang="en-US" sz="1400" dirty="0">
                <a:latin typeface="Calibri" panose="020F0502020204030204" pitchFamily="34" charset="0"/>
                <a:cs typeface="Calibri" panose="020F0502020204030204" pitchFamily="34" charset="0"/>
              </a:rPr>
              <a:t> allows different modalities to exchange relevant information.</a:t>
            </a:r>
          </a:p>
          <a:p>
            <a:pPr marL="285750" lvl="0" indent="-285750" algn="just">
              <a:lnSpc>
                <a:spcPct val="150000"/>
              </a:lnSpc>
              <a:buFont typeface="Wingdings" panose="05000000000000000000" pitchFamily="2" charset="2"/>
              <a:buChar char="q"/>
            </a:pPr>
            <a:r>
              <a:rPr lang="en-US" sz="1400" dirty="0">
                <a:latin typeface="Calibri" panose="020F0502020204030204" pitchFamily="34" charset="0"/>
                <a:cs typeface="Calibri" panose="020F0502020204030204" pitchFamily="34" charset="0"/>
              </a:rPr>
              <a:t>This enables the model to understand and reason across modalities rather than processing each modality separately.</a:t>
            </a:r>
          </a:p>
          <a:p>
            <a:pPr marL="285750" indent="-285750" algn="just">
              <a:lnSpc>
                <a:spcPct val="150000"/>
              </a:lnSpc>
              <a:buFont typeface="Wingdings" panose="05000000000000000000" pitchFamily="2" charset="2"/>
              <a:buChar char="q"/>
            </a:pPr>
            <a:r>
              <a:rPr lang="en-US" sz="1400" i="1" dirty="0">
                <a:latin typeface="Calibri" panose="020F0502020204030204" pitchFamily="34" charset="0"/>
                <a:cs typeface="Calibri" panose="020F0502020204030204" pitchFamily="34" charset="0"/>
              </a:rPr>
              <a:t>Self-Attention: </a:t>
            </a:r>
            <a:r>
              <a:rPr lang="en-US" sz="1400" dirty="0">
                <a:latin typeface="Calibri" panose="020F0502020204030204" pitchFamily="34" charset="0"/>
                <a:cs typeface="Calibri" panose="020F0502020204030204" pitchFamily="34" charset="0"/>
              </a:rPr>
              <a:t>Understand within a modality </a:t>
            </a:r>
          </a:p>
          <a:p>
            <a:pPr marL="285750" indent="-285750" algn="just">
              <a:lnSpc>
                <a:spcPct val="150000"/>
              </a:lnSpc>
              <a:buFont typeface="Wingdings" panose="05000000000000000000" pitchFamily="2" charset="2"/>
              <a:buChar char="q"/>
            </a:pPr>
            <a:r>
              <a:rPr lang="en-US" sz="1400" i="1" dirty="0">
                <a:latin typeface="Calibri" panose="020F0502020204030204" pitchFamily="34" charset="0"/>
                <a:cs typeface="Calibri" panose="020F0502020204030204" pitchFamily="34" charset="0"/>
              </a:rPr>
              <a:t>Cross-Attention: </a:t>
            </a:r>
            <a:r>
              <a:rPr lang="en-US" sz="1400" dirty="0">
                <a:latin typeface="Calibri" panose="020F0502020204030204" pitchFamily="34" charset="0"/>
                <a:cs typeface="Calibri" panose="020F0502020204030204" pitchFamily="34" charset="0"/>
              </a:rPr>
              <a:t>Connect different modalities</a:t>
            </a:r>
          </a:p>
        </p:txBody>
      </p:sp>
      <p:pic>
        <p:nvPicPr>
          <p:cNvPr id="3" name="Picture 2">
            <a:extLst>
              <a:ext uri="{FF2B5EF4-FFF2-40B4-BE49-F238E27FC236}">
                <a16:creationId xmlns:a16="http://schemas.microsoft.com/office/drawing/2014/main" id="{87FDA845-BA74-AC04-B76E-CC4957A6416A}"/>
              </a:ext>
            </a:extLst>
          </p:cNvPr>
          <p:cNvPicPr>
            <a:picLocks noChangeAspect="1"/>
          </p:cNvPicPr>
          <p:nvPr/>
        </p:nvPicPr>
        <p:blipFill>
          <a:blip r:embed="rId2">
            <a:extLst>
              <a:ext uri="{28A0092B-C50C-407E-A947-70E740481C1C}">
                <a14:useLocalDpi xmlns:a14="http://schemas.microsoft.com/office/drawing/2010/main" val="0"/>
              </a:ext>
            </a:extLst>
          </a:blip>
          <a:srcRect l="12632" t="5722" r="10378" b="17258"/>
          <a:stretch>
            <a:fillRect/>
          </a:stretch>
        </p:blipFill>
        <p:spPr>
          <a:xfrm>
            <a:off x="533400" y="1200671"/>
            <a:ext cx="6404115" cy="4742929"/>
          </a:xfrm>
          <a:prstGeom prst="rect">
            <a:avLst/>
          </a:prstGeom>
        </p:spPr>
      </p:pic>
      <p:cxnSp>
        <p:nvCxnSpPr>
          <p:cNvPr id="12" name="Straight Connector 11">
            <a:extLst>
              <a:ext uri="{FF2B5EF4-FFF2-40B4-BE49-F238E27FC236}">
                <a16:creationId xmlns:a16="http://schemas.microsoft.com/office/drawing/2014/main" id="{BC687C7D-F9AA-F711-ECC2-EB3988EE2D3A}"/>
              </a:ext>
            </a:extLst>
          </p:cNvPr>
          <p:cNvCxnSpPr>
            <a:cxnSpLocks/>
          </p:cNvCxnSpPr>
          <p:nvPr/>
        </p:nvCxnSpPr>
        <p:spPr>
          <a:xfrm>
            <a:off x="7656828" y="1689543"/>
            <a:ext cx="0" cy="3478913"/>
          </a:xfrm>
          <a:prstGeom prst="line">
            <a:avLst/>
          </a:prstGeom>
          <a:ln w="57150">
            <a:solidFill>
              <a:srgbClr val="002060"/>
            </a:solidFill>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797678BE-9EDF-0D83-70CA-7A5967E15805}"/>
              </a:ext>
            </a:extLst>
          </p:cNvPr>
          <p:cNvSpPr/>
          <p:nvPr/>
        </p:nvSpPr>
        <p:spPr>
          <a:xfrm>
            <a:off x="7622085" y="1349487"/>
            <a:ext cx="4569915" cy="276999"/>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1400" b="1" dirty="0">
                <a:solidFill>
                  <a:srgbClr val="FFFFFF"/>
                </a:solidFill>
                <a:latin typeface="Calibri" panose="020F0502020204030204" pitchFamily="34" charset="0"/>
                <a:cs typeface="Calibri" panose="020F0502020204030204" pitchFamily="34" charset="0"/>
              </a:rPr>
              <a:t>Cross-Modal Interaction and Understanding</a:t>
            </a:r>
            <a:endParaRPr lang="en-US" sz="1400" b="1"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0B40EC3-44B0-78AC-92C8-0F1367DD0325}"/>
              </a:ext>
            </a:extLst>
          </p:cNvPr>
          <p:cNvSpPr txBox="1"/>
          <p:nvPr/>
        </p:nvSpPr>
        <p:spPr>
          <a:xfrm>
            <a:off x="1371601" y="5971400"/>
            <a:ext cx="4724399" cy="308744"/>
          </a:xfrm>
          <a:prstGeom prst="rect">
            <a:avLst/>
          </a:prstGeom>
          <a:noFill/>
        </p:spPr>
        <p:txBody>
          <a:bodyPr wrap="square">
            <a:spAutoFit/>
          </a:bodyPr>
          <a:lstStyle/>
          <a:p>
            <a:pPr>
              <a:buNone/>
            </a:pPr>
            <a:r>
              <a:rPr lang="en-US" sz="1400" b="1" dirty="0">
                <a:latin typeface="Calibri" panose="020F0502020204030204" pitchFamily="34" charset="0"/>
                <a:cs typeface="Calibri" panose="020F0502020204030204" pitchFamily="34" charset="0"/>
              </a:rPr>
              <a:t>Figure 1:</a:t>
            </a:r>
            <a:r>
              <a:rPr lang="en-US" sz="1400" dirty="0">
                <a:latin typeface="Calibri" panose="020F0502020204030204" pitchFamily="34" charset="0"/>
                <a:cs typeface="Calibri" panose="020F0502020204030204" pitchFamily="34" charset="0"/>
              </a:rPr>
              <a:t> Overall architecture of Vision-Language Transformers</a:t>
            </a:r>
          </a:p>
        </p:txBody>
      </p:sp>
    </p:spTree>
    <p:extLst>
      <p:ext uri="{BB962C8B-B14F-4D97-AF65-F5344CB8AC3E}">
        <p14:creationId xmlns:p14="http://schemas.microsoft.com/office/powerpoint/2010/main" val="524305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65C4C-B607-D30F-3409-527A973EE25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5B93516-C543-9FC4-CDA7-F137D3A98838}"/>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solidFill>
                  <a:srgbClr val="FFFFFF"/>
                </a:solidFill>
                <a:latin typeface="Calibri" panose="020F0502020204030204" pitchFamily="34" charset="0"/>
                <a:ea typeface="Calibri" pitchFamily="34" charset="-122"/>
                <a:cs typeface="Calibri" panose="020F0502020204030204" pitchFamily="34" charset="0"/>
              </a:rPr>
              <a:t>Transformers for Multimodal AI (cont…)</a:t>
            </a:r>
            <a:endParaRPr lang="en-US" sz="3200" b="1" dirty="0">
              <a:latin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6533068E-9AAE-DAD4-CF9E-54723DFC2081}"/>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4958BF38-5180-464A-018F-B185796A1808}"/>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46</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6062395E-B4CC-AFF3-0D90-84E9E8FED5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099" y="1472335"/>
            <a:ext cx="10927901" cy="3943681"/>
          </a:xfrm>
          <a:prstGeom prst="rect">
            <a:avLst/>
          </a:prstGeom>
        </p:spPr>
      </p:pic>
      <p:sp>
        <p:nvSpPr>
          <p:cNvPr id="3" name="TextBox 2">
            <a:extLst>
              <a:ext uri="{FF2B5EF4-FFF2-40B4-BE49-F238E27FC236}">
                <a16:creationId xmlns:a16="http://schemas.microsoft.com/office/drawing/2014/main" id="{8750E8DE-936E-7EF0-088F-32F3A069180C}"/>
              </a:ext>
            </a:extLst>
          </p:cNvPr>
          <p:cNvSpPr txBox="1"/>
          <p:nvPr/>
        </p:nvSpPr>
        <p:spPr>
          <a:xfrm>
            <a:off x="114300" y="5459899"/>
            <a:ext cx="11506200" cy="1077218"/>
          </a:xfrm>
          <a:prstGeom prst="rect">
            <a:avLst/>
          </a:prstGeom>
          <a:noFill/>
        </p:spPr>
        <p:txBody>
          <a:bodyPr wrap="square">
            <a:spAutoFit/>
          </a:bodyPr>
          <a:lstStyle/>
          <a:p>
            <a:pPr marL="0" marR="0" lvl="0" indent="-342900" algn="just" rtl="0">
              <a:buFont typeface="+mj-lt"/>
              <a:buAutoNum type="arabicPeriod"/>
            </a:pPr>
            <a:r>
              <a:rPr lang="en-US" sz="1600" b="1" dirty="0">
                <a:solidFill>
                  <a:schemeClr val="tx1"/>
                </a:solidFill>
                <a:effectLst/>
                <a:latin typeface="Calibri" panose="020F0502020204030204" pitchFamily="34" charset="0"/>
                <a:cs typeface="Calibri" panose="020F0502020204030204" pitchFamily="34" charset="0"/>
              </a:rPr>
              <a:t>Modalities (Raw Data):</a:t>
            </a:r>
            <a:r>
              <a:rPr lang="en-US" sz="1600" dirty="0">
                <a:solidFill>
                  <a:schemeClr val="tx1"/>
                </a:solidFill>
                <a:effectLst/>
                <a:latin typeface="Calibri" panose="020F0502020204030204" pitchFamily="34" charset="0"/>
                <a:cs typeface="Calibri" panose="020F0502020204030204" pitchFamily="34" charset="0"/>
              </a:rPr>
              <a:t> Different types of input, like pictures, text, or sound. </a:t>
            </a:r>
          </a:p>
          <a:p>
            <a:pPr marL="0" marR="0" lvl="0" indent="-342900" algn="just" rtl="0">
              <a:buFont typeface="+mj-lt"/>
              <a:buAutoNum type="arabicPeriod"/>
            </a:pPr>
            <a:r>
              <a:rPr lang="en-US" sz="1600" b="1" dirty="0">
                <a:solidFill>
                  <a:schemeClr val="tx1"/>
                </a:solidFill>
                <a:effectLst/>
                <a:latin typeface="Calibri" panose="020F0502020204030204" pitchFamily="34" charset="0"/>
                <a:cs typeface="Calibri" panose="020F0502020204030204" pitchFamily="34" charset="0"/>
              </a:rPr>
              <a:t>Encoders:</a:t>
            </a:r>
            <a:r>
              <a:rPr lang="en-US" sz="1600" dirty="0">
                <a:solidFill>
                  <a:schemeClr val="tx1"/>
                </a:solidFill>
                <a:effectLst/>
                <a:latin typeface="Calibri" panose="020F0502020204030204" pitchFamily="34" charset="0"/>
                <a:cs typeface="Calibri" panose="020F0502020204030204" pitchFamily="34" charset="0"/>
              </a:rPr>
              <a:t> AI translators that convert each data type into numbers. </a:t>
            </a:r>
          </a:p>
          <a:p>
            <a:pPr marL="0" marR="0" lvl="0" indent="-342900" algn="just" rtl="0">
              <a:buFont typeface="+mj-lt"/>
              <a:buAutoNum type="arabicPeriod"/>
            </a:pPr>
            <a:r>
              <a:rPr lang="en-US" sz="1600" b="1" dirty="0">
                <a:solidFill>
                  <a:schemeClr val="tx1"/>
                </a:solidFill>
                <a:effectLst/>
                <a:latin typeface="Calibri" panose="020F0502020204030204" pitchFamily="34" charset="0"/>
                <a:cs typeface="Calibri" panose="020F0502020204030204" pitchFamily="34" charset="0"/>
              </a:rPr>
              <a:t>Embeddings:</a:t>
            </a:r>
            <a:r>
              <a:rPr lang="en-US" sz="1600" dirty="0">
                <a:solidFill>
                  <a:schemeClr val="tx1"/>
                </a:solidFill>
                <a:effectLst/>
                <a:latin typeface="Calibri" panose="020F0502020204030204" pitchFamily="34" charset="0"/>
                <a:cs typeface="Calibri" panose="020F0502020204030204" pitchFamily="34" charset="0"/>
              </a:rPr>
              <a:t> Lists of numbers (vectors) that represent the actual meaning of the data. </a:t>
            </a:r>
          </a:p>
          <a:p>
            <a:pPr marL="0" marR="0" lvl="0" indent="-342900" algn="just" rtl="0">
              <a:buFont typeface="+mj-lt"/>
              <a:buAutoNum type="arabicPeriod"/>
            </a:pPr>
            <a:r>
              <a:rPr lang="en-US" sz="1600" b="1" dirty="0">
                <a:solidFill>
                  <a:schemeClr val="tx1"/>
                </a:solidFill>
                <a:effectLst/>
                <a:latin typeface="Calibri" panose="020F0502020204030204" pitchFamily="34" charset="0"/>
                <a:cs typeface="Calibri" panose="020F0502020204030204" pitchFamily="34" charset="0"/>
              </a:rPr>
              <a:t>Shared Space:</a:t>
            </a:r>
            <a:r>
              <a:rPr lang="en-US" sz="1600" dirty="0">
                <a:solidFill>
                  <a:schemeClr val="tx1"/>
                </a:solidFill>
                <a:effectLst/>
                <a:latin typeface="Calibri" panose="020F0502020204030204" pitchFamily="34" charset="0"/>
                <a:cs typeface="Calibri" panose="020F0502020204030204" pitchFamily="34" charset="0"/>
              </a:rPr>
              <a:t> A map where items with similar meanings (like a dog photo and the word "dog") are placed right next to each other. </a:t>
            </a:r>
            <a:endParaRPr lang="en-US" sz="1600" dirty="0">
              <a:solidFill>
                <a:srgbClr val="1F1F1F"/>
              </a:solidFill>
              <a:effectLst/>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1258433-6877-7D93-A70E-26E877037716}"/>
              </a:ext>
            </a:extLst>
          </p:cNvPr>
          <p:cNvSpPr txBox="1"/>
          <p:nvPr/>
        </p:nvSpPr>
        <p:spPr>
          <a:xfrm>
            <a:off x="304800" y="966787"/>
            <a:ext cx="11125200" cy="461665"/>
          </a:xfrm>
          <a:prstGeom prst="rect">
            <a:avLst/>
          </a:prstGeom>
          <a:noFill/>
        </p:spPr>
        <p:txBody>
          <a:bodyPr wrap="square">
            <a:spAutoFit/>
          </a:bodyPr>
          <a:lstStyle/>
          <a:p>
            <a:pPr marL="342900" indent="-342900">
              <a:buFont typeface="Wingdings" panose="05000000000000000000" pitchFamily="2" charset="2"/>
              <a:buChar char="q"/>
            </a:pPr>
            <a:r>
              <a:rPr lang="en-US" sz="2400" b="1" dirty="0">
                <a:latin typeface="Calibri" panose="020F0502020204030204" pitchFamily="34" charset="0"/>
                <a:cs typeface="Calibri" panose="020F0502020204030204" pitchFamily="34" charset="0"/>
              </a:rPr>
              <a:t>Understanding How AI Connects Different Data Types (Shared Embedding Space)</a:t>
            </a:r>
          </a:p>
        </p:txBody>
      </p:sp>
    </p:spTree>
    <p:extLst>
      <p:ext uri="{BB962C8B-B14F-4D97-AF65-F5344CB8AC3E}">
        <p14:creationId xmlns:p14="http://schemas.microsoft.com/office/powerpoint/2010/main" val="11076319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BE310-7280-53C6-8357-252301ED1A69}"/>
            </a:ext>
          </a:extLst>
        </p:cNvPr>
        <p:cNvGrpSpPr/>
        <p:nvPr/>
      </p:nvGrpSpPr>
      <p:grpSpPr>
        <a:xfrm>
          <a:off x="0" y="0"/>
          <a:ext cx="0" cy="0"/>
          <a:chOff x="0" y="0"/>
          <a:chExt cx="0" cy="0"/>
        </a:xfrm>
      </p:grpSpPr>
      <p:grpSp>
        <p:nvGrpSpPr>
          <p:cNvPr id="3" name="object 2">
            <a:extLst>
              <a:ext uri="{FF2B5EF4-FFF2-40B4-BE49-F238E27FC236}">
                <a16:creationId xmlns:a16="http://schemas.microsoft.com/office/drawing/2014/main" id="{AB7F08DC-3298-7956-E3C0-18BBEB3EBACA}"/>
              </a:ext>
            </a:extLst>
          </p:cNvPr>
          <p:cNvGrpSpPr/>
          <p:nvPr/>
        </p:nvGrpSpPr>
        <p:grpSpPr>
          <a:xfrm>
            <a:off x="1137" y="0"/>
            <a:ext cx="12192000" cy="6858000"/>
            <a:chOff x="0" y="0"/>
            <a:chExt cx="12192000" cy="6858000"/>
          </a:xfrm>
        </p:grpSpPr>
        <p:sp>
          <p:nvSpPr>
            <p:cNvPr id="4" name="object 3">
              <a:extLst>
                <a:ext uri="{FF2B5EF4-FFF2-40B4-BE49-F238E27FC236}">
                  <a16:creationId xmlns:a16="http://schemas.microsoft.com/office/drawing/2014/main" id="{BF279370-0CB7-FDEA-56BB-8C2203272D1B}"/>
                </a:ext>
              </a:extLst>
            </p:cNvPr>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chemeClr val="tx1">
                <a:lumMod val="85000"/>
                <a:lumOff val="15000"/>
              </a:schemeClr>
            </a:solidFill>
          </p:spPr>
          <p:txBody>
            <a:bodyPr wrap="square" lIns="0" tIns="0" rIns="0" bIns="0" rtlCol="0"/>
            <a:lstStyle/>
            <a:p>
              <a:endParaRPr dirty="0">
                <a:latin typeface="Calibri" panose="020F0502020204030204" pitchFamily="34" charset="0"/>
                <a:cs typeface="Calibri" panose="020F0502020204030204" pitchFamily="34" charset="0"/>
              </a:endParaRPr>
            </a:p>
          </p:txBody>
        </p:sp>
        <p:sp>
          <p:nvSpPr>
            <p:cNvPr id="6" name="object 4">
              <a:extLst>
                <a:ext uri="{FF2B5EF4-FFF2-40B4-BE49-F238E27FC236}">
                  <a16:creationId xmlns:a16="http://schemas.microsoft.com/office/drawing/2014/main" id="{36D0600D-1EBB-E77E-8142-063612ED111F}"/>
                </a:ext>
              </a:extLst>
            </p:cNvPr>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endParaRPr>
                <a:latin typeface="Calibri" panose="020F0502020204030204" pitchFamily="34" charset="0"/>
                <a:cs typeface="Calibri" panose="020F0502020204030204" pitchFamily="34" charset="0"/>
              </a:endParaRPr>
            </a:p>
          </p:txBody>
        </p:sp>
      </p:grpSp>
      <p:sp>
        <p:nvSpPr>
          <p:cNvPr id="37" name="Slide Number Placeholder 36">
            <a:extLst>
              <a:ext uri="{FF2B5EF4-FFF2-40B4-BE49-F238E27FC236}">
                <a16:creationId xmlns:a16="http://schemas.microsoft.com/office/drawing/2014/main" id="{3AB5C483-F9D0-3DFC-AA20-83482F9E49BD}"/>
              </a:ext>
            </a:extLst>
          </p:cNvPr>
          <p:cNvSpPr>
            <a:spLocks noGrp="1"/>
          </p:cNvSpPr>
          <p:nvPr>
            <p:ph type="sldNum" sz="quarter" idx="7"/>
          </p:nvPr>
        </p:nvSpPr>
        <p:spPr>
          <a:xfrm>
            <a:off x="11430000" y="64770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47</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11" name="object 5" descr="$PPTXTitle">
            <a:extLst>
              <a:ext uri="{FF2B5EF4-FFF2-40B4-BE49-F238E27FC236}">
                <a16:creationId xmlns:a16="http://schemas.microsoft.com/office/drawing/2014/main" id="{50D9DE2E-53A6-D3C8-BB63-A114ED5A4AE3}"/>
              </a:ext>
            </a:extLst>
          </p:cNvPr>
          <p:cNvSpPr txBox="1">
            <a:spLocks noGrp="1"/>
          </p:cNvSpPr>
          <p:nvPr>
            <p:ph type="title"/>
          </p:nvPr>
        </p:nvSpPr>
        <p:spPr>
          <a:xfrm>
            <a:off x="458337" y="2124093"/>
            <a:ext cx="11735938" cy="2228815"/>
          </a:xfrm>
          <a:prstGeom prst="rect">
            <a:avLst/>
          </a:prstGeom>
        </p:spPr>
        <p:txBody>
          <a:bodyPr vert="horz" wrap="square" lIns="0" tIns="12700" rIns="0" bIns="0" rtlCol="0">
            <a:spAutoFit/>
          </a:bodyPr>
          <a:lstStyle/>
          <a:p>
            <a:pPr algn="ctr"/>
            <a:r>
              <a:rPr lang="en-US" sz="6000" b="0" dirty="0">
                <a:solidFill>
                  <a:schemeClr val="bg1"/>
                </a:solidFill>
                <a:latin typeface="Calibri" panose="020F0502020204030204" pitchFamily="34" charset="0"/>
                <a:cs typeface="Calibri" panose="020F0502020204030204" pitchFamily="34" charset="0"/>
              </a:rPr>
              <a:t>Case Study: </a:t>
            </a:r>
            <a:br>
              <a:rPr lang="en-US" sz="6000" b="0" dirty="0">
                <a:solidFill>
                  <a:schemeClr val="bg1"/>
                </a:solidFill>
                <a:latin typeface="Calibri" panose="020F0502020204030204" pitchFamily="34" charset="0"/>
                <a:cs typeface="Calibri" panose="020F0502020204030204" pitchFamily="34" charset="0"/>
              </a:rPr>
            </a:br>
            <a:r>
              <a:rPr lang="en-US" sz="6000" b="0" dirty="0">
                <a:solidFill>
                  <a:schemeClr val="bg1"/>
                </a:solidFill>
                <a:latin typeface="Calibri" panose="020F0502020204030204" pitchFamily="34" charset="0"/>
                <a:cs typeface="Calibri" panose="020F0502020204030204" pitchFamily="34" charset="0"/>
              </a:rPr>
              <a:t>One Transformer Architecture Family Across Modalities</a:t>
            </a:r>
          </a:p>
        </p:txBody>
      </p:sp>
    </p:spTree>
    <p:extLst>
      <p:ext uri="{BB962C8B-B14F-4D97-AF65-F5344CB8AC3E}">
        <p14:creationId xmlns:p14="http://schemas.microsoft.com/office/powerpoint/2010/main" val="37015585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74BF3-CCC5-12BD-CA76-79CEEE3738A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351EF3D-E635-AF03-EA70-BACAAEBEE664}"/>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2400" b="1" dirty="0">
                <a:latin typeface="Calibri" panose="020F0502020204030204" pitchFamily="34" charset="0"/>
                <a:cs typeface="Calibri" panose="020F0502020204030204" pitchFamily="34" charset="0"/>
              </a:rPr>
              <a:t>8. Case Study: One Transformer Architecture Family Across Modalities</a:t>
            </a:r>
          </a:p>
        </p:txBody>
      </p:sp>
      <p:sp>
        <p:nvSpPr>
          <p:cNvPr id="9" name="Rectangle 4">
            <a:extLst>
              <a:ext uri="{FF2B5EF4-FFF2-40B4-BE49-F238E27FC236}">
                <a16:creationId xmlns:a16="http://schemas.microsoft.com/office/drawing/2014/main" id="{27D28382-CC44-7C9F-AB3E-9297DCA56051}"/>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92286F47-66A6-19BD-C2CC-B666D4602FC6}"/>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48</a:t>
            </a:fld>
            <a:endParaRPr lang="en-US" sz="2000" spc="-50"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EB3B1A2-D440-107C-49E8-F4F8E2EF5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798" y="1798992"/>
            <a:ext cx="3882313" cy="3448872"/>
          </a:xfrm>
          <a:prstGeom prst="rect">
            <a:avLst/>
          </a:prstGeom>
        </p:spPr>
      </p:pic>
      <p:sp>
        <p:nvSpPr>
          <p:cNvPr id="7" name="TextBox 6">
            <a:extLst>
              <a:ext uri="{FF2B5EF4-FFF2-40B4-BE49-F238E27FC236}">
                <a16:creationId xmlns:a16="http://schemas.microsoft.com/office/drawing/2014/main" id="{07F74EFE-BEA0-BC69-855E-213EF0A95217}"/>
              </a:ext>
            </a:extLst>
          </p:cNvPr>
          <p:cNvSpPr txBox="1"/>
          <p:nvPr/>
        </p:nvSpPr>
        <p:spPr>
          <a:xfrm>
            <a:off x="157081" y="6186291"/>
            <a:ext cx="11479619" cy="307777"/>
          </a:xfrm>
          <a:prstGeom prst="rect">
            <a:avLst/>
          </a:prstGeom>
          <a:solidFill>
            <a:schemeClr val="bg2">
              <a:lumMod val="25000"/>
            </a:schemeClr>
          </a:solidFill>
          <a:ln w="28575">
            <a:noFill/>
          </a:ln>
        </p:spPr>
        <p:txBody>
          <a:bodyPr wrap="square" rtlCol="0">
            <a:spAutoFit/>
          </a:bodyPr>
          <a:lstStyle/>
          <a:p>
            <a:pPr marL="285750" indent="-285750">
              <a:buFont typeface="Arial" panose="020B0604020202020204" pitchFamily="34" charset="0"/>
              <a:buChar char="•"/>
            </a:pPr>
            <a:r>
              <a:rPr lang="en-US" sz="1400" i="1" dirty="0">
                <a:solidFill>
                  <a:schemeClr val="bg1">
                    <a:lumMod val="95000"/>
                  </a:schemeClr>
                </a:solidFill>
                <a:latin typeface="Calibri" panose="020F0502020204030204" pitchFamily="34" charset="0"/>
                <a:cs typeface="Calibri" panose="020F0502020204030204" pitchFamily="34" charset="0"/>
              </a:rPr>
              <a:t>Different inputs require different ways of creating tokens or segments, but they can be processed using the same Transformer architecture.</a:t>
            </a:r>
          </a:p>
        </p:txBody>
      </p:sp>
      <p:grpSp>
        <p:nvGrpSpPr>
          <p:cNvPr id="27" name="Group 26">
            <a:extLst>
              <a:ext uri="{FF2B5EF4-FFF2-40B4-BE49-F238E27FC236}">
                <a16:creationId xmlns:a16="http://schemas.microsoft.com/office/drawing/2014/main" id="{A2E53C41-21C2-A744-0F81-6AC00D7608E1}"/>
              </a:ext>
            </a:extLst>
          </p:cNvPr>
          <p:cNvGrpSpPr/>
          <p:nvPr/>
        </p:nvGrpSpPr>
        <p:grpSpPr>
          <a:xfrm>
            <a:off x="457200" y="981744"/>
            <a:ext cx="6893046" cy="4064601"/>
            <a:chOff x="304800" y="1256435"/>
            <a:chExt cx="6893046" cy="4064601"/>
          </a:xfrm>
        </p:grpSpPr>
        <p:grpSp>
          <p:nvGrpSpPr>
            <p:cNvPr id="26" name="Group 25">
              <a:extLst>
                <a:ext uri="{FF2B5EF4-FFF2-40B4-BE49-F238E27FC236}">
                  <a16:creationId xmlns:a16="http://schemas.microsoft.com/office/drawing/2014/main" id="{4253F04F-BEC4-598F-37FE-991A31835C30}"/>
                </a:ext>
              </a:extLst>
            </p:cNvPr>
            <p:cNvGrpSpPr/>
            <p:nvPr/>
          </p:nvGrpSpPr>
          <p:grpSpPr>
            <a:xfrm>
              <a:off x="304800" y="1256435"/>
              <a:ext cx="4103858" cy="1754326"/>
              <a:chOff x="304800" y="1256435"/>
              <a:chExt cx="4103858" cy="1754326"/>
            </a:xfrm>
          </p:grpSpPr>
          <p:sp>
            <p:nvSpPr>
              <p:cNvPr id="6" name="TextBox 5">
                <a:extLst>
                  <a:ext uri="{FF2B5EF4-FFF2-40B4-BE49-F238E27FC236}">
                    <a16:creationId xmlns:a16="http://schemas.microsoft.com/office/drawing/2014/main" id="{B4583BCE-96D9-428D-63E2-87C8D5A3E181}"/>
                  </a:ext>
                </a:extLst>
              </p:cNvPr>
              <p:cNvSpPr txBox="1"/>
              <p:nvPr/>
            </p:nvSpPr>
            <p:spPr>
              <a:xfrm>
                <a:off x="1698427" y="1256435"/>
                <a:ext cx="2710231" cy="1754326"/>
              </a:xfrm>
              <a:prstGeom prst="rect">
                <a:avLst/>
              </a:prstGeom>
              <a:noFill/>
            </p:spPr>
            <p:txBody>
              <a:bodyPr wrap="square" rtlCol="0">
                <a:spAutoFit/>
              </a:bodyPr>
              <a:lstStyle/>
              <a:p>
                <a:pPr marL="285750" indent="-285750"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lgn="just"/>
                <a:r>
                  <a:rPr lang="en-US" dirty="0">
                    <a:latin typeface="Calibri" panose="020F0502020204030204" pitchFamily="34" charset="0"/>
                    <a:cs typeface="Calibri" panose="020F0502020204030204" pitchFamily="34" charset="0"/>
                  </a:rPr>
                  <a:t>Patches → Embeddings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Self-attention learns relationships between image regions.</a:t>
                </a:r>
              </a:p>
              <a:p>
                <a:pPr marL="285750" indent="-285750"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B9562BDC-F0F0-68DF-BF1D-816E25AD29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1622293"/>
                <a:ext cx="1379601" cy="920884"/>
              </a:xfrm>
              <a:prstGeom prst="rect">
                <a:avLst/>
              </a:prstGeom>
            </p:spPr>
          </p:pic>
        </p:grpSp>
        <p:grpSp>
          <p:nvGrpSpPr>
            <p:cNvPr id="23" name="Group 22">
              <a:extLst>
                <a:ext uri="{FF2B5EF4-FFF2-40B4-BE49-F238E27FC236}">
                  <a16:creationId xmlns:a16="http://schemas.microsoft.com/office/drawing/2014/main" id="{2E48A635-E35E-938A-F6C1-4400A43D0BAA}"/>
                </a:ext>
              </a:extLst>
            </p:cNvPr>
            <p:cNvGrpSpPr/>
            <p:nvPr/>
          </p:nvGrpSpPr>
          <p:grpSpPr>
            <a:xfrm>
              <a:off x="440747" y="4120707"/>
              <a:ext cx="3597891" cy="1200329"/>
              <a:chOff x="3520998" y="2741835"/>
              <a:chExt cx="3597891" cy="1200329"/>
            </a:xfrm>
          </p:grpSpPr>
          <p:sp>
            <p:nvSpPr>
              <p:cNvPr id="10" name="TextBox 9">
                <a:extLst>
                  <a:ext uri="{FF2B5EF4-FFF2-40B4-BE49-F238E27FC236}">
                    <a16:creationId xmlns:a16="http://schemas.microsoft.com/office/drawing/2014/main" id="{BB89F48B-89A2-E8A2-53D3-F377EBB739CB}"/>
                  </a:ext>
                </a:extLst>
              </p:cNvPr>
              <p:cNvSpPr txBox="1"/>
              <p:nvPr/>
            </p:nvSpPr>
            <p:spPr>
              <a:xfrm>
                <a:off x="4408658" y="2741835"/>
                <a:ext cx="2710231" cy="1200329"/>
              </a:xfrm>
              <a:prstGeom prst="rect">
                <a:avLst/>
              </a:prstGeom>
              <a:noFill/>
            </p:spPr>
            <p:txBody>
              <a:bodyPr wrap="square">
                <a:spAutoFit/>
              </a:bodyPr>
              <a:lstStyle/>
              <a:p>
                <a:pPr algn="just"/>
                <a:r>
                  <a:rPr lang="en-US" sz="1800" dirty="0">
                    <a:latin typeface="Calibri" panose="020F0502020204030204" pitchFamily="34" charset="0"/>
                    <a:cs typeface="Calibri" panose="020F0502020204030204" pitchFamily="34" charset="0"/>
                  </a:rPr>
                  <a:t>Tokens → Embeddings</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Self-attention learns relationships between words/tokens.</a:t>
                </a:r>
              </a:p>
            </p:txBody>
          </p:sp>
          <p:pic>
            <p:nvPicPr>
              <p:cNvPr id="20" name="Picture 19">
                <a:extLst>
                  <a:ext uri="{FF2B5EF4-FFF2-40B4-BE49-F238E27FC236}">
                    <a16:creationId xmlns:a16="http://schemas.microsoft.com/office/drawing/2014/main" id="{C5D25872-F4ED-4668-ADB8-F878743972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20998" y="2886957"/>
                <a:ext cx="887660" cy="887660"/>
              </a:xfrm>
              <a:prstGeom prst="rect">
                <a:avLst/>
              </a:prstGeom>
            </p:spPr>
          </p:pic>
        </p:grpSp>
        <p:grpSp>
          <p:nvGrpSpPr>
            <p:cNvPr id="25" name="Group 24">
              <a:extLst>
                <a:ext uri="{FF2B5EF4-FFF2-40B4-BE49-F238E27FC236}">
                  <a16:creationId xmlns:a16="http://schemas.microsoft.com/office/drawing/2014/main" id="{74AC599D-BFAB-25B0-91A0-EB3DA9166381}"/>
                </a:ext>
              </a:extLst>
            </p:cNvPr>
            <p:cNvGrpSpPr/>
            <p:nvPr/>
          </p:nvGrpSpPr>
          <p:grpSpPr>
            <a:xfrm>
              <a:off x="2792656" y="2999806"/>
              <a:ext cx="4405190" cy="923330"/>
              <a:chOff x="2765937" y="2968750"/>
              <a:chExt cx="4405190" cy="923330"/>
            </a:xfrm>
          </p:grpSpPr>
          <p:sp>
            <p:nvSpPr>
              <p:cNvPr id="12" name="TextBox 11">
                <a:extLst>
                  <a:ext uri="{FF2B5EF4-FFF2-40B4-BE49-F238E27FC236}">
                    <a16:creationId xmlns:a16="http://schemas.microsoft.com/office/drawing/2014/main" id="{E03A27A2-4045-2A14-A1B5-790EFB23AD0C}"/>
                  </a:ext>
                </a:extLst>
              </p:cNvPr>
              <p:cNvSpPr txBox="1"/>
              <p:nvPr/>
            </p:nvSpPr>
            <p:spPr>
              <a:xfrm>
                <a:off x="4264417" y="2968750"/>
                <a:ext cx="2906710" cy="923330"/>
              </a:xfrm>
              <a:prstGeom prst="rect">
                <a:avLst/>
              </a:prstGeom>
              <a:noFill/>
            </p:spPr>
            <p:txBody>
              <a:bodyPr wrap="square">
                <a:spAutoFit/>
              </a:bodyPr>
              <a:lstStyle/>
              <a:p>
                <a:pPr algn="just"/>
                <a:r>
                  <a:rPr lang="en-US" dirty="0">
                    <a:latin typeface="Calibri" panose="020F0502020204030204" pitchFamily="34" charset="0"/>
                    <a:cs typeface="Calibri" panose="020F0502020204030204" pitchFamily="34" charset="0"/>
                  </a:rPr>
                  <a:t>Segments → Embeddings</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Self-attention learns relationships across time.</a:t>
                </a:r>
              </a:p>
            </p:txBody>
          </p:sp>
          <p:pic>
            <p:nvPicPr>
              <p:cNvPr id="22" name="Picture 21">
                <a:extLst>
                  <a:ext uri="{FF2B5EF4-FFF2-40B4-BE49-F238E27FC236}">
                    <a16:creationId xmlns:a16="http://schemas.microsoft.com/office/drawing/2014/main" id="{848C6A09-31BC-738A-E979-90991930DF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65937" y="3246440"/>
                <a:ext cx="1272701" cy="365119"/>
              </a:xfrm>
              <a:prstGeom prst="rect">
                <a:avLst/>
              </a:prstGeom>
            </p:spPr>
          </p:pic>
        </p:grpSp>
      </p:grpSp>
    </p:spTree>
    <p:extLst>
      <p:ext uri="{BB962C8B-B14F-4D97-AF65-F5344CB8AC3E}">
        <p14:creationId xmlns:p14="http://schemas.microsoft.com/office/powerpoint/2010/main" val="42480002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949E1-AA14-97FA-553C-811347AB358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527FCE0-8B10-A499-AE75-4B5B5D8B72D3}"/>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2400" b="1" dirty="0">
                <a:latin typeface="Calibri" panose="020F0502020204030204" pitchFamily="34" charset="0"/>
                <a:cs typeface="Calibri" panose="020F0502020204030204" pitchFamily="34" charset="0"/>
              </a:rPr>
              <a:t>Case Study: One Transformer Architecture Family Across Modalities </a:t>
            </a:r>
            <a:r>
              <a:rPr lang="en-US" sz="1600" b="1" dirty="0">
                <a:latin typeface="Calibri" panose="020F0502020204030204" pitchFamily="34" charset="0"/>
                <a:cs typeface="Calibri" panose="020F0502020204030204" pitchFamily="34" charset="0"/>
              </a:rPr>
              <a:t>(cont…)</a:t>
            </a:r>
            <a:endParaRPr lang="en-US" sz="2400" b="1" dirty="0">
              <a:latin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F9F7B3AD-09E0-94D7-E680-F35479F4B462}"/>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3BF010FE-A219-7651-E198-10513142E0CD}"/>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49</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10005313-F6B3-0AE7-72D1-7B4A435B30C3}"/>
              </a:ext>
            </a:extLst>
          </p:cNvPr>
          <p:cNvSpPr txBox="1"/>
          <p:nvPr/>
        </p:nvSpPr>
        <p:spPr>
          <a:xfrm>
            <a:off x="263625" y="901560"/>
            <a:ext cx="10439400" cy="584775"/>
          </a:xfrm>
          <a:prstGeom prst="rect">
            <a:avLst/>
          </a:prstGeom>
          <a:noFill/>
        </p:spPr>
        <p:txBody>
          <a:bodyPr wrap="square">
            <a:spAutoFit/>
          </a:bodyPr>
          <a:lstStyle/>
          <a:p>
            <a:pPr marL="457200" indent="-457200">
              <a:buFont typeface="Wingdings" panose="05000000000000000000" pitchFamily="2" charset="2"/>
              <a:buChar char="q"/>
            </a:pPr>
            <a:r>
              <a:rPr lang="en-US" sz="3200" b="1" dirty="0">
                <a:latin typeface="Calibri" panose="020F0502020204030204" pitchFamily="34" charset="0"/>
                <a:cs typeface="Calibri" panose="020F0502020204030204" pitchFamily="34" charset="0"/>
              </a:rPr>
              <a:t>Multimodal Data Tokenization &amp; Transformer Processing</a:t>
            </a:r>
          </a:p>
        </p:txBody>
      </p:sp>
      <p:sp>
        <p:nvSpPr>
          <p:cNvPr id="6" name="TextBox 5">
            <a:extLst>
              <a:ext uri="{FF2B5EF4-FFF2-40B4-BE49-F238E27FC236}">
                <a16:creationId xmlns:a16="http://schemas.microsoft.com/office/drawing/2014/main" id="{AD0FA869-1731-CAA8-A107-72C0068DCBD8}"/>
              </a:ext>
            </a:extLst>
          </p:cNvPr>
          <p:cNvSpPr txBox="1"/>
          <p:nvPr/>
        </p:nvSpPr>
        <p:spPr>
          <a:xfrm>
            <a:off x="152400" y="6183122"/>
            <a:ext cx="10820400" cy="338554"/>
          </a:xfrm>
          <a:prstGeom prst="rect">
            <a:avLst/>
          </a:prstGeom>
          <a:noFill/>
        </p:spPr>
        <p:txBody>
          <a:bodyPr wrap="square">
            <a:spAutoFit/>
          </a:bodyPr>
          <a:lstStyle/>
          <a:p>
            <a:r>
              <a:rPr lang="en-US" sz="1600" dirty="0">
                <a:latin typeface="Calibri" panose="020F0502020204030204" pitchFamily="34" charset="0"/>
                <a:cs typeface="Calibri" panose="020F0502020204030204" pitchFamily="34" charset="0"/>
              </a:rPr>
              <a:t>Figure: How Images, Text, and Audio Are Broken Down, Encoded, and Unified by a Single Transformer Model </a:t>
            </a:r>
          </a:p>
        </p:txBody>
      </p:sp>
      <p:pic>
        <p:nvPicPr>
          <p:cNvPr id="12" name="Picture 11">
            <a:extLst>
              <a:ext uri="{FF2B5EF4-FFF2-40B4-BE49-F238E27FC236}">
                <a16:creationId xmlns:a16="http://schemas.microsoft.com/office/drawing/2014/main" id="{A0F4B263-3FD7-CD29-8688-9F82A5511F67}"/>
              </a:ext>
            </a:extLst>
          </p:cNvPr>
          <p:cNvPicPr>
            <a:picLocks noChangeAspect="1"/>
          </p:cNvPicPr>
          <p:nvPr/>
        </p:nvPicPr>
        <p:blipFill>
          <a:blip r:embed="rId2"/>
          <a:srcRect l="5183" r="4515"/>
          <a:stretch>
            <a:fillRect/>
          </a:stretch>
        </p:blipFill>
        <p:spPr>
          <a:xfrm>
            <a:off x="1676400" y="1453586"/>
            <a:ext cx="7924799" cy="4729536"/>
          </a:xfrm>
          <a:prstGeom prst="rect">
            <a:avLst/>
          </a:prstGeom>
        </p:spPr>
      </p:pic>
    </p:spTree>
    <p:extLst>
      <p:ext uri="{BB962C8B-B14F-4D97-AF65-F5344CB8AC3E}">
        <p14:creationId xmlns:p14="http://schemas.microsoft.com/office/powerpoint/2010/main" val="42315961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02167-534D-2764-4949-8C5E6361A4A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89A28F5-FABC-137C-3E41-49F0A4F17D0D}"/>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2000" b="1" dirty="0">
                <a:latin typeface="Calibri" panose="020F0502020204030204" pitchFamily="34" charset="0"/>
                <a:cs typeface="Calibri" panose="020F0502020204030204" pitchFamily="34" charset="0"/>
              </a:rPr>
              <a:t>Case Study: One Transformer Architecture Family Across Modalities (cont…)</a:t>
            </a:r>
          </a:p>
        </p:txBody>
      </p:sp>
      <p:sp>
        <p:nvSpPr>
          <p:cNvPr id="9" name="Rectangle 4">
            <a:extLst>
              <a:ext uri="{FF2B5EF4-FFF2-40B4-BE49-F238E27FC236}">
                <a16:creationId xmlns:a16="http://schemas.microsoft.com/office/drawing/2014/main" id="{061239E4-A2BA-A3FA-F331-BFB4821F77CC}"/>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95940AB6-E9AD-93A5-CFED-F7F25BBFF16A}"/>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50</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849434DF-CAE0-1AD4-A9F2-C8551E5A3D44}"/>
              </a:ext>
            </a:extLst>
          </p:cNvPr>
          <p:cNvSpPr txBox="1"/>
          <p:nvPr/>
        </p:nvSpPr>
        <p:spPr>
          <a:xfrm>
            <a:off x="76200" y="909202"/>
            <a:ext cx="3429000" cy="3908762"/>
          </a:xfrm>
          <a:prstGeom prst="rect">
            <a:avLst/>
          </a:prstGeom>
          <a:noFill/>
        </p:spPr>
        <p:txBody>
          <a:bodyPr wrap="square">
            <a:spAutoFit/>
          </a:bodyPr>
          <a:lstStyle/>
          <a:p>
            <a:pPr>
              <a:buNone/>
            </a:pPr>
            <a:r>
              <a:rPr lang="en-US" sz="2000" b="1" dirty="0">
                <a:latin typeface="Calibri" panose="020F0502020204030204" pitchFamily="34" charset="0"/>
                <a:cs typeface="Calibri" panose="020F0502020204030204" pitchFamily="34" charset="0"/>
              </a:rPr>
              <a:t>Practical Limitations</a:t>
            </a:r>
          </a:p>
          <a:p>
            <a:pPr marL="342900" lvl="0" indent="-342900" algn="just">
              <a:buFont typeface="Arial" panose="020B0604020202020204" pitchFamily="34" charset="0"/>
              <a:buChar char="•"/>
            </a:pPr>
            <a:endParaRPr lang="en-US" sz="2000" b="1"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Large Data:</a:t>
            </a:r>
            <a:r>
              <a:rPr lang="en-US" sz="1600" dirty="0">
                <a:latin typeface="Calibri" panose="020F0502020204030204" pitchFamily="34" charset="0"/>
                <a:cs typeface="Calibri" panose="020F0502020204030204" pitchFamily="34" charset="0"/>
              </a:rPr>
              <a:t> Training needs large amounts of well-aligned multimodal data. </a:t>
            </a:r>
            <a:endParaRPr lang="en-US" sz="1600" b="1"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High Computation:</a:t>
            </a:r>
            <a:r>
              <a:rPr lang="en-US" sz="1600" dirty="0">
                <a:latin typeface="Calibri" panose="020F0502020204030204" pitchFamily="34" charset="0"/>
                <a:cs typeface="Calibri" panose="020F0502020204030204" pitchFamily="34" charset="0"/>
              </a:rPr>
              <a:t> Attention can be expensive for long sequences, especially video. </a:t>
            </a:r>
            <a:endParaRPr lang="en-US" sz="1600" b="1"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Data Quality:</a:t>
            </a:r>
            <a:r>
              <a:rPr lang="en-US" sz="1600" dirty="0">
                <a:latin typeface="Calibri" panose="020F0502020204030204" pitchFamily="34" charset="0"/>
                <a:cs typeface="Calibri" panose="020F0502020204030204" pitchFamily="34" charset="0"/>
              </a:rPr>
              <a:t> Poor data can lead to weak connections between modalities. </a:t>
            </a:r>
            <a:endParaRPr lang="en-US" sz="1600" b="1" dirty="0">
              <a:latin typeface="Calibri" panose="020F0502020204030204" pitchFamily="34" charset="0"/>
              <a:cs typeface="Calibri" panose="020F0502020204030204" pitchFamily="34" charset="0"/>
            </a:endParaRPr>
          </a:p>
          <a:p>
            <a:pPr marL="342900" lvl="0" indent="-342900" algn="just">
              <a:buFont typeface="Arial" panose="020B0604020202020204" pitchFamily="34" charset="0"/>
              <a:buChar char="•"/>
            </a:pPr>
            <a:r>
              <a:rPr lang="en-US" sz="1600" b="1" dirty="0">
                <a:latin typeface="Calibri" panose="020F0502020204030204" pitchFamily="34" charset="0"/>
                <a:cs typeface="Calibri" panose="020F0502020204030204" pitchFamily="34" charset="0"/>
              </a:rPr>
              <a:t>Preprocessing:</a:t>
            </a:r>
            <a:r>
              <a:rPr lang="en-US" sz="1600" dirty="0">
                <a:latin typeface="Calibri" panose="020F0502020204030204" pitchFamily="34" charset="0"/>
                <a:cs typeface="Calibri" panose="020F0502020204030204" pitchFamily="34" charset="0"/>
              </a:rPr>
              <a:t> Different modalities require different preprocessing before entering the Transformer.</a:t>
            </a:r>
          </a:p>
        </p:txBody>
      </p:sp>
      <p:sp>
        <p:nvSpPr>
          <p:cNvPr id="4" name="TextBox 3">
            <a:extLst>
              <a:ext uri="{FF2B5EF4-FFF2-40B4-BE49-F238E27FC236}">
                <a16:creationId xmlns:a16="http://schemas.microsoft.com/office/drawing/2014/main" id="{AD74CCA1-8811-F8AA-87CC-F287240712D1}"/>
              </a:ext>
            </a:extLst>
          </p:cNvPr>
          <p:cNvSpPr txBox="1"/>
          <p:nvPr/>
        </p:nvSpPr>
        <p:spPr>
          <a:xfrm>
            <a:off x="42530" y="6016822"/>
            <a:ext cx="12039600" cy="307777"/>
          </a:xfrm>
          <a:prstGeom prst="rect">
            <a:avLst/>
          </a:prstGeom>
          <a:solidFill>
            <a:schemeClr val="bg2">
              <a:lumMod val="25000"/>
            </a:schemeClr>
          </a:solidFill>
        </p:spPr>
        <p:txBody>
          <a:bodyPr wrap="square" rtlCol="0">
            <a:spAutoFit/>
          </a:bodyPr>
          <a:lstStyle/>
          <a:p>
            <a:pPr marL="285750" indent="-285750" algn="just">
              <a:buFont typeface="Arial" panose="020B0604020202020204" pitchFamily="34" charset="0"/>
              <a:buChar char="•"/>
            </a:pPr>
            <a:r>
              <a:rPr lang="en-US" sz="1400" dirty="0">
                <a:solidFill>
                  <a:schemeClr val="bg1"/>
                </a:solidFill>
                <a:latin typeface="Calibri" panose="020F0502020204030204" pitchFamily="34" charset="0"/>
                <a:cs typeface="Calibri" panose="020F0502020204030204" pitchFamily="34" charset="0"/>
              </a:rPr>
              <a:t>Multimodal Transformers are powerful, but they require large, high-quality datasets, substantial computational resources, and modality-specific preprocessing.</a:t>
            </a:r>
          </a:p>
        </p:txBody>
      </p:sp>
      <p:pic>
        <p:nvPicPr>
          <p:cNvPr id="8" name="Picture 7">
            <a:extLst>
              <a:ext uri="{FF2B5EF4-FFF2-40B4-BE49-F238E27FC236}">
                <a16:creationId xmlns:a16="http://schemas.microsoft.com/office/drawing/2014/main" id="{F70B1A0A-050F-6E6D-F659-44F24A27A6E1}"/>
              </a:ext>
            </a:extLst>
          </p:cNvPr>
          <p:cNvPicPr>
            <a:picLocks noChangeAspect="1"/>
          </p:cNvPicPr>
          <p:nvPr/>
        </p:nvPicPr>
        <p:blipFill>
          <a:blip r:embed="rId2"/>
          <a:stretch>
            <a:fillRect/>
          </a:stretch>
        </p:blipFill>
        <p:spPr>
          <a:xfrm>
            <a:off x="3518312" y="1182768"/>
            <a:ext cx="8563818" cy="3763396"/>
          </a:xfrm>
          <a:prstGeom prst="rect">
            <a:avLst/>
          </a:prstGeom>
        </p:spPr>
      </p:pic>
      <p:sp>
        <p:nvSpPr>
          <p:cNvPr id="12" name="TextBox 11">
            <a:extLst>
              <a:ext uri="{FF2B5EF4-FFF2-40B4-BE49-F238E27FC236}">
                <a16:creationId xmlns:a16="http://schemas.microsoft.com/office/drawing/2014/main" id="{53EF8F94-D82E-66A3-BD27-D222E23BA51F}"/>
              </a:ext>
            </a:extLst>
          </p:cNvPr>
          <p:cNvSpPr txBox="1"/>
          <p:nvPr/>
        </p:nvSpPr>
        <p:spPr>
          <a:xfrm>
            <a:off x="4572000" y="5149958"/>
            <a:ext cx="7315200" cy="738664"/>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Figure 1:</a:t>
            </a:r>
            <a:r>
              <a:rPr lang="en-US" sz="1400" dirty="0">
                <a:latin typeface="Calibri" panose="020F0502020204030204" pitchFamily="34" charset="0"/>
                <a:cs typeface="Calibri" panose="020F0502020204030204" pitchFamily="34" charset="0"/>
              </a:rPr>
              <a:t> Key challenges and main requirements for training Multimodal Transformers, including the need for large amounts of data, high computing power, well-aligned datasets, and specialized preprocessing.</a:t>
            </a:r>
          </a:p>
        </p:txBody>
      </p:sp>
    </p:spTree>
    <p:extLst>
      <p:ext uri="{BB962C8B-B14F-4D97-AF65-F5344CB8AC3E}">
        <p14:creationId xmlns:p14="http://schemas.microsoft.com/office/powerpoint/2010/main" val="38932748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88AB6-4AFD-369B-D850-DD5216A3397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077242E-3578-AC66-B58A-130C87CB0125}"/>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3200" b="1" dirty="0">
                <a:solidFill>
                  <a:srgbClr val="FFFFFF"/>
                </a:solidFill>
                <a:latin typeface="Calibri" panose="020F0502020204030204" pitchFamily="34" charset="0"/>
                <a:ea typeface="Calibri" pitchFamily="34" charset="-122"/>
                <a:cs typeface="Calibri" panose="020F0502020204030204" pitchFamily="34" charset="0"/>
              </a:rPr>
              <a:t>9. Summary 									</a:t>
            </a:r>
            <a:endParaRPr lang="en-US" sz="3200" dirty="0">
              <a:latin typeface="Calibri" panose="020F0502020204030204" pitchFamily="34" charset="0"/>
              <a:cs typeface="Calibri" panose="020F0502020204030204" pitchFamily="34" charset="0"/>
            </a:endParaRPr>
          </a:p>
        </p:txBody>
      </p:sp>
      <p:sp>
        <p:nvSpPr>
          <p:cNvPr id="9" name="Rectangle 4">
            <a:extLst>
              <a:ext uri="{FF2B5EF4-FFF2-40B4-BE49-F238E27FC236}">
                <a16:creationId xmlns:a16="http://schemas.microsoft.com/office/drawing/2014/main" id="{82139E59-C5B3-A1F7-0CA9-CEC44A0050AD}"/>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alibri" panose="020F0502020204030204" pitchFamily="34" charset="0"/>
              <a:cs typeface="Calibri" panose="020F0502020204030204" pitchFamily="34" charset="0"/>
            </a:endParaRPr>
          </a:p>
        </p:txBody>
      </p:sp>
      <p:sp>
        <p:nvSpPr>
          <p:cNvPr id="37" name="Slide Number Placeholder 36">
            <a:extLst>
              <a:ext uri="{FF2B5EF4-FFF2-40B4-BE49-F238E27FC236}">
                <a16:creationId xmlns:a16="http://schemas.microsoft.com/office/drawing/2014/main" id="{E78E7D54-28D4-7E23-CB4C-2BC63C33CE35}"/>
              </a:ext>
            </a:extLst>
          </p:cNvPr>
          <p:cNvSpPr>
            <a:spLocks noGrp="1"/>
          </p:cNvSpPr>
          <p:nvPr>
            <p:ph type="sldNum" sz="quarter" idx="7"/>
          </p:nvPr>
        </p:nvSpPr>
        <p:spPr>
          <a:xfrm>
            <a:off x="11430000" y="6553200"/>
            <a:ext cx="609600" cy="533400"/>
          </a:xfrm>
        </p:spPr>
        <p:txBody>
          <a:bodyPr/>
          <a:lstStyle/>
          <a:p>
            <a:pPr marL="164465">
              <a:lnSpc>
                <a:spcPct val="100000"/>
              </a:lnSpc>
              <a:spcBef>
                <a:spcPts val="50"/>
              </a:spcBef>
            </a:pPr>
            <a:fld id="{81D60167-4931-47E6-BA6A-407CBD079E47}" type="slidenum">
              <a:rPr lang="en-US" sz="2000" spc="-50" smtClean="0">
                <a:solidFill>
                  <a:schemeClr val="bg1"/>
                </a:solidFill>
                <a:latin typeface="Calibri" panose="020F0502020204030204" pitchFamily="34" charset="0"/>
                <a:cs typeface="Calibri" panose="020F0502020204030204" pitchFamily="34" charset="0"/>
              </a:rPr>
              <a:t>51</a:t>
            </a:fld>
            <a:endParaRPr lang="en-US" sz="2000" spc="-5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0D365CFD-FC62-2926-C6BE-FFFF0266CF30}"/>
              </a:ext>
            </a:extLst>
          </p:cNvPr>
          <p:cNvSpPr txBox="1"/>
          <p:nvPr/>
        </p:nvSpPr>
        <p:spPr>
          <a:xfrm>
            <a:off x="404184" y="1476085"/>
            <a:ext cx="3810000" cy="4855432"/>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Attention</a:t>
            </a:r>
            <a:r>
              <a:rPr lang="en-US" sz="1600" dirty="0">
                <a:latin typeface="Calibri" panose="020F0502020204030204" pitchFamily="34" charset="0"/>
                <a:cs typeface="Calibri" panose="020F0502020204030204" pitchFamily="34" charset="0"/>
              </a:rPr>
              <a:t> focuses on the most relevant information to understand context. </a:t>
            </a:r>
            <a:endParaRPr lang="en-US" sz="1600" b="1" dirty="0">
              <a:latin typeface="Calibri" panose="020F0502020204030204" pitchFamily="34" charset="0"/>
              <a:cs typeface="Calibri" panose="020F0502020204030204" pitchFamily="34" charset="0"/>
            </a:endParaRPr>
          </a:p>
          <a:p>
            <a:pPr marL="285750" lvl="0" indent="-285750" algn="just">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Self-Attention</a:t>
            </a:r>
            <a:r>
              <a:rPr lang="en-US" sz="1600" dirty="0">
                <a:latin typeface="Calibri" panose="020F0502020204030204" pitchFamily="34" charset="0"/>
                <a:cs typeface="Calibri" panose="020F0502020204030204" pitchFamily="34" charset="0"/>
              </a:rPr>
              <a:t> captures relationships within the same input. </a:t>
            </a:r>
            <a:endParaRPr lang="en-US" sz="1600" b="1" dirty="0">
              <a:latin typeface="Calibri" panose="020F0502020204030204" pitchFamily="34" charset="0"/>
              <a:cs typeface="Calibri" panose="020F0502020204030204" pitchFamily="34" charset="0"/>
            </a:endParaRPr>
          </a:p>
          <a:p>
            <a:pPr marL="285750" lvl="0" indent="-285750" algn="just">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Cross-Attention</a:t>
            </a:r>
            <a:r>
              <a:rPr lang="en-US" sz="1600" dirty="0">
                <a:latin typeface="Calibri" panose="020F0502020204030204" pitchFamily="34" charset="0"/>
                <a:cs typeface="Calibri" panose="020F0502020204030204" pitchFamily="34" charset="0"/>
              </a:rPr>
              <a:t> connects information from different inputs or modalities. </a:t>
            </a:r>
            <a:endParaRPr lang="en-US" sz="1600" b="1" dirty="0">
              <a:latin typeface="Calibri" panose="020F0502020204030204" pitchFamily="34" charset="0"/>
              <a:cs typeface="Calibri" panose="020F0502020204030204" pitchFamily="34" charset="0"/>
            </a:endParaRPr>
          </a:p>
          <a:p>
            <a:pPr marL="285750" lvl="0" indent="-285750" algn="just">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Transformers</a:t>
            </a:r>
            <a:r>
              <a:rPr lang="en-US" sz="1600" dirty="0">
                <a:latin typeface="Calibri" panose="020F0502020204030204" pitchFamily="34" charset="0"/>
                <a:cs typeface="Calibri" panose="020F0502020204030204" pitchFamily="34" charset="0"/>
              </a:rPr>
              <a:t> use attention to process information in parallel rather than step by step. </a:t>
            </a:r>
          </a:p>
          <a:p>
            <a:pPr marL="285750" lvl="0" indent="-285750" algn="just">
              <a:lnSpc>
                <a:spcPct val="150000"/>
              </a:lnSpc>
              <a:buFont typeface="Arial" panose="020B0604020202020204" pitchFamily="34" charset="0"/>
              <a:buChar char="•"/>
            </a:pPr>
            <a:r>
              <a:rPr lang="en-US" sz="1600" i="1" dirty="0">
                <a:latin typeface="Calibri" panose="020F0502020204030204" pitchFamily="34" charset="0"/>
                <a:cs typeface="Calibri" panose="020F0502020204030204" pitchFamily="34" charset="0"/>
              </a:rPr>
              <a:t>Images</a:t>
            </a:r>
            <a:r>
              <a:rPr lang="en-US" sz="1600" dirty="0">
                <a:latin typeface="Calibri" panose="020F0502020204030204" pitchFamily="34" charset="0"/>
                <a:cs typeface="Calibri" panose="020F0502020204030204" pitchFamily="34" charset="0"/>
              </a:rPr>
              <a:t>, </a:t>
            </a:r>
            <a:r>
              <a:rPr lang="en-US" sz="1600" i="1" dirty="0">
                <a:latin typeface="Calibri" panose="020F0502020204030204" pitchFamily="34" charset="0"/>
                <a:cs typeface="Calibri" panose="020F0502020204030204" pitchFamily="34" charset="0"/>
              </a:rPr>
              <a:t>text</a:t>
            </a:r>
            <a:r>
              <a:rPr lang="en-US" sz="1600" dirty="0">
                <a:latin typeface="Calibri" panose="020F0502020204030204" pitchFamily="34" charset="0"/>
                <a:cs typeface="Calibri" panose="020F0502020204030204" pitchFamily="34" charset="0"/>
              </a:rPr>
              <a:t>, and </a:t>
            </a:r>
            <a:r>
              <a:rPr lang="en-US" sz="1600" i="1" dirty="0">
                <a:latin typeface="Calibri" panose="020F0502020204030204" pitchFamily="34" charset="0"/>
                <a:cs typeface="Calibri" panose="020F0502020204030204" pitchFamily="34" charset="0"/>
              </a:rPr>
              <a:t>audio</a:t>
            </a:r>
            <a:r>
              <a:rPr lang="en-US" sz="1600" dirty="0">
                <a:latin typeface="Calibri" panose="020F0502020204030204" pitchFamily="34" charset="0"/>
                <a:cs typeface="Calibri" panose="020F0502020204030204" pitchFamily="34" charset="0"/>
              </a:rPr>
              <a:t> can be converted into tokens or embeddings, allowing Transformers to process them together. </a:t>
            </a:r>
          </a:p>
        </p:txBody>
      </p:sp>
      <p:pic>
        <p:nvPicPr>
          <p:cNvPr id="7" name="Picture 6">
            <a:extLst>
              <a:ext uri="{FF2B5EF4-FFF2-40B4-BE49-F238E27FC236}">
                <a16:creationId xmlns:a16="http://schemas.microsoft.com/office/drawing/2014/main" id="{3C5FA4F9-6C9A-FBDA-52DA-A81FD07A2B34}"/>
              </a:ext>
            </a:extLst>
          </p:cNvPr>
          <p:cNvPicPr>
            <a:picLocks noChangeAspect="1"/>
          </p:cNvPicPr>
          <p:nvPr/>
        </p:nvPicPr>
        <p:blipFill>
          <a:blip r:embed="rId2">
            <a:extLst>
              <a:ext uri="{28A0092B-C50C-407E-A947-70E740481C1C}">
                <a14:useLocalDpi xmlns:a14="http://schemas.microsoft.com/office/drawing/2010/main" val="0"/>
              </a:ext>
            </a:extLst>
          </a:blip>
          <a:srcRect t="16473" b="4816"/>
          <a:stretch>
            <a:fillRect/>
          </a:stretch>
        </p:blipFill>
        <p:spPr>
          <a:xfrm>
            <a:off x="4559826" y="1609300"/>
            <a:ext cx="7239363" cy="3836176"/>
          </a:xfrm>
          <a:prstGeom prst="rect">
            <a:avLst/>
          </a:prstGeom>
        </p:spPr>
      </p:pic>
      <p:sp>
        <p:nvSpPr>
          <p:cNvPr id="8" name="TextBox 7">
            <a:extLst>
              <a:ext uri="{FF2B5EF4-FFF2-40B4-BE49-F238E27FC236}">
                <a16:creationId xmlns:a16="http://schemas.microsoft.com/office/drawing/2014/main" id="{37BF29F5-F879-D43D-5432-3B17BCD8C4D1}"/>
              </a:ext>
            </a:extLst>
          </p:cNvPr>
          <p:cNvSpPr txBox="1"/>
          <p:nvPr/>
        </p:nvSpPr>
        <p:spPr>
          <a:xfrm>
            <a:off x="4515588" y="1093170"/>
            <a:ext cx="3081100" cy="461665"/>
          </a:xfrm>
          <a:prstGeom prst="rect">
            <a:avLst/>
          </a:prstGeom>
          <a:noFill/>
        </p:spPr>
        <p:txBody>
          <a:bodyPr wrap="none" rtlCol="0">
            <a:spAutoFit/>
          </a:bodyPr>
          <a:lstStyle/>
          <a:p>
            <a:pPr marL="342900" indent="-342900">
              <a:buFont typeface="Wingdings" panose="05000000000000000000" pitchFamily="2" charset="2"/>
              <a:buChar char="q"/>
            </a:pPr>
            <a:r>
              <a:rPr lang="en-US" sz="2400" b="1" dirty="0">
                <a:latin typeface="Calibri" panose="020F0502020204030204" pitchFamily="34" charset="0"/>
                <a:cs typeface="Calibri" panose="020F0502020204030204" pitchFamily="34" charset="0"/>
              </a:rPr>
              <a:t>The Entire Overflow</a:t>
            </a:r>
          </a:p>
        </p:txBody>
      </p:sp>
      <p:sp>
        <p:nvSpPr>
          <p:cNvPr id="3" name="TextBox 2">
            <a:extLst>
              <a:ext uri="{FF2B5EF4-FFF2-40B4-BE49-F238E27FC236}">
                <a16:creationId xmlns:a16="http://schemas.microsoft.com/office/drawing/2014/main" id="{90DCC4A8-6B3E-84E4-7F0A-5AFCA4681E7D}"/>
              </a:ext>
            </a:extLst>
          </p:cNvPr>
          <p:cNvSpPr txBox="1"/>
          <p:nvPr/>
        </p:nvSpPr>
        <p:spPr>
          <a:xfrm>
            <a:off x="4515588" y="5664886"/>
            <a:ext cx="7239363" cy="523220"/>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Figure 1:</a:t>
            </a:r>
            <a:r>
              <a:rPr lang="en-US" sz="1400" dirty="0">
                <a:latin typeface="Calibri" panose="020F0502020204030204" pitchFamily="34" charset="0"/>
                <a:cs typeface="Calibri" panose="020F0502020204030204" pitchFamily="34" charset="0"/>
              </a:rPr>
              <a:t> Step-by-step roadmap showing how attention mechanisms power Transformer architectures to unite text, image, and audio models</a:t>
            </a:r>
          </a:p>
        </p:txBody>
      </p:sp>
    </p:spTree>
    <p:extLst>
      <p:ext uri="{BB962C8B-B14F-4D97-AF65-F5344CB8AC3E}">
        <p14:creationId xmlns:p14="http://schemas.microsoft.com/office/powerpoint/2010/main" val="1817091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84E0-F538-6C38-EB51-484747AB00D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27704CAA-BE53-CABF-749C-C313293B2989}"/>
              </a:ext>
            </a:extLst>
          </p:cNvPr>
          <p:cNvGrpSpPr/>
          <p:nvPr/>
        </p:nvGrpSpPr>
        <p:grpSpPr>
          <a:xfrm>
            <a:off x="0" y="0"/>
            <a:ext cx="12192000" cy="6858000"/>
            <a:chOff x="0" y="0"/>
            <a:chExt cx="12192000" cy="6858000"/>
          </a:xfrm>
        </p:grpSpPr>
        <p:sp>
          <p:nvSpPr>
            <p:cNvPr id="3" name="object 3">
              <a:extLst>
                <a:ext uri="{FF2B5EF4-FFF2-40B4-BE49-F238E27FC236}">
                  <a16:creationId xmlns:a16="http://schemas.microsoft.com/office/drawing/2014/main" id="{60050E02-0819-1C3A-D1AF-B27E3741D249}"/>
                </a:ext>
              </a:extLst>
            </p:cNvPr>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rgbClr val="353537"/>
            </a:solidFill>
          </p:spPr>
          <p:txBody>
            <a:bodyPr wrap="square" lIns="0" tIns="0" rIns="0" bIns="0" rtlCol="0"/>
            <a:lstStyle/>
            <a:p>
              <a:endParaRPr dirty="0">
                <a:latin typeface="Calibri" panose="020F0502020204030204" pitchFamily="34" charset="0"/>
                <a:cs typeface="Calibri" panose="020F0502020204030204" pitchFamily="34" charset="0"/>
              </a:endParaRPr>
            </a:p>
          </p:txBody>
        </p:sp>
        <p:sp>
          <p:nvSpPr>
            <p:cNvPr id="4" name="object 4">
              <a:extLst>
                <a:ext uri="{FF2B5EF4-FFF2-40B4-BE49-F238E27FC236}">
                  <a16:creationId xmlns:a16="http://schemas.microsoft.com/office/drawing/2014/main" id="{CAC9DAB2-7AFD-8608-9E6B-310FCA9505EB}"/>
                </a:ext>
              </a:extLst>
            </p:cNvPr>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endParaRPr>
                <a:latin typeface="Calibri" panose="020F0502020204030204" pitchFamily="34" charset="0"/>
                <a:cs typeface="Calibri" panose="020F0502020204030204" pitchFamily="34" charset="0"/>
              </a:endParaRPr>
            </a:p>
          </p:txBody>
        </p:sp>
      </p:grpSp>
      <p:sp>
        <p:nvSpPr>
          <p:cNvPr id="5" name="object 5" descr="$PPTXTitle">
            <a:extLst>
              <a:ext uri="{FF2B5EF4-FFF2-40B4-BE49-F238E27FC236}">
                <a16:creationId xmlns:a16="http://schemas.microsoft.com/office/drawing/2014/main" id="{AF0B36CC-08F2-0BDA-A653-F99A2A788C4F}"/>
              </a:ext>
            </a:extLst>
          </p:cNvPr>
          <p:cNvSpPr txBox="1">
            <a:spLocks noGrp="1"/>
          </p:cNvSpPr>
          <p:nvPr>
            <p:ph type="title"/>
          </p:nvPr>
        </p:nvSpPr>
        <p:spPr>
          <a:xfrm>
            <a:off x="1524000" y="1828800"/>
            <a:ext cx="8077200" cy="1120820"/>
          </a:xfrm>
          <a:prstGeom prst="rect">
            <a:avLst/>
          </a:prstGeom>
        </p:spPr>
        <p:txBody>
          <a:bodyPr vert="horz" wrap="square" lIns="0" tIns="12700" rIns="0" bIns="0" rtlCol="0">
            <a:spAutoFit/>
          </a:bodyPr>
          <a:lstStyle/>
          <a:p>
            <a:pPr marL="12700">
              <a:lnSpc>
                <a:spcPct val="100000"/>
              </a:lnSpc>
              <a:spcBef>
                <a:spcPts val="100"/>
              </a:spcBef>
            </a:pPr>
            <a:r>
              <a:rPr lang="en-US" sz="7200" b="0" spc="409" dirty="0">
                <a:solidFill>
                  <a:srgbClr val="FFFFFF"/>
                </a:solidFill>
                <a:latin typeface="Calibri" panose="020F0502020204030204" pitchFamily="34" charset="0"/>
                <a:cs typeface="Calibri" panose="020F0502020204030204" pitchFamily="34" charset="0"/>
              </a:rPr>
              <a:t>Any Question?</a:t>
            </a:r>
            <a:endParaRPr sz="7200" dirty="0">
              <a:latin typeface="Calibri" panose="020F0502020204030204" pitchFamily="34" charset="0"/>
              <a:cs typeface="Calibri" panose="020F0502020204030204" pitchFamily="34" charset="0"/>
            </a:endParaRPr>
          </a:p>
        </p:txBody>
      </p:sp>
      <p:sp>
        <p:nvSpPr>
          <p:cNvPr id="6" name="object 5" descr="$PPTXTitle">
            <a:extLst>
              <a:ext uri="{FF2B5EF4-FFF2-40B4-BE49-F238E27FC236}">
                <a16:creationId xmlns:a16="http://schemas.microsoft.com/office/drawing/2014/main" id="{DC2848A6-DFC7-0E53-9D44-9F46105ED0EA}"/>
              </a:ext>
            </a:extLst>
          </p:cNvPr>
          <p:cNvSpPr txBox="1">
            <a:spLocks/>
          </p:cNvSpPr>
          <p:nvPr/>
        </p:nvSpPr>
        <p:spPr>
          <a:xfrm>
            <a:off x="6871046" y="4595789"/>
            <a:ext cx="5460307" cy="689932"/>
          </a:xfrm>
          <a:prstGeom prst="rect">
            <a:avLst/>
          </a:prstGeom>
        </p:spPr>
        <p:txBody>
          <a:bodyPr vert="horz" wrap="square" lIns="0" tIns="12700" rIns="0" bIns="0" rtlCol="0" anchor="t">
            <a:spAutoFit/>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pPr marL="12700">
              <a:lnSpc>
                <a:spcPct val="100000"/>
              </a:lnSpc>
              <a:spcBef>
                <a:spcPts val="100"/>
              </a:spcBef>
            </a:pPr>
            <a:r>
              <a:rPr lang="en-US" sz="4400" spc="409" dirty="0">
                <a:solidFill>
                  <a:srgbClr val="FFFFFF"/>
                </a:solidFill>
                <a:latin typeface="Calibri" panose="020F0502020204030204" pitchFamily="34" charset="0"/>
                <a:cs typeface="Calibri" panose="020F0502020204030204" pitchFamily="34" charset="0"/>
              </a:rPr>
              <a:t>Thank</a:t>
            </a:r>
            <a:r>
              <a:rPr lang="en-US" sz="4400" spc="295" dirty="0">
                <a:solidFill>
                  <a:srgbClr val="FFFFFF"/>
                </a:solidFill>
                <a:latin typeface="Calibri" panose="020F0502020204030204" pitchFamily="34" charset="0"/>
                <a:cs typeface="Calibri" panose="020F0502020204030204" pitchFamily="34" charset="0"/>
              </a:rPr>
              <a:t> </a:t>
            </a:r>
            <a:r>
              <a:rPr lang="en-US" sz="4400" spc="305" dirty="0">
                <a:solidFill>
                  <a:srgbClr val="FFFFFF"/>
                </a:solidFill>
                <a:latin typeface="Calibri" panose="020F0502020204030204" pitchFamily="34" charset="0"/>
                <a:cs typeface="Calibri" panose="020F0502020204030204" pitchFamily="34" charset="0"/>
              </a:rPr>
              <a:t>You!</a:t>
            </a:r>
            <a:endParaRPr lang="en-US" sz="4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9632732"/>
      </p:ext>
    </p:extLst>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Axis</Template>
  <TotalTime>16687</TotalTime>
  <Words>4921</Words>
  <Application>Microsoft Office PowerPoint</Application>
  <PresentationFormat>Widescreen</PresentationFormat>
  <Paragraphs>681</Paragraphs>
  <Slides>52</Slides>
  <Notes>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1" baseType="lpstr">
      <vt:lpstr>Aptos</vt:lpstr>
      <vt:lpstr>Arial</vt:lpstr>
      <vt:lpstr>Calibri</vt:lpstr>
      <vt:lpstr>Cambria</vt:lpstr>
      <vt:lpstr>Cambria Math</vt:lpstr>
      <vt:lpstr>Neue Haas Grotesk Text Pro</vt:lpstr>
      <vt:lpstr>Wingdings</vt:lpstr>
      <vt:lpstr>Axis</vt:lpstr>
      <vt:lpstr>Worksheet</vt:lpstr>
      <vt:lpstr>Attention &amp; Transformers as the Multimodal Backbone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Self-Attention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Cross-Attention</vt:lpstr>
      <vt:lpstr>PowerPoint Presentation</vt:lpstr>
      <vt:lpstr>PowerPoint Presentation</vt:lpstr>
      <vt:lpstr>PowerPoint Presentation</vt:lpstr>
      <vt:lpstr>PowerPoint Presentation</vt:lpstr>
      <vt:lpstr>PowerPoint Presentation</vt:lpstr>
      <vt:lpstr>From Attention to Transformers</vt:lpstr>
      <vt:lpstr>PowerPoint Presentation</vt:lpstr>
      <vt:lpstr>PowerPoint Presentation</vt:lpstr>
      <vt:lpstr>PowerPoint Presentation</vt:lpstr>
      <vt:lpstr>PowerPoint Presentation</vt:lpstr>
      <vt:lpstr>Transformers Across Modalities</vt:lpstr>
      <vt:lpstr>PowerPoint Presentation</vt:lpstr>
      <vt:lpstr>PowerPoint Presentation</vt:lpstr>
      <vt:lpstr>PowerPoint Presentation</vt:lpstr>
      <vt:lpstr>PowerPoint Presentation</vt:lpstr>
      <vt:lpstr>PowerPoint Presentation</vt:lpstr>
      <vt:lpstr>Transformers for Multimodal AI</vt:lpstr>
      <vt:lpstr>PowerPoint Presentation</vt:lpstr>
      <vt:lpstr>PowerPoint Presentation</vt:lpstr>
      <vt:lpstr>PowerPoint Presentation</vt:lpstr>
      <vt:lpstr>PowerPoint Presentation</vt:lpstr>
      <vt:lpstr>PowerPoint Presentation</vt:lpstr>
      <vt:lpstr>Case Study:  One Transformer Architecture Family Across Modalities</vt:lpstr>
      <vt:lpstr>PowerPoint Presentation</vt:lpstr>
      <vt:lpstr>PowerPoint Presentation</vt:lpstr>
      <vt:lpstr>PowerPoint Presentation</vt:lpstr>
      <vt:lpstr>PowerPoint Presentation</vt:lpstr>
      <vt:lpstr>Any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무함마드칸</cp:lastModifiedBy>
  <cp:revision>15</cp:revision>
  <dcterms:created xsi:type="dcterms:W3CDTF">2026-08-08T12:00:10Z</dcterms:created>
  <dcterms:modified xsi:type="dcterms:W3CDTF">2026-10-01T10:18:25Z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2026-01-11T00:00:00Z</vt:filetime>
  </property>
  <property fmtid="{D5CDD505-2E9C-101B-9397-08002B2CF9AE}" pid="3" name="Creator">
    <vt:lpwstr>Microsoft® PowerPoint® for Microsoft 365</vt:lpwstr>
  </property>
  <property fmtid="{D5CDD505-2E9C-101B-9397-08002B2CF9AE}" pid="4" name="LastSaved">
    <vt:filetime>2026-08-08T00:00:00Z</vt:filetime>
  </property>
  <property fmtid="{D5CDD505-2E9C-101B-9397-08002B2CF9AE}" pid="5" name="Producer">
    <vt:lpwstr>Microsoft® PowerPoint® for Microsoft 365</vt:lpwstr>
  </property>
</Properties>
</file>
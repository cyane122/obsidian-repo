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7"/>
  </p:notesMasterIdLst>
  <p:handoutMasterIdLst>
    <p:handoutMasterId r:id="rId48"/>
  </p:handoutMasterIdLst>
  <p:sldIdLst>
    <p:sldId id="1155" r:id="rId2"/>
    <p:sldId id="1156" r:id="rId3"/>
    <p:sldId id="1157" r:id="rId4"/>
    <p:sldId id="1161" r:id="rId5"/>
    <p:sldId id="1169" r:id="rId6"/>
    <p:sldId id="1158" r:id="rId7"/>
    <p:sldId id="1163" r:id="rId8"/>
    <p:sldId id="1168" r:id="rId9"/>
    <p:sldId id="1167" r:id="rId10"/>
    <p:sldId id="1206" r:id="rId11"/>
    <p:sldId id="1159" r:id="rId12"/>
    <p:sldId id="1172" r:id="rId13"/>
    <p:sldId id="1173" r:id="rId14"/>
    <p:sldId id="1176" r:id="rId15"/>
    <p:sldId id="1177" r:id="rId16"/>
    <p:sldId id="1182" r:id="rId17"/>
    <p:sldId id="1209" r:id="rId18"/>
    <p:sldId id="1160" r:id="rId19"/>
    <p:sldId id="1191" r:id="rId20"/>
    <p:sldId id="1207" r:id="rId21"/>
    <p:sldId id="1192" r:id="rId22"/>
    <p:sldId id="1193" r:id="rId23"/>
    <p:sldId id="1194" r:id="rId24"/>
    <p:sldId id="1201" r:id="rId25"/>
    <p:sldId id="1202" r:id="rId26"/>
    <p:sldId id="1197" r:id="rId27"/>
    <p:sldId id="1198" r:id="rId28"/>
    <p:sldId id="1199" r:id="rId29"/>
    <p:sldId id="1200" r:id="rId30"/>
    <p:sldId id="1195" r:id="rId31"/>
    <p:sldId id="1196" r:id="rId32"/>
    <p:sldId id="1220" r:id="rId33"/>
    <p:sldId id="1210" r:id="rId34"/>
    <p:sldId id="1212" r:id="rId35"/>
    <p:sldId id="1219" r:id="rId36"/>
    <p:sldId id="1218" r:id="rId37"/>
    <p:sldId id="1217" r:id="rId38"/>
    <p:sldId id="1216" r:id="rId39"/>
    <p:sldId id="1215" r:id="rId40"/>
    <p:sldId id="1214" r:id="rId41"/>
    <p:sldId id="1213" r:id="rId42"/>
    <p:sldId id="1171" r:id="rId43"/>
    <p:sldId id="1170" r:id="rId44"/>
    <p:sldId id="1211" r:id="rId45"/>
    <p:sldId id="1203" r:id="rId46"/>
  </p:sldIdLst>
  <p:sldSz cx="9906000" cy="6858000" type="A4"/>
  <p:notesSz cx="7010400" cy="9296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orient="horz" pos="663" userDrawn="1">
          <p15:clr>
            <a:srgbClr val="A4A3A4"/>
          </p15:clr>
        </p15:guide>
        <p15:guide id="3" orient="horz" pos="4020" userDrawn="1">
          <p15:clr>
            <a:srgbClr val="A4A3A4"/>
          </p15:clr>
        </p15:guide>
        <p15:guide id="4" orient="horz" pos="3521" userDrawn="1">
          <p15:clr>
            <a:srgbClr val="A4A3A4"/>
          </p15:clr>
        </p15:guide>
        <p15:guide id="5" orient="horz" pos="1071" userDrawn="1">
          <p15:clr>
            <a:srgbClr val="A4A3A4"/>
          </p15:clr>
        </p15:guide>
        <p15:guide id="6" orient="horz" pos="1842" userDrawn="1">
          <p15:clr>
            <a:srgbClr val="A4A3A4"/>
          </p15:clr>
        </p15:guide>
        <p15:guide id="7" orient="horz" pos="1933" userDrawn="1">
          <p15:clr>
            <a:srgbClr val="A4A3A4"/>
          </p15:clr>
        </p15:guide>
        <p15:guide id="8" orient="horz" pos="1638" userDrawn="1">
          <p15:clr>
            <a:srgbClr val="A4A3A4"/>
          </p15:clr>
        </p15:guide>
        <p15:guide id="9" orient="horz" pos="2614" userDrawn="1">
          <p15:clr>
            <a:srgbClr val="A4A3A4"/>
          </p15:clr>
        </p15:guide>
        <p15:guide id="10" orient="horz" pos="2069" userDrawn="1">
          <p15:clr>
            <a:srgbClr val="A4A3A4"/>
          </p15:clr>
        </p15:guide>
        <p15:guide id="11" orient="horz" pos="845" userDrawn="1">
          <p15:clr>
            <a:srgbClr val="A4A3A4"/>
          </p15:clr>
        </p15:guide>
        <p15:guide id="12" orient="horz" pos="709" userDrawn="1">
          <p15:clr>
            <a:srgbClr val="A4A3A4"/>
          </p15:clr>
        </p15:guide>
        <p15:guide id="13" orient="horz" pos="3861" userDrawn="1">
          <p15:clr>
            <a:srgbClr val="A4A3A4"/>
          </p15:clr>
        </p15:guide>
        <p15:guide id="14" orient="horz" pos="3816" userDrawn="1">
          <p15:clr>
            <a:srgbClr val="A4A3A4"/>
          </p15:clr>
        </p15:guide>
        <p15:guide id="15" orient="horz" pos="1457" userDrawn="1">
          <p15:clr>
            <a:srgbClr val="A4A3A4"/>
          </p15:clr>
        </p15:guide>
        <p15:guide id="16" orient="horz" pos="3317" userDrawn="1">
          <p15:clr>
            <a:srgbClr val="A4A3A4"/>
          </p15:clr>
        </p15:guide>
        <p15:guide id="17" orient="horz" pos="2024" userDrawn="1">
          <p15:clr>
            <a:srgbClr val="A4A3A4"/>
          </p15:clr>
        </p15:guide>
        <p15:guide id="18" orient="horz" pos="1706" userDrawn="1">
          <p15:clr>
            <a:srgbClr val="A4A3A4"/>
          </p15:clr>
        </p15:guide>
        <p15:guide id="19" orient="horz" pos="2568" userDrawn="1">
          <p15:clr>
            <a:srgbClr val="A4A3A4"/>
          </p15:clr>
        </p15:guide>
        <p15:guide id="20" orient="horz" pos="1253" userDrawn="1">
          <p15:clr>
            <a:srgbClr val="A4A3A4"/>
          </p15:clr>
        </p15:guide>
        <p15:guide id="21" orient="horz" pos="2319" userDrawn="1">
          <p15:clr>
            <a:srgbClr val="A4A3A4"/>
          </p15:clr>
        </p15:guide>
        <p15:guide id="22" orient="horz" pos="958" userDrawn="1">
          <p15:clr>
            <a:srgbClr val="A4A3A4"/>
          </p15:clr>
        </p15:guide>
        <p15:guide id="23" orient="horz" pos="1797" userDrawn="1">
          <p15:clr>
            <a:srgbClr val="A4A3A4"/>
          </p15:clr>
        </p15:guide>
        <p15:guide id="24" orient="horz" pos="1366" userDrawn="1">
          <p15:clr>
            <a:srgbClr val="A4A3A4"/>
          </p15:clr>
        </p15:guide>
        <p15:guide id="25" orient="horz" pos="3974" userDrawn="1">
          <p15:clr>
            <a:srgbClr val="A4A3A4"/>
          </p15:clr>
        </p15:guide>
        <p15:guide id="26" orient="horz" pos="3929" userDrawn="1">
          <p15:clr>
            <a:srgbClr val="A4A3A4"/>
          </p15:clr>
        </p15:guide>
        <p15:guide id="27" orient="horz" pos="3203" userDrawn="1">
          <p15:clr>
            <a:srgbClr val="A4A3A4"/>
          </p15:clr>
        </p15:guide>
        <p15:guide id="28" orient="horz" pos="1412" userDrawn="1">
          <p15:clr>
            <a:srgbClr val="A4A3A4"/>
          </p15:clr>
        </p15:guide>
        <p15:guide id="29" orient="horz" pos="2886" userDrawn="1">
          <p15:clr>
            <a:srgbClr val="A4A3A4"/>
          </p15:clr>
        </p15:guide>
        <p15:guide id="30" orient="horz" pos="1956" userDrawn="1">
          <p15:clr>
            <a:srgbClr val="A4A3A4"/>
          </p15:clr>
        </p15:guide>
        <p15:guide id="31" orient="horz" pos="1888" userDrawn="1">
          <p15:clr>
            <a:srgbClr val="A4A3A4"/>
          </p15:clr>
        </p15:guide>
        <p15:guide id="32" orient="horz" pos="1525" userDrawn="1">
          <p15:clr>
            <a:srgbClr val="A4A3A4"/>
          </p15:clr>
        </p15:guide>
        <p15:guide id="33" pos="3120" userDrawn="1">
          <p15:clr>
            <a:srgbClr val="A4A3A4"/>
          </p15:clr>
        </p15:guide>
        <p15:guide id="34" pos="261" userDrawn="1">
          <p15:clr>
            <a:srgbClr val="A4A3A4"/>
          </p15:clr>
        </p15:guide>
        <p15:guide id="35" pos="6068" userDrawn="1">
          <p15:clr>
            <a:srgbClr val="A4A3A4"/>
          </p15:clr>
        </p15:guide>
        <p15:guide id="36" pos="761" userDrawn="1">
          <p15:clr>
            <a:srgbClr val="A4A3A4"/>
          </p15:clr>
        </p15:guide>
        <p15:guide id="37" pos="172" userDrawn="1">
          <p15:clr>
            <a:srgbClr val="A4A3A4"/>
          </p15:clr>
        </p15:guide>
        <p15:guide id="38" pos="5979" userDrawn="1">
          <p15:clr>
            <a:srgbClr val="A4A3A4"/>
          </p15:clr>
        </p15:guide>
        <p15:guide id="39" pos="2893" userDrawn="1">
          <p15:clr>
            <a:srgbClr val="A4A3A4"/>
          </p15:clr>
        </p15:guide>
        <p15:guide id="40" pos="3211" userDrawn="1">
          <p15:clr>
            <a:srgbClr val="A4A3A4"/>
          </p15:clr>
        </p15:guide>
        <p15:guide id="41" pos="3029" userDrawn="1">
          <p15:clr>
            <a:srgbClr val="A4A3A4"/>
          </p15:clr>
        </p15:guide>
        <p15:guide id="42" pos="6023" userDrawn="1">
          <p15:clr>
            <a:srgbClr val="A4A3A4"/>
          </p15:clr>
        </p15:guide>
        <p15:guide id="43" pos="1533" userDrawn="1">
          <p15:clr>
            <a:srgbClr val="A4A3A4"/>
          </p15:clr>
        </p15:guide>
        <p15:guide id="44" pos="5706" userDrawn="1">
          <p15:clr>
            <a:srgbClr val="A4A3A4"/>
          </p15:clr>
        </p15:guide>
        <p15:guide id="45" pos="3165" userDrawn="1">
          <p15:clr>
            <a:srgbClr val="A4A3A4"/>
          </p15:clr>
        </p15:guide>
        <p15:guide id="46" pos="3075" userDrawn="1">
          <p15:clr>
            <a:srgbClr val="A4A3A4"/>
          </p15:clr>
        </p15:guide>
        <p15:guide id="47" pos="2235" userDrawn="1">
          <p15:clr>
            <a:srgbClr val="A4A3A4"/>
          </p15:clr>
        </p15:guide>
        <p15:guide id="48" pos="5932" userDrawn="1">
          <p15:clr>
            <a:srgbClr val="A4A3A4"/>
          </p15:clr>
        </p15:guide>
        <p15:guide id="49" pos="3415" userDrawn="1">
          <p15:clr>
            <a:srgbClr val="A4A3A4"/>
          </p15:clr>
        </p15:guide>
        <p15:guide id="50" pos="5797" userDrawn="1">
          <p15:clr>
            <a:srgbClr val="A4A3A4"/>
          </p15:clr>
        </p15:guide>
        <p15:guide id="51" pos="4209" userDrawn="1">
          <p15:clr>
            <a:srgbClr val="A4A3A4"/>
          </p15:clr>
        </p15:guide>
        <p15:guide id="52" pos="3438" userDrawn="1">
          <p15:clr>
            <a:srgbClr val="A4A3A4"/>
          </p15:clr>
        </p15:guide>
        <p15:guide id="53" pos="5116" userDrawn="1">
          <p15:clr>
            <a:srgbClr val="A4A3A4"/>
          </p15:clr>
        </p15:guide>
        <p15:guide id="54" pos="988" userDrawn="1">
          <p15:clr>
            <a:srgbClr val="A4A3A4"/>
          </p15:clr>
        </p15:guide>
        <p15:guide id="55" pos="2939" userDrawn="1">
          <p15:clr>
            <a:srgbClr val="A4A3A4"/>
          </p15:clr>
        </p15:guide>
        <p15:guide id="56" pos="2984" userDrawn="1">
          <p15:clr>
            <a:srgbClr val="A4A3A4"/>
          </p15:clr>
        </p15:guide>
        <p15:guide id="57" pos="3256" userDrawn="1">
          <p15:clr>
            <a:srgbClr val="A4A3A4"/>
          </p15:clr>
        </p15:guide>
        <p15:guide id="58" pos="3756" userDrawn="1">
          <p15:clr>
            <a:srgbClr val="A4A3A4"/>
          </p15:clr>
        </p15:guide>
        <p15:guide id="59" pos="3665" userDrawn="1">
          <p15:clr>
            <a:srgbClr val="A4A3A4"/>
          </p15:clr>
        </p15:guide>
        <p15:guide id="60" pos="807" userDrawn="1">
          <p15:clr>
            <a:srgbClr val="A4A3A4"/>
          </p15:clr>
        </p15:guide>
        <p15:guide id="61" pos="852" userDrawn="1">
          <p15:clr>
            <a:srgbClr val="A4A3A4"/>
          </p15:clr>
        </p15:guide>
        <p15:guide id="62" pos="1577" userDrawn="1">
          <p15:clr>
            <a:srgbClr val="A4A3A4"/>
          </p15:clr>
        </p15:guide>
        <p15:guide id="63" pos="829" userDrawn="1">
          <p15:clr>
            <a:srgbClr val="A4A3A4"/>
          </p15:clr>
        </p15:guide>
        <p15:guide id="64" pos="352" userDrawn="1">
          <p15:clr>
            <a:srgbClr val="A4A3A4"/>
          </p15:clr>
        </p15:guide>
        <p15:guide id="65" pos="5888" userDrawn="1">
          <p15:clr>
            <a:srgbClr val="A4A3A4"/>
          </p15:clr>
        </p15:guide>
        <p15:guide id="66" pos="3982" userDrawn="1">
          <p15:clr>
            <a:srgbClr val="A4A3A4"/>
          </p15:clr>
        </p15:guide>
        <p15:guide id="67" pos="308" userDrawn="1">
          <p15:clr>
            <a:srgbClr val="A4A3A4"/>
          </p15:clr>
        </p15:guide>
        <p15:guide id="68" pos="1624" userDrawn="1">
          <p15:clr>
            <a:srgbClr val="A4A3A4"/>
          </p15:clr>
        </p15:guide>
        <p15:guide id="69" pos="1715" userDrawn="1">
          <p15:clr>
            <a:srgbClr val="A4A3A4"/>
          </p15:clr>
        </p15:guide>
        <p15:guide id="70" pos="1668" userDrawn="1">
          <p15:clr>
            <a:srgbClr val="A4A3A4"/>
          </p15:clr>
        </p15:guide>
        <p15:guide id="71" pos="5841" userDrawn="1">
          <p15:clr>
            <a:srgbClr val="A4A3A4"/>
          </p15:clr>
        </p15:guide>
        <p15:guide id="72" pos="2666" userDrawn="1">
          <p15:clr>
            <a:srgbClr val="A4A3A4"/>
          </p15:clr>
        </p15:guide>
        <p15:guide id="73" pos="3301" userDrawn="1">
          <p15:clr>
            <a:srgbClr val="A4A3A4"/>
          </p15:clr>
        </p15:guide>
        <p15:guide id="74" pos="3347" userDrawn="1">
          <p15:clr>
            <a:srgbClr val="A4A3A4"/>
          </p15:clr>
        </p15:guide>
        <p15:guide id="75" pos="2393" userDrawn="1">
          <p15:clr>
            <a:srgbClr val="A4A3A4"/>
          </p15:clr>
        </p15:guide>
        <p15:guide id="76" pos="1895" userDrawn="1">
          <p15:clr>
            <a:srgbClr val="A4A3A4"/>
          </p15:clr>
        </p15:guide>
        <p15:guide id="77" pos="5275" userDrawn="1">
          <p15:clr>
            <a:srgbClr val="A4A3A4"/>
          </p15:clr>
        </p15:guide>
        <p15:guide id="78" pos="3936" userDrawn="1">
          <p15:clr>
            <a:srgbClr val="A4A3A4"/>
          </p15:clr>
        </p15:guide>
        <p15:guide id="79" pos="4434" userDrawn="1">
          <p15:clr>
            <a:srgbClr val="A4A3A4"/>
          </p15:clr>
        </p15:guide>
        <p15:guide id="80" pos="20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OOGURI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404040"/>
    <a:srgbClr val="0070C0"/>
    <a:srgbClr val="0000FF"/>
    <a:srgbClr val="33AA50"/>
    <a:srgbClr val="70AC2E"/>
    <a:srgbClr val="76B531"/>
    <a:srgbClr val="B0DD7F"/>
    <a:srgbClr val="537F23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 autoAdjust="0"/>
    <p:restoredTop sz="96445" autoAdjust="0"/>
  </p:normalViewPr>
  <p:slideViewPr>
    <p:cSldViewPr>
      <p:cViewPr varScale="1">
        <p:scale>
          <a:sx n="111" d="100"/>
          <a:sy n="111" d="100"/>
        </p:scale>
        <p:origin x="1050" y="90"/>
      </p:cViewPr>
      <p:guideLst>
        <p:guide orient="horz" pos="2273"/>
        <p:guide orient="horz" pos="663"/>
        <p:guide orient="horz" pos="4020"/>
        <p:guide orient="horz" pos="3521"/>
        <p:guide orient="horz" pos="1071"/>
        <p:guide orient="horz" pos="1842"/>
        <p:guide orient="horz" pos="1933"/>
        <p:guide orient="horz" pos="1638"/>
        <p:guide orient="horz" pos="2614"/>
        <p:guide orient="horz" pos="2069"/>
        <p:guide orient="horz" pos="845"/>
        <p:guide orient="horz" pos="709"/>
        <p:guide orient="horz" pos="3861"/>
        <p:guide orient="horz" pos="3816"/>
        <p:guide orient="horz" pos="1457"/>
        <p:guide orient="horz" pos="3317"/>
        <p:guide orient="horz" pos="2024"/>
        <p:guide orient="horz" pos="1706"/>
        <p:guide orient="horz" pos="2568"/>
        <p:guide orient="horz" pos="1253"/>
        <p:guide orient="horz" pos="2319"/>
        <p:guide orient="horz" pos="958"/>
        <p:guide orient="horz" pos="1797"/>
        <p:guide orient="horz" pos="1366"/>
        <p:guide orient="horz" pos="3974"/>
        <p:guide orient="horz" pos="3929"/>
        <p:guide orient="horz" pos="3203"/>
        <p:guide orient="horz" pos="1412"/>
        <p:guide orient="horz" pos="2886"/>
        <p:guide orient="horz" pos="1956"/>
        <p:guide orient="horz" pos="1888"/>
        <p:guide orient="horz" pos="1525"/>
        <p:guide pos="3120"/>
        <p:guide pos="261"/>
        <p:guide pos="6068"/>
        <p:guide pos="761"/>
        <p:guide pos="172"/>
        <p:guide pos="5979"/>
        <p:guide pos="2893"/>
        <p:guide pos="3211"/>
        <p:guide pos="3029"/>
        <p:guide pos="6023"/>
        <p:guide pos="1533"/>
        <p:guide pos="5706"/>
        <p:guide pos="3165"/>
        <p:guide pos="3075"/>
        <p:guide pos="2235"/>
        <p:guide pos="5932"/>
        <p:guide pos="3415"/>
        <p:guide pos="5797"/>
        <p:guide pos="4209"/>
        <p:guide pos="3438"/>
        <p:guide pos="5116"/>
        <p:guide pos="988"/>
        <p:guide pos="2939"/>
        <p:guide pos="2984"/>
        <p:guide pos="3256"/>
        <p:guide pos="3756"/>
        <p:guide pos="3665"/>
        <p:guide pos="807"/>
        <p:guide pos="852"/>
        <p:guide pos="1577"/>
        <p:guide pos="829"/>
        <p:guide pos="352"/>
        <p:guide pos="5888"/>
        <p:guide pos="3982"/>
        <p:guide pos="308"/>
        <p:guide pos="1624"/>
        <p:guide pos="1715"/>
        <p:guide pos="1668"/>
        <p:guide pos="5841"/>
        <p:guide pos="2666"/>
        <p:guide pos="3301"/>
        <p:guide pos="3347"/>
        <p:guide pos="2393"/>
        <p:guide pos="1895"/>
        <p:guide pos="5275"/>
        <p:guide pos="3936"/>
        <p:guide pos="4434"/>
        <p:guide pos="2031"/>
      </p:guideLst>
    </p:cSldViewPr>
  </p:slideViewPr>
  <p:outlineViewPr>
    <p:cViewPr>
      <p:scale>
        <a:sx n="33" d="100"/>
        <a:sy n="33" d="100"/>
      </p:scale>
      <p:origin x="0" y="496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EEF682-5F0A-4E9E-B1F1-A75D74758759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934075-A017-446E-9CC9-205FD032807C}">
      <dgm:prSet/>
      <dgm:spPr/>
      <dgm:t>
        <a:bodyPr/>
        <a:lstStyle/>
        <a:p>
          <a:pPr rtl="0"/>
          <a:r>
            <a:rPr lang="en-US" dirty="0"/>
            <a:t>Challenges of baby monitoring application are highlighted.</a:t>
          </a:r>
        </a:p>
      </dgm:t>
    </dgm:pt>
    <dgm:pt modelId="{F0C440E6-0BB2-4DBE-92E9-A4B053FF3B61}" type="parTrans" cxnId="{6BDB8991-CED4-4DD7-BF26-81FA4B9B981B}">
      <dgm:prSet/>
      <dgm:spPr/>
      <dgm:t>
        <a:bodyPr/>
        <a:lstStyle/>
        <a:p>
          <a:endParaRPr lang="en-US"/>
        </a:p>
      </dgm:t>
    </dgm:pt>
    <dgm:pt modelId="{8CCB564D-6457-4968-8B68-07E6A12FFE50}" type="sibTrans" cxnId="{6BDB8991-CED4-4DD7-BF26-81FA4B9B981B}">
      <dgm:prSet/>
      <dgm:spPr/>
      <dgm:t>
        <a:bodyPr/>
        <a:lstStyle/>
        <a:p>
          <a:endParaRPr lang="en-US"/>
        </a:p>
      </dgm:t>
    </dgm:pt>
    <dgm:pt modelId="{05078E47-1D4C-4765-8D77-A314FC25E81E}">
      <dgm:prSet/>
      <dgm:spPr/>
      <dgm:t>
        <a:bodyPr/>
        <a:lstStyle/>
        <a:p>
          <a:pPr rtl="0"/>
          <a:r>
            <a:rPr lang="en-US" dirty="0"/>
            <a:t>Videos dataset is created, having 27 videos.</a:t>
          </a:r>
        </a:p>
      </dgm:t>
    </dgm:pt>
    <dgm:pt modelId="{C01B6FBB-17F0-488B-AC32-98C197930858}" type="parTrans" cxnId="{7D09E3F8-33B4-42B3-97A1-F96BE2301F2B}">
      <dgm:prSet/>
      <dgm:spPr/>
      <dgm:t>
        <a:bodyPr/>
        <a:lstStyle/>
        <a:p>
          <a:endParaRPr lang="en-US"/>
        </a:p>
      </dgm:t>
    </dgm:pt>
    <dgm:pt modelId="{F4C5908A-CA20-4D06-83AB-BC326C674136}" type="sibTrans" cxnId="{7D09E3F8-33B4-42B3-97A1-F96BE2301F2B}">
      <dgm:prSet/>
      <dgm:spPr/>
      <dgm:t>
        <a:bodyPr/>
        <a:lstStyle/>
        <a:p>
          <a:endParaRPr lang="en-US"/>
        </a:p>
      </dgm:t>
    </dgm:pt>
    <dgm:pt modelId="{FD39B604-1613-40AC-94A1-2973FAFF6D28}">
      <dgm:prSet/>
      <dgm:spPr/>
      <dgm:t>
        <a:bodyPr/>
        <a:lstStyle/>
        <a:p>
          <a:pPr rtl="0"/>
          <a:r>
            <a:rPr lang="en-US" dirty="0"/>
            <a:t>Four different motion detection methods are implemented and their performance using the dataset is investigated.</a:t>
          </a:r>
        </a:p>
      </dgm:t>
    </dgm:pt>
    <dgm:pt modelId="{D459484C-55E9-40E8-AE59-DBA98B1F2768}" type="parTrans" cxnId="{3CFE32CD-C831-4497-A82C-672B145F13DC}">
      <dgm:prSet/>
      <dgm:spPr/>
      <dgm:t>
        <a:bodyPr/>
        <a:lstStyle/>
        <a:p>
          <a:endParaRPr lang="en-US"/>
        </a:p>
      </dgm:t>
    </dgm:pt>
    <dgm:pt modelId="{CDF9D1DB-D420-4A28-AB03-1E4AF1D4D6A7}" type="sibTrans" cxnId="{3CFE32CD-C831-4497-A82C-672B145F13DC}">
      <dgm:prSet/>
      <dgm:spPr/>
      <dgm:t>
        <a:bodyPr/>
        <a:lstStyle/>
        <a:p>
          <a:endParaRPr lang="en-US"/>
        </a:p>
      </dgm:t>
    </dgm:pt>
    <dgm:pt modelId="{1E2D8421-3E10-4F2A-A577-50510B8A3F27}">
      <dgm:prSet/>
      <dgm:spPr/>
      <dgm:t>
        <a:bodyPr/>
        <a:lstStyle/>
        <a:p>
          <a:pPr rtl="0"/>
          <a:r>
            <a:rPr lang="en-US" dirty="0"/>
            <a:t>Frame difference-based method has worst results while optical flow method shows average results.</a:t>
          </a:r>
        </a:p>
      </dgm:t>
    </dgm:pt>
    <dgm:pt modelId="{53803472-7E1F-494A-BCEB-B05CF59BCF34}" type="parTrans" cxnId="{DEACD498-ACB9-4806-A828-5489E29C53BB}">
      <dgm:prSet/>
      <dgm:spPr/>
      <dgm:t>
        <a:bodyPr/>
        <a:lstStyle/>
        <a:p>
          <a:endParaRPr lang="en-US"/>
        </a:p>
      </dgm:t>
    </dgm:pt>
    <dgm:pt modelId="{51F6DEA7-6C55-4B3D-9ECD-C1D0AC7D9D68}" type="sibTrans" cxnId="{DEACD498-ACB9-4806-A828-5489E29C53BB}">
      <dgm:prSet/>
      <dgm:spPr/>
      <dgm:t>
        <a:bodyPr/>
        <a:lstStyle/>
        <a:p>
          <a:endParaRPr lang="en-US"/>
        </a:p>
      </dgm:t>
    </dgm:pt>
    <dgm:pt modelId="{2ABF6568-E482-42A2-B35C-84334254E016}">
      <dgm:prSet/>
      <dgm:spPr/>
      <dgm:t>
        <a:bodyPr/>
        <a:lstStyle/>
        <a:p>
          <a:pPr rtl="0"/>
          <a:r>
            <a:rPr lang="en-US" dirty="0"/>
            <a:t>Hybrid method is best and recommended for baby monitoring as verified from experiments.</a:t>
          </a:r>
        </a:p>
      </dgm:t>
    </dgm:pt>
    <dgm:pt modelId="{EA4B78B7-8D8E-44F0-BF0D-76DFFCC04FEA}" type="parTrans" cxnId="{6442908E-3EB8-4C6A-8169-272BC90AD54E}">
      <dgm:prSet/>
      <dgm:spPr/>
      <dgm:t>
        <a:bodyPr/>
        <a:lstStyle/>
        <a:p>
          <a:endParaRPr lang="en-US"/>
        </a:p>
      </dgm:t>
    </dgm:pt>
    <dgm:pt modelId="{0AA2014C-2D40-4430-AE9B-2BB42DA356BA}" type="sibTrans" cxnId="{6442908E-3EB8-4C6A-8169-272BC90AD54E}">
      <dgm:prSet/>
      <dgm:spPr/>
      <dgm:t>
        <a:bodyPr/>
        <a:lstStyle/>
        <a:p>
          <a:endParaRPr lang="en-US"/>
        </a:p>
      </dgm:t>
    </dgm:pt>
    <dgm:pt modelId="{09155A78-9122-46F1-A19E-2C9613654141}">
      <dgm:prSet/>
      <dgm:spPr/>
      <dgm:t>
        <a:bodyPr/>
        <a:lstStyle/>
        <a:p>
          <a:pPr rtl="0"/>
          <a:r>
            <a:rPr lang="en-US" dirty="0"/>
            <a:t>Detailed</a:t>
          </a:r>
          <a:r>
            <a:rPr lang="en-US" baseline="0" dirty="0"/>
            <a:t> behavior analysis of baby based on the motion of baby</a:t>
          </a:r>
          <a:r>
            <a:rPr lang="en-US" dirty="0"/>
            <a:t>.</a:t>
          </a:r>
        </a:p>
      </dgm:t>
    </dgm:pt>
    <dgm:pt modelId="{B738148A-8801-4B29-88C7-655EB3977978}" type="parTrans" cxnId="{75DB9EF1-CE16-4CC9-8CC4-C4D7320E0BBB}">
      <dgm:prSet/>
      <dgm:spPr/>
      <dgm:t>
        <a:bodyPr/>
        <a:lstStyle/>
        <a:p>
          <a:endParaRPr lang="en-US"/>
        </a:p>
      </dgm:t>
    </dgm:pt>
    <dgm:pt modelId="{87028C22-BDCD-49CB-B7E7-06CBF7342B4E}" type="sibTrans" cxnId="{75DB9EF1-CE16-4CC9-8CC4-C4D7320E0BBB}">
      <dgm:prSet/>
      <dgm:spPr/>
      <dgm:t>
        <a:bodyPr/>
        <a:lstStyle/>
        <a:p>
          <a:endParaRPr lang="en-US"/>
        </a:p>
      </dgm:t>
    </dgm:pt>
    <dgm:pt modelId="{08BC70AD-048C-4BA9-BA05-30B900047B6C}">
      <dgm:prSet/>
      <dgm:spPr/>
      <dgm:t>
        <a:bodyPr/>
        <a:lstStyle/>
        <a:p>
          <a:pPr rtl="0"/>
          <a:r>
            <a:rPr lang="en-US" dirty="0"/>
            <a:t>Future work will focus on extension of dataset in terms of number of videos, scenarios, and challenges.</a:t>
          </a:r>
        </a:p>
      </dgm:t>
    </dgm:pt>
    <dgm:pt modelId="{34DDB32D-5C1E-4E4D-8E71-8307CD039B96}" type="parTrans" cxnId="{CE5D6124-2BD3-4B14-87D6-FB494938B651}">
      <dgm:prSet/>
      <dgm:spPr/>
      <dgm:t>
        <a:bodyPr/>
        <a:lstStyle/>
        <a:p>
          <a:endParaRPr lang="en-US"/>
        </a:p>
      </dgm:t>
    </dgm:pt>
    <dgm:pt modelId="{5401162D-0DEC-47E2-99D9-61ED96CA7590}" type="sibTrans" cxnId="{CE5D6124-2BD3-4B14-87D6-FB494938B651}">
      <dgm:prSet/>
      <dgm:spPr/>
      <dgm:t>
        <a:bodyPr/>
        <a:lstStyle/>
        <a:p>
          <a:endParaRPr lang="en-US"/>
        </a:p>
      </dgm:t>
    </dgm:pt>
    <dgm:pt modelId="{8869F33E-BD01-4F5D-A61E-3BA7551660DF}">
      <dgm:prSet/>
      <dgm:spPr/>
      <dgm:t>
        <a:bodyPr/>
        <a:lstStyle/>
        <a:p>
          <a:pPr rtl="0"/>
          <a:r>
            <a:rPr lang="en-US" dirty="0"/>
            <a:t>The hybrid method is comparatively computationally expensive.</a:t>
          </a:r>
        </a:p>
      </dgm:t>
    </dgm:pt>
    <dgm:pt modelId="{830B28ED-1575-4ADC-9803-F280E8C5A637}" type="parTrans" cxnId="{702DFFB5-028E-49DC-926F-13954EA63B4D}">
      <dgm:prSet/>
      <dgm:spPr/>
      <dgm:t>
        <a:bodyPr/>
        <a:lstStyle/>
        <a:p>
          <a:endParaRPr lang="en-US"/>
        </a:p>
      </dgm:t>
    </dgm:pt>
    <dgm:pt modelId="{DEE2D089-88FF-4D42-A894-6D45392C108C}" type="sibTrans" cxnId="{702DFFB5-028E-49DC-926F-13954EA63B4D}">
      <dgm:prSet/>
      <dgm:spPr/>
      <dgm:t>
        <a:bodyPr/>
        <a:lstStyle/>
        <a:p>
          <a:endParaRPr lang="en-US"/>
        </a:p>
      </dgm:t>
    </dgm:pt>
    <dgm:pt modelId="{AAF3A164-1CD1-4795-9D74-645E39C96018}" type="pres">
      <dgm:prSet presAssocID="{ECEEF682-5F0A-4E9E-B1F1-A75D74758759}" presName="linear" presStyleCnt="0">
        <dgm:presLayoutVars>
          <dgm:animLvl val="lvl"/>
          <dgm:resizeHandles val="exact"/>
        </dgm:presLayoutVars>
      </dgm:prSet>
      <dgm:spPr/>
    </dgm:pt>
    <dgm:pt modelId="{E88EA6DE-02CA-4335-A7D1-FFA233F2BBB8}" type="pres">
      <dgm:prSet presAssocID="{82934075-A017-446E-9CC9-205FD032807C}" presName="parentText" presStyleLbl="node1" presStyleIdx="0" presStyleCnt="8" custScaleY="157860">
        <dgm:presLayoutVars>
          <dgm:chMax val="0"/>
          <dgm:bulletEnabled val="1"/>
        </dgm:presLayoutVars>
      </dgm:prSet>
      <dgm:spPr/>
    </dgm:pt>
    <dgm:pt modelId="{3EA43421-AB7C-442E-8B49-B3BD1E3D3918}" type="pres">
      <dgm:prSet presAssocID="{8CCB564D-6457-4968-8B68-07E6A12FFE50}" presName="spacer" presStyleCnt="0"/>
      <dgm:spPr/>
    </dgm:pt>
    <dgm:pt modelId="{20B41191-01B6-42E3-9C7C-279EEBF9CA2D}" type="pres">
      <dgm:prSet presAssocID="{05078E47-1D4C-4765-8D77-A314FC25E81E}" presName="parentText" presStyleLbl="node1" presStyleIdx="1" presStyleCnt="8" custScaleY="164150">
        <dgm:presLayoutVars>
          <dgm:chMax val="0"/>
          <dgm:bulletEnabled val="1"/>
        </dgm:presLayoutVars>
      </dgm:prSet>
      <dgm:spPr/>
    </dgm:pt>
    <dgm:pt modelId="{FA5AAAAD-4E86-46CB-8DA9-BC68C29DB023}" type="pres">
      <dgm:prSet presAssocID="{F4C5908A-CA20-4D06-83AB-BC326C674136}" presName="spacer" presStyleCnt="0"/>
      <dgm:spPr/>
    </dgm:pt>
    <dgm:pt modelId="{C83DE9FC-05BB-44A4-8696-7066C4E0E947}" type="pres">
      <dgm:prSet presAssocID="{FD39B604-1613-40AC-94A1-2973FAFF6D28}" presName="parentText" presStyleLbl="node1" presStyleIdx="2" presStyleCnt="8" custScaleY="192498">
        <dgm:presLayoutVars>
          <dgm:chMax val="0"/>
          <dgm:bulletEnabled val="1"/>
        </dgm:presLayoutVars>
      </dgm:prSet>
      <dgm:spPr/>
    </dgm:pt>
    <dgm:pt modelId="{BC2462EF-EE73-4902-8407-3627B9FE2D1E}" type="pres">
      <dgm:prSet presAssocID="{CDF9D1DB-D420-4A28-AB03-1E4AF1D4D6A7}" presName="spacer" presStyleCnt="0"/>
      <dgm:spPr/>
    </dgm:pt>
    <dgm:pt modelId="{DCF3636B-F190-4CF5-98F6-23B07AD06CFA}" type="pres">
      <dgm:prSet presAssocID="{1E2D8421-3E10-4F2A-A577-50510B8A3F27}" presName="parentText" presStyleLbl="node1" presStyleIdx="3" presStyleCnt="8" custScaleY="174449">
        <dgm:presLayoutVars>
          <dgm:chMax val="0"/>
          <dgm:bulletEnabled val="1"/>
        </dgm:presLayoutVars>
      </dgm:prSet>
      <dgm:spPr/>
    </dgm:pt>
    <dgm:pt modelId="{A0554F74-630F-40B0-8BFF-FB546E128196}" type="pres">
      <dgm:prSet presAssocID="{51F6DEA7-6C55-4B3D-9ECD-C1D0AC7D9D68}" presName="spacer" presStyleCnt="0"/>
      <dgm:spPr/>
    </dgm:pt>
    <dgm:pt modelId="{A51CBB71-B54A-40F3-B7F2-8650F1EEFEA0}" type="pres">
      <dgm:prSet presAssocID="{2ABF6568-E482-42A2-B35C-84334254E016}" presName="parentText" presStyleLbl="node1" presStyleIdx="4" presStyleCnt="8" custScaleY="159750">
        <dgm:presLayoutVars>
          <dgm:chMax val="0"/>
          <dgm:bulletEnabled val="1"/>
        </dgm:presLayoutVars>
      </dgm:prSet>
      <dgm:spPr/>
    </dgm:pt>
    <dgm:pt modelId="{B90779AE-ACF8-480D-AFA7-F75A405A2BCC}" type="pres">
      <dgm:prSet presAssocID="{0AA2014C-2D40-4430-AE9B-2BB42DA356BA}" presName="spacer" presStyleCnt="0"/>
      <dgm:spPr/>
    </dgm:pt>
    <dgm:pt modelId="{0DF95E96-7336-4293-86A2-5528151FE5D7}" type="pres">
      <dgm:prSet presAssocID="{8869F33E-BD01-4F5D-A61E-3BA7551660DF}" presName="parentText" presStyleLbl="node1" presStyleIdx="5" presStyleCnt="8" custScaleY="159750">
        <dgm:presLayoutVars>
          <dgm:chMax val="0"/>
          <dgm:bulletEnabled val="1"/>
        </dgm:presLayoutVars>
      </dgm:prSet>
      <dgm:spPr/>
    </dgm:pt>
    <dgm:pt modelId="{3279C501-DF43-40BD-9C5F-D7FAAE23CFEB}" type="pres">
      <dgm:prSet presAssocID="{DEE2D089-88FF-4D42-A894-6D45392C108C}" presName="spacer" presStyleCnt="0"/>
      <dgm:spPr/>
    </dgm:pt>
    <dgm:pt modelId="{3A85C370-DCC6-4DC0-AE0E-5D3830707714}" type="pres">
      <dgm:prSet presAssocID="{09155A78-9122-46F1-A19E-2C9613654141}" presName="parentText" presStyleLbl="node1" presStyleIdx="6" presStyleCnt="8" custScaleY="159750">
        <dgm:presLayoutVars>
          <dgm:chMax val="0"/>
          <dgm:bulletEnabled val="1"/>
        </dgm:presLayoutVars>
      </dgm:prSet>
      <dgm:spPr/>
    </dgm:pt>
    <dgm:pt modelId="{C3DD8DD0-8ABF-458C-95CC-77F2FB687057}" type="pres">
      <dgm:prSet presAssocID="{87028C22-BDCD-49CB-B7E7-06CBF7342B4E}" presName="spacer" presStyleCnt="0"/>
      <dgm:spPr/>
    </dgm:pt>
    <dgm:pt modelId="{EAD0489D-D405-4F83-8482-6362D5BE1331}" type="pres">
      <dgm:prSet presAssocID="{08BC70AD-048C-4BA9-BA05-30B900047B6C}" presName="parentText" presStyleLbl="node1" presStyleIdx="7" presStyleCnt="8" custScaleY="159750">
        <dgm:presLayoutVars>
          <dgm:chMax val="0"/>
          <dgm:bulletEnabled val="1"/>
        </dgm:presLayoutVars>
      </dgm:prSet>
      <dgm:spPr/>
    </dgm:pt>
  </dgm:ptLst>
  <dgm:cxnLst>
    <dgm:cxn modelId="{E96B3C05-6AAC-4692-8B4B-BD7D129FEC7D}" type="presOf" srcId="{FD39B604-1613-40AC-94A1-2973FAFF6D28}" destId="{C83DE9FC-05BB-44A4-8696-7066C4E0E947}" srcOrd="0" destOrd="0" presId="urn:microsoft.com/office/officeart/2005/8/layout/vList2"/>
    <dgm:cxn modelId="{CE5D6124-2BD3-4B14-87D6-FB494938B651}" srcId="{ECEEF682-5F0A-4E9E-B1F1-A75D74758759}" destId="{08BC70AD-048C-4BA9-BA05-30B900047B6C}" srcOrd="7" destOrd="0" parTransId="{34DDB32D-5C1E-4E4D-8E71-8307CD039B96}" sibTransId="{5401162D-0DEC-47E2-99D9-61ED96CA7590}"/>
    <dgm:cxn modelId="{66CF4D30-9769-4392-A044-6FEE48626D3B}" type="presOf" srcId="{05078E47-1D4C-4765-8D77-A314FC25E81E}" destId="{20B41191-01B6-42E3-9C7C-279EEBF9CA2D}" srcOrd="0" destOrd="0" presId="urn:microsoft.com/office/officeart/2005/8/layout/vList2"/>
    <dgm:cxn modelId="{32776375-E01A-45AC-8CF8-B9CE273CB59E}" type="presOf" srcId="{09155A78-9122-46F1-A19E-2C9613654141}" destId="{3A85C370-DCC6-4DC0-AE0E-5D3830707714}" srcOrd="0" destOrd="0" presId="urn:microsoft.com/office/officeart/2005/8/layout/vList2"/>
    <dgm:cxn modelId="{6442908E-3EB8-4C6A-8169-272BC90AD54E}" srcId="{ECEEF682-5F0A-4E9E-B1F1-A75D74758759}" destId="{2ABF6568-E482-42A2-B35C-84334254E016}" srcOrd="4" destOrd="0" parTransId="{EA4B78B7-8D8E-44F0-BF0D-76DFFCC04FEA}" sibTransId="{0AA2014C-2D40-4430-AE9B-2BB42DA356BA}"/>
    <dgm:cxn modelId="{6BDB8991-CED4-4DD7-BF26-81FA4B9B981B}" srcId="{ECEEF682-5F0A-4E9E-B1F1-A75D74758759}" destId="{82934075-A017-446E-9CC9-205FD032807C}" srcOrd="0" destOrd="0" parTransId="{F0C440E6-0BB2-4DBE-92E9-A4B053FF3B61}" sibTransId="{8CCB564D-6457-4968-8B68-07E6A12FFE50}"/>
    <dgm:cxn modelId="{DEACD498-ACB9-4806-A828-5489E29C53BB}" srcId="{ECEEF682-5F0A-4E9E-B1F1-A75D74758759}" destId="{1E2D8421-3E10-4F2A-A577-50510B8A3F27}" srcOrd="3" destOrd="0" parTransId="{53803472-7E1F-494A-BCEB-B05CF59BCF34}" sibTransId="{51F6DEA7-6C55-4B3D-9ECD-C1D0AC7D9D68}"/>
    <dgm:cxn modelId="{D862AB99-3AF0-4400-AC56-4BC502721D81}" type="presOf" srcId="{8869F33E-BD01-4F5D-A61E-3BA7551660DF}" destId="{0DF95E96-7336-4293-86A2-5528151FE5D7}" srcOrd="0" destOrd="0" presId="urn:microsoft.com/office/officeart/2005/8/layout/vList2"/>
    <dgm:cxn modelId="{CA939CA0-5AE3-45EE-9BF6-1FD832D02D32}" type="presOf" srcId="{2ABF6568-E482-42A2-B35C-84334254E016}" destId="{A51CBB71-B54A-40F3-B7F2-8650F1EEFEA0}" srcOrd="0" destOrd="0" presId="urn:microsoft.com/office/officeart/2005/8/layout/vList2"/>
    <dgm:cxn modelId="{F85A6FA2-F047-4620-BE1B-51EE28BF54AC}" type="presOf" srcId="{1E2D8421-3E10-4F2A-A577-50510B8A3F27}" destId="{DCF3636B-F190-4CF5-98F6-23B07AD06CFA}" srcOrd="0" destOrd="0" presId="urn:microsoft.com/office/officeart/2005/8/layout/vList2"/>
    <dgm:cxn modelId="{702DFFB5-028E-49DC-926F-13954EA63B4D}" srcId="{ECEEF682-5F0A-4E9E-B1F1-A75D74758759}" destId="{8869F33E-BD01-4F5D-A61E-3BA7551660DF}" srcOrd="5" destOrd="0" parTransId="{830B28ED-1575-4ADC-9803-F280E8C5A637}" sibTransId="{DEE2D089-88FF-4D42-A894-6D45392C108C}"/>
    <dgm:cxn modelId="{B4B71DB8-FCFB-4650-8CE3-BF8E87142766}" type="presOf" srcId="{08BC70AD-048C-4BA9-BA05-30B900047B6C}" destId="{EAD0489D-D405-4F83-8482-6362D5BE1331}" srcOrd="0" destOrd="0" presId="urn:microsoft.com/office/officeart/2005/8/layout/vList2"/>
    <dgm:cxn modelId="{E3B991C4-5BA2-4430-945F-C44026AAD63C}" type="presOf" srcId="{ECEEF682-5F0A-4E9E-B1F1-A75D74758759}" destId="{AAF3A164-1CD1-4795-9D74-645E39C96018}" srcOrd="0" destOrd="0" presId="urn:microsoft.com/office/officeart/2005/8/layout/vList2"/>
    <dgm:cxn modelId="{3CFE32CD-C831-4497-A82C-672B145F13DC}" srcId="{ECEEF682-5F0A-4E9E-B1F1-A75D74758759}" destId="{FD39B604-1613-40AC-94A1-2973FAFF6D28}" srcOrd="2" destOrd="0" parTransId="{D459484C-55E9-40E8-AE59-DBA98B1F2768}" sibTransId="{CDF9D1DB-D420-4A28-AB03-1E4AF1D4D6A7}"/>
    <dgm:cxn modelId="{74A825D0-16E3-4518-A9BD-183070DF7749}" type="presOf" srcId="{82934075-A017-446E-9CC9-205FD032807C}" destId="{E88EA6DE-02CA-4335-A7D1-FFA233F2BBB8}" srcOrd="0" destOrd="0" presId="urn:microsoft.com/office/officeart/2005/8/layout/vList2"/>
    <dgm:cxn modelId="{75DB9EF1-CE16-4CC9-8CC4-C4D7320E0BBB}" srcId="{ECEEF682-5F0A-4E9E-B1F1-A75D74758759}" destId="{09155A78-9122-46F1-A19E-2C9613654141}" srcOrd="6" destOrd="0" parTransId="{B738148A-8801-4B29-88C7-655EB3977978}" sibTransId="{87028C22-BDCD-49CB-B7E7-06CBF7342B4E}"/>
    <dgm:cxn modelId="{7D09E3F8-33B4-42B3-97A1-F96BE2301F2B}" srcId="{ECEEF682-5F0A-4E9E-B1F1-A75D74758759}" destId="{05078E47-1D4C-4765-8D77-A314FC25E81E}" srcOrd="1" destOrd="0" parTransId="{C01B6FBB-17F0-488B-AC32-98C197930858}" sibTransId="{F4C5908A-CA20-4D06-83AB-BC326C674136}"/>
    <dgm:cxn modelId="{820183BA-176E-4C29-A5AB-4A7C5C50C55E}" type="presParOf" srcId="{AAF3A164-1CD1-4795-9D74-645E39C96018}" destId="{E88EA6DE-02CA-4335-A7D1-FFA233F2BBB8}" srcOrd="0" destOrd="0" presId="urn:microsoft.com/office/officeart/2005/8/layout/vList2"/>
    <dgm:cxn modelId="{F14EB86E-911F-43B1-B834-B91007E61919}" type="presParOf" srcId="{AAF3A164-1CD1-4795-9D74-645E39C96018}" destId="{3EA43421-AB7C-442E-8B49-B3BD1E3D3918}" srcOrd="1" destOrd="0" presId="urn:microsoft.com/office/officeart/2005/8/layout/vList2"/>
    <dgm:cxn modelId="{08A03892-9772-4604-985D-669EFE02CFE8}" type="presParOf" srcId="{AAF3A164-1CD1-4795-9D74-645E39C96018}" destId="{20B41191-01B6-42E3-9C7C-279EEBF9CA2D}" srcOrd="2" destOrd="0" presId="urn:microsoft.com/office/officeart/2005/8/layout/vList2"/>
    <dgm:cxn modelId="{A30AE08B-21D2-4363-9DF8-A1C9909FB420}" type="presParOf" srcId="{AAF3A164-1CD1-4795-9D74-645E39C96018}" destId="{FA5AAAAD-4E86-46CB-8DA9-BC68C29DB023}" srcOrd="3" destOrd="0" presId="urn:microsoft.com/office/officeart/2005/8/layout/vList2"/>
    <dgm:cxn modelId="{282D7902-3DE8-4A92-9B63-9C0321A7472B}" type="presParOf" srcId="{AAF3A164-1CD1-4795-9D74-645E39C96018}" destId="{C83DE9FC-05BB-44A4-8696-7066C4E0E947}" srcOrd="4" destOrd="0" presId="urn:microsoft.com/office/officeart/2005/8/layout/vList2"/>
    <dgm:cxn modelId="{FC0FC291-8A6C-442C-B0AB-F669EC1B2297}" type="presParOf" srcId="{AAF3A164-1CD1-4795-9D74-645E39C96018}" destId="{BC2462EF-EE73-4902-8407-3627B9FE2D1E}" srcOrd="5" destOrd="0" presId="urn:microsoft.com/office/officeart/2005/8/layout/vList2"/>
    <dgm:cxn modelId="{F698B390-C777-4EC5-82CE-EA18BA5F705D}" type="presParOf" srcId="{AAF3A164-1CD1-4795-9D74-645E39C96018}" destId="{DCF3636B-F190-4CF5-98F6-23B07AD06CFA}" srcOrd="6" destOrd="0" presId="urn:microsoft.com/office/officeart/2005/8/layout/vList2"/>
    <dgm:cxn modelId="{FA494EE1-A2F5-492E-BF07-B6C2852F3514}" type="presParOf" srcId="{AAF3A164-1CD1-4795-9D74-645E39C96018}" destId="{A0554F74-630F-40B0-8BFF-FB546E128196}" srcOrd="7" destOrd="0" presId="urn:microsoft.com/office/officeart/2005/8/layout/vList2"/>
    <dgm:cxn modelId="{52FDED11-F840-48F3-B560-3AF368A4E141}" type="presParOf" srcId="{AAF3A164-1CD1-4795-9D74-645E39C96018}" destId="{A51CBB71-B54A-40F3-B7F2-8650F1EEFEA0}" srcOrd="8" destOrd="0" presId="urn:microsoft.com/office/officeart/2005/8/layout/vList2"/>
    <dgm:cxn modelId="{EAA1C2C7-7583-4A8F-9B05-B4161A74745F}" type="presParOf" srcId="{AAF3A164-1CD1-4795-9D74-645E39C96018}" destId="{B90779AE-ACF8-480D-AFA7-F75A405A2BCC}" srcOrd="9" destOrd="0" presId="urn:microsoft.com/office/officeart/2005/8/layout/vList2"/>
    <dgm:cxn modelId="{05D8D8BC-EAD8-4789-8403-B76B2A969829}" type="presParOf" srcId="{AAF3A164-1CD1-4795-9D74-645E39C96018}" destId="{0DF95E96-7336-4293-86A2-5528151FE5D7}" srcOrd="10" destOrd="0" presId="urn:microsoft.com/office/officeart/2005/8/layout/vList2"/>
    <dgm:cxn modelId="{1B711F67-9C1D-4AA5-AD7A-6E4560B054D3}" type="presParOf" srcId="{AAF3A164-1CD1-4795-9D74-645E39C96018}" destId="{3279C501-DF43-40BD-9C5F-D7FAAE23CFEB}" srcOrd="11" destOrd="0" presId="urn:microsoft.com/office/officeart/2005/8/layout/vList2"/>
    <dgm:cxn modelId="{23373A21-D273-4BD4-A25D-0F6FEE34E79F}" type="presParOf" srcId="{AAF3A164-1CD1-4795-9D74-645E39C96018}" destId="{3A85C370-DCC6-4DC0-AE0E-5D3830707714}" srcOrd="12" destOrd="0" presId="urn:microsoft.com/office/officeart/2005/8/layout/vList2"/>
    <dgm:cxn modelId="{DCD07132-801F-4580-A72A-488D8ED9050A}" type="presParOf" srcId="{AAF3A164-1CD1-4795-9D74-645E39C96018}" destId="{C3DD8DD0-8ABF-458C-95CC-77F2FB687057}" srcOrd="13" destOrd="0" presId="urn:microsoft.com/office/officeart/2005/8/layout/vList2"/>
    <dgm:cxn modelId="{CA520019-8523-4F7F-A85D-387422ECB4B0}" type="presParOf" srcId="{AAF3A164-1CD1-4795-9D74-645E39C96018}" destId="{EAD0489D-D405-4F83-8482-6362D5BE1331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EA6DE-02CA-4335-A7D1-FFA233F2BBB8}">
      <dsp:nvSpPr>
        <dsp:cNvPr id="0" name=""/>
        <dsp:cNvSpPr/>
      </dsp:nvSpPr>
      <dsp:spPr>
        <a:xfrm>
          <a:off x="0" y="207798"/>
          <a:ext cx="8172911" cy="48944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Challenges of baby monitoring application are highlighted.</a:t>
          </a:r>
        </a:p>
      </dsp:txBody>
      <dsp:txXfrm>
        <a:off x="23893" y="231691"/>
        <a:ext cx="8125125" cy="441658"/>
      </dsp:txXfrm>
    </dsp:sp>
    <dsp:sp modelId="{20B41191-01B6-42E3-9C7C-279EEBF9CA2D}">
      <dsp:nvSpPr>
        <dsp:cNvPr id="0" name=""/>
        <dsp:cNvSpPr/>
      </dsp:nvSpPr>
      <dsp:spPr>
        <a:xfrm>
          <a:off x="0" y="726043"/>
          <a:ext cx="8172911" cy="50894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Videos dataset is created, having 27 videos.</a:t>
          </a:r>
        </a:p>
      </dsp:txBody>
      <dsp:txXfrm>
        <a:off x="24845" y="750888"/>
        <a:ext cx="8123221" cy="459257"/>
      </dsp:txXfrm>
    </dsp:sp>
    <dsp:sp modelId="{C83DE9FC-05BB-44A4-8696-7066C4E0E947}">
      <dsp:nvSpPr>
        <dsp:cNvPr id="0" name=""/>
        <dsp:cNvSpPr/>
      </dsp:nvSpPr>
      <dsp:spPr>
        <a:xfrm>
          <a:off x="0" y="1263790"/>
          <a:ext cx="8172911" cy="596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Four different motion detection methods are implemented and their performance using the dataset is investigated.</a:t>
          </a:r>
        </a:p>
      </dsp:txBody>
      <dsp:txXfrm>
        <a:off x="29135" y="1292925"/>
        <a:ext cx="8114641" cy="538570"/>
      </dsp:txXfrm>
    </dsp:sp>
    <dsp:sp modelId="{DCF3636B-F190-4CF5-98F6-23B07AD06CFA}">
      <dsp:nvSpPr>
        <dsp:cNvPr id="0" name=""/>
        <dsp:cNvSpPr/>
      </dsp:nvSpPr>
      <dsp:spPr>
        <a:xfrm>
          <a:off x="0" y="1889430"/>
          <a:ext cx="8172911" cy="54087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Frame difference-based method has worst results while optical flow method shows average results.</a:t>
          </a:r>
        </a:p>
      </dsp:txBody>
      <dsp:txXfrm>
        <a:off x="26404" y="1915834"/>
        <a:ext cx="8120103" cy="488071"/>
      </dsp:txXfrm>
    </dsp:sp>
    <dsp:sp modelId="{A51CBB71-B54A-40F3-B7F2-8650F1EEFEA0}">
      <dsp:nvSpPr>
        <dsp:cNvPr id="0" name=""/>
        <dsp:cNvSpPr/>
      </dsp:nvSpPr>
      <dsp:spPr>
        <a:xfrm>
          <a:off x="0" y="2459109"/>
          <a:ext cx="8172911" cy="4953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Hybrid method is best and recommended for baby monitoring as verified from experiments.</a:t>
          </a:r>
        </a:p>
      </dsp:txBody>
      <dsp:txXfrm>
        <a:off x="24179" y="2483288"/>
        <a:ext cx="8124553" cy="446946"/>
      </dsp:txXfrm>
    </dsp:sp>
    <dsp:sp modelId="{0DF95E96-7336-4293-86A2-5528151FE5D7}">
      <dsp:nvSpPr>
        <dsp:cNvPr id="0" name=""/>
        <dsp:cNvSpPr/>
      </dsp:nvSpPr>
      <dsp:spPr>
        <a:xfrm>
          <a:off x="0" y="2983214"/>
          <a:ext cx="8172911" cy="4953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The hybrid method is comparatively computationally expensive.</a:t>
          </a:r>
        </a:p>
      </dsp:txBody>
      <dsp:txXfrm>
        <a:off x="24179" y="3007393"/>
        <a:ext cx="8124553" cy="446946"/>
      </dsp:txXfrm>
    </dsp:sp>
    <dsp:sp modelId="{3A85C370-DCC6-4DC0-AE0E-5D3830707714}">
      <dsp:nvSpPr>
        <dsp:cNvPr id="0" name=""/>
        <dsp:cNvSpPr/>
      </dsp:nvSpPr>
      <dsp:spPr>
        <a:xfrm>
          <a:off x="0" y="3507319"/>
          <a:ext cx="8172911" cy="4953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Detailed</a:t>
          </a:r>
          <a:r>
            <a:rPr lang="en-US" sz="1000" kern="1200" baseline="0" dirty="0"/>
            <a:t> behavior analysis of baby based on the motion of baby</a:t>
          </a:r>
          <a:r>
            <a:rPr lang="en-US" sz="1000" kern="1200" dirty="0"/>
            <a:t>.</a:t>
          </a:r>
        </a:p>
      </dsp:txBody>
      <dsp:txXfrm>
        <a:off x="24179" y="3531498"/>
        <a:ext cx="8124553" cy="446946"/>
      </dsp:txXfrm>
    </dsp:sp>
    <dsp:sp modelId="{EAD0489D-D405-4F83-8482-6362D5BE1331}">
      <dsp:nvSpPr>
        <dsp:cNvPr id="0" name=""/>
        <dsp:cNvSpPr/>
      </dsp:nvSpPr>
      <dsp:spPr>
        <a:xfrm>
          <a:off x="0" y="4031423"/>
          <a:ext cx="8172911" cy="4953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Future work will focus on extension of dataset in terms of number of videos, scenarios, and challenges.</a:t>
          </a:r>
        </a:p>
      </dsp:txBody>
      <dsp:txXfrm>
        <a:off x="24179" y="4055602"/>
        <a:ext cx="8124553" cy="4469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37579" cy="464315"/>
          </a:xfrm>
          <a:prstGeom prst="rect">
            <a:avLst/>
          </a:prstGeom>
        </p:spPr>
        <p:txBody>
          <a:bodyPr vert="horz" lIns="88184" tIns="44093" rIns="88184" bIns="44093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71256" y="2"/>
            <a:ext cx="3037578" cy="464315"/>
          </a:xfrm>
          <a:prstGeom prst="rect">
            <a:avLst/>
          </a:prstGeom>
        </p:spPr>
        <p:txBody>
          <a:bodyPr vert="horz" lIns="88184" tIns="44093" rIns="88184" bIns="44093" rtlCol="0"/>
          <a:lstStyle>
            <a:lvl1pPr algn="r">
              <a:defRPr sz="1100"/>
            </a:lvl1pPr>
          </a:lstStyle>
          <a:p>
            <a:fld id="{9755EF2D-84E4-4102-840F-01AC7C8D6264}" type="datetimeFigureOut">
              <a:rPr lang="ko-KR" altLang="en-US" smtClean="0"/>
              <a:pPr/>
              <a:t>2026-03-26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830644"/>
            <a:ext cx="3037579" cy="464315"/>
          </a:xfrm>
          <a:prstGeom prst="rect">
            <a:avLst/>
          </a:prstGeom>
        </p:spPr>
        <p:txBody>
          <a:bodyPr vert="horz" lIns="88184" tIns="44093" rIns="88184" bIns="44093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71256" y="8830644"/>
            <a:ext cx="3037578" cy="464315"/>
          </a:xfrm>
          <a:prstGeom prst="rect">
            <a:avLst/>
          </a:prstGeom>
        </p:spPr>
        <p:txBody>
          <a:bodyPr vert="horz" lIns="88184" tIns="44093" rIns="88184" bIns="44093" rtlCol="0" anchor="b"/>
          <a:lstStyle>
            <a:lvl1pPr algn="r">
              <a:defRPr sz="1100"/>
            </a:lvl1pPr>
          </a:lstStyle>
          <a:p>
            <a:fld id="{B5273E60-15AE-4C58-B0F7-8386F3AC5E6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1918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4820"/>
          </a:xfrm>
          <a:prstGeom prst="rect">
            <a:avLst/>
          </a:prstGeom>
        </p:spPr>
        <p:txBody>
          <a:bodyPr vert="horz" lIns="95548" tIns="47774" rIns="95548" bIns="4777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4820"/>
          </a:xfrm>
          <a:prstGeom prst="rect">
            <a:avLst/>
          </a:prstGeom>
        </p:spPr>
        <p:txBody>
          <a:bodyPr vert="horz" lIns="95548" tIns="47774" rIns="95548" bIns="47774" rtlCol="0"/>
          <a:lstStyle>
            <a:lvl1pPr algn="r">
              <a:defRPr sz="1200"/>
            </a:lvl1pPr>
          </a:lstStyle>
          <a:p>
            <a:fld id="{E19AED02-1346-4CA4-9A9A-034FFFF70000}" type="datetimeFigureOut">
              <a:rPr lang="ko-KR" altLang="en-US" smtClean="0"/>
              <a:pPr/>
              <a:t>2026-03-26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696913"/>
            <a:ext cx="5032375" cy="3484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48" tIns="47774" rIns="95548" bIns="4777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5548" tIns="47774" rIns="95548" bIns="4777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4820"/>
          </a:xfrm>
          <a:prstGeom prst="rect">
            <a:avLst/>
          </a:prstGeom>
        </p:spPr>
        <p:txBody>
          <a:bodyPr vert="horz" lIns="95548" tIns="47774" rIns="95548" bIns="4777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4820"/>
          </a:xfrm>
          <a:prstGeom prst="rect">
            <a:avLst/>
          </a:prstGeom>
        </p:spPr>
        <p:txBody>
          <a:bodyPr vert="horz" lIns="95548" tIns="47774" rIns="95548" bIns="47774" rtlCol="0" anchor="b"/>
          <a:lstStyle>
            <a:lvl1pPr algn="r">
              <a:defRPr sz="1200"/>
            </a:lvl1pPr>
          </a:lstStyle>
          <a:p>
            <a:fld id="{394BA349-534E-4983-AA11-40094C93CD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220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4BA349-534E-4983-AA11-40094C93CDA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5081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114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573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772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756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940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172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395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734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173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741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314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158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638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7433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780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166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576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22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4920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0580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1891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599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6861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7371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8483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3356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4BA349-534E-4983-AA11-40094C93CDA1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321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835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klounge\Downloads\ppt 배경_all\bg_05_header_icon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89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272482" y="39762"/>
            <a:ext cx="7858691" cy="724942"/>
          </a:xfrm>
        </p:spPr>
        <p:txBody>
          <a:bodyPr>
            <a:normAutofit/>
          </a:bodyPr>
          <a:lstStyle>
            <a:lvl1pPr algn="l">
              <a:defRPr sz="2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545288" y="648991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6D0C252-4C67-42DA-A5FB-45600643215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72480" y="6474068"/>
            <a:ext cx="9361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7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klounge\Downloads\ppt 배경_all\bg_05_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" y="2417"/>
            <a:ext cx="9921552" cy="685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1" descr="D:\▒ Work ▒\■ wenote\document_img\cb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52491" y="812355"/>
            <a:ext cx="1469061" cy="6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D:\▒ Work ▒\■ wenote\document_img\lm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52491" y="812355"/>
            <a:ext cx="647743" cy="80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D:\▒ Work ▒\■ wenote\document_img\rt2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04748" y="188640"/>
            <a:ext cx="647743" cy="6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D:\▒ Work ▒\■ wenote\document_img\lb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52491" y="1613941"/>
            <a:ext cx="647743" cy="6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5" descr="D:\▒ Work ▒\■ wenote\document_img\lt2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52491" y="188640"/>
            <a:ext cx="647743" cy="6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6" descr="D:\▒ Work ▒\■ wenote\document_img\rb2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04748" y="812355"/>
            <a:ext cx="647743" cy="6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1" descr="D:\▒ Work ▒\■ wenote\document_img\cb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04748" y="1613941"/>
            <a:ext cx="656784" cy="6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6" descr="D:\▒ Work ▒\■ wenote\document_img\rb2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57005" y="1619275"/>
            <a:ext cx="647743" cy="6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5" descr="D:\▒ Work ▒\■ wenote\document_img\lt2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04898" y="366512"/>
            <a:ext cx="647743" cy="6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D:\▒ Work ▒\■ wenote\document_img\ct2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366512"/>
            <a:ext cx="6703636" cy="6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4" descr="D:\▒ Work ▒\■ wenote\document_img\lm2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03633" y="994470"/>
            <a:ext cx="649005" cy="70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슬라이드 번호 개체 틀 11"/>
          <p:cNvSpPr txBox="1">
            <a:spLocks/>
          </p:cNvSpPr>
          <p:nvPr userDrawn="1"/>
        </p:nvSpPr>
        <p:spPr>
          <a:xfrm>
            <a:off x="7545288" y="648970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D0C252-4C67-42DA-A5FB-456006432159}" type="slidenum">
              <a:rPr lang="ko-KR" altLang="en-US" b="1" smtClean="0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22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1"/>
          <p:cNvSpPr txBox="1">
            <a:spLocks/>
          </p:cNvSpPr>
          <p:nvPr userDrawn="1"/>
        </p:nvSpPr>
        <p:spPr>
          <a:xfrm>
            <a:off x="7545288" y="648970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D0C252-4C67-42DA-A5FB-456006432159}" type="slidenum">
              <a:rPr lang="ko-KR" altLang="en-US" b="1" smtClean="0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Picture 2" descr="C:\Users\klounge\Downloads\ppt 배경_all\네온\all_08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0668"/>
            <a:ext cx="9906000" cy="244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97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1"/>
          <p:cNvSpPr txBox="1">
            <a:spLocks/>
          </p:cNvSpPr>
          <p:nvPr userDrawn="1"/>
        </p:nvSpPr>
        <p:spPr>
          <a:xfrm>
            <a:off x="7545288" y="648970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D0C252-4C67-42DA-A5FB-456006432159}" type="slidenum">
              <a:rPr lang="ko-KR" altLang="en-US" b="1" smtClean="0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Picture 2" descr="C:\Users\klounge\Downloads\ppt 배경_all\네온\all_06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40668"/>
            <a:ext cx="9906000" cy="244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31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1"/>
          <p:cNvSpPr txBox="1">
            <a:spLocks/>
          </p:cNvSpPr>
          <p:nvPr userDrawn="1"/>
        </p:nvSpPr>
        <p:spPr>
          <a:xfrm>
            <a:off x="7545288" y="648970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D0C252-4C67-42DA-A5FB-456006432159}" type="slidenum">
              <a:rPr lang="ko-KR" altLang="en-US" b="1" smtClean="0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Picture 2" descr="C:\Users\klounge\Downloads\ppt 배경_all\네온\all_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0" y="488829"/>
            <a:ext cx="9897699" cy="236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8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1"/>
          <p:cNvSpPr txBox="1">
            <a:spLocks/>
          </p:cNvSpPr>
          <p:nvPr userDrawn="1"/>
        </p:nvSpPr>
        <p:spPr>
          <a:xfrm>
            <a:off x="7545288" y="648970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D0C252-4C67-42DA-A5FB-456006432159}" type="slidenum">
              <a:rPr lang="ko-KR" altLang="en-US" b="1" smtClean="0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Picture 2" descr="C:\Users\klounge\Downloads\ppt 배경_all\네온\all_04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42" y="476210"/>
            <a:ext cx="9908042" cy="2389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3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klounge\Downloads\ppt 배경_all\bg_04_header_icon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49" y="0"/>
            <a:ext cx="9909949" cy="89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1052736"/>
            <a:ext cx="9361040" cy="525658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8131171" y="836712"/>
            <a:ext cx="1777351" cy="53536"/>
          </a:xfrm>
          <a:prstGeom prst="rect">
            <a:avLst/>
          </a:prstGeom>
          <a:solidFill>
            <a:srgbClr val="56BA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>
          <a:xfrm>
            <a:off x="8229364" y="6525345"/>
            <a:ext cx="1404156" cy="246221"/>
          </a:xfrm>
        </p:spPr>
        <p:txBody>
          <a:bodyPr/>
          <a:lstStyle>
            <a:lvl1pPr algn="r">
              <a:defRPr sz="800"/>
            </a:lvl1pPr>
          </a:lstStyle>
          <a:p>
            <a:fld id="{A6259959-2BC5-43B8-BE1D-1F5B7538884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479" y="39762"/>
            <a:ext cx="7858691" cy="724942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5080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0C252-4C67-42DA-A5FB-45600643215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33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microsoft.com/office/2007/relationships/media" Target="../media/media3.mp4"/><Relationship Id="rId7" Type="http://schemas.openxmlformats.org/officeDocument/2006/relationships/image" Target="../media/image28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8.xml"/><Relationship Id="rId4" Type="http://schemas.openxmlformats.org/officeDocument/2006/relationships/video" Target="../media/media3.mp4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jpeg"/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12" Type="http://schemas.openxmlformats.org/officeDocument/2006/relationships/image" Target="../media/image53.jpe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11" Type="http://schemas.openxmlformats.org/officeDocument/2006/relationships/image" Target="../media/image52.jpe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jpeg"/><Relationship Id="rId9" Type="http://schemas.openxmlformats.org/officeDocument/2006/relationships/image" Target="../media/image50.png"/><Relationship Id="rId14" Type="http://schemas.openxmlformats.org/officeDocument/2006/relationships/image" Target="../media/image5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0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jpe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7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2.png"/><Relationship Id="rId11" Type="http://schemas.openxmlformats.org/officeDocument/2006/relationships/image" Target="../media/image64.png"/><Relationship Id="rId5" Type="http://schemas.openxmlformats.org/officeDocument/2006/relationships/image" Target="../media/image60.png"/><Relationship Id="rId10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7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2.png"/><Relationship Id="rId5" Type="http://schemas.openxmlformats.org/officeDocument/2006/relationships/image" Target="../media/image60.png"/><Relationship Id="rId10" Type="http://schemas.openxmlformats.org/officeDocument/2006/relationships/image" Target="../media/image64.png"/><Relationship Id="rId4" Type="http://schemas.openxmlformats.org/officeDocument/2006/relationships/image" Target="../media/image73.png"/><Relationship Id="rId9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4.wmv"/><Relationship Id="rId1" Type="http://schemas.microsoft.com/office/2007/relationships/media" Target="../media/media4.wmv"/><Relationship Id="rId5" Type="http://schemas.openxmlformats.org/officeDocument/2006/relationships/image" Target="../media/image75.png"/><Relationship Id="rId4" Type="http://schemas.openxmlformats.org/officeDocument/2006/relationships/notesSlide" Target="../notesSlides/notesSlid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5.wmv"/><Relationship Id="rId1" Type="http://schemas.microsoft.com/office/2007/relationships/media" Target="../media/media5.wmv"/><Relationship Id="rId5" Type="http://schemas.openxmlformats.org/officeDocument/2006/relationships/image" Target="../media/image76.png"/><Relationship Id="rId4" Type="http://schemas.openxmlformats.org/officeDocument/2006/relationships/notesSlide" Target="../notesSlides/notesSlid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6.wmv"/><Relationship Id="rId1" Type="http://schemas.microsoft.com/office/2007/relationships/media" Target="../media/media6.wmv"/><Relationship Id="rId5" Type="http://schemas.openxmlformats.org/officeDocument/2006/relationships/image" Target="../media/image77.png"/><Relationship Id="rId4" Type="http://schemas.openxmlformats.org/officeDocument/2006/relationships/notesSlide" Target="../notesSlides/notesSlid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7.wmv"/><Relationship Id="rId1" Type="http://schemas.microsoft.com/office/2007/relationships/media" Target="../media/media7.wmv"/><Relationship Id="rId5" Type="http://schemas.openxmlformats.org/officeDocument/2006/relationships/image" Target="../media/image78.png"/><Relationship Id="rId4" Type="http://schemas.openxmlformats.org/officeDocument/2006/relationships/notesSlide" Target="../notesSlides/notesSlide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8.wmv"/><Relationship Id="rId1" Type="http://schemas.microsoft.com/office/2007/relationships/media" Target="../media/media8.wmv"/><Relationship Id="rId5" Type="http://schemas.openxmlformats.org/officeDocument/2006/relationships/image" Target="../media/image79.png"/><Relationship Id="rId4" Type="http://schemas.openxmlformats.org/officeDocument/2006/relationships/notesSlide" Target="../notesSlides/notesSlide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9.wmv"/><Relationship Id="rId1" Type="http://schemas.microsoft.com/office/2007/relationships/media" Target="../media/media9.wmv"/><Relationship Id="rId5" Type="http://schemas.openxmlformats.org/officeDocument/2006/relationships/image" Target="../media/image80.png"/><Relationship Id="rId4" Type="http://schemas.openxmlformats.org/officeDocument/2006/relationships/notesSlide" Target="../notesSlides/notesSlide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0.wmv"/><Relationship Id="rId1" Type="http://schemas.microsoft.com/office/2007/relationships/media" Target="../media/media10.wmv"/><Relationship Id="rId5" Type="http://schemas.openxmlformats.org/officeDocument/2006/relationships/image" Target="../media/image81.png"/><Relationship Id="rId4" Type="http://schemas.openxmlformats.org/officeDocument/2006/relationships/notesSlide" Target="../notesSlides/notesSlide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1.wmv"/><Relationship Id="rId1" Type="http://schemas.microsoft.com/office/2007/relationships/media" Target="../media/media11.wmv"/><Relationship Id="rId5" Type="http://schemas.openxmlformats.org/officeDocument/2006/relationships/image" Target="../media/image82.png"/><Relationship Id="rId4" Type="http://schemas.openxmlformats.org/officeDocument/2006/relationships/notesSlide" Target="../notesSlides/notesSlide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2.wmv"/><Relationship Id="rId1" Type="http://schemas.microsoft.com/office/2007/relationships/media" Target="../media/media12.wmv"/><Relationship Id="rId5" Type="http://schemas.openxmlformats.org/officeDocument/2006/relationships/image" Target="../media/image83.png"/><Relationship Id="rId4" Type="http://schemas.openxmlformats.org/officeDocument/2006/relationships/notesSlide" Target="../notesSlides/notesSlide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3.wmv"/><Relationship Id="rId1" Type="http://schemas.microsoft.com/office/2007/relationships/media" Target="../media/media13.wmv"/><Relationship Id="rId5" Type="http://schemas.openxmlformats.org/officeDocument/2006/relationships/image" Target="../media/image84.png"/><Relationship Id="rId4" Type="http://schemas.openxmlformats.org/officeDocument/2006/relationships/notesSlide" Target="../notesSlides/notesSlide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4.wmv"/><Relationship Id="rId1" Type="http://schemas.microsoft.com/office/2007/relationships/media" Target="../media/media14.wmv"/><Relationship Id="rId5" Type="http://schemas.openxmlformats.org/officeDocument/2006/relationships/image" Target="../media/image85.png"/><Relationship Id="rId4" Type="http://schemas.openxmlformats.org/officeDocument/2006/relationships/notesSlide" Target="../notesSlides/notesSlide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9.jpeg"/><Relationship Id="rId4" Type="http://schemas.openxmlformats.org/officeDocument/2006/relationships/image" Target="../media/image8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91.png"/><Relationship Id="rId21" Type="http://schemas.openxmlformats.org/officeDocument/2006/relationships/image" Target="../media/image109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image" Target="../media/image90.png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23" Type="http://schemas.openxmlformats.org/officeDocument/2006/relationships/image" Target="../media/image111.png"/><Relationship Id="rId10" Type="http://schemas.openxmlformats.org/officeDocument/2006/relationships/image" Target="../media/image98.png"/><Relationship Id="rId19" Type="http://schemas.openxmlformats.org/officeDocument/2006/relationships/image" Target="../media/image107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10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3.4/d7/d8b/tutorial_py_lucas_kanade.html" TargetMode="External"/><Relationship Id="rId2" Type="http://schemas.openxmlformats.org/officeDocument/2006/relationships/hyperlink" Target="https://www.craftyarncouncil.com/standards/baby-size-chart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docs.opencv.org/3.4/db/d5c/tutorial_py_bg_subtraction.html" TargetMode="Externa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jpeg"/><Relationship Id="rId3" Type="http://schemas.openxmlformats.org/officeDocument/2006/relationships/image" Target="../media/image113.jpeg"/><Relationship Id="rId7" Type="http://schemas.openxmlformats.org/officeDocument/2006/relationships/image" Target="../media/image11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jpeg"/><Relationship Id="rId5" Type="http://schemas.openxmlformats.org/officeDocument/2006/relationships/image" Target="../media/image115.jpeg"/><Relationship Id="rId4" Type="http://schemas.openxmlformats.org/officeDocument/2006/relationships/image" Target="../media/image1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28464" y="2744924"/>
            <a:ext cx="84969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Aft>
                <a:spcPts val="600"/>
              </a:spcAft>
              <a:defRPr/>
            </a:pPr>
            <a:r>
              <a:rPr lang="en-US" altLang="ko-KR" sz="3000" b="1" dirty="0">
                <a:solidFill>
                  <a:srgbClr val="0070C0"/>
                </a:solidFill>
                <a:latin typeface="맑은 고딕" panose="020B0503020000020004" pitchFamily="50" charset="-127"/>
              </a:rPr>
              <a:t>Intelligent Baby Monitoring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"/>
          <p:cNvSpPr/>
          <p:nvPr/>
        </p:nvSpPr>
        <p:spPr>
          <a:xfrm>
            <a:off x="0" y="5362053"/>
            <a:ext cx="4844988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ko-KR" sz="1400" b="1" dirty="0"/>
              <a:t>Khan Muhammad</a:t>
            </a:r>
          </a:p>
          <a:p>
            <a:pPr>
              <a:buNone/>
            </a:pPr>
            <a:r>
              <a:rPr lang="en-US" altLang="ko-KR" sz="1400" b="1" dirty="0"/>
              <a:t>Department of Applied AI</a:t>
            </a:r>
          </a:p>
          <a:p>
            <a:pPr>
              <a:buNone/>
            </a:pPr>
            <a:r>
              <a:rPr lang="en-US" altLang="ko-KR" sz="1400" b="1" dirty="0"/>
              <a:t>Sungkyunkwan University, Seoul, Republic of Korea</a:t>
            </a:r>
          </a:p>
          <a:p>
            <a:pPr>
              <a:buNone/>
            </a:pPr>
            <a:r>
              <a:rPr lang="en-US" altLang="ko-KR" sz="1400" b="1" dirty="0"/>
              <a:t>Email: khan.muhammad@ieee.org</a:t>
            </a:r>
          </a:p>
        </p:txBody>
      </p:sp>
    </p:spTree>
    <p:extLst>
      <p:ext uri="{BB962C8B-B14F-4D97-AF65-F5344CB8AC3E}">
        <p14:creationId xmlns:p14="http://schemas.microsoft.com/office/powerpoint/2010/main" val="167784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-15552" y="1700808"/>
            <a:ext cx="17557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4000" b="1" dirty="0"/>
              <a:t>INDEX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433290" y="1880828"/>
            <a:ext cx="144016" cy="4392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309033" y="3023256"/>
            <a:ext cx="30554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rgbClr val="0C4383"/>
                </a:solidFill>
                <a:latin typeface="+mj-ea"/>
              </a:rPr>
              <a:t>Main Contents</a:t>
            </a:r>
          </a:p>
        </p:txBody>
      </p:sp>
      <p:sp>
        <p:nvSpPr>
          <p:cNvPr id="9" name="Subtitle 4"/>
          <p:cNvSpPr txBox="1">
            <a:spLocks/>
          </p:cNvSpPr>
          <p:nvPr/>
        </p:nvSpPr>
        <p:spPr>
          <a:xfrm>
            <a:off x="3381263" y="3791896"/>
            <a:ext cx="6524737" cy="17613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70000"/>
              </a:lnSpc>
              <a:buFont typeface="+mj-lt"/>
              <a:buAutoNum type="arabi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Introduction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Data collection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Implemented methods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Results and discussion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Baby behavior analysis patent</a:t>
            </a:r>
          </a:p>
          <a:p>
            <a:pPr marL="514350" indent="-514350">
              <a:lnSpc>
                <a:spcPct val="70000"/>
              </a:lnSpc>
              <a:buFont typeface="+mj-lt"/>
              <a:buAutoNum type="arabi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Conclusion and future directions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8444681" y="728700"/>
            <a:ext cx="1363583" cy="1238164"/>
            <a:chOff x="8444681" y="728700"/>
            <a:chExt cx="1363583" cy="123816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l="69440" t="8343" r="9770" b="72372"/>
            <a:stretch/>
          </p:blipFill>
          <p:spPr>
            <a:xfrm>
              <a:off x="9237476" y="1596222"/>
              <a:ext cx="570788" cy="370642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4681" y="728700"/>
              <a:ext cx="1076908" cy="654222"/>
            </a:xfrm>
            <a:prstGeom prst="rect">
              <a:avLst/>
            </a:prstGeom>
          </p:spPr>
        </p:pic>
        <p:cxnSp>
          <p:nvCxnSpPr>
            <p:cNvPr id="12" name="Curved Connector 11"/>
            <p:cNvCxnSpPr>
              <a:stCxn id="10" idx="2"/>
              <a:endCxn id="5" idx="1"/>
            </p:cNvCxnSpPr>
            <p:nvPr/>
          </p:nvCxnSpPr>
          <p:spPr>
            <a:xfrm rot="16200000" flipH="1">
              <a:off x="8910995" y="1455061"/>
              <a:ext cx="398621" cy="254341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2429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97" y="2791088"/>
            <a:ext cx="1893467" cy="186204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1500" b="1" dirty="0">
                <a:solidFill>
                  <a:schemeClr val="bg1">
                    <a:lumMod val="75000"/>
                  </a:schemeClr>
                </a:solidFill>
              </a:rPr>
              <a:t>01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433290" y="1880828"/>
            <a:ext cx="144016" cy="4392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8444681" y="728700"/>
            <a:ext cx="1363583" cy="1238164"/>
            <a:chOff x="8444681" y="728700"/>
            <a:chExt cx="1363583" cy="123816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l="69440" t="8343" r="9770" b="72372"/>
            <a:stretch/>
          </p:blipFill>
          <p:spPr>
            <a:xfrm>
              <a:off x="9237476" y="1596222"/>
              <a:ext cx="570788" cy="370642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4681" y="728700"/>
              <a:ext cx="1076908" cy="654222"/>
            </a:xfrm>
            <a:prstGeom prst="rect">
              <a:avLst/>
            </a:prstGeom>
          </p:spPr>
        </p:pic>
        <p:cxnSp>
          <p:nvCxnSpPr>
            <p:cNvPr id="12" name="Curved Connector 11"/>
            <p:cNvCxnSpPr>
              <a:stCxn id="10" idx="2"/>
              <a:endCxn id="5" idx="1"/>
            </p:cNvCxnSpPr>
            <p:nvPr/>
          </p:nvCxnSpPr>
          <p:spPr>
            <a:xfrm rot="16200000" flipH="1">
              <a:off x="8910995" y="1455061"/>
              <a:ext cx="398621" cy="254341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직사각형 7"/>
          <p:cNvSpPr/>
          <p:nvPr/>
        </p:nvSpPr>
        <p:spPr>
          <a:xfrm>
            <a:off x="3309033" y="3023256"/>
            <a:ext cx="31033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rgbClr val="0C4383"/>
                </a:solidFill>
                <a:latin typeface="+mj-ea"/>
              </a:rPr>
              <a:t>1. Introduction</a:t>
            </a:r>
          </a:p>
        </p:txBody>
      </p:sp>
      <p:sp>
        <p:nvSpPr>
          <p:cNvPr id="14" name="Subtitle 4"/>
          <p:cNvSpPr txBox="1">
            <a:spLocks/>
          </p:cNvSpPr>
          <p:nvPr/>
        </p:nvSpPr>
        <p:spPr>
          <a:xfrm>
            <a:off x="3381263" y="3791896"/>
            <a:ext cx="6036233" cy="933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romanL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Motivation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Challenges in possible baby monitoring methods</a:t>
            </a:r>
            <a:endParaRPr lang="ko-KR" altLang="en-US" sz="2000" dirty="0">
              <a:solidFill>
                <a:srgbClr val="3269A9"/>
              </a:solidFill>
              <a:latin typeface="+mn-ea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-15552" y="1700808"/>
            <a:ext cx="17557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4000" b="1" dirty="0"/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29762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272479" y="99602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16496" y="108603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 err="1"/>
              <a:t>i</a:t>
            </a:r>
            <a:r>
              <a:rPr lang="en-US" altLang="ko-KR" spc="-100" dirty="0"/>
              <a:t>. Motivation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443789" y="1160748"/>
            <a:ext cx="8737860" cy="1454487"/>
          </a:xfrm>
          <a:prstGeom prst="rect">
            <a:avLst/>
          </a:prstGeom>
        </p:spPr>
        <p:txBody>
          <a:bodyPr/>
          <a:lstStyle>
            <a:lvl1pPr marL="342895" indent="-342895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8" indent="-285745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5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8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5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4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There are many nurseries with strangers spying on babies.</a:t>
            </a:r>
          </a:p>
          <a:p>
            <a:r>
              <a:rPr lang="en-GB" sz="2000" dirty="0"/>
              <a:t>These strangers may be careless about the babies.</a:t>
            </a:r>
          </a:p>
          <a:p>
            <a:r>
              <a:rPr lang="en-GB" sz="2000" dirty="0"/>
              <a:t>On the other hand, while keeping baby in house, doing house chores and monitoring baby becomes very difficult.</a:t>
            </a:r>
          </a:p>
        </p:txBody>
      </p:sp>
      <p:pic>
        <p:nvPicPr>
          <p:cNvPr id="27" name="vlc-record-2018-06-20-14h52m09s-Housework With a Newborn - Speed Clean - YouTube.MP4-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88504" y="2707955"/>
            <a:ext cx="5808853" cy="3264929"/>
          </a:xfrm>
          <a:prstGeom prst="rect">
            <a:avLst/>
          </a:prstGeom>
        </p:spPr>
      </p:pic>
      <p:pic>
        <p:nvPicPr>
          <p:cNvPr id="4102" name="Picture 6" descr="Image search results for babies in nurseri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53" y="2705245"/>
            <a:ext cx="2847990" cy="284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2045036" y="6030791"/>
            <a:ext cx="33425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Video: Doing house chores and monitoring baby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0280" y="5657594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Babies in nurseries</a:t>
            </a:r>
          </a:p>
        </p:txBody>
      </p:sp>
    </p:spTree>
    <p:extLst>
      <p:ext uri="{BB962C8B-B14F-4D97-AF65-F5344CB8AC3E}">
        <p14:creationId xmlns:p14="http://schemas.microsoft.com/office/powerpoint/2010/main" val="200978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272479" y="99602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Challenges in possible baby monitoring methods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9" name="Rectangle 38"/>
          <p:cNvSpPr/>
          <p:nvPr/>
        </p:nvSpPr>
        <p:spPr>
          <a:xfrm>
            <a:off x="416496" y="108603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488504" y="1635604"/>
            <a:ext cx="3990471" cy="1756416"/>
          </a:xfrm>
          <a:prstGeom prst="rect">
            <a:avLst/>
          </a:prstGeom>
        </p:spPr>
        <p:txBody>
          <a:bodyPr/>
          <a:lstStyle>
            <a:lvl1pPr marL="342895" indent="-342895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8" indent="-285745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5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8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5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4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Often babies are paranoid    towards sensors.</a:t>
            </a:r>
          </a:p>
          <a:p>
            <a:r>
              <a:rPr lang="en-GB" sz="2000" dirty="0"/>
              <a:t>Babies do not leave sensor   on their chest or hands for    monitoring purposes.</a:t>
            </a:r>
          </a:p>
        </p:txBody>
      </p:sp>
      <p:sp>
        <p:nvSpPr>
          <p:cNvPr id="41" name="양쪽 모서리가 둥근 사각형 30"/>
          <p:cNvSpPr/>
          <p:nvPr/>
        </p:nvSpPr>
        <p:spPr>
          <a:xfrm>
            <a:off x="760837" y="1153645"/>
            <a:ext cx="3544392" cy="414345"/>
          </a:xfrm>
          <a:prstGeom prst="round2SameRect">
            <a:avLst>
              <a:gd name="adj1" fmla="val 10053"/>
              <a:gd name="adj2" fmla="val 0"/>
            </a:avLst>
          </a:prstGeom>
          <a:gradFill rotWithShape="1">
            <a:gsLst>
              <a:gs pos="0">
                <a:srgbClr val="9FB1C9">
                  <a:tint val="50000"/>
                  <a:satMod val="300000"/>
                </a:srgbClr>
              </a:gs>
              <a:gs pos="35000">
                <a:srgbClr val="9FB1C9">
                  <a:tint val="37000"/>
                  <a:satMod val="300000"/>
                </a:srgbClr>
              </a:gs>
              <a:gs pos="100000">
                <a:srgbClr val="9FB1C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FB1C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fontAlgn="base" latinLnBrk="0"/>
            <a:r>
              <a:rPr lang="en-US" altLang="ko-KR" sz="1400" b="1" dirty="0">
                <a:solidFill>
                  <a:srgbClr val="404040"/>
                </a:solidFill>
                <a:latin typeface="+mn-ea"/>
              </a:rPr>
              <a:t>1. Monitoring through sensors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4787738" y="1114833"/>
            <a:ext cx="36004" cy="5227781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Content Placeholder 2"/>
          <p:cNvSpPr txBox="1">
            <a:spLocks/>
          </p:cNvSpPr>
          <p:nvPr/>
        </p:nvSpPr>
        <p:spPr>
          <a:xfrm>
            <a:off x="4906472" y="1635604"/>
            <a:ext cx="4149920" cy="2344415"/>
          </a:xfrm>
          <a:prstGeom prst="rect">
            <a:avLst/>
          </a:prstGeom>
        </p:spPr>
        <p:txBody>
          <a:bodyPr/>
          <a:lstStyle>
            <a:lvl1pPr marL="342895" indent="-342895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8" indent="-285745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5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8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5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4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It is very hard and challenging to detect motion or breathing of the baby through image     processing techniques.</a:t>
            </a:r>
          </a:p>
          <a:p>
            <a:r>
              <a:rPr lang="en-GB" sz="2000" dirty="0"/>
              <a:t>When baby breathes it is very slight amount of motion to    detect from camera.</a:t>
            </a:r>
          </a:p>
        </p:txBody>
      </p:sp>
      <p:sp>
        <p:nvSpPr>
          <p:cNvPr id="45" name="양쪽 모서리가 둥근 사각형 30"/>
          <p:cNvSpPr/>
          <p:nvPr/>
        </p:nvSpPr>
        <p:spPr>
          <a:xfrm>
            <a:off x="5558742" y="1146359"/>
            <a:ext cx="3282690" cy="429692"/>
          </a:xfrm>
          <a:prstGeom prst="round2SameRect">
            <a:avLst>
              <a:gd name="adj1" fmla="val 10053"/>
              <a:gd name="adj2" fmla="val 0"/>
            </a:avLst>
          </a:prstGeom>
          <a:gradFill rotWithShape="1">
            <a:gsLst>
              <a:gs pos="0">
                <a:srgbClr val="9FB1C9">
                  <a:tint val="50000"/>
                  <a:satMod val="300000"/>
                </a:srgbClr>
              </a:gs>
              <a:gs pos="35000">
                <a:srgbClr val="9FB1C9">
                  <a:tint val="37000"/>
                  <a:satMod val="300000"/>
                </a:srgbClr>
              </a:gs>
              <a:gs pos="100000">
                <a:srgbClr val="9FB1C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FB1C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fontAlgn="base" latinLnBrk="0"/>
            <a:r>
              <a:rPr lang="en-US" altLang="ko-KR" sz="1400" b="1" dirty="0">
                <a:solidFill>
                  <a:srgbClr val="404040"/>
                </a:solidFill>
                <a:latin typeface="+mn-ea"/>
              </a:rPr>
              <a:t>2. Monitoring through camera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504362" y="3320988"/>
            <a:ext cx="4221025" cy="2691374"/>
            <a:chOff x="488504" y="3392019"/>
            <a:chExt cx="3492388" cy="2333699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504" y="3392019"/>
              <a:ext cx="3492388" cy="2333699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8504" y="4927566"/>
              <a:ext cx="1224136" cy="784183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sp>
        <p:nvSpPr>
          <p:cNvPr id="48" name="TextBox 47"/>
          <p:cNvSpPr txBox="1"/>
          <p:nvPr/>
        </p:nvSpPr>
        <p:spPr>
          <a:xfrm>
            <a:off x="976755" y="6095535"/>
            <a:ext cx="30139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Monitoring baby through sensor in his foot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856" y="3920691"/>
            <a:ext cx="2918450" cy="21748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788919" y="6081527"/>
            <a:ext cx="23503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Monitoring baby through camera</a:t>
            </a:r>
          </a:p>
        </p:txBody>
      </p:sp>
    </p:spTree>
    <p:extLst>
      <p:ext uri="{BB962C8B-B14F-4D97-AF65-F5344CB8AC3E}">
        <p14:creationId xmlns:p14="http://schemas.microsoft.com/office/powerpoint/2010/main" val="179095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433290" y="1880828"/>
            <a:ext cx="144016" cy="4392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8444681" y="728700"/>
            <a:ext cx="1363583" cy="1238164"/>
            <a:chOff x="8444681" y="728700"/>
            <a:chExt cx="1363583" cy="123816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l="69440" t="8343" r="9770" b="72372"/>
            <a:stretch/>
          </p:blipFill>
          <p:spPr>
            <a:xfrm>
              <a:off x="9237476" y="1596222"/>
              <a:ext cx="570788" cy="370642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4681" y="728700"/>
              <a:ext cx="1076908" cy="654222"/>
            </a:xfrm>
            <a:prstGeom prst="rect">
              <a:avLst/>
            </a:prstGeom>
          </p:spPr>
        </p:pic>
        <p:cxnSp>
          <p:nvCxnSpPr>
            <p:cNvPr id="12" name="Curved Connector 11"/>
            <p:cNvCxnSpPr>
              <a:stCxn id="10" idx="2"/>
              <a:endCxn id="5" idx="1"/>
            </p:cNvCxnSpPr>
            <p:nvPr/>
          </p:nvCxnSpPr>
          <p:spPr>
            <a:xfrm rot="16200000" flipH="1">
              <a:off x="8910995" y="1455061"/>
              <a:ext cx="398621" cy="254341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직사각형 7"/>
          <p:cNvSpPr/>
          <p:nvPr/>
        </p:nvSpPr>
        <p:spPr>
          <a:xfrm>
            <a:off x="3309033" y="3023256"/>
            <a:ext cx="36070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rgbClr val="0C4383"/>
                </a:solidFill>
                <a:latin typeface="+mj-ea"/>
              </a:rPr>
              <a:t>2. Data collection</a:t>
            </a:r>
          </a:p>
        </p:txBody>
      </p:sp>
      <p:sp>
        <p:nvSpPr>
          <p:cNvPr id="13" name="Subtitle 4"/>
          <p:cNvSpPr txBox="1">
            <a:spLocks/>
          </p:cNvSpPr>
          <p:nvPr/>
        </p:nvSpPr>
        <p:spPr>
          <a:xfrm>
            <a:off x="3381263" y="3791896"/>
            <a:ext cx="6524737" cy="11852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romanL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Why creating dataset?</a:t>
            </a:r>
          </a:p>
          <a:p>
            <a:pPr marL="514350" indent="-514350">
              <a:buFont typeface="+mj-lt"/>
              <a:buAutoNum type="romanL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Description of dataset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-15552" y="1700808"/>
            <a:ext cx="17557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4000" b="1" dirty="0"/>
              <a:t>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97" y="2791088"/>
            <a:ext cx="1893467" cy="186204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1500" b="1" dirty="0">
                <a:solidFill>
                  <a:schemeClr val="bg1">
                    <a:lumMod val="75000"/>
                  </a:schemeClr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0974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i. Why creating dataset?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088245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16491" y="1160253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440051" y="1277078"/>
            <a:ext cx="8797420" cy="1427569"/>
          </a:xfrm>
          <a:prstGeom prst="rect">
            <a:avLst/>
          </a:prstGeom>
        </p:spPr>
        <p:txBody>
          <a:bodyPr/>
          <a:lstStyle>
            <a:lvl1pPr marL="342895" indent="-342895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8" indent="-285745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5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8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5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4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The dataset is created because there are no available benchmark       datasets for baby monitoring.</a:t>
            </a:r>
          </a:p>
          <a:p>
            <a:r>
              <a:rPr lang="en-GB" sz="2000" dirty="0"/>
              <a:t>Thus, data is insufficient to make and validate experiments for baby    monitoring application.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771" y="2767503"/>
            <a:ext cx="2624033" cy="147601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56464" y="6027010"/>
            <a:ext cx="55050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Sample images of dataset at three different scenarios with four different altitudes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2765494"/>
            <a:ext cx="2631181" cy="148003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898" y="4477835"/>
            <a:ext cx="2624033" cy="1476018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414" y="2769851"/>
            <a:ext cx="2631185" cy="1475682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414" y="4471686"/>
            <a:ext cx="2634963" cy="148216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226" y="4477835"/>
            <a:ext cx="2561607" cy="144090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74629" y="3349203"/>
            <a:ext cx="3545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(a)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9018" y="4910662"/>
            <a:ext cx="3658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26462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Description of dataset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088245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80492" y="1160253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440051" y="1160748"/>
            <a:ext cx="6474982" cy="2165518"/>
          </a:xfrm>
          <a:prstGeom prst="rect">
            <a:avLst/>
          </a:prstGeom>
        </p:spPr>
        <p:txBody>
          <a:bodyPr/>
          <a:lstStyle>
            <a:lvl1pPr marL="342895" indent="-342895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8" indent="-285745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5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8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5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4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The dataset consists of 27 videos.</a:t>
            </a:r>
          </a:p>
          <a:p>
            <a:r>
              <a:rPr lang="en-GB" sz="2000" dirty="0"/>
              <a:t>Data is collected in three different scenarios.</a:t>
            </a:r>
          </a:p>
          <a:p>
            <a:r>
              <a:rPr lang="en-GB" sz="2000" dirty="0"/>
              <a:t>There are various poses during sleep made by the </a:t>
            </a:r>
          </a:p>
          <a:p>
            <a:pPr marL="0" indent="0">
              <a:buNone/>
            </a:pPr>
            <a:r>
              <a:rPr lang="en-GB" sz="2000" dirty="0"/>
              <a:t>    subjects.</a:t>
            </a:r>
          </a:p>
          <a:p>
            <a:r>
              <a:rPr lang="en-GB" sz="2000" dirty="0"/>
              <a:t>Height range varies from 65-cm to 108-cm.</a:t>
            </a:r>
          </a:p>
          <a:p>
            <a:r>
              <a:rPr lang="en-GB" sz="2000" dirty="0"/>
              <a:t>There are total 6 subjects in the dataset.</a:t>
            </a:r>
          </a:p>
          <a:p>
            <a:endParaRPr lang="en-GB" sz="1800" dirty="0"/>
          </a:p>
        </p:txBody>
      </p:sp>
      <p:pic>
        <p:nvPicPr>
          <p:cNvPr id="17" name="vlc-record-2018-06-20-16h05m10s-V5_H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24508" y="3434278"/>
            <a:ext cx="4212468" cy="2369514"/>
          </a:xfrm>
          <a:prstGeom prst="rect">
            <a:avLst/>
          </a:prstGeom>
        </p:spPr>
      </p:pic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61263"/>
              </p:ext>
            </p:extLst>
          </p:nvPr>
        </p:nvGraphicFramePr>
        <p:xfrm>
          <a:off x="6756366" y="1621657"/>
          <a:ext cx="2322068" cy="14204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76855">
                  <a:extLst>
                    <a:ext uri="{9D8B030D-6E8A-4147-A177-3AD203B41FA5}">
                      <a16:colId xmlns:a16="http://schemas.microsoft.com/office/drawing/2014/main" val="2280304560"/>
                    </a:ext>
                  </a:extLst>
                </a:gridCol>
                <a:gridCol w="1045213">
                  <a:extLst>
                    <a:ext uri="{9D8B030D-6E8A-4147-A177-3AD203B41FA5}">
                      <a16:colId xmlns:a16="http://schemas.microsoft.com/office/drawing/2014/main" val="115733050"/>
                    </a:ext>
                  </a:extLst>
                </a:gridCol>
              </a:tblGrid>
              <a:tr h="329396">
                <a:tc>
                  <a:txBody>
                    <a:bodyPr/>
                    <a:lstStyle/>
                    <a:p>
                      <a:pPr marL="0" marR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1200" dirty="0">
                          <a:effectLst/>
                        </a:rPr>
                        <a:t>Total videos </a:t>
                      </a:r>
                      <a:endParaRPr lang="en-US" sz="11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1200" dirty="0">
                          <a:effectLst/>
                        </a:rPr>
                        <a:t>27</a:t>
                      </a:r>
                      <a:endParaRPr lang="en-US" sz="11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305694"/>
                  </a:ext>
                </a:extLst>
              </a:tr>
              <a:tr h="545515">
                <a:tc>
                  <a:txBody>
                    <a:bodyPr/>
                    <a:lstStyle/>
                    <a:p>
                      <a:pPr marL="0" marR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effectLst/>
                        </a:rPr>
                        <a:t>Total height </a:t>
                      </a:r>
                    </a:p>
                    <a:p>
                      <a:pPr marL="0" marR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effectLst/>
                        </a:rPr>
                        <a:t>ranges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effectLst/>
                        </a:rPr>
                        <a:t>4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617525"/>
                  </a:ext>
                </a:extLst>
              </a:tr>
              <a:tr h="545515">
                <a:tc>
                  <a:txBody>
                    <a:bodyPr/>
                    <a:lstStyle/>
                    <a:p>
                      <a:pPr marL="0" marR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effectLst/>
                        </a:rPr>
                        <a:t>Total </a:t>
                      </a:r>
                    </a:p>
                    <a:p>
                      <a:pPr marL="0" marR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effectLst/>
                        </a:rPr>
                        <a:t>Subjects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effectLst/>
                        </a:rPr>
                        <a:t>6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68522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882684" y="1286327"/>
            <a:ext cx="2081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sz="1200" dirty="0"/>
              <a:t>Overall details of dataset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0972" y="5983356"/>
            <a:ext cx="29995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(a). Sample adult video with 108-cm height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5283" y="5983356"/>
            <a:ext cx="291938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(b). Sample baby video with 65-cm height</a:t>
            </a:r>
          </a:p>
        </p:txBody>
      </p:sp>
      <p:pic>
        <p:nvPicPr>
          <p:cNvPr id="30" name="vlc-record-2018-06-22-18h38m36s-LiveRecord_20180620_171319.mp4-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944215" y="3435496"/>
            <a:ext cx="4210304" cy="23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6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video>
              <p:cMediaNode vol="80000" mute="1">
                <p:cTn id="13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Description of dataset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103289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16491" y="1160253"/>
            <a:ext cx="8820980" cy="530693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927" y="1196752"/>
            <a:ext cx="1950720" cy="109728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748" y="1205620"/>
            <a:ext cx="1950720" cy="109728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05710" y="1537425"/>
            <a:ext cx="76335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Height </a:t>
            </a:r>
          </a:p>
          <a:p>
            <a:pPr algn="ctr"/>
            <a:r>
              <a:rPr lang="en-US" dirty="0"/>
              <a:t>(108-cm)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957" y="2870340"/>
            <a:ext cx="68480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Height </a:t>
            </a:r>
          </a:p>
          <a:p>
            <a:pPr algn="ctr"/>
            <a:r>
              <a:rPr lang="en-US" dirty="0"/>
              <a:t>(90-cm)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4983" y="4201208"/>
            <a:ext cx="68480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Height </a:t>
            </a:r>
          </a:p>
          <a:p>
            <a:pPr algn="ctr"/>
            <a:r>
              <a:rPr lang="en-US" dirty="0"/>
              <a:t>(74-cm)</a:t>
            </a: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179" y="2528900"/>
            <a:ext cx="1950720" cy="109728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44983" y="5532076"/>
            <a:ext cx="68480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Height </a:t>
            </a:r>
          </a:p>
          <a:p>
            <a:pPr algn="ctr"/>
            <a:r>
              <a:rPr lang="en-US" dirty="0"/>
              <a:t>(65-cm)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748" y="2528900"/>
            <a:ext cx="1950720" cy="1097280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835" y="3860317"/>
            <a:ext cx="1950720" cy="1097280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748" y="3860317"/>
            <a:ext cx="1950720" cy="1097280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5146076"/>
            <a:ext cx="1950720" cy="10972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770987" y="2258675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94258" y="2291779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79375" y="3578317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94257" y="3578317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79375" y="4933029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94257" y="4933029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09197" y="6241357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Subject-6</a:t>
            </a: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760" y="5146076"/>
            <a:ext cx="1950720" cy="109728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3742311" y="6249625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Subject-6</a:t>
            </a:r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75" y="1205620"/>
            <a:ext cx="1950720" cy="1097280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296" y="1197980"/>
            <a:ext cx="1950720" cy="1097280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75" y="2531522"/>
            <a:ext cx="1950720" cy="1097280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561" y="3860317"/>
            <a:ext cx="1950720" cy="1097280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296" y="3860637"/>
            <a:ext cx="1950720" cy="109728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706336" y="2281508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30157" y="2270222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06336" y="3578317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30157" y="3579267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06336" y="4933029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416" y="2519011"/>
            <a:ext cx="1950720" cy="109728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3730157" y="4933979"/>
            <a:ext cx="7906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Subject-4</a:t>
            </a:r>
          </a:p>
        </p:txBody>
      </p:sp>
    </p:spTree>
    <p:extLst>
      <p:ext uri="{BB962C8B-B14F-4D97-AF65-F5344CB8AC3E}">
        <p14:creationId xmlns:p14="http://schemas.microsoft.com/office/powerpoint/2010/main" val="2200307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Description of dataset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103289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16491" y="1160253"/>
            <a:ext cx="8820980" cy="530693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067" y="1424229"/>
            <a:ext cx="2036691" cy="1044917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607" y="1406469"/>
            <a:ext cx="2036691" cy="1044917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5865" y="1424229"/>
            <a:ext cx="1998777" cy="104491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067" y="2536871"/>
            <a:ext cx="2036691" cy="104491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607" y="2528900"/>
            <a:ext cx="2036691" cy="104491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167" y="2528900"/>
            <a:ext cx="2007475" cy="104491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067" y="5156391"/>
            <a:ext cx="1728750" cy="1044917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067" y="3815687"/>
            <a:ext cx="1404156" cy="10449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360712" y="1160748"/>
            <a:ext cx="5389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Large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217" y="1160748"/>
            <a:ext cx="716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61312" y="1160748"/>
            <a:ext cx="5341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Small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416491" y="3681028"/>
            <a:ext cx="882098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49767" y="5567790"/>
            <a:ext cx="133488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YouTube </a:t>
            </a:r>
          </a:p>
          <a:p>
            <a:r>
              <a:rPr lang="en-US" dirty="0"/>
              <a:t>videos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7825" y="4189001"/>
            <a:ext cx="79220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Company</a:t>
            </a:r>
          </a:p>
          <a:p>
            <a:r>
              <a:rPr lang="en-US" dirty="0"/>
              <a:t>videos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767" y="2271383"/>
            <a:ext cx="9803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Static object</a:t>
            </a:r>
          </a:p>
          <a:p>
            <a:r>
              <a:rPr lang="en-US" dirty="0"/>
              <a:t>videos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767" y="1200978"/>
            <a:ext cx="8883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Object size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B47D7C7-9865-48E1-83B1-421EAEC02F6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813" y="3823994"/>
            <a:ext cx="1404156" cy="104516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26D2AAF-AD5F-4274-BA3E-0AADE2FE207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535" y="3815687"/>
            <a:ext cx="1521612" cy="104491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F16285B-0EA7-4DCD-A820-883AC3057B3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132" y="3815687"/>
            <a:ext cx="1404156" cy="104491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4EC169D-E330-478A-8692-E07DABDF9A2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907" y="3824845"/>
            <a:ext cx="1405735" cy="1044315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BAFB818-5B25-491B-B545-3C9D18F79ECF}"/>
              </a:ext>
            </a:extLst>
          </p:cNvPr>
          <p:cNvCxnSpPr/>
          <p:nvPr/>
        </p:nvCxnSpPr>
        <p:spPr>
          <a:xfrm>
            <a:off x="416491" y="5013176"/>
            <a:ext cx="882098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9E7CA917-D67E-4153-8C28-765652C1029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04828" y="5156390"/>
            <a:ext cx="1737968" cy="104491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986F8F6-EB6A-49B6-9418-466C811F1B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67260" y="5156389"/>
            <a:ext cx="1737968" cy="104491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59AF746-3987-4A49-A6B3-B95365942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9244" y="5156389"/>
            <a:ext cx="1905398" cy="104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21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433290" y="1880828"/>
            <a:ext cx="144016" cy="4392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8444681" y="728700"/>
            <a:ext cx="1363583" cy="1238164"/>
            <a:chOff x="8444681" y="728700"/>
            <a:chExt cx="1363583" cy="123816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l="69440" t="8343" r="9770" b="72372"/>
            <a:stretch/>
          </p:blipFill>
          <p:spPr>
            <a:xfrm>
              <a:off x="9237476" y="1596222"/>
              <a:ext cx="570788" cy="370642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4681" y="728700"/>
              <a:ext cx="1076908" cy="654222"/>
            </a:xfrm>
            <a:prstGeom prst="rect">
              <a:avLst/>
            </a:prstGeom>
          </p:spPr>
        </p:pic>
        <p:cxnSp>
          <p:nvCxnSpPr>
            <p:cNvPr id="12" name="Curved Connector 11"/>
            <p:cNvCxnSpPr>
              <a:stCxn id="10" idx="2"/>
              <a:endCxn id="5" idx="1"/>
            </p:cNvCxnSpPr>
            <p:nvPr/>
          </p:nvCxnSpPr>
          <p:spPr>
            <a:xfrm rot="16200000" flipH="1">
              <a:off x="8910995" y="1455061"/>
              <a:ext cx="398621" cy="254341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직사각형 7"/>
          <p:cNvSpPr/>
          <p:nvPr/>
        </p:nvSpPr>
        <p:spPr>
          <a:xfrm>
            <a:off x="3309033" y="3023256"/>
            <a:ext cx="51201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rgbClr val="0C4383"/>
                </a:solidFill>
                <a:latin typeface="+mj-ea"/>
              </a:rPr>
              <a:t>3. Implemented methods</a:t>
            </a:r>
          </a:p>
        </p:txBody>
      </p:sp>
      <p:sp>
        <p:nvSpPr>
          <p:cNvPr id="13" name="Subtitle 4"/>
          <p:cNvSpPr txBox="1">
            <a:spLocks/>
          </p:cNvSpPr>
          <p:nvPr/>
        </p:nvSpPr>
        <p:spPr>
          <a:xfrm>
            <a:off x="3381263" y="3791896"/>
            <a:ext cx="6427001" cy="11852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romanL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Frame difference</a:t>
            </a:r>
          </a:p>
          <a:p>
            <a:pPr marL="514350" indent="-514350">
              <a:buFont typeface="+mj-lt"/>
              <a:buAutoNum type="romanL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Optical flow</a:t>
            </a:r>
          </a:p>
          <a:p>
            <a:pPr marL="514350" indent="-514350">
              <a:buFont typeface="+mj-lt"/>
              <a:buAutoNum type="romanL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Background subtraction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Hybrid method</a:t>
            </a:r>
            <a:endParaRPr lang="ko-KR" altLang="en-US" sz="2000" dirty="0">
              <a:solidFill>
                <a:srgbClr val="3269A9"/>
              </a:solidFill>
              <a:latin typeface="+mn-ea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-15552" y="1700808"/>
            <a:ext cx="17557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4000" b="1" dirty="0"/>
              <a:t>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97" y="2791088"/>
            <a:ext cx="1893468" cy="186204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1500" b="1" dirty="0">
                <a:solidFill>
                  <a:schemeClr val="bg1">
                    <a:lumMod val="75000"/>
                  </a:schemeClr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5784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i. Frame difference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452500" y="1232755"/>
            <a:ext cx="8545397" cy="1404157"/>
          </a:xfrm>
          <a:prstGeom prst="rect">
            <a:avLst/>
          </a:prstGeom>
        </p:spPr>
        <p:txBody>
          <a:bodyPr/>
          <a:lstStyle>
            <a:lvl1pPr marL="342895" indent="-342895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8" indent="-285745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5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8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5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4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 this method, motion inside video is detected through the frame  difference between consecutive frames.</a:t>
            </a:r>
          </a:p>
          <a:p>
            <a:r>
              <a:rPr lang="en-US" sz="2000" dirty="0"/>
              <a:t>In frames difference method, pixel difference between frames is      considered to detect the motion present in video.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3"/>
          <a:srcRect t="6434"/>
          <a:stretch/>
        </p:blipFill>
        <p:spPr>
          <a:xfrm>
            <a:off x="640836" y="2708920"/>
            <a:ext cx="8344612" cy="240050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135285" y="5163066"/>
            <a:ext cx="34387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Frame difference between two consecutive frames</a:t>
            </a:r>
          </a:p>
        </p:txBody>
      </p:sp>
      <p:sp>
        <p:nvSpPr>
          <p:cNvPr id="34" name="Content Placeholder 2"/>
          <p:cNvSpPr txBox="1">
            <a:spLocks/>
          </p:cNvSpPr>
          <p:nvPr/>
        </p:nvSpPr>
        <p:spPr>
          <a:xfrm>
            <a:off x="386045" y="5506992"/>
            <a:ext cx="8611852" cy="514296"/>
          </a:xfrm>
          <a:prstGeom prst="rect">
            <a:avLst/>
          </a:prstGeom>
        </p:spPr>
        <p:txBody>
          <a:bodyPr/>
          <a:lstStyle>
            <a:lvl1pPr marL="342895" indent="-342895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8" indent="-285745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5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8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5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4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Figure shows the estimated change between two consecutive frames.</a:t>
            </a:r>
          </a:p>
        </p:txBody>
      </p:sp>
    </p:spTree>
    <p:extLst>
      <p:ext uri="{BB962C8B-B14F-4D97-AF65-F5344CB8AC3E}">
        <p14:creationId xmlns:p14="http://schemas.microsoft.com/office/powerpoint/2010/main" val="411439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i. Frame difference framework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452500" y="1232756"/>
            <a:ext cx="8545397" cy="1505868"/>
          </a:xfrm>
          <a:prstGeom prst="rect">
            <a:avLst/>
          </a:prstGeom>
        </p:spPr>
        <p:txBody>
          <a:bodyPr/>
          <a:lstStyle>
            <a:lvl1pPr marL="342895" indent="-342895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8" indent="-285745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5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8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5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4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This method comprises of the following steps:</a:t>
            </a:r>
          </a:p>
          <a:p>
            <a:pPr marL="800093" lvl="1" indent="-342900">
              <a:buFont typeface="+mj-lt"/>
              <a:buAutoNum type="arabicPeriod"/>
            </a:pPr>
            <a:r>
              <a:rPr lang="en-US" sz="1800" dirty="0"/>
              <a:t>Calculate pixel wise difference between two successive frames.</a:t>
            </a:r>
          </a:p>
          <a:p>
            <a:pPr marL="800093" lvl="1" indent="-342900">
              <a:buFont typeface="+mj-lt"/>
              <a:buAutoNum type="arabicPeriod"/>
            </a:pPr>
            <a:r>
              <a:rPr lang="en-US" sz="1800" dirty="0"/>
              <a:t>Convert the difference image into binary.</a:t>
            </a:r>
          </a:p>
          <a:p>
            <a:pPr marL="800093" lvl="1" indent="-342900">
              <a:buFont typeface="+mj-lt"/>
              <a:buAutoNum type="arabicPeriod"/>
            </a:pPr>
            <a:r>
              <a:rPr lang="en-US" sz="1800" dirty="0"/>
              <a:t>Compute binary image to detect motion.</a:t>
            </a:r>
            <a:endParaRPr lang="en-GB" sz="1800" dirty="0"/>
          </a:p>
        </p:txBody>
      </p:sp>
      <p:sp>
        <p:nvSpPr>
          <p:cNvPr id="17" name="Oval 16"/>
          <p:cNvSpPr/>
          <p:nvPr/>
        </p:nvSpPr>
        <p:spPr>
          <a:xfrm>
            <a:off x="3157177" y="2735513"/>
            <a:ext cx="336908" cy="2777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1" name="Oval 70"/>
          <p:cNvSpPr/>
          <p:nvPr/>
        </p:nvSpPr>
        <p:spPr>
          <a:xfrm>
            <a:off x="8301372" y="4260388"/>
            <a:ext cx="336908" cy="2847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4149" y="3418079"/>
            <a:ext cx="1126854" cy="808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iamond 32"/>
          <p:cNvSpPr/>
          <p:nvPr/>
        </p:nvSpPr>
        <p:spPr>
          <a:xfrm>
            <a:off x="5524208" y="3322786"/>
            <a:ext cx="2343290" cy="903486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Pixel value &gt; 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max/(max*0.5)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7838" y="4987056"/>
            <a:ext cx="1343883" cy="6595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Morphological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operations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1" y="3578764"/>
            <a:ext cx="706498" cy="25304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726" y="3630018"/>
            <a:ext cx="706498" cy="25304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210" y="3681273"/>
            <a:ext cx="706498" cy="25304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694" y="3737368"/>
            <a:ext cx="706498" cy="25304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629" y="3461614"/>
            <a:ext cx="873377" cy="31281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73" y="3863940"/>
            <a:ext cx="873377" cy="31281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077" y="5029296"/>
            <a:ext cx="1232336" cy="5576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35" y="4987056"/>
            <a:ext cx="1337339" cy="642681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2712549" y="4987056"/>
            <a:ext cx="1462801" cy="6426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Threshold Based    Motion Area 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Selection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2022013" y="3803696"/>
            <a:ext cx="383627" cy="40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3545500" y="3803695"/>
            <a:ext cx="375624" cy="40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5107567" y="3774429"/>
            <a:ext cx="4045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33" idx="2"/>
          </p:cNvCxnSpPr>
          <p:nvPr/>
        </p:nvCxnSpPr>
        <p:spPr>
          <a:xfrm flipH="1">
            <a:off x="6695852" y="4226272"/>
            <a:ext cx="1" cy="785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2" idx="1"/>
            <a:endCxn id="34" idx="3"/>
          </p:cNvCxnSpPr>
          <p:nvPr/>
        </p:nvCxnSpPr>
        <p:spPr>
          <a:xfrm flipH="1">
            <a:off x="5871721" y="5308097"/>
            <a:ext cx="294356" cy="87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145528" y="5309425"/>
            <a:ext cx="3823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>
            <a:off x="2337474" y="5327826"/>
            <a:ext cx="3823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022568" y="4218057"/>
            <a:ext cx="855474" cy="149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Input Video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1696" y="4237625"/>
            <a:ext cx="912389" cy="2376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Consecutive </a:t>
            </a:r>
          </a:p>
          <a:p>
            <a:pPr algn="ctr"/>
            <a:r>
              <a:rPr lang="en-US" sz="1050" b="1" dirty="0"/>
              <a:t>Frames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47069" y="4237625"/>
            <a:ext cx="1147345" cy="2376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Frames Absolute</a:t>
            </a:r>
          </a:p>
          <a:p>
            <a:pPr algn="ctr"/>
            <a:r>
              <a:rPr lang="en-US" sz="1050" b="1" dirty="0"/>
              <a:t>Difference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10727" y="5586896"/>
            <a:ext cx="943036" cy="145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Binary Image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6"/>
          <a:srcRect t="4185"/>
          <a:stretch/>
        </p:blipFill>
        <p:spPr>
          <a:xfrm>
            <a:off x="3940505" y="3439833"/>
            <a:ext cx="1155018" cy="786439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74241" y="5646563"/>
            <a:ext cx="1052422" cy="2945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Motion area</a:t>
            </a:r>
          </a:p>
        </p:txBody>
      </p:sp>
      <p:sp>
        <p:nvSpPr>
          <p:cNvPr id="30" name="Right Brace 29"/>
          <p:cNvSpPr/>
          <p:nvPr/>
        </p:nvSpPr>
        <p:spPr>
          <a:xfrm>
            <a:off x="7753110" y="3217691"/>
            <a:ext cx="428684" cy="2382746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Brace 71"/>
          <p:cNvSpPr/>
          <p:nvPr/>
        </p:nvSpPr>
        <p:spPr>
          <a:xfrm rot="16200000">
            <a:off x="2817299" y="1042629"/>
            <a:ext cx="459950" cy="409427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Brace 73"/>
          <p:cNvSpPr/>
          <p:nvPr/>
        </p:nvSpPr>
        <p:spPr>
          <a:xfrm rot="5400000">
            <a:off x="3205954" y="3550619"/>
            <a:ext cx="459950" cy="4871587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3004912" y="6051542"/>
            <a:ext cx="336908" cy="2777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4195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Optical flow based motion estimation framework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97418" y="1088741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23430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488504" y="1199878"/>
            <a:ext cx="8640960" cy="1927000"/>
          </a:xfrm>
          <a:prstGeom prst="rect">
            <a:avLst/>
          </a:prstGeom>
        </p:spPr>
        <p:txBody>
          <a:bodyPr/>
          <a:lstStyle>
            <a:lvl1pPr marL="342895" indent="-342895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8" indent="-285745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5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8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5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4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Motion estimation with optical flow</a:t>
            </a:r>
          </a:p>
          <a:p>
            <a:pPr lvl="1"/>
            <a:r>
              <a:rPr lang="en-US" sz="1600" dirty="0"/>
              <a:t>Optical flow motion detection technique is used to estimate the motion in each    frame of video sequence.</a:t>
            </a:r>
          </a:p>
          <a:p>
            <a:pPr lvl="1"/>
            <a:r>
              <a:rPr lang="en-US" sz="1600" dirty="0"/>
              <a:t>Consecutive frames at time (t, t + 1) are converted into HSI color model.</a:t>
            </a:r>
          </a:p>
          <a:p>
            <a:pPr lvl="1"/>
            <a:r>
              <a:rPr lang="en-US" sz="1600" dirty="0"/>
              <a:t>These frames are input to optical flow algorithm which detects the flow.</a:t>
            </a:r>
          </a:p>
          <a:p>
            <a:pPr lvl="1"/>
            <a:r>
              <a:rPr lang="en-US" sz="1600" dirty="0"/>
              <a:t>Flow is converted into binary, and maximum flow region inside binary image is    encircled.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3" y="3571322"/>
            <a:ext cx="1289164" cy="750343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15" y="3615503"/>
            <a:ext cx="1289164" cy="750343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777" y="3659684"/>
            <a:ext cx="1289164" cy="750343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39" y="3708038"/>
            <a:ext cx="1289164" cy="75034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87441" y="4506735"/>
            <a:ext cx="9785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Input Video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2403287" y="3986724"/>
            <a:ext cx="347400" cy="35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133535" y="4785064"/>
            <a:ext cx="9108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RGB to HSI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3781923" y="3986202"/>
            <a:ext cx="3100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5126885" y="3981683"/>
            <a:ext cx="347400" cy="35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465" y="3581909"/>
            <a:ext cx="1248903" cy="828118"/>
          </a:xfrm>
          <a:prstGeom prst="rect">
            <a:avLst/>
          </a:prstGeom>
        </p:spPr>
      </p:pic>
      <p:cxnSp>
        <p:nvCxnSpPr>
          <p:cNvPr id="73" name="Straight Arrow Connector 72"/>
          <p:cNvCxnSpPr/>
          <p:nvPr/>
        </p:nvCxnSpPr>
        <p:spPr>
          <a:xfrm flipH="1" flipV="1">
            <a:off x="6608441" y="5533922"/>
            <a:ext cx="422170" cy="37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Picture 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5734" y="5101466"/>
            <a:ext cx="1285153" cy="87241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966154" y="5949280"/>
            <a:ext cx="138431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Estimated motion in binary</a:t>
            </a:r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6608441" y="3962154"/>
            <a:ext cx="37419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Related images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18" t="15649" r="1515" b="5376"/>
          <a:stretch/>
        </p:blipFill>
        <p:spPr bwMode="auto">
          <a:xfrm>
            <a:off x="5478538" y="3612604"/>
            <a:ext cx="1147954" cy="81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TextBox 78"/>
          <p:cNvSpPr txBox="1"/>
          <p:nvPr/>
        </p:nvSpPr>
        <p:spPr>
          <a:xfrm>
            <a:off x="5546607" y="4469712"/>
            <a:ext cx="101181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Optical flow </a:t>
            </a:r>
          </a:p>
          <a:p>
            <a:pPr algn="ctr"/>
            <a:r>
              <a:rPr lang="en-US" sz="1050" b="1" dirty="0"/>
              <a:t>algorithm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53980" y="3286241"/>
            <a:ext cx="1018402" cy="1438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2913637" y="3760180"/>
            <a:ext cx="7299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Frame </a:t>
            </a:r>
            <a:r>
              <a:rPr lang="en-US" sz="1050" b="1" dirty="0" err="1"/>
              <a:t>i</a:t>
            </a:r>
            <a:endParaRPr lang="en-US" sz="105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2781529" y="4705690"/>
            <a:ext cx="97851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Consecutive frames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88904" y="3266714"/>
            <a:ext cx="1018402" cy="1438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2847688" y="4488722"/>
            <a:ext cx="8618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Frame i+1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8555" y="3301534"/>
            <a:ext cx="939512" cy="528889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5397" y="4021614"/>
            <a:ext cx="939512" cy="52888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205174" y="4488722"/>
            <a:ext cx="8618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Frame i+1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7658309" y="4617132"/>
            <a:ext cx="0" cy="4857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243238" y="3768231"/>
            <a:ext cx="7299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Frame </a:t>
            </a:r>
            <a:r>
              <a:rPr lang="en-US" sz="1050" b="1" dirty="0" err="1"/>
              <a:t>i</a:t>
            </a:r>
            <a:endParaRPr lang="en-US" sz="1050" b="1" dirty="0"/>
          </a:p>
        </p:txBody>
      </p:sp>
      <p:sp>
        <p:nvSpPr>
          <p:cNvPr id="90" name="TextBox 89"/>
          <p:cNvSpPr txBox="1"/>
          <p:nvPr/>
        </p:nvSpPr>
        <p:spPr>
          <a:xfrm>
            <a:off x="7098139" y="4423545"/>
            <a:ext cx="10855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Detected flow</a:t>
            </a:r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999" y="3321957"/>
            <a:ext cx="873595" cy="508466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999" y="4014413"/>
            <a:ext cx="873595" cy="508466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5042209" y="5197587"/>
            <a:ext cx="1541442" cy="6726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Compute maximum  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flow regions</a:t>
            </a:r>
          </a:p>
        </p:txBody>
      </p:sp>
      <p:cxnSp>
        <p:nvCxnSpPr>
          <p:cNvPr id="93" name="Straight Arrow Connector 92"/>
          <p:cNvCxnSpPr/>
          <p:nvPr/>
        </p:nvCxnSpPr>
        <p:spPr>
          <a:xfrm flipH="1" flipV="1">
            <a:off x="4602838" y="5521888"/>
            <a:ext cx="422170" cy="37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4387" y="5166502"/>
            <a:ext cx="1460766" cy="76119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310611" y="5998181"/>
            <a:ext cx="11483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Output results</a:t>
            </a:r>
          </a:p>
        </p:txBody>
      </p:sp>
    </p:spTree>
    <p:extLst>
      <p:ext uri="{BB962C8B-B14F-4D97-AF65-F5344CB8AC3E}">
        <p14:creationId xmlns:p14="http://schemas.microsoft.com/office/powerpoint/2010/main" val="605910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iii. Background subtraction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088741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488504" y="1199877"/>
            <a:ext cx="8640960" cy="2481151"/>
          </a:xfrm>
          <a:prstGeom prst="rect">
            <a:avLst/>
          </a:prstGeom>
        </p:spPr>
        <p:txBody>
          <a:bodyPr/>
          <a:lstStyle>
            <a:lvl1pPr marL="342895" indent="-342895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8" indent="-285745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5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8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50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3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4" indent="-228597" algn="l" defTabSz="914384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Background subtraction is a technique used for generating a             foreground mask by using static cameras.</a:t>
            </a:r>
            <a:endParaRPr lang="en-US" sz="1600" dirty="0"/>
          </a:p>
          <a:p>
            <a:r>
              <a:rPr lang="en-US" sz="2000" dirty="0"/>
              <a:t>Foreground mask is a binary image containing the pixels that          belong to moving objects in the scene.</a:t>
            </a:r>
          </a:p>
          <a:p>
            <a:r>
              <a:rPr lang="en-US" sz="2000" dirty="0"/>
              <a:t>Background subtraction algorithm calculates the foreground mask    by performing a subtraction between the current frame and a             background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4568" y="6118883"/>
            <a:ext cx="30235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Working of background selection algorithm</a:t>
            </a:r>
          </a:p>
        </p:txBody>
      </p:sp>
      <p:cxnSp>
        <p:nvCxnSpPr>
          <p:cNvPr id="35" name="Elbow Connector 34"/>
          <p:cNvCxnSpPr>
            <a:stCxn id="31" idx="3"/>
            <a:endCxn id="39" idx="4"/>
          </p:cNvCxnSpPr>
          <p:nvPr/>
        </p:nvCxnSpPr>
        <p:spPr>
          <a:xfrm flipV="1">
            <a:off x="5126106" y="4599293"/>
            <a:ext cx="582758" cy="1965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420832" y="4051720"/>
            <a:ext cx="576064" cy="54757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47" name="Minus 46"/>
          <p:cNvSpPr/>
          <p:nvPr/>
        </p:nvSpPr>
        <p:spPr>
          <a:xfrm>
            <a:off x="5459848" y="4213634"/>
            <a:ext cx="468052" cy="223478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Elbow Connector 48"/>
          <p:cNvCxnSpPr>
            <a:endCxn id="39" idx="0"/>
          </p:cNvCxnSpPr>
          <p:nvPr/>
        </p:nvCxnSpPr>
        <p:spPr>
          <a:xfrm>
            <a:off x="5210863" y="3840310"/>
            <a:ext cx="498001" cy="2114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327571" y="3991113"/>
            <a:ext cx="342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2" name="Group 91"/>
          <p:cNvGrpSpPr/>
          <p:nvPr/>
        </p:nvGrpSpPr>
        <p:grpSpPr>
          <a:xfrm>
            <a:off x="6285159" y="4051720"/>
            <a:ext cx="576064" cy="548994"/>
            <a:chOff x="6222501" y="4484287"/>
            <a:chExt cx="576064" cy="384624"/>
          </a:xfrm>
        </p:grpSpPr>
        <p:sp>
          <p:nvSpPr>
            <p:cNvPr id="52" name="Oval 51"/>
            <p:cNvSpPr/>
            <p:nvPr/>
          </p:nvSpPr>
          <p:spPr>
            <a:xfrm>
              <a:off x="6222501" y="4484287"/>
              <a:ext cx="576064" cy="3846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800" dirty="0"/>
            </a:p>
          </p:txBody>
        </p:sp>
        <p:sp>
          <p:nvSpPr>
            <p:cNvPr id="54" name="Isosceles Triangle 53"/>
            <p:cNvSpPr/>
            <p:nvPr/>
          </p:nvSpPr>
          <p:spPr>
            <a:xfrm rot="5400000">
              <a:off x="6454518" y="4514453"/>
              <a:ext cx="209088" cy="313082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5" name="Straight Arrow Connector 54"/>
          <p:cNvCxnSpPr/>
          <p:nvPr/>
        </p:nvCxnSpPr>
        <p:spPr>
          <a:xfrm>
            <a:off x="6853066" y="4326217"/>
            <a:ext cx="3506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156477" y="3803702"/>
            <a:ext cx="8210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Threshold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9792" y="4621803"/>
            <a:ext cx="13195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Foreground mask</a:t>
            </a:r>
          </a:p>
          <a:p>
            <a:pPr algn="ctr"/>
            <a:r>
              <a:rPr lang="en-US" dirty="0"/>
              <a:t> (motion area)</a:t>
            </a: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745" y="4019345"/>
            <a:ext cx="1074017" cy="602559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93" y="3854397"/>
            <a:ext cx="1020106" cy="593741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5" y="3898578"/>
            <a:ext cx="1020106" cy="59374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17" y="3942759"/>
            <a:ext cx="1020106" cy="593741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79" y="3991113"/>
            <a:ext cx="1020106" cy="593741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94049" y="4599293"/>
            <a:ext cx="9785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Input Video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09169" y="3695925"/>
            <a:ext cx="1018402" cy="1438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3665706" y="3288709"/>
            <a:ext cx="1509322" cy="2100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836" y="3743634"/>
            <a:ext cx="855432" cy="481180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259" y="4463714"/>
            <a:ext cx="855431" cy="48118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892" y="3385443"/>
            <a:ext cx="1407214" cy="791557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892" y="4404834"/>
            <a:ext cx="1407214" cy="781976"/>
          </a:xfrm>
          <a:prstGeom prst="rect">
            <a:avLst/>
          </a:prstGeom>
        </p:spPr>
      </p:pic>
      <p:cxnSp>
        <p:nvCxnSpPr>
          <p:cNvPr id="87" name="Straight Arrow Connector 86"/>
          <p:cNvCxnSpPr/>
          <p:nvPr/>
        </p:nvCxnSpPr>
        <p:spPr>
          <a:xfrm>
            <a:off x="1960085" y="4326217"/>
            <a:ext cx="342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709821" y="4119182"/>
            <a:ext cx="14077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Background model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69320" y="5134901"/>
            <a:ext cx="1088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Current frame</a:t>
            </a:r>
          </a:p>
        </p:txBody>
      </p:sp>
      <p:cxnSp>
        <p:nvCxnSpPr>
          <p:cNvPr id="89" name="Straight Arrow Connector 88"/>
          <p:cNvCxnSpPr/>
          <p:nvPr/>
        </p:nvCxnSpPr>
        <p:spPr>
          <a:xfrm>
            <a:off x="6014939" y="4320625"/>
            <a:ext cx="2830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468826" y="4169864"/>
            <a:ext cx="7299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Frame </a:t>
            </a:r>
            <a:r>
              <a:rPr lang="en-US" sz="1050" b="1" dirty="0" err="1"/>
              <a:t>i</a:t>
            </a:r>
            <a:endParaRPr lang="en-US" sz="1050" b="1" dirty="0"/>
          </a:p>
        </p:txBody>
      </p:sp>
      <p:sp>
        <p:nvSpPr>
          <p:cNvPr id="95" name="TextBox 94"/>
          <p:cNvSpPr txBox="1"/>
          <p:nvPr/>
        </p:nvSpPr>
        <p:spPr>
          <a:xfrm>
            <a:off x="2424680" y="4912820"/>
            <a:ext cx="8534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Frame i+1</a:t>
            </a:r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3327571" y="4795822"/>
            <a:ext cx="342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309169" y="5160918"/>
            <a:ext cx="97851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Consecutive frames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03745" y="5470309"/>
            <a:ext cx="1493671" cy="5567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Calculate maximum 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difference region </a:t>
            </a:r>
          </a:p>
        </p:txBody>
      </p:sp>
      <p:cxnSp>
        <p:nvCxnSpPr>
          <p:cNvPr id="102" name="Elbow Connector 101"/>
          <p:cNvCxnSpPr>
            <a:stCxn id="60" idx="3"/>
            <a:endCxn id="98" idx="3"/>
          </p:cNvCxnSpPr>
          <p:nvPr/>
        </p:nvCxnSpPr>
        <p:spPr>
          <a:xfrm>
            <a:off x="8277762" y="4320625"/>
            <a:ext cx="419654" cy="1428077"/>
          </a:xfrm>
          <a:prstGeom prst="bentConnector3">
            <a:avLst>
              <a:gd name="adj1" fmla="val 14438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98" idx="1"/>
          </p:cNvCxnSpPr>
          <p:nvPr/>
        </p:nvCxnSpPr>
        <p:spPr>
          <a:xfrm flipH="1">
            <a:off x="6770105" y="5748702"/>
            <a:ext cx="433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6" name="Picture 10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5456" y="5368104"/>
            <a:ext cx="1460766" cy="761196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492411" y="6125453"/>
            <a:ext cx="11483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422204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iv. Hybrid method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98491" y="1163790"/>
                <a:ext cx="8820980" cy="52565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05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𝑂𝑝𝑡𝑗𝑓𝑠𝑘𝑙𝑗𝑎𝑓𝑘𝑑𝑙𝑗𝑎𝑠𝑑𝑗𝑓𝑘𝑙𝑗𝑎𝑠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05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105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91" y="1163790"/>
                <a:ext cx="8820980" cy="5256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1110563" y="1343408"/>
            <a:ext cx="910785" cy="653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Diamond 45"/>
              <p:cNvSpPr/>
              <p:nvPr/>
            </p:nvSpPr>
            <p:spPr>
              <a:xfrm>
                <a:off x="3472635" y="1232756"/>
                <a:ext cx="1481462" cy="866096"/>
              </a:xfrm>
              <a:prstGeom prst="diamond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𝑃𝑖𝑥𝑒𝑙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num>
                        <m:den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∗0.5</m:t>
                          </m:r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Diamond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635" y="1232756"/>
                <a:ext cx="1481462" cy="866096"/>
              </a:xfrm>
              <a:prstGeom prst="diamond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Picture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96" y="2916522"/>
            <a:ext cx="653412" cy="380311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58" y="2960703"/>
            <a:ext cx="653412" cy="380311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20" y="3004884"/>
            <a:ext cx="653412" cy="380311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82" y="3053238"/>
            <a:ext cx="653412" cy="38031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348" y="1380935"/>
            <a:ext cx="807751" cy="269644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013" y="1685111"/>
            <a:ext cx="807751" cy="269644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0037" y="1424085"/>
            <a:ext cx="780826" cy="483438"/>
          </a:xfrm>
          <a:prstGeom prst="rect">
            <a:avLst/>
          </a:prstGeom>
        </p:spPr>
      </p:pic>
      <p:cxnSp>
        <p:nvCxnSpPr>
          <p:cNvPr id="69" name="Straight Arrow Connector 68"/>
          <p:cNvCxnSpPr/>
          <p:nvPr/>
        </p:nvCxnSpPr>
        <p:spPr>
          <a:xfrm>
            <a:off x="2039046" y="1659800"/>
            <a:ext cx="347400" cy="35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130892" y="1647850"/>
            <a:ext cx="3417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97561" y="3480015"/>
            <a:ext cx="791194" cy="128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Input Video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2505" y="2010276"/>
            <a:ext cx="1460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Consecutive Frames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63784" y="2005668"/>
            <a:ext cx="14556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Absolute difference</a:t>
            </a: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5315918" y="1409507"/>
            <a:ext cx="780826" cy="495516"/>
          </a:xfrm>
          <a:prstGeom prst="rect">
            <a:avLst/>
          </a:prstGeom>
        </p:spPr>
      </p:pic>
      <p:cxnSp>
        <p:nvCxnSpPr>
          <p:cNvPr id="87" name="Straight Arrow Connector 86"/>
          <p:cNvCxnSpPr/>
          <p:nvPr/>
        </p:nvCxnSpPr>
        <p:spPr>
          <a:xfrm>
            <a:off x="4954097" y="1671586"/>
            <a:ext cx="37419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13183" y="2621215"/>
            <a:ext cx="711250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50" idx="0"/>
            <a:endCxn id="45" idx="1"/>
          </p:cNvCxnSpPr>
          <p:nvPr/>
        </p:nvCxnSpPr>
        <p:spPr>
          <a:xfrm rot="5400000" flipH="1" flipV="1">
            <a:off x="339069" y="2145029"/>
            <a:ext cx="1246127" cy="29686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4748" y="2895674"/>
            <a:ext cx="923352" cy="519792"/>
          </a:xfrm>
          <a:prstGeom prst="rect">
            <a:avLst/>
          </a:prstGeom>
        </p:spPr>
      </p:pic>
      <p:cxnSp>
        <p:nvCxnSpPr>
          <p:cNvPr id="94" name="Straight Arrow Connector 93"/>
          <p:cNvCxnSpPr/>
          <p:nvPr/>
        </p:nvCxnSpPr>
        <p:spPr>
          <a:xfrm>
            <a:off x="1361123" y="3158767"/>
            <a:ext cx="347400" cy="35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630820" y="3518883"/>
            <a:ext cx="9108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RGB to HSI</a:t>
            </a:r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2576736" y="3158767"/>
            <a:ext cx="2818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2887862" y="2871325"/>
            <a:ext cx="1190516" cy="5748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Optical flow 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algorithm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4078378" y="3146647"/>
            <a:ext cx="347400" cy="35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583176" y="3518883"/>
            <a:ext cx="9252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Flow image</a:t>
            </a:r>
          </a:p>
        </p:txBody>
      </p:sp>
      <p:cxnSp>
        <p:nvCxnSpPr>
          <p:cNvPr id="106" name="Straight Arrow Connector 105"/>
          <p:cNvCxnSpPr/>
          <p:nvPr/>
        </p:nvCxnSpPr>
        <p:spPr>
          <a:xfrm>
            <a:off x="5639902" y="3112179"/>
            <a:ext cx="347400" cy="35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1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2588" y="2761199"/>
            <a:ext cx="1248903" cy="70196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5954924" y="3477281"/>
            <a:ext cx="13442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Estimated motion in binary</a:t>
            </a: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73127" y="3989367"/>
            <a:ext cx="711250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Elbow Connector 116"/>
          <p:cNvCxnSpPr>
            <a:stCxn id="114" idx="3"/>
            <a:endCxn id="118" idx="4"/>
          </p:cNvCxnSpPr>
          <p:nvPr/>
        </p:nvCxnSpPr>
        <p:spPr>
          <a:xfrm flipV="1">
            <a:off x="2639789" y="5080658"/>
            <a:ext cx="441003" cy="2816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2792760" y="4633866"/>
            <a:ext cx="576064" cy="4467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19" name="Minus 118"/>
          <p:cNvSpPr/>
          <p:nvPr/>
        </p:nvSpPr>
        <p:spPr>
          <a:xfrm>
            <a:off x="2856007" y="4757311"/>
            <a:ext cx="468052" cy="223478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Elbow Connector 119"/>
          <p:cNvCxnSpPr>
            <a:stCxn id="112" idx="3"/>
            <a:endCxn id="118" idx="0"/>
          </p:cNvCxnSpPr>
          <p:nvPr/>
        </p:nvCxnSpPr>
        <p:spPr>
          <a:xfrm>
            <a:off x="2650536" y="4460571"/>
            <a:ext cx="430256" cy="1732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18" idx="6"/>
          </p:cNvCxnSpPr>
          <p:nvPr/>
        </p:nvCxnSpPr>
        <p:spPr>
          <a:xfrm>
            <a:off x="3368824" y="4857262"/>
            <a:ext cx="501486" cy="8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5450100" y="4603398"/>
            <a:ext cx="576064" cy="4954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6" name="Isosceles Triangle 125"/>
          <p:cNvSpPr/>
          <p:nvPr/>
        </p:nvSpPr>
        <p:spPr>
          <a:xfrm rot="5400000">
            <a:off x="5662151" y="4704293"/>
            <a:ext cx="209088" cy="31308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7" name="Straight Arrow Connector 126"/>
          <p:cNvCxnSpPr/>
          <p:nvPr/>
        </p:nvCxnSpPr>
        <p:spPr>
          <a:xfrm flipV="1">
            <a:off x="6006198" y="4860834"/>
            <a:ext cx="284266" cy="7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5356165" y="4391393"/>
            <a:ext cx="8210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Threshold</a:t>
            </a:r>
          </a:p>
        </p:txBody>
      </p:sp>
      <p:pic>
        <p:nvPicPr>
          <p:cNvPr id="130" name="Picture 1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9719" y="4487958"/>
            <a:ext cx="1142822" cy="707563"/>
          </a:xfrm>
          <a:prstGeom prst="rect">
            <a:avLst/>
          </a:prstGeom>
        </p:spPr>
      </p:pic>
      <p:cxnSp>
        <p:nvCxnSpPr>
          <p:cNvPr id="131" name="Straight Arrow Connector 130"/>
          <p:cNvCxnSpPr/>
          <p:nvPr/>
        </p:nvCxnSpPr>
        <p:spPr>
          <a:xfrm>
            <a:off x="4928648" y="4854007"/>
            <a:ext cx="5014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2" name="Picture 131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6296181" y="4512146"/>
            <a:ext cx="1072637" cy="680701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1193025" y="4072044"/>
            <a:ext cx="1505582" cy="17567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" name="Picture 1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661" y="4147839"/>
            <a:ext cx="1364875" cy="625464"/>
          </a:xfrm>
          <a:prstGeom prst="rect">
            <a:avLst/>
          </a:prstGeom>
        </p:spPr>
      </p:pic>
      <p:pic>
        <p:nvPicPr>
          <p:cNvPr id="114" name="Picture 1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986" y="5052797"/>
            <a:ext cx="1366803" cy="619018"/>
          </a:xfrm>
          <a:prstGeom prst="rect">
            <a:avLst/>
          </a:prstGeom>
        </p:spPr>
      </p:pic>
      <p:cxnSp>
        <p:nvCxnSpPr>
          <p:cNvPr id="142" name="Elbow Connector 141"/>
          <p:cNvCxnSpPr>
            <a:endCxn id="136" idx="1"/>
          </p:cNvCxnSpPr>
          <p:nvPr/>
        </p:nvCxnSpPr>
        <p:spPr>
          <a:xfrm rot="16200000" flipH="1">
            <a:off x="389796" y="4147199"/>
            <a:ext cx="1206590" cy="39986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3758111" y="5193196"/>
            <a:ext cx="13353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Subtracted image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228698" y="5623356"/>
            <a:ext cx="1478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Background model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04897" y="4723991"/>
            <a:ext cx="1478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Current frame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80815" y="2401374"/>
            <a:ext cx="14556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Frame difference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14679" y="3740610"/>
            <a:ext cx="14556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Optical flow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6912" y="4941168"/>
            <a:ext cx="14556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Background</a:t>
            </a:r>
          </a:p>
          <a:p>
            <a:pPr algn="ctr"/>
            <a:r>
              <a:rPr lang="en-US" sz="1050" b="1" dirty="0"/>
              <a:t>subtraction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032543" y="1952963"/>
            <a:ext cx="13442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Estimated motion in binary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135397" y="5239363"/>
            <a:ext cx="13442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Estimated motion in binary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929177" y="1424403"/>
            <a:ext cx="965304" cy="21789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pic>
        <p:nvPicPr>
          <p:cNvPr id="183" name="Picture 182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8009422" y="3077032"/>
            <a:ext cx="766729" cy="486570"/>
          </a:xfrm>
          <a:prstGeom prst="rect">
            <a:avLst/>
          </a:prstGeom>
        </p:spPr>
      </p:pic>
      <p:pic>
        <p:nvPicPr>
          <p:cNvPr id="181" name="Picture 180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7998773" y="1483268"/>
            <a:ext cx="781338" cy="495841"/>
          </a:xfrm>
          <a:prstGeom prst="rect">
            <a:avLst/>
          </a:prstGeom>
        </p:spPr>
      </p:pic>
      <p:cxnSp>
        <p:nvCxnSpPr>
          <p:cNvPr id="192" name="Straight Arrow Connector 191"/>
          <p:cNvCxnSpPr>
            <a:stCxn id="188" idx="2"/>
          </p:cNvCxnSpPr>
          <p:nvPr/>
        </p:nvCxnSpPr>
        <p:spPr>
          <a:xfrm>
            <a:off x="8411829" y="3603392"/>
            <a:ext cx="10" cy="312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/>
          <p:cNvCxnSpPr/>
          <p:nvPr/>
        </p:nvCxnSpPr>
        <p:spPr>
          <a:xfrm flipV="1">
            <a:off x="6096744" y="1689425"/>
            <a:ext cx="1832433" cy="113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lbow Connector 201"/>
          <p:cNvCxnSpPr>
            <a:endCxn id="188" idx="1"/>
          </p:cNvCxnSpPr>
          <p:nvPr/>
        </p:nvCxnSpPr>
        <p:spPr>
          <a:xfrm flipV="1">
            <a:off x="7251491" y="2513898"/>
            <a:ext cx="677686" cy="600047"/>
          </a:xfrm>
          <a:prstGeom prst="bentConnector3">
            <a:avLst>
              <a:gd name="adj1" fmla="val 5999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5" name="Elbow Connector 204"/>
          <p:cNvCxnSpPr/>
          <p:nvPr/>
        </p:nvCxnSpPr>
        <p:spPr>
          <a:xfrm flipV="1">
            <a:off x="7293260" y="3289349"/>
            <a:ext cx="640604" cy="1615815"/>
          </a:xfrm>
          <a:prstGeom prst="bentConnector3">
            <a:avLst>
              <a:gd name="adj1" fmla="val 5660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9" name="Rectangle 208"/>
          <p:cNvSpPr/>
          <p:nvPr/>
        </p:nvSpPr>
        <p:spPr>
          <a:xfrm>
            <a:off x="7426043" y="5045620"/>
            <a:ext cx="1764042" cy="6481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If area &gt;= 50, confidence = 100%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Between 40&amp;50,confidence=95%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Between 30&amp;40,confidence=90%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Area &lt; 20, confidence = 80%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804932" y="4381654"/>
            <a:ext cx="12137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Final estimated </a:t>
            </a:r>
          </a:p>
          <a:p>
            <a:pPr algn="ctr"/>
            <a:r>
              <a:rPr lang="en-US" dirty="0"/>
              <a:t>motion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871377" y="1199131"/>
            <a:ext cx="10361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Intersection</a:t>
            </a:r>
          </a:p>
        </p:txBody>
      </p:sp>
      <p:cxnSp>
        <p:nvCxnSpPr>
          <p:cNvPr id="216" name="Straight Arrow Connector 215"/>
          <p:cNvCxnSpPr/>
          <p:nvPr/>
        </p:nvCxnSpPr>
        <p:spPr>
          <a:xfrm>
            <a:off x="8373380" y="4728304"/>
            <a:ext cx="10" cy="312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Elbow Connector 219"/>
          <p:cNvCxnSpPr/>
          <p:nvPr/>
        </p:nvCxnSpPr>
        <p:spPr>
          <a:xfrm rot="5400000">
            <a:off x="7686254" y="5413201"/>
            <a:ext cx="193743" cy="10498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7185248" y="6116462"/>
            <a:ext cx="9950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Final output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431636" y="5651861"/>
            <a:ext cx="18109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Compute area of motion</a:t>
            </a:r>
          </a:p>
        </p:txBody>
      </p:sp>
      <p:pic>
        <p:nvPicPr>
          <p:cNvPr id="226" name="Picture 2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0295" y="5626702"/>
            <a:ext cx="1331196" cy="752776"/>
          </a:xfrm>
          <a:prstGeom prst="rect">
            <a:avLst/>
          </a:prstGeom>
        </p:spPr>
      </p:pic>
      <p:sp>
        <p:nvSpPr>
          <p:cNvPr id="227" name="Block Arc 226"/>
          <p:cNvSpPr/>
          <p:nvPr/>
        </p:nvSpPr>
        <p:spPr>
          <a:xfrm>
            <a:off x="8285768" y="2010243"/>
            <a:ext cx="252122" cy="501704"/>
          </a:xfrm>
          <a:prstGeom prst="blockArc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8" name="Block Arc 227"/>
          <p:cNvSpPr/>
          <p:nvPr/>
        </p:nvSpPr>
        <p:spPr>
          <a:xfrm>
            <a:off x="8285768" y="2777086"/>
            <a:ext cx="252122" cy="501704"/>
          </a:xfrm>
          <a:prstGeom prst="blockArc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1" name="Picture 10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4139" y="2780884"/>
            <a:ext cx="1248903" cy="700437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7999797" y="2288859"/>
            <a:ext cx="780826" cy="495516"/>
          </a:xfrm>
          <a:prstGeom prst="rect">
            <a:avLst/>
          </a:prstGeom>
        </p:spPr>
      </p:pic>
      <p:pic>
        <p:nvPicPr>
          <p:cNvPr id="102" name="Picture 101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7999977" y="3891156"/>
            <a:ext cx="766729" cy="48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91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iv. Hybrid method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98491" y="1163790"/>
                <a:ext cx="8820980" cy="52565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05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𝑂𝑝𝑡𝑗𝑓𝑠𝑘𝑙𝑗𝑎𝑓𝑘𝑑𝑙𝑗𝑎𝑠𝑑𝑗𝑓𝑘𝑙𝑗𝑎𝑠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05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sz="105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91" y="1163790"/>
                <a:ext cx="8820980" cy="5256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1110563" y="1343408"/>
            <a:ext cx="910785" cy="653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Diamond 45"/>
              <p:cNvSpPr/>
              <p:nvPr/>
            </p:nvSpPr>
            <p:spPr>
              <a:xfrm>
                <a:off x="3472635" y="1232756"/>
                <a:ext cx="1481462" cy="866096"/>
              </a:xfrm>
              <a:prstGeom prst="diamond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𝑃𝑖𝑥𝑒𝑙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num>
                        <m:den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∗0.5</m:t>
                          </m:r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Diamond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635" y="1232756"/>
                <a:ext cx="1481462" cy="866096"/>
              </a:xfrm>
              <a:prstGeom prst="diamond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Picture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96" y="2916522"/>
            <a:ext cx="653412" cy="380311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58" y="2960703"/>
            <a:ext cx="653412" cy="380311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20" y="3004884"/>
            <a:ext cx="653412" cy="380311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82" y="3053238"/>
            <a:ext cx="653412" cy="380311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348" y="1380935"/>
            <a:ext cx="807751" cy="269644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013" y="1685111"/>
            <a:ext cx="807751" cy="269644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0037" y="1424085"/>
            <a:ext cx="780826" cy="483438"/>
          </a:xfrm>
          <a:prstGeom prst="rect">
            <a:avLst/>
          </a:prstGeom>
        </p:spPr>
      </p:pic>
      <p:cxnSp>
        <p:nvCxnSpPr>
          <p:cNvPr id="69" name="Straight Arrow Connector 68"/>
          <p:cNvCxnSpPr/>
          <p:nvPr/>
        </p:nvCxnSpPr>
        <p:spPr>
          <a:xfrm>
            <a:off x="2039046" y="1659800"/>
            <a:ext cx="347400" cy="35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130892" y="1647850"/>
            <a:ext cx="3417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97561" y="3480015"/>
            <a:ext cx="791194" cy="128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Input Video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2505" y="2010276"/>
            <a:ext cx="14606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Consecutive Frames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63784" y="2005668"/>
            <a:ext cx="14556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Absolute difference</a:t>
            </a: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5315918" y="1409507"/>
            <a:ext cx="780826" cy="495516"/>
          </a:xfrm>
          <a:prstGeom prst="rect">
            <a:avLst/>
          </a:prstGeom>
        </p:spPr>
      </p:pic>
      <p:cxnSp>
        <p:nvCxnSpPr>
          <p:cNvPr id="87" name="Straight Arrow Connector 86"/>
          <p:cNvCxnSpPr/>
          <p:nvPr/>
        </p:nvCxnSpPr>
        <p:spPr>
          <a:xfrm>
            <a:off x="4954097" y="1671586"/>
            <a:ext cx="37419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13183" y="2621215"/>
            <a:ext cx="711250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50" idx="0"/>
            <a:endCxn id="45" idx="1"/>
          </p:cNvCxnSpPr>
          <p:nvPr/>
        </p:nvCxnSpPr>
        <p:spPr>
          <a:xfrm rot="5400000" flipH="1" flipV="1">
            <a:off x="339069" y="2145029"/>
            <a:ext cx="1246127" cy="29686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4748" y="2895674"/>
            <a:ext cx="923352" cy="519792"/>
          </a:xfrm>
          <a:prstGeom prst="rect">
            <a:avLst/>
          </a:prstGeom>
        </p:spPr>
      </p:pic>
      <p:cxnSp>
        <p:nvCxnSpPr>
          <p:cNvPr id="94" name="Straight Arrow Connector 93"/>
          <p:cNvCxnSpPr/>
          <p:nvPr/>
        </p:nvCxnSpPr>
        <p:spPr>
          <a:xfrm>
            <a:off x="1361123" y="3158767"/>
            <a:ext cx="347400" cy="35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630820" y="3518883"/>
            <a:ext cx="9108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RGB to HSI</a:t>
            </a:r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2576736" y="3158767"/>
            <a:ext cx="2818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2887862" y="2871325"/>
            <a:ext cx="1190516" cy="5748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Optical flow 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algorithm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4078378" y="3146647"/>
            <a:ext cx="347400" cy="35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583176" y="3518883"/>
            <a:ext cx="9252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Flow image</a:t>
            </a:r>
          </a:p>
        </p:txBody>
      </p:sp>
      <p:cxnSp>
        <p:nvCxnSpPr>
          <p:cNvPr id="106" name="Straight Arrow Connector 105"/>
          <p:cNvCxnSpPr/>
          <p:nvPr/>
        </p:nvCxnSpPr>
        <p:spPr>
          <a:xfrm>
            <a:off x="5639902" y="3112179"/>
            <a:ext cx="347400" cy="35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1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2588" y="2761199"/>
            <a:ext cx="1248903" cy="70196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5954924" y="3477281"/>
            <a:ext cx="13442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Estimated motion in binary</a:t>
            </a: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73127" y="3989367"/>
            <a:ext cx="711250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Elbow Connector 116"/>
          <p:cNvCxnSpPr>
            <a:stCxn id="114" idx="3"/>
            <a:endCxn id="118" idx="4"/>
          </p:cNvCxnSpPr>
          <p:nvPr/>
        </p:nvCxnSpPr>
        <p:spPr>
          <a:xfrm flipV="1">
            <a:off x="2639789" y="5080658"/>
            <a:ext cx="441003" cy="2816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2792760" y="4633866"/>
            <a:ext cx="576064" cy="4467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19" name="Minus 118"/>
          <p:cNvSpPr/>
          <p:nvPr/>
        </p:nvSpPr>
        <p:spPr>
          <a:xfrm>
            <a:off x="2856007" y="4757311"/>
            <a:ext cx="468052" cy="223478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Elbow Connector 119"/>
          <p:cNvCxnSpPr>
            <a:stCxn id="112" idx="3"/>
            <a:endCxn id="118" idx="0"/>
          </p:cNvCxnSpPr>
          <p:nvPr/>
        </p:nvCxnSpPr>
        <p:spPr>
          <a:xfrm>
            <a:off x="2650536" y="4460571"/>
            <a:ext cx="430256" cy="1732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18" idx="6"/>
          </p:cNvCxnSpPr>
          <p:nvPr/>
        </p:nvCxnSpPr>
        <p:spPr>
          <a:xfrm>
            <a:off x="3368824" y="4857262"/>
            <a:ext cx="501486" cy="8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5450100" y="4603398"/>
            <a:ext cx="576064" cy="4954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6" name="Isosceles Triangle 125"/>
          <p:cNvSpPr/>
          <p:nvPr/>
        </p:nvSpPr>
        <p:spPr>
          <a:xfrm rot="5400000">
            <a:off x="5662151" y="4704293"/>
            <a:ext cx="209088" cy="313082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7" name="Straight Arrow Connector 126"/>
          <p:cNvCxnSpPr/>
          <p:nvPr/>
        </p:nvCxnSpPr>
        <p:spPr>
          <a:xfrm flipV="1">
            <a:off x="6006198" y="4860834"/>
            <a:ext cx="284266" cy="7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5356165" y="4391393"/>
            <a:ext cx="8210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Threshold</a:t>
            </a:r>
          </a:p>
        </p:txBody>
      </p:sp>
      <p:pic>
        <p:nvPicPr>
          <p:cNvPr id="130" name="Picture 1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9719" y="4487958"/>
            <a:ext cx="1142822" cy="707563"/>
          </a:xfrm>
          <a:prstGeom prst="rect">
            <a:avLst/>
          </a:prstGeom>
        </p:spPr>
      </p:pic>
      <p:cxnSp>
        <p:nvCxnSpPr>
          <p:cNvPr id="131" name="Straight Arrow Connector 130"/>
          <p:cNvCxnSpPr/>
          <p:nvPr/>
        </p:nvCxnSpPr>
        <p:spPr>
          <a:xfrm>
            <a:off x="4928648" y="4854007"/>
            <a:ext cx="5014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2" name="Picture 131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6296181" y="4512146"/>
            <a:ext cx="1072637" cy="680701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1193025" y="4072044"/>
            <a:ext cx="1505582" cy="17567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" name="Picture 1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661" y="4147839"/>
            <a:ext cx="1364875" cy="625464"/>
          </a:xfrm>
          <a:prstGeom prst="rect">
            <a:avLst/>
          </a:prstGeom>
        </p:spPr>
      </p:pic>
      <p:pic>
        <p:nvPicPr>
          <p:cNvPr id="114" name="Picture 1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986" y="5052797"/>
            <a:ext cx="1366803" cy="619018"/>
          </a:xfrm>
          <a:prstGeom prst="rect">
            <a:avLst/>
          </a:prstGeom>
        </p:spPr>
      </p:pic>
      <p:cxnSp>
        <p:nvCxnSpPr>
          <p:cNvPr id="142" name="Elbow Connector 141"/>
          <p:cNvCxnSpPr>
            <a:endCxn id="136" idx="1"/>
          </p:cNvCxnSpPr>
          <p:nvPr/>
        </p:nvCxnSpPr>
        <p:spPr>
          <a:xfrm rot="16200000" flipH="1">
            <a:off x="389796" y="4147199"/>
            <a:ext cx="1206590" cy="39986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3758111" y="5193196"/>
            <a:ext cx="13353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Subtracted image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228698" y="5623356"/>
            <a:ext cx="1478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Background model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04897" y="4723991"/>
            <a:ext cx="1478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Current frame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80815" y="2401374"/>
            <a:ext cx="14556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Frame difference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14679" y="3740610"/>
            <a:ext cx="14556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Optical flow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6912" y="4941168"/>
            <a:ext cx="14556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Background</a:t>
            </a:r>
          </a:p>
          <a:p>
            <a:pPr algn="ctr"/>
            <a:r>
              <a:rPr lang="en-US" sz="1050" b="1" dirty="0"/>
              <a:t>subtraction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032543" y="1952963"/>
            <a:ext cx="13442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Estimated motion in binary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135397" y="5239363"/>
            <a:ext cx="13442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Estimated motion in binary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929177" y="1424403"/>
            <a:ext cx="965304" cy="21789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pic>
        <p:nvPicPr>
          <p:cNvPr id="183" name="Picture 182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8009422" y="3077032"/>
            <a:ext cx="766729" cy="486570"/>
          </a:xfrm>
          <a:prstGeom prst="rect">
            <a:avLst/>
          </a:prstGeom>
        </p:spPr>
      </p:pic>
      <p:pic>
        <p:nvPicPr>
          <p:cNvPr id="181" name="Picture 180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7998773" y="1483268"/>
            <a:ext cx="781338" cy="495841"/>
          </a:xfrm>
          <a:prstGeom prst="rect">
            <a:avLst/>
          </a:prstGeom>
        </p:spPr>
      </p:pic>
      <p:cxnSp>
        <p:nvCxnSpPr>
          <p:cNvPr id="192" name="Straight Arrow Connector 191"/>
          <p:cNvCxnSpPr>
            <a:stCxn id="188" idx="2"/>
          </p:cNvCxnSpPr>
          <p:nvPr/>
        </p:nvCxnSpPr>
        <p:spPr>
          <a:xfrm>
            <a:off x="8411829" y="3603392"/>
            <a:ext cx="10" cy="312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/>
          <p:cNvCxnSpPr/>
          <p:nvPr/>
        </p:nvCxnSpPr>
        <p:spPr>
          <a:xfrm flipV="1">
            <a:off x="6096744" y="1689425"/>
            <a:ext cx="1832433" cy="113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lbow Connector 201"/>
          <p:cNvCxnSpPr>
            <a:endCxn id="188" idx="1"/>
          </p:cNvCxnSpPr>
          <p:nvPr/>
        </p:nvCxnSpPr>
        <p:spPr>
          <a:xfrm flipV="1">
            <a:off x="7251491" y="2513898"/>
            <a:ext cx="677686" cy="600047"/>
          </a:xfrm>
          <a:prstGeom prst="bentConnector3">
            <a:avLst>
              <a:gd name="adj1" fmla="val 5999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5" name="Elbow Connector 204"/>
          <p:cNvCxnSpPr/>
          <p:nvPr/>
        </p:nvCxnSpPr>
        <p:spPr>
          <a:xfrm flipV="1">
            <a:off x="7293260" y="3289349"/>
            <a:ext cx="640604" cy="1615815"/>
          </a:xfrm>
          <a:prstGeom prst="bentConnector3">
            <a:avLst>
              <a:gd name="adj1" fmla="val 5660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9" name="Rectangle 208"/>
          <p:cNvSpPr/>
          <p:nvPr/>
        </p:nvSpPr>
        <p:spPr>
          <a:xfrm>
            <a:off x="7426043" y="5045620"/>
            <a:ext cx="1764042" cy="6481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Match with expert data and draw ellipses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804932" y="4381654"/>
            <a:ext cx="12137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Final estimated </a:t>
            </a:r>
          </a:p>
          <a:p>
            <a:pPr algn="ctr"/>
            <a:r>
              <a:rPr lang="en-US" dirty="0"/>
              <a:t>motion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871377" y="1199131"/>
            <a:ext cx="10361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pPr algn="ctr"/>
            <a:r>
              <a:rPr lang="en-US" dirty="0"/>
              <a:t>Intersection</a:t>
            </a:r>
          </a:p>
        </p:txBody>
      </p:sp>
      <p:cxnSp>
        <p:nvCxnSpPr>
          <p:cNvPr id="216" name="Straight Arrow Connector 215"/>
          <p:cNvCxnSpPr/>
          <p:nvPr/>
        </p:nvCxnSpPr>
        <p:spPr>
          <a:xfrm>
            <a:off x="8373380" y="4728304"/>
            <a:ext cx="10" cy="312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Elbow Connector 219"/>
          <p:cNvCxnSpPr>
            <a:stCxn id="209" idx="2"/>
            <a:endCxn id="103" idx="3"/>
          </p:cNvCxnSpPr>
          <p:nvPr/>
        </p:nvCxnSpPr>
        <p:spPr>
          <a:xfrm rot="5400000">
            <a:off x="7544947" y="5380413"/>
            <a:ext cx="449763" cy="107647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7185248" y="6183495"/>
            <a:ext cx="9950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Final output</a:t>
            </a:r>
          </a:p>
        </p:txBody>
      </p:sp>
      <p:sp>
        <p:nvSpPr>
          <p:cNvPr id="227" name="Block Arc 226"/>
          <p:cNvSpPr/>
          <p:nvPr/>
        </p:nvSpPr>
        <p:spPr>
          <a:xfrm>
            <a:off x="8285768" y="2010243"/>
            <a:ext cx="252122" cy="501704"/>
          </a:xfrm>
          <a:prstGeom prst="blockArc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8" name="Block Arc 227"/>
          <p:cNvSpPr/>
          <p:nvPr/>
        </p:nvSpPr>
        <p:spPr>
          <a:xfrm>
            <a:off x="8285768" y="2777086"/>
            <a:ext cx="252122" cy="501704"/>
          </a:xfrm>
          <a:prstGeom prst="blockArc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1" name="Picture 1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4139" y="2780884"/>
            <a:ext cx="1248903" cy="700437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7999797" y="2288859"/>
            <a:ext cx="780826" cy="495516"/>
          </a:xfrm>
          <a:prstGeom prst="rect">
            <a:avLst/>
          </a:prstGeom>
        </p:spPr>
      </p:pic>
      <p:pic>
        <p:nvPicPr>
          <p:cNvPr id="102" name="Picture 101"/>
          <p:cNvPicPr>
            <a:picLocks noChangeAspect="1"/>
          </p:cNvPicPr>
          <p:nvPr/>
        </p:nvPicPr>
        <p:blipFill rotWithShape="1">
          <a:blip r:embed="rId7"/>
          <a:srcRect t="4185"/>
          <a:stretch/>
        </p:blipFill>
        <p:spPr>
          <a:xfrm>
            <a:off x="7999977" y="3891156"/>
            <a:ext cx="766729" cy="486570"/>
          </a:xfrm>
          <a:prstGeom prst="rect">
            <a:avLst/>
          </a:pr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8504" y="5653705"/>
            <a:ext cx="2163087" cy="979651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 rot="20967019">
            <a:off x="5780893" y="6177688"/>
            <a:ext cx="463665" cy="20547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996458" y="5624092"/>
            <a:ext cx="2188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FF00"/>
                </a:solidFill>
              </a:rPr>
              <a:t>Breathing, Confidence = 100%</a:t>
            </a:r>
          </a:p>
        </p:txBody>
      </p:sp>
    </p:spTree>
    <p:extLst>
      <p:ext uri="{BB962C8B-B14F-4D97-AF65-F5344CB8AC3E}">
        <p14:creationId xmlns:p14="http://schemas.microsoft.com/office/powerpoint/2010/main" val="3338601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433290" y="1880828"/>
            <a:ext cx="144016" cy="4392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8444681" y="728700"/>
            <a:ext cx="1363583" cy="1238164"/>
            <a:chOff x="8444681" y="728700"/>
            <a:chExt cx="1363583" cy="123816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l="69440" t="8343" r="9770" b="72372"/>
            <a:stretch/>
          </p:blipFill>
          <p:spPr>
            <a:xfrm>
              <a:off x="9237476" y="1596222"/>
              <a:ext cx="570788" cy="370642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4681" y="728700"/>
              <a:ext cx="1076908" cy="654222"/>
            </a:xfrm>
            <a:prstGeom prst="rect">
              <a:avLst/>
            </a:prstGeom>
          </p:spPr>
        </p:pic>
        <p:cxnSp>
          <p:nvCxnSpPr>
            <p:cNvPr id="12" name="Curved Connector 11"/>
            <p:cNvCxnSpPr>
              <a:stCxn id="10" idx="2"/>
              <a:endCxn id="5" idx="1"/>
            </p:cNvCxnSpPr>
            <p:nvPr/>
          </p:nvCxnSpPr>
          <p:spPr>
            <a:xfrm rot="16200000" flipH="1">
              <a:off x="8910995" y="1455061"/>
              <a:ext cx="398621" cy="254341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직사각형 7"/>
          <p:cNvSpPr/>
          <p:nvPr/>
        </p:nvSpPr>
        <p:spPr>
          <a:xfrm>
            <a:off x="3123959" y="2996952"/>
            <a:ext cx="50754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rgbClr val="0C4383"/>
                </a:solidFill>
                <a:latin typeface="+mj-ea"/>
              </a:rPr>
              <a:t>4. Results and discussion</a:t>
            </a:r>
          </a:p>
        </p:txBody>
      </p:sp>
      <p:sp>
        <p:nvSpPr>
          <p:cNvPr id="13" name="Subtitle 4"/>
          <p:cNvSpPr txBox="1">
            <a:spLocks/>
          </p:cNvSpPr>
          <p:nvPr/>
        </p:nvSpPr>
        <p:spPr>
          <a:xfrm>
            <a:off x="3123959" y="3825044"/>
            <a:ext cx="6684305" cy="9361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romanL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Performance evaluation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altLang="ko-KR" sz="2000" dirty="0">
                <a:solidFill>
                  <a:srgbClr val="3269A9"/>
                </a:solidFill>
                <a:latin typeface="+mn-ea"/>
              </a:rPr>
              <a:t>Experimental results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-15552" y="1700808"/>
            <a:ext cx="17557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4000" b="1" dirty="0"/>
              <a:t>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97" y="2791088"/>
            <a:ext cx="1893468" cy="186204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1500" b="1" dirty="0">
                <a:solidFill>
                  <a:schemeClr val="bg1">
                    <a:lumMod val="75000"/>
                  </a:schemeClr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95934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 err="1"/>
              <a:t>i</a:t>
            </a:r>
            <a:r>
              <a:rPr lang="en-US" altLang="ko-KR" spc="-100" dirty="0"/>
              <a:t>. Performance evaluation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088741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409922" y="1661513"/>
            <a:ext cx="8766971" cy="36004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양쪽 모서리가 둥근 사각형 30"/>
          <p:cNvSpPr/>
          <p:nvPr/>
        </p:nvSpPr>
        <p:spPr>
          <a:xfrm>
            <a:off x="488504" y="1229714"/>
            <a:ext cx="1090911" cy="349171"/>
          </a:xfrm>
          <a:prstGeom prst="round2SameRect">
            <a:avLst>
              <a:gd name="adj1" fmla="val 10053"/>
              <a:gd name="adj2" fmla="val 0"/>
            </a:avLst>
          </a:prstGeom>
          <a:gradFill rotWithShape="1">
            <a:gsLst>
              <a:gs pos="0">
                <a:srgbClr val="9FB1C9">
                  <a:tint val="50000"/>
                  <a:satMod val="300000"/>
                </a:srgbClr>
              </a:gs>
              <a:gs pos="35000">
                <a:srgbClr val="9FB1C9">
                  <a:tint val="37000"/>
                  <a:satMod val="300000"/>
                </a:srgbClr>
              </a:gs>
              <a:gs pos="100000">
                <a:srgbClr val="9FB1C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FB1C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fontAlgn="base" latinLnBrk="0"/>
            <a:r>
              <a:rPr lang="en-US" altLang="ko-KR" sz="1400" b="1" dirty="0">
                <a:solidFill>
                  <a:srgbClr val="404040"/>
                </a:solidFill>
                <a:latin typeface="+mn-ea"/>
              </a:rPr>
              <a:t>GT</a:t>
            </a:r>
          </a:p>
        </p:txBody>
      </p:sp>
      <p:sp>
        <p:nvSpPr>
          <p:cNvPr id="44" name="양쪽 모서리가 둥근 사각형 30"/>
          <p:cNvSpPr/>
          <p:nvPr/>
        </p:nvSpPr>
        <p:spPr>
          <a:xfrm>
            <a:off x="4989004" y="1226351"/>
            <a:ext cx="4104456" cy="349171"/>
          </a:xfrm>
          <a:prstGeom prst="round2SameRect">
            <a:avLst>
              <a:gd name="adj1" fmla="val 10053"/>
              <a:gd name="adj2" fmla="val 0"/>
            </a:avLst>
          </a:prstGeom>
          <a:gradFill rotWithShape="1">
            <a:gsLst>
              <a:gs pos="0">
                <a:srgbClr val="9FB1C9">
                  <a:tint val="50000"/>
                  <a:satMod val="300000"/>
                </a:srgbClr>
              </a:gs>
              <a:gs pos="35000">
                <a:srgbClr val="9FB1C9">
                  <a:tint val="37000"/>
                  <a:satMod val="300000"/>
                </a:srgbClr>
              </a:gs>
              <a:gs pos="100000">
                <a:srgbClr val="9FB1C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FB1C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fontAlgn="base" latinLnBrk="0"/>
            <a:r>
              <a:rPr lang="en-US" altLang="ko-KR" sz="1400" b="1" dirty="0">
                <a:solidFill>
                  <a:srgbClr val="404040"/>
                </a:solidFill>
                <a:latin typeface="+mn-ea"/>
              </a:rPr>
              <a:t>Accuracy of Different Methods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143484"/>
              </p:ext>
            </p:extLst>
          </p:nvPr>
        </p:nvGraphicFramePr>
        <p:xfrm>
          <a:off x="1712640" y="1771333"/>
          <a:ext cx="3168352" cy="393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7241357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04494245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67411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458547032"/>
                    </a:ext>
                  </a:extLst>
                </a:gridCol>
              </a:tblGrid>
              <a:tr h="567832"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Frame </a:t>
                      </a:r>
                    </a:p>
                    <a:p>
                      <a:pPr algn="ctr" rtl="0"/>
                      <a:r>
                        <a:rPr lang="en-US" sz="1050" dirty="0"/>
                        <a:t>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Optical</a:t>
                      </a:r>
                    </a:p>
                    <a:p>
                      <a:pPr algn="ctr" rtl="0"/>
                      <a:r>
                        <a:rPr lang="en-US" sz="1050" dirty="0"/>
                        <a:t>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Background</a:t>
                      </a:r>
                    </a:p>
                    <a:p>
                      <a:pPr algn="ctr" rtl="0"/>
                      <a:r>
                        <a:rPr lang="en-US" sz="1050" dirty="0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Hybrid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292737"/>
                  </a:ext>
                </a:extLst>
              </a:tr>
              <a:tr h="758085">
                <a:tc>
                  <a:txBody>
                    <a:bodyPr/>
                    <a:lstStyle/>
                    <a:p>
                      <a:pPr marL="0" marR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1913459"/>
                  </a:ext>
                </a:extLst>
              </a:tr>
              <a:tr h="7732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0272990"/>
                  </a:ext>
                </a:extLst>
              </a:tr>
              <a:tr h="610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5210998"/>
                  </a:ext>
                </a:extLst>
              </a:tr>
              <a:tr h="61074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910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1522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374989"/>
                  </a:ext>
                </a:extLst>
              </a:tr>
              <a:tr h="610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6697872"/>
                  </a:ext>
                </a:extLst>
              </a:tr>
            </a:tbl>
          </a:graphicData>
        </a:graphic>
      </p:graphicFrame>
      <p:sp>
        <p:nvSpPr>
          <p:cNvPr id="46" name="양쪽 모서리가 둥근 사각형 30"/>
          <p:cNvSpPr/>
          <p:nvPr/>
        </p:nvSpPr>
        <p:spPr>
          <a:xfrm>
            <a:off x="1712641" y="1226351"/>
            <a:ext cx="3168351" cy="349171"/>
          </a:xfrm>
          <a:prstGeom prst="round2SameRect">
            <a:avLst>
              <a:gd name="adj1" fmla="val 10053"/>
              <a:gd name="adj2" fmla="val 0"/>
            </a:avLst>
          </a:prstGeom>
          <a:gradFill rotWithShape="1">
            <a:gsLst>
              <a:gs pos="0">
                <a:srgbClr val="9FB1C9">
                  <a:tint val="50000"/>
                  <a:satMod val="300000"/>
                </a:srgbClr>
              </a:gs>
              <a:gs pos="35000">
                <a:srgbClr val="9FB1C9">
                  <a:tint val="37000"/>
                  <a:satMod val="300000"/>
                </a:srgbClr>
              </a:gs>
              <a:gs pos="100000">
                <a:srgbClr val="9FB1C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FB1C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fontAlgn="base" latinLnBrk="0"/>
            <a:r>
              <a:rPr lang="en-US" altLang="ko-KR" sz="1400" b="1" dirty="0">
                <a:solidFill>
                  <a:srgbClr val="404040"/>
                </a:solidFill>
                <a:latin typeface="+mn-ea"/>
              </a:rPr>
              <a:t>Correct Frames Prediction </a:t>
            </a:r>
          </a:p>
        </p:txBody>
      </p:sp>
      <p:cxnSp>
        <p:nvCxnSpPr>
          <p:cNvPr id="50" name="Straight Connector 49"/>
          <p:cNvCxnSpPr/>
          <p:nvPr/>
        </p:nvCxnSpPr>
        <p:spPr>
          <a:xfrm>
            <a:off x="4916996" y="1181098"/>
            <a:ext cx="0" cy="450596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1640632" y="1243526"/>
            <a:ext cx="0" cy="445918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950561"/>
              </p:ext>
            </p:extLst>
          </p:nvPr>
        </p:nvGraphicFramePr>
        <p:xfrm>
          <a:off x="4989005" y="1782280"/>
          <a:ext cx="4104454" cy="3904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99">
                  <a:extLst>
                    <a:ext uri="{9D8B030D-6E8A-4147-A177-3AD203B41FA5}">
                      <a16:colId xmlns:a16="http://schemas.microsoft.com/office/drawing/2014/main" val="207241357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3044942451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38167411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458547032"/>
                    </a:ext>
                  </a:extLst>
                </a:gridCol>
                <a:gridCol w="900099">
                  <a:extLst>
                    <a:ext uri="{9D8B030D-6E8A-4147-A177-3AD203B41FA5}">
                      <a16:colId xmlns:a16="http://schemas.microsoft.com/office/drawing/2014/main" val="2419767837"/>
                    </a:ext>
                  </a:extLst>
                </a:gridCol>
              </a:tblGrid>
              <a:tr h="566600"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Frame </a:t>
                      </a:r>
                    </a:p>
                    <a:p>
                      <a:pPr algn="ctr" rtl="0"/>
                      <a:r>
                        <a:rPr lang="en-US" sz="1050" dirty="0"/>
                        <a:t>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Optical</a:t>
                      </a:r>
                    </a:p>
                    <a:p>
                      <a:pPr algn="ctr" rtl="0"/>
                      <a:r>
                        <a:rPr lang="en-US" sz="1050" dirty="0"/>
                        <a:t>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Background</a:t>
                      </a:r>
                    </a:p>
                    <a:p>
                      <a:pPr algn="ctr" rtl="0"/>
                      <a:r>
                        <a:rPr lang="en-US" sz="1050" dirty="0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Hybrid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Remarks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292737"/>
                  </a:ext>
                </a:extLst>
              </a:tr>
              <a:tr h="7510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87.77%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87.81%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90.30%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93.76%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dataset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1913459"/>
                  </a:ext>
                </a:extLst>
              </a:tr>
              <a:tr h="7719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89.43%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88.26%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91.77%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96.12%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dataset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0272990"/>
                  </a:ext>
                </a:extLst>
              </a:tr>
              <a:tr h="6050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90.84%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89.05%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91.70%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98.42%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dataset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5210998"/>
                  </a:ext>
                </a:extLst>
              </a:tr>
              <a:tr h="6050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84.61%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94.49%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90.53%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96.68%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dataset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1803033"/>
                  </a:ext>
                </a:extLst>
              </a:tr>
              <a:tr h="6050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83.31%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90.99%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92.48%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dataset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0707224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94317"/>
              </p:ext>
            </p:extLst>
          </p:nvPr>
        </p:nvGraphicFramePr>
        <p:xfrm>
          <a:off x="513718" y="1782280"/>
          <a:ext cx="1090910" cy="3890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34">
                  <a:extLst>
                    <a:ext uri="{9D8B030D-6E8A-4147-A177-3AD203B41FA5}">
                      <a16:colId xmlns:a16="http://schemas.microsoft.com/office/drawing/2014/main" val="207241357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3044942451"/>
                    </a:ext>
                  </a:extLst>
                </a:gridCol>
              </a:tblGrid>
              <a:tr h="541743"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Total</a:t>
                      </a:r>
                    </a:p>
                    <a:p>
                      <a:pPr algn="ctr" rtl="0"/>
                      <a:r>
                        <a:rPr lang="en-US" sz="1050" dirty="0"/>
                        <a:t>Frames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292737"/>
                  </a:ext>
                </a:extLst>
              </a:tr>
              <a:tr h="74420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2710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913459"/>
                  </a:ext>
                </a:extLst>
              </a:tr>
              <a:tr h="744208">
                <a:tc>
                  <a:txBody>
                    <a:bodyPr/>
                    <a:lstStyle/>
                    <a:p>
                      <a:pPr algn="ctr"/>
                      <a:r>
                        <a:rPr lang="en-US" sz="1050" baseline="0" dirty="0"/>
                        <a:t>2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272990"/>
                  </a:ext>
                </a:extLst>
              </a:tr>
              <a:tr h="6201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3597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210998"/>
                  </a:ext>
                </a:extLst>
              </a:tr>
              <a:tr h="6201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1690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261490"/>
                  </a:ext>
                </a:extLst>
              </a:tr>
              <a:tr h="6201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2864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411458"/>
                  </a:ext>
                </a:extLst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2396716" y="5769260"/>
            <a:ext cx="5393501" cy="54952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612740" y="5841268"/>
                <a:ext cx="4785349" cy="447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𝐶𝑜𝑟𝑟𝑒𝑐𝑡𝑙𝑦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𝑃𝑟𝑒𝑑𝑖𝑐𝑡𝑒𝑑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𝐹𝑟𝑎𝑚𝑒𝑠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𝐹𝑟𝑎𝑚𝑒𝑠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740" y="5841268"/>
                <a:ext cx="4785349" cy="447302"/>
              </a:xfrm>
              <a:prstGeom prst="rect">
                <a:avLst/>
              </a:prstGeom>
              <a:blipFill>
                <a:blip r:embed="rId3"/>
                <a:stretch>
                  <a:fillRect l="-510" t="-2703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193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 err="1"/>
              <a:t>i</a:t>
            </a:r>
            <a:r>
              <a:rPr lang="en-US" altLang="ko-KR" spc="-100" dirty="0"/>
              <a:t>. Performance evaluation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425495" y="1628800"/>
            <a:ext cx="8766971" cy="36004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양쪽 모서리가 둥근 사각형 30"/>
          <p:cNvSpPr/>
          <p:nvPr/>
        </p:nvSpPr>
        <p:spPr>
          <a:xfrm>
            <a:off x="477713" y="1229714"/>
            <a:ext cx="1090911" cy="349171"/>
          </a:xfrm>
          <a:prstGeom prst="round2SameRect">
            <a:avLst>
              <a:gd name="adj1" fmla="val 10053"/>
              <a:gd name="adj2" fmla="val 0"/>
            </a:avLst>
          </a:prstGeom>
          <a:gradFill rotWithShape="1">
            <a:gsLst>
              <a:gs pos="0">
                <a:srgbClr val="9FB1C9">
                  <a:tint val="50000"/>
                  <a:satMod val="300000"/>
                </a:srgbClr>
              </a:gs>
              <a:gs pos="35000">
                <a:srgbClr val="9FB1C9">
                  <a:tint val="37000"/>
                  <a:satMod val="300000"/>
                </a:srgbClr>
              </a:gs>
              <a:gs pos="100000">
                <a:srgbClr val="9FB1C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FB1C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fontAlgn="base" latinLnBrk="0"/>
            <a:r>
              <a:rPr lang="en-US" altLang="ko-KR" sz="1400" b="1" dirty="0">
                <a:solidFill>
                  <a:srgbClr val="404040"/>
                </a:solidFill>
                <a:latin typeface="+mn-ea"/>
              </a:rPr>
              <a:t>GT</a:t>
            </a:r>
          </a:p>
        </p:txBody>
      </p:sp>
      <p:sp>
        <p:nvSpPr>
          <p:cNvPr id="44" name="양쪽 모서리가 둥근 사각형 30"/>
          <p:cNvSpPr/>
          <p:nvPr/>
        </p:nvSpPr>
        <p:spPr>
          <a:xfrm>
            <a:off x="4989004" y="1226351"/>
            <a:ext cx="4104456" cy="349171"/>
          </a:xfrm>
          <a:prstGeom prst="round2SameRect">
            <a:avLst>
              <a:gd name="adj1" fmla="val 10053"/>
              <a:gd name="adj2" fmla="val 0"/>
            </a:avLst>
          </a:prstGeom>
          <a:gradFill rotWithShape="1">
            <a:gsLst>
              <a:gs pos="0">
                <a:srgbClr val="9FB1C9">
                  <a:tint val="50000"/>
                  <a:satMod val="300000"/>
                </a:srgbClr>
              </a:gs>
              <a:gs pos="35000">
                <a:srgbClr val="9FB1C9">
                  <a:tint val="37000"/>
                  <a:satMod val="300000"/>
                </a:srgbClr>
              </a:gs>
              <a:gs pos="100000">
                <a:srgbClr val="9FB1C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FB1C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fontAlgn="base" latinLnBrk="0"/>
            <a:r>
              <a:rPr lang="en-US" altLang="ko-KR" sz="1400" b="1" dirty="0">
                <a:solidFill>
                  <a:srgbClr val="404040"/>
                </a:solidFill>
                <a:latin typeface="+mn-ea"/>
              </a:rPr>
              <a:t>Accuracy of Different Methods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552889"/>
              </p:ext>
            </p:extLst>
          </p:nvPr>
        </p:nvGraphicFramePr>
        <p:xfrm>
          <a:off x="1712640" y="1727866"/>
          <a:ext cx="3168352" cy="464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7241357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04494245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67411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458547032"/>
                    </a:ext>
                  </a:extLst>
                </a:gridCol>
              </a:tblGrid>
              <a:tr h="562306"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Frame </a:t>
                      </a:r>
                    </a:p>
                    <a:p>
                      <a:pPr algn="ctr" rtl="0"/>
                      <a:r>
                        <a:rPr lang="en-US" sz="1050" dirty="0"/>
                        <a:t>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Optical</a:t>
                      </a:r>
                    </a:p>
                    <a:p>
                      <a:pPr algn="ctr" rtl="0"/>
                      <a:r>
                        <a:rPr lang="en-US" sz="1050" dirty="0"/>
                        <a:t>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Background</a:t>
                      </a:r>
                    </a:p>
                    <a:p>
                      <a:pPr algn="ctr" rtl="0"/>
                      <a:r>
                        <a:rPr lang="en-US" sz="1050" dirty="0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Hybrid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292737"/>
                  </a:ext>
                </a:extLst>
              </a:tr>
              <a:tr h="75070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2368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2597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913459"/>
                  </a:ext>
                </a:extLst>
              </a:tr>
              <a:tr h="7507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4751699"/>
                  </a:ext>
                </a:extLst>
              </a:tr>
              <a:tr h="7657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0272990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5210998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1775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1802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1830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374989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6697872"/>
                  </a:ext>
                </a:extLst>
              </a:tr>
            </a:tbl>
          </a:graphicData>
        </a:graphic>
      </p:graphicFrame>
      <p:sp>
        <p:nvSpPr>
          <p:cNvPr id="46" name="양쪽 모서리가 둥근 사각형 30"/>
          <p:cNvSpPr/>
          <p:nvPr/>
        </p:nvSpPr>
        <p:spPr>
          <a:xfrm>
            <a:off x="1712641" y="1226351"/>
            <a:ext cx="3168351" cy="349171"/>
          </a:xfrm>
          <a:prstGeom prst="round2SameRect">
            <a:avLst>
              <a:gd name="adj1" fmla="val 10053"/>
              <a:gd name="adj2" fmla="val 0"/>
            </a:avLst>
          </a:prstGeom>
          <a:gradFill rotWithShape="1">
            <a:gsLst>
              <a:gs pos="0">
                <a:srgbClr val="9FB1C9">
                  <a:tint val="50000"/>
                  <a:satMod val="300000"/>
                </a:srgbClr>
              </a:gs>
              <a:gs pos="35000">
                <a:srgbClr val="9FB1C9">
                  <a:tint val="37000"/>
                  <a:satMod val="300000"/>
                </a:srgbClr>
              </a:gs>
              <a:gs pos="100000">
                <a:srgbClr val="9FB1C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FB1C9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algn="ctr" fontAlgn="base" latinLnBrk="0"/>
            <a:r>
              <a:rPr lang="en-US" altLang="ko-KR" sz="1400" b="1" dirty="0">
                <a:solidFill>
                  <a:srgbClr val="404040"/>
                </a:solidFill>
                <a:latin typeface="+mn-ea"/>
              </a:rPr>
              <a:t>Correct Frames Prediction </a:t>
            </a:r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4916996" y="1227296"/>
            <a:ext cx="0" cy="5144397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1640632" y="1232756"/>
            <a:ext cx="0" cy="5138937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192746"/>
              </p:ext>
            </p:extLst>
          </p:nvPr>
        </p:nvGraphicFramePr>
        <p:xfrm>
          <a:off x="4989005" y="1725458"/>
          <a:ext cx="4104454" cy="4655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99">
                  <a:extLst>
                    <a:ext uri="{9D8B030D-6E8A-4147-A177-3AD203B41FA5}">
                      <a16:colId xmlns:a16="http://schemas.microsoft.com/office/drawing/2014/main" val="207241357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3044942451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38167411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458547032"/>
                    </a:ext>
                  </a:extLst>
                </a:gridCol>
                <a:gridCol w="900099">
                  <a:extLst>
                    <a:ext uri="{9D8B030D-6E8A-4147-A177-3AD203B41FA5}">
                      <a16:colId xmlns:a16="http://schemas.microsoft.com/office/drawing/2014/main" val="2419767837"/>
                    </a:ext>
                  </a:extLst>
                </a:gridCol>
              </a:tblGrid>
              <a:tr h="566600"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Frame </a:t>
                      </a:r>
                    </a:p>
                    <a:p>
                      <a:pPr algn="ctr" rtl="0"/>
                      <a:r>
                        <a:rPr lang="en-US" sz="1050" dirty="0"/>
                        <a:t>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Optical</a:t>
                      </a:r>
                    </a:p>
                    <a:p>
                      <a:pPr algn="ctr" rtl="0"/>
                      <a:r>
                        <a:rPr lang="en-US" sz="1050" dirty="0"/>
                        <a:t>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Background</a:t>
                      </a:r>
                    </a:p>
                    <a:p>
                      <a:pPr algn="ctr" rtl="0"/>
                      <a:r>
                        <a:rPr lang="en-US" sz="1050" dirty="0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Hybrid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Remarks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292737"/>
                  </a:ext>
                </a:extLst>
              </a:tr>
              <a:tr h="7510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75.09%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70.63%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89.50%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98.14%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dataset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1913459"/>
                  </a:ext>
                </a:extLst>
              </a:tr>
              <a:tr h="7510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82.98%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77.78%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97.32%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dataset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73612585"/>
                  </a:ext>
                </a:extLst>
              </a:tr>
              <a:tr h="7719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71.74%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77.80%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99.58%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dataset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0272990"/>
                  </a:ext>
                </a:extLst>
              </a:tr>
              <a:tr h="6050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73.72%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79.49%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99.33%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dataset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5210998"/>
                  </a:ext>
                </a:extLst>
              </a:tr>
              <a:tr h="6050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95.75%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97.59%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97.23%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98.70%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Company</a:t>
                      </a:r>
                    </a:p>
                    <a:p>
                      <a:pPr algn="ctr" fontAlgn="b"/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video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1803033"/>
                  </a:ext>
                </a:extLst>
              </a:tr>
              <a:tr h="6050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85.09%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92.05%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94.72%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96.57%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YouTube</a:t>
                      </a:r>
                    </a:p>
                    <a:p>
                      <a:pPr algn="ctr" fontAlgn="b"/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video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0707224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467281"/>
              </p:ext>
            </p:extLst>
          </p:nvPr>
        </p:nvGraphicFramePr>
        <p:xfrm>
          <a:off x="477713" y="1736812"/>
          <a:ext cx="1090910" cy="4634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34">
                  <a:extLst>
                    <a:ext uri="{9D8B030D-6E8A-4147-A177-3AD203B41FA5}">
                      <a16:colId xmlns:a16="http://schemas.microsoft.com/office/drawing/2014/main" val="207241357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3044942451"/>
                    </a:ext>
                  </a:extLst>
                </a:gridCol>
              </a:tblGrid>
              <a:tr h="541743"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050" dirty="0"/>
                        <a:t>Total</a:t>
                      </a:r>
                    </a:p>
                    <a:p>
                      <a:pPr algn="ctr" rtl="0"/>
                      <a:r>
                        <a:rPr lang="en-US" sz="1050" dirty="0"/>
                        <a:t>Frames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292737"/>
                  </a:ext>
                </a:extLst>
              </a:tr>
              <a:tr h="74420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2646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913459"/>
                  </a:ext>
                </a:extLst>
              </a:tr>
              <a:tr h="74420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1859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678966"/>
                  </a:ext>
                </a:extLst>
              </a:tr>
              <a:tr h="74420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0272990"/>
                  </a:ext>
                </a:extLst>
              </a:tr>
              <a:tr h="62017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5210998"/>
                  </a:ext>
                </a:extLst>
              </a:tr>
              <a:tr h="62017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1854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261490"/>
                  </a:ext>
                </a:extLst>
              </a:tr>
              <a:tr h="620172">
                <a:tc>
                  <a:txBody>
                    <a:bodyPr/>
                    <a:lstStyle/>
                    <a:p>
                      <a:pPr algn="ctr" rtl="0"/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2363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411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654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1)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45079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( 90-cm ), subject 1</a:t>
            </a:r>
          </a:p>
        </p:txBody>
      </p:sp>
      <p:pic>
        <p:nvPicPr>
          <p:cNvPr id="17" name="Subject_1_90c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9268" y="1225344"/>
            <a:ext cx="8599424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9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2)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45079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( 90-cm ), subject 3</a:t>
            </a:r>
          </a:p>
        </p:txBody>
      </p:sp>
      <p:pic>
        <p:nvPicPr>
          <p:cNvPr id="29" name="Subject_3_90c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9268" y="1244512"/>
            <a:ext cx="8599424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1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3)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45079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( 65-cm ), subject 6</a:t>
            </a:r>
          </a:p>
        </p:txBody>
      </p:sp>
      <p:pic>
        <p:nvPicPr>
          <p:cNvPr id="17" name="Subject_6_65c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9268" y="1258699"/>
            <a:ext cx="8599424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3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4)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45079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( 90-cm ), subject 1</a:t>
            </a:r>
          </a:p>
        </p:txBody>
      </p:sp>
      <p:pic>
        <p:nvPicPr>
          <p:cNvPr id="29" name="Video 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9268" y="1225344"/>
            <a:ext cx="8599424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5)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45079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( 90-cm ), subject 2</a:t>
            </a:r>
          </a:p>
        </p:txBody>
      </p:sp>
      <p:pic>
        <p:nvPicPr>
          <p:cNvPr id="17" name="Video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0883" y="1196887"/>
            <a:ext cx="8536193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4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6)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4559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(N/A), subject doll 1</a:t>
            </a:r>
          </a:p>
        </p:txBody>
      </p:sp>
      <p:pic>
        <p:nvPicPr>
          <p:cNvPr id="29" name="doll_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9268" y="1241892"/>
            <a:ext cx="8599424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8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7)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4559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(N/A), subject doll 2</a:t>
            </a:r>
          </a:p>
        </p:txBody>
      </p:sp>
      <p:pic>
        <p:nvPicPr>
          <p:cNvPr id="17" name="doll_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9268" y="1244512"/>
            <a:ext cx="8599424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3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8)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4559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(N/A), subject doll 3</a:t>
            </a:r>
          </a:p>
        </p:txBody>
      </p:sp>
      <p:pic>
        <p:nvPicPr>
          <p:cNvPr id="29" name="doll_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9268" y="1225344"/>
            <a:ext cx="8599424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7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9)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45592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(N/A), subject doll 1</a:t>
            </a:r>
          </a:p>
        </p:txBody>
      </p:sp>
      <p:pic>
        <p:nvPicPr>
          <p:cNvPr id="17" name="doll_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9268" y="1220491"/>
            <a:ext cx="8599424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1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10)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3680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 N/A )</a:t>
            </a:r>
          </a:p>
        </p:txBody>
      </p:sp>
      <p:pic>
        <p:nvPicPr>
          <p:cNvPr id="29" name="cmpny_baby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1352" y="1241892"/>
            <a:ext cx="8635255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6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ii. Experimental results (Video 11)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554998" y="6124073"/>
            <a:ext cx="3698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050" b="1"/>
            </a:lvl1pPr>
          </a:lstStyle>
          <a:p>
            <a:r>
              <a:rPr lang="en-US" dirty="0"/>
              <a:t>Experimental results of Hybrid method, height ( N/A )</a:t>
            </a:r>
          </a:p>
        </p:txBody>
      </p:sp>
      <p:pic>
        <p:nvPicPr>
          <p:cNvPr id="17" name="youtube_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9268" y="1241892"/>
            <a:ext cx="8599424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5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433290" y="1880828"/>
            <a:ext cx="144016" cy="4392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8444681" y="728700"/>
            <a:ext cx="1363583" cy="1238164"/>
            <a:chOff x="8444681" y="728700"/>
            <a:chExt cx="1363583" cy="123816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l="69440" t="8343" r="9770" b="72372"/>
            <a:stretch/>
          </p:blipFill>
          <p:spPr>
            <a:xfrm>
              <a:off x="9237476" y="1596222"/>
              <a:ext cx="570788" cy="370642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4681" y="728700"/>
              <a:ext cx="1076908" cy="654222"/>
            </a:xfrm>
            <a:prstGeom prst="rect">
              <a:avLst/>
            </a:prstGeom>
          </p:spPr>
        </p:pic>
        <p:cxnSp>
          <p:nvCxnSpPr>
            <p:cNvPr id="12" name="Curved Connector 11"/>
            <p:cNvCxnSpPr>
              <a:stCxn id="10" idx="2"/>
              <a:endCxn id="5" idx="1"/>
            </p:cNvCxnSpPr>
            <p:nvPr/>
          </p:nvCxnSpPr>
          <p:spPr>
            <a:xfrm rot="16200000" flipH="1">
              <a:off x="8910995" y="1455061"/>
              <a:ext cx="398621" cy="254341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직사각형 7"/>
          <p:cNvSpPr/>
          <p:nvPr/>
        </p:nvSpPr>
        <p:spPr>
          <a:xfrm>
            <a:off x="2756756" y="2498700"/>
            <a:ext cx="65499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rgbClr val="0C4383"/>
                </a:solidFill>
                <a:latin typeface="+mj-ea"/>
              </a:rPr>
              <a:t>5. Baby behavior analysis patent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-15552" y="1700808"/>
            <a:ext cx="17557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4000" b="1" dirty="0"/>
              <a:t>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97" y="2791088"/>
            <a:ext cx="1893468" cy="186204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1500" b="1" dirty="0">
                <a:solidFill>
                  <a:schemeClr val="bg1">
                    <a:lumMod val="75000"/>
                  </a:schemeClr>
                </a:solidFill>
              </a:rPr>
              <a:t>05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42787D-46A1-2C2A-EB30-92F2013A762C}"/>
              </a:ext>
            </a:extLst>
          </p:cNvPr>
          <p:cNvSpPr txBox="1"/>
          <p:nvPr/>
        </p:nvSpPr>
        <p:spPr>
          <a:xfrm>
            <a:off x="2981374" y="3083475"/>
            <a:ext cx="5852034" cy="361124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514350" indent="-514350">
              <a:lnSpc>
                <a:spcPct val="90000"/>
              </a:lnSpc>
              <a:spcBef>
                <a:spcPts val="1000"/>
              </a:spcBef>
              <a:buFont typeface="+mj-lt"/>
              <a:buAutoNum type="romanLcPeriod"/>
              <a:defRPr sz="2000">
                <a:solidFill>
                  <a:srgbClr val="3269A9"/>
                </a:solidFill>
                <a:latin typeface="+mn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System diagram</a:t>
            </a:r>
          </a:p>
          <a:p>
            <a:r>
              <a:rPr lang="en-US" dirty="0"/>
              <a:t>Working of the proposed system</a:t>
            </a:r>
          </a:p>
          <a:p>
            <a:r>
              <a:rPr lang="en-US" dirty="0"/>
              <a:t>Overall framework</a:t>
            </a:r>
          </a:p>
          <a:p>
            <a:r>
              <a:rPr lang="en-US" dirty="0"/>
              <a:t>Control chart representation</a:t>
            </a:r>
          </a:p>
          <a:p>
            <a:r>
              <a:rPr lang="en-US" dirty="0"/>
              <a:t>Control charts for intervals</a:t>
            </a:r>
          </a:p>
          <a:p>
            <a:r>
              <a:rPr lang="en-US" dirty="0"/>
              <a:t>Control chart representation in terms of time</a:t>
            </a:r>
          </a:p>
          <a:p>
            <a:r>
              <a:rPr lang="en-US" dirty="0"/>
              <a:t>Motion estimation mechanism</a:t>
            </a:r>
          </a:p>
          <a:p>
            <a:r>
              <a:rPr lang="en-US" dirty="0"/>
              <a:t>Baby behavior estimation mechanism</a:t>
            </a:r>
          </a:p>
          <a:p>
            <a:r>
              <a:rPr lang="en-US" dirty="0"/>
              <a:t>Standard b</a:t>
            </a:r>
            <a:r>
              <a:rPr lang="en-US" altLang="ja-JP" dirty="0"/>
              <a:t>aby size chart</a:t>
            </a:r>
          </a:p>
        </p:txBody>
      </p:sp>
    </p:spTree>
    <p:extLst>
      <p:ext uri="{BB962C8B-B14F-4D97-AF65-F5344CB8AC3E}">
        <p14:creationId xmlns:p14="http://schemas.microsoft.com/office/powerpoint/2010/main" val="12170783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509D63-9C68-7092-0622-1CCD9ADE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5" name="제목 2">
            <a:extLst>
              <a:ext uri="{FF2B5EF4-FFF2-40B4-BE49-F238E27FC236}">
                <a16:creationId xmlns:a16="http://schemas.microsoft.com/office/drawing/2014/main" id="{F35571C9-B3AA-8AE9-A24E-8FE833A4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191" y="244858"/>
            <a:ext cx="4087038" cy="532718"/>
          </a:xfrm>
        </p:spPr>
        <p:txBody>
          <a:bodyPr>
            <a:normAutofit/>
          </a:bodyPr>
          <a:lstStyle/>
          <a:p>
            <a:r>
              <a:rPr lang="en-US" altLang="ko-KR" sz="2031" dirty="0">
                <a:latin typeface="맑은 고딕 (Body)"/>
              </a:rPr>
              <a:t>i. System diagram</a:t>
            </a:r>
            <a:endParaRPr lang="ko-KR" altLang="en-US" sz="2031" dirty="0">
              <a:latin typeface="맑은 고딕 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A683F4-A6FB-D010-8D24-91D53F565F5A}"/>
              </a:ext>
            </a:extLst>
          </p:cNvPr>
          <p:cNvSpPr/>
          <p:nvPr/>
        </p:nvSpPr>
        <p:spPr>
          <a:xfrm>
            <a:off x="1131043" y="1710762"/>
            <a:ext cx="3522186" cy="1575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A7FCFB-135E-DF56-B7AB-274DE3947226}"/>
              </a:ext>
            </a:extLst>
          </p:cNvPr>
          <p:cNvSpPr/>
          <p:nvPr/>
        </p:nvSpPr>
        <p:spPr>
          <a:xfrm>
            <a:off x="1172817" y="1677528"/>
            <a:ext cx="3500862" cy="354506"/>
          </a:xfrm>
          <a:prstGeom prst="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1292" b="1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Intervals processing module</a:t>
            </a:r>
            <a:endParaRPr lang="ja-JP" altLang="en-US" sz="1292" b="1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AB8E98-22B8-4783-B274-E89F39F33CB4}"/>
              </a:ext>
            </a:extLst>
          </p:cNvPr>
          <p:cNvSpPr/>
          <p:nvPr/>
        </p:nvSpPr>
        <p:spPr>
          <a:xfrm>
            <a:off x="1276938" y="2078083"/>
            <a:ext cx="3224858" cy="468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Interval selection unit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E1313C-259B-C1B8-4D48-DCB93A3615EC}"/>
              </a:ext>
            </a:extLst>
          </p:cNvPr>
          <p:cNvSpPr/>
          <p:nvPr/>
        </p:nvSpPr>
        <p:spPr>
          <a:xfrm>
            <a:off x="1279639" y="2743689"/>
            <a:ext cx="3224858" cy="4278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Baby detection and segmentation unit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08210A-C4F9-412B-B60F-08AF3DCAFD11}"/>
              </a:ext>
            </a:extLst>
          </p:cNvPr>
          <p:cNvSpPr/>
          <p:nvPr/>
        </p:nvSpPr>
        <p:spPr>
          <a:xfrm>
            <a:off x="1131044" y="3511232"/>
            <a:ext cx="3525063" cy="2918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8D1C36-EC5D-2051-F687-2AC1EBA7B7C1}"/>
              </a:ext>
            </a:extLst>
          </p:cNvPr>
          <p:cNvSpPr/>
          <p:nvPr/>
        </p:nvSpPr>
        <p:spPr>
          <a:xfrm>
            <a:off x="1328014" y="3489127"/>
            <a:ext cx="3112478" cy="354506"/>
          </a:xfrm>
          <a:prstGeom prst="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1292" b="1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Baby motion detection module</a:t>
            </a:r>
            <a:endParaRPr lang="ja-JP" altLang="en-US" sz="1292" b="1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F80B23-6A5C-3E11-380C-72A72ADC46CA}"/>
              </a:ext>
            </a:extLst>
          </p:cNvPr>
          <p:cNvSpPr/>
          <p:nvPr/>
        </p:nvSpPr>
        <p:spPr>
          <a:xfrm>
            <a:off x="1271827" y="3916471"/>
            <a:ext cx="3224857" cy="430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Motion features extraction unit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3A3CE2-B15C-B5D5-20A1-E0C1BED3F6D8}"/>
              </a:ext>
            </a:extLst>
          </p:cNvPr>
          <p:cNvSpPr/>
          <p:nvPr/>
        </p:nvSpPr>
        <p:spPr>
          <a:xfrm>
            <a:off x="1271826" y="4571811"/>
            <a:ext cx="3224856" cy="430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Motion assessment unit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89704B-8A2F-9456-E871-08951A4A22A2}"/>
              </a:ext>
            </a:extLst>
          </p:cNvPr>
          <p:cNvCxnSpPr/>
          <p:nvPr/>
        </p:nvCxnSpPr>
        <p:spPr>
          <a:xfrm>
            <a:off x="2889368" y="2549277"/>
            <a:ext cx="2701" cy="191755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DF083E-2481-F0D9-0B31-4C4C26885A7C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2884254" y="4346942"/>
            <a:ext cx="0" cy="224869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A2C22E9-148D-CAD2-00EA-BA088447930C}"/>
              </a:ext>
            </a:extLst>
          </p:cNvPr>
          <p:cNvSpPr/>
          <p:nvPr/>
        </p:nvSpPr>
        <p:spPr>
          <a:xfrm>
            <a:off x="956556" y="1299643"/>
            <a:ext cx="7776864" cy="5186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6CEE0D-958A-134F-C51E-243715A960C4}"/>
              </a:ext>
            </a:extLst>
          </p:cNvPr>
          <p:cNvSpPr txBox="1"/>
          <p:nvPr/>
        </p:nvSpPr>
        <p:spPr>
          <a:xfrm>
            <a:off x="1254973" y="1299644"/>
            <a:ext cx="7000414" cy="291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92" b="1" dirty="0">
                <a:latin typeface="맑은 고딕 (Body)"/>
                <a:cs typeface="Times New Roman" panose="02020603050405020304" pitchFamily="18" charset="0"/>
              </a:rPr>
              <a:t>Apparatus and method for analyzing baby behavior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8181CC-A09B-0469-2611-E4C93D2F0ADB}"/>
              </a:ext>
            </a:extLst>
          </p:cNvPr>
          <p:cNvSpPr/>
          <p:nvPr/>
        </p:nvSpPr>
        <p:spPr>
          <a:xfrm>
            <a:off x="4989358" y="1933328"/>
            <a:ext cx="3519737" cy="1699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CCBA11-0993-5D97-D56A-04DA7623B887}"/>
              </a:ext>
            </a:extLst>
          </p:cNvPr>
          <p:cNvSpPr/>
          <p:nvPr/>
        </p:nvSpPr>
        <p:spPr>
          <a:xfrm>
            <a:off x="5135019" y="1910169"/>
            <a:ext cx="3112478" cy="354506"/>
          </a:xfrm>
          <a:prstGeom prst="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1292" b="1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Instant reporting module</a:t>
            </a:r>
            <a:endParaRPr lang="ja-JP" altLang="en-US" sz="1292" b="1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8C65B1-D560-5E3E-607E-D2D09D9DB5F5}"/>
              </a:ext>
            </a:extLst>
          </p:cNvPr>
          <p:cNvSpPr/>
          <p:nvPr/>
        </p:nvSpPr>
        <p:spPr>
          <a:xfrm>
            <a:off x="5135019" y="2333885"/>
            <a:ext cx="3224315" cy="430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Alert sensing unit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6D8EBE-ADA6-B64C-89DF-79E920BE0556}"/>
              </a:ext>
            </a:extLst>
          </p:cNvPr>
          <p:cNvSpPr/>
          <p:nvPr/>
        </p:nvSpPr>
        <p:spPr>
          <a:xfrm>
            <a:off x="5134536" y="3126700"/>
            <a:ext cx="3224315" cy="430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Alert notification unit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977AE0-D93F-2A09-9E8A-EC80F8D7598C}"/>
              </a:ext>
            </a:extLst>
          </p:cNvPr>
          <p:cNvCxnSpPr/>
          <p:nvPr/>
        </p:nvCxnSpPr>
        <p:spPr>
          <a:xfrm>
            <a:off x="6507720" y="227437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11921E-9E22-7D07-1693-A29B00FB2055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flipH="1">
            <a:off x="6746692" y="2764355"/>
            <a:ext cx="484" cy="362344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6C332E-FEF5-B64F-1C26-FE27E485903F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2892136" y="3286608"/>
            <a:ext cx="1438" cy="2246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337947E-9BD6-4159-7FD5-32AA10E3B65B}"/>
              </a:ext>
            </a:extLst>
          </p:cNvPr>
          <p:cNvSpPr/>
          <p:nvPr/>
        </p:nvSpPr>
        <p:spPr>
          <a:xfrm>
            <a:off x="1279640" y="5250555"/>
            <a:ext cx="3217043" cy="430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Expert data matching unit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15549E-E66D-1F13-9622-FAF378B9B45B}"/>
              </a:ext>
            </a:extLst>
          </p:cNvPr>
          <p:cNvSpPr/>
          <p:nvPr/>
        </p:nvSpPr>
        <p:spPr>
          <a:xfrm>
            <a:off x="1279641" y="5923060"/>
            <a:ext cx="3224856" cy="430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Ellipse drawing unit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4CC014-32D0-0EF3-0398-F9E5F55E1D5C}"/>
              </a:ext>
            </a:extLst>
          </p:cNvPr>
          <p:cNvSpPr/>
          <p:nvPr/>
        </p:nvSpPr>
        <p:spPr>
          <a:xfrm>
            <a:off x="5255005" y="4062632"/>
            <a:ext cx="3112478" cy="354506"/>
          </a:xfrm>
          <a:prstGeom prst="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1292" b="1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Baby behavior analysis module</a:t>
            </a:r>
            <a:endParaRPr lang="ja-JP" altLang="en-US" sz="1292" b="1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96741-82F4-297F-3515-542C4A7B9306}"/>
              </a:ext>
            </a:extLst>
          </p:cNvPr>
          <p:cNvSpPr/>
          <p:nvPr/>
        </p:nvSpPr>
        <p:spPr>
          <a:xfrm>
            <a:off x="5143168" y="4475108"/>
            <a:ext cx="3224315" cy="430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Control charts construction unit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44A348-8C4D-879F-81D7-6E90BEDFB073}"/>
              </a:ext>
            </a:extLst>
          </p:cNvPr>
          <p:cNvSpPr/>
          <p:nvPr/>
        </p:nvSpPr>
        <p:spPr>
          <a:xfrm>
            <a:off x="5148793" y="5279163"/>
            <a:ext cx="3224314" cy="430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Baby behavior assessment unit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2FD57FF-42B9-3014-7FA2-F09DB86A378C}"/>
              </a:ext>
            </a:extLst>
          </p:cNvPr>
          <p:cNvCxnSpPr/>
          <p:nvPr/>
        </p:nvCxnSpPr>
        <p:spPr>
          <a:xfrm>
            <a:off x="6614382" y="44241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8F1EA10-E3E6-1F73-32E2-739BAAB3DF3D}"/>
              </a:ext>
            </a:extLst>
          </p:cNvPr>
          <p:cNvSpPr/>
          <p:nvPr/>
        </p:nvSpPr>
        <p:spPr>
          <a:xfrm>
            <a:off x="4988368" y="4104972"/>
            <a:ext cx="3516648" cy="1742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6F7524B-7F04-8590-F25F-3E13E3585F2D}"/>
              </a:ext>
            </a:extLst>
          </p:cNvPr>
          <p:cNvCxnSpPr>
            <a:stCxn id="28" idx="2"/>
            <a:endCxn id="29" idx="0"/>
          </p:cNvCxnSpPr>
          <p:nvPr/>
        </p:nvCxnSpPr>
        <p:spPr>
          <a:xfrm>
            <a:off x="6755326" y="4905580"/>
            <a:ext cx="5625" cy="373583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7C8E119-C7F9-FE44-3B8C-68ED21AF71CB}"/>
              </a:ext>
            </a:extLst>
          </p:cNvPr>
          <p:cNvCxnSpPr/>
          <p:nvPr/>
        </p:nvCxnSpPr>
        <p:spPr>
          <a:xfrm>
            <a:off x="2884254" y="4992494"/>
            <a:ext cx="3906" cy="243738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9954A52-BDF8-37F2-7D06-71C61D7797D9}"/>
              </a:ext>
            </a:extLst>
          </p:cNvPr>
          <p:cNvCxnSpPr/>
          <p:nvPr/>
        </p:nvCxnSpPr>
        <p:spPr>
          <a:xfrm>
            <a:off x="2888161" y="5682602"/>
            <a:ext cx="3908" cy="242552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9F9C2E9-271B-B683-2566-1F9643FE0396}"/>
              </a:ext>
            </a:extLst>
          </p:cNvPr>
          <p:cNvCxnSpPr>
            <a:stCxn id="18" idx="2"/>
            <a:endCxn id="31" idx="0"/>
          </p:cNvCxnSpPr>
          <p:nvPr/>
        </p:nvCxnSpPr>
        <p:spPr>
          <a:xfrm flipH="1">
            <a:off x="6746693" y="3632523"/>
            <a:ext cx="2533" cy="4724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5E169B-45BB-076B-B71B-CADDF89C8AF8}"/>
              </a:ext>
            </a:extLst>
          </p:cNvPr>
          <p:cNvCxnSpPr>
            <a:stCxn id="10" idx="3"/>
            <a:endCxn id="31" idx="1"/>
          </p:cNvCxnSpPr>
          <p:nvPr/>
        </p:nvCxnSpPr>
        <p:spPr>
          <a:xfrm>
            <a:off x="4656106" y="4970646"/>
            <a:ext cx="332262" cy="54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479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EF71D-5319-37FB-197F-4EEC1F32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215E87-66AA-6C7A-7358-949BAFD6F89D}"/>
              </a:ext>
            </a:extLst>
          </p:cNvPr>
          <p:cNvSpPr/>
          <p:nvPr/>
        </p:nvSpPr>
        <p:spPr>
          <a:xfrm>
            <a:off x="344488" y="1243997"/>
            <a:ext cx="8375081" cy="50184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latin typeface="맑은 고딕 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9C243E-EDE1-ACF0-CF2C-4BAFF2D73D86}"/>
              </a:ext>
            </a:extLst>
          </p:cNvPr>
          <p:cNvSpPr/>
          <p:nvPr/>
        </p:nvSpPr>
        <p:spPr>
          <a:xfrm>
            <a:off x="444192" y="1329585"/>
            <a:ext cx="8142443" cy="485223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latin typeface="맑은 고딕 (Body)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E2BC95B-82B7-A5C0-2F98-A97770E2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93" y="100587"/>
            <a:ext cx="7254176" cy="724942"/>
          </a:xfrm>
        </p:spPr>
        <p:txBody>
          <a:bodyPr/>
          <a:lstStyle/>
          <a:p>
            <a:r>
              <a:rPr lang="en-US" dirty="0">
                <a:latin typeface="맑은 고딕 (Body)"/>
              </a:rPr>
              <a:t>ii. Working of the proposed system</a:t>
            </a: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E14B4C7D-8C4C-AC23-0015-92E1E8F692B5}"/>
              </a:ext>
            </a:extLst>
          </p:cNvPr>
          <p:cNvSpPr>
            <a:spLocks/>
          </p:cNvSpPr>
          <p:nvPr/>
        </p:nvSpPr>
        <p:spPr bwMode="auto">
          <a:xfrm rot="10800000">
            <a:off x="2867607" y="3469370"/>
            <a:ext cx="1437412" cy="562612"/>
          </a:xfrm>
          <a:custGeom>
            <a:avLst/>
            <a:gdLst>
              <a:gd name="T0" fmla="*/ 0 w 16950"/>
              <a:gd name="T1" fmla="*/ 1750 h 6244"/>
              <a:gd name="T2" fmla="*/ 14281 w 16950"/>
              <a:gd name="T3" fmla="*/ 6244 h 6244"/>
              <a:gd name="T4" fmla="*/ 16942 w 16950"/>
              <a:gd name="T5" fmla="*/ 5346 h 6244"/>
              <a:gd name="T6" fmla="*/ 16950 w 16950"/>
              <a:gd name="T7" fmla="*/ 5334 h 6244"/>
              <a:gd name="T8" fmla="*/ 0 w 16950"/>
              <a:gd name="T9" fmla="*/ 0 h 6244"/>
              <a:gd name="T10" fmla="*/ 0 w 16950"/>
              <a:gd name="T11" fmla="*/ 1750 h 6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50" h="6244">
                <a:moveTo>
                  <a:pt x="0" y="1750"/>
                </a:moveTo>
                <a:lnTo>
                  <a:pt x="14281" y="6244"/>
                </a:lnTo>
                <a:lnTo>
                  <a:pt x="16942" y="5346"/>
                </a:lnTo>
                <a:lnTo>
                  <a:pt x="16950" y="5334"/>
                </a:lnTo>
                <a:lnTo>
                  <a:pt x="0" y="0"/>
                </a:lnTo>
                <a:lnTo>
                  <a:pt x="0" y="1750"/>
                </a:lnTo>
                <a:close/>
              </a:path>
            </a:pathLst>
          </a:custGeom>
          <a:solidFill>
            <a:srgbClr val="1B241F"/>
          </a:soli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21B83396-AB3D-3F8F-647E-1D901C469990}"/>
              </a:ext>
            </a:extLst>
          </p:cNvPr>
          <p:cNvSpPr>
            <a:spLocks/>
          </p:cNvSpPr>
          <p:nvPr/>
        </p:nvSpPr>
        <p:spPr bwMode="auto">
          <a:xfrm rot="10800000">
            <a:off x="2955633" y="2934169"/>
            <a:ext cx="1349386" cy="940570"/>
          </a:xfrm>
          <a:custGeom>
            <a:avLst/>
            <a:gdLst>
              <a:gd name="T0" fmla="*/ 11839 w 15915"/>
              <a:gd name="T1" fmla="*/ 10425 h 10425"/>
              <a:gd name="T2" fmla="*/ 12018 w 15915"/>
              <a:gd name="T3" fmla="*/ 10365 h 10425"/>
              <a:gd name="T4" fmla="*/ 15915 w 15915"/>
              <a:gd name="T5" fmla="*/ 5008 h 10425"/>
              <a:gd name="T6" fmla="*/ 14281 w 15915"/>
              <a:gd name="T7" fmla="*/ 4494 h 10425"/>
              <a:gd name="T8" fmla="*/ 0 w 15915"/>
              <a:gd name="T9" fmla="*/ 0 h 10425"/>
              <a:gd name="T10" fmla="*/ 0 w 15915"/>
              <a:gd name="T11" fmla="*/ 6700 h 10425"/>
              <a:gd name="T12" fmla="*/ 11839 w 15915"/>
              <a:gd name="T13" fmla="*/ 10425 h 104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15" h="10425">
                <a:moveTo>
                  <a:pt x="11839" y="10425"/>
                </a:moveTo>
                <a:lnTo>
                  <a:pt x="12018" y="10365"/>
                </a:lnTo>
                <a:lnTo>
                  <a:pt x="15915" y="5008"/>
                </a:lnTo>
                <a:lnTo>
                  <a:pt x="14281" y="4494"/>
                </a:lnTo>
                <a:lnTo>
                  <a:pt x="0" y="0"/>
                </a:lnTo>
                <a:lnTo>
                  <a:pt x="0" y="6700"/>
                </a:lnTo>
                <a:lnTo>
                  <a:pt x="11839" y="10425"/>
                </a:lnTo>
                <a:close/>
              </a:path>
            </a:pathLst>
          </a:custGeom>
          <a:gradFill flip="none" rotWithShape="1">
            <a:gsLst>
              <a:gs pos="0">
                <a:srgbClr val="1DBDC9">
                  <a:shade val="30000"/>
                  <a:satMod val="115000"/>
                </a:srgbClr>
              </a:gs>
              <a:gs pos="50000">
                <a:srgbClr val="1DBDC9">
                  <a:shade val="67500"/>
                  <a:satMod val="115000"/>
                </a:srgbClr>
              </a:gs>
              <a:gs pos="100000">
                <a:srgbClr val="1DBDC9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1AEEFF-51B2-B9C0-6188-448272A6E6EA}"/>
              </a:ext>
            </a:extLst>
          </p:cNvPr>
          <p:cNvGrpSpPr/>
          <p:nvPr/>
        </p:nvGrpSpPr>
        <p:grpSpPr>
          <a:xfrm>
            <a:off x="1798180" y="4284282"/>
            <a:ext cx="5013678" cy="1771654"/>
            <a:chOff x="1456975" y="3978889"/>
            <a:chExt cx="5184576" cy="2322221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ACC2ADD-4B3D-DBE1-4F88-CDCAA509D64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49263" y="3978889"/>
              <a:ext cx="1973276" cy="931726"/>
            </a:xfrm>
            <a:custGeom>
              <a:avLst/>
              <a:gdLst>
                <a:gd name="T0" fmla="*/ 16909 w 16909"/>
                <a:gd name="T1" fmla="*/ 1750 h 6305"/>
                <a:gd name="T2" fmla="*/ 16909 w 16909"/>
                <a:gd name="T3" fmla="*/ 0 h 6305"/>
                <a:gd name="T4" fmla="*/ 0 w 16909"/>
                <a:gd name="T5" fmla="*/ 5393 h 6305"/>
                <a:gd name="T6" fmla="*/ 26 w 16909"/>
                <a:gd name="T7" fmla="*/ 5428 h 6305"/>
                <a:gd name="T8" fmla="*/ 2625 w 16909"/>
                <a:gd name="T9" fmla="*/ 6305 h 6305"/>
                <a:gd name="T10" fmla="*/ 16909 w 16909"/>
                <a:gd name="T11" fmla="*/ 1750 h 6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09" h="6305">
                  <a:moveTo>
                    <a:pt x="16909" y="1750"/>
                  </a:moveTo>
                  <a:lnTo>
                    <a:pt x="16909" y="0"/>
                  </a:lnTo>
                  <a:lnTo>
                    <a:pt x="0" y="5393"/>
                  </a:lnTo>
                  <a:lnTo>
                    <a:pt x="26" y="5428"/>
                  </a:lnTo>
                  <a:lnTo>
                    <a:pt x="2625" y="6305"/>
                  </a:lnTo>
                  <a:lnTo>
                    <a:pt x="16909" y="175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US" sz="1662">
                <a:latin typeface="맑은 고딕 (Body)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256A7FC6-C84F-EC9C-5A24-CB4CEEBB793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71085" y="3988348"/>
              <a:ext cx="1978178" cy="922268"/>
            </a:xfrm>
            <a:custGeom>
              <a:avLst/>
              <a:gdLst>
                <a:gd name="T0" fmla="*/ 0 w 16950"/>
                <a:gd name="T1" fmla="*/ 1750 h 6244"/>
                <a:gd name="T2" fmla="*/ 14281 w 16950"/>
                <a:gd name="T3" fmla="*/ 6244 h 6244"/>
                <a:gd name="T4" fmla="*/ 16942 w 16950"/>
                <a:gd name="T5" fmla="*/ 5346 h 6244"/>
                <a:gd name="T6" fmla="*/ 16950 w 16950"/>
                <a:gd name="T7" fmla="*/ 5334 h 6244"/>
                <a:gd name="T8" fmla="*/ 0 w 16950"/>
                <a:gd name="T9" fmla="*/ 0 h 6244"/>
                <a:gd name="T10" fmla="*/ 0 w 16950"/>
                <a:gd name="T11" fmla="*/ 1750 h 6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50" h="6244">
                  <a:moveTo>
                    <a:pt x="0" y="1750"/>
                  </a:moveTo>
                  <a:lnTo>
                    <a:pt x="14281" y="6244"/>
                  </a:lnTo>
                  <a:lnTo>
                    <a:pt x="16942" y="5346"/>
                  </a:lnTo>
                  <a:lnTo>
                    <a:pt x="16950" y="5334"/>
                  </a:lnTo>
                  <a:lnTo>
                    <a:pt x="0" y="0"/>
                  </a:lnTo>
                  <a:lnTo>
                    <a:pt x="0" y="175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US" sz="1662">
                <a:latin typeface="맑은 고딕 (Body)"/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ED47A3BA-7B42-9250-2090-6EBB1EA2C70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049263" y="4113681"/>
              <a:ext cx="2592288" cy="2187429"/>
            </a:xfrm>
            <a:custGeom>
              <a:avLst/>
              <a:gdLst>
                <a:gd name="T0" fmla="*/ 5304 w 22213"/>
                <a:gd name="T1" fmla="*/ 14794 h 14794"/>
                <a:gd name="T2" fmla="*/ 22213 w 22213"/>
                <a:gd name="T3" fmla="*/ 9401 h 14794"/>
                <a:gd name="T4" fmla="*/ 22213 w 22213"/>
                <a:gd name="T5" fmla="*/ 0 h 14794"/>
                <a:gd name="T6" fmla="*/ 0 w 22213"/>
                <a:gd name="T7" fmla="*/ 7501 h 14794"/>
                <a:gd name="T8" fmla="*/ 5304 w 22213"/>
                <a:gd name="T9" fmla="*/ 14794 h 14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13" h="14794">
                  <a:moveTo>
                    <a:pt x="5304" y="14794"/>
                  </a:moveTo>
                  <a:lnTo>
                    <a:pt x="22213" y="9401"/>
                  </a:lnTo>
                  <a:lnTo>
                    <a:pt x="22213" y="0"/>
                  </a:lnTo>
                  <a:lnTo>
                    <a:pt x="0" y="7501"/>
                  </a:lnTo>
                  <a:lnTo>
                    <a:pt x="5304" y="1479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6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US" sz="1662">
                <a:latin typeface="맑은 고딕 (Body)"/>
              </a:endParaRPr>
            </a:p>
          </p:txBody>
        </p:sp>
        <p:sp>
          <p:nvSpPr>
            <p:cNvPr id="14" name="Freeform 18">
              <a:extLst>
                <a:ext uri="{FF2B5EF4-FFF2-40B4-BE49-F238E27FC236}">
                  <a16:creationId xmlns:a16="http://schemas.microsoft.com/office/drawing/2014/main" id="{49495EF2-A141-413C-BF65-800AF05F9CF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456975" y="4123141"/>
              <a:ext cx="2592288" cy="2177969"/>
            </a:xfrm>
            <a:custGeom>
              <a:avLst/>
              <a:gdLst>
                <a:gd name="T0" fmla="*/ 16950 w 22213"/>
                <a:gd name="T1" fmla="*/ 14735 h 14735"/>
                <a:gd name="T2" fmla="*/ 22213 w 22213"/>
                <a:gd name="T3" fmla="*/ 7501 h 14735"/>
                <a:gd name="T4" fmla="*/ 0 w 22213"/>
                <a:gd name="T5" fmla="*/ 0 h 14735"/>
                <a:gd name="T6" fmla="*/ 0 w 22213"/>
                <a:gd name="T7" fmla="*/ 9401 h 14735"/>
                <a:gd name="T8" fmla="*/ 16950 w 22213"/>
                <a:gd name="T9" fmla="*/ 14735 h 14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13" h="14735">
                  <a:moveTo>
                    <a:pt x="16950" y="14735"/>
                  </a:moveTo>
                  <a:lnTo>
                    <a:pt x="22213" y="7501"/>
                  </a:lnTo>
                  <a:lnTo>
                    <a:pt x="0" y="0"/>
                  </a:lnTo>
                  <a:lnTo>
                    <a:pt x="0" y="9401"/>
                  </a:lnTo>
                  <a:lnTo>
                    <a:pt x="16950" y="1473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6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US" sz="1662">
                <a:latin typeface="맑은 고딕 (Body)"/>
              </a:endParaRPr>
            </a:p>
          </p:txBody>
        </p:sp>
      </p:grpSp>
      <p:sp>
        <p:nvSpPr>
          <p:cNvPr id="15" name="Freeform 5">
            <a:extLst>
              <a:ext uri="{FF2B5EF4-FFF2-40B4-BE49-F238E27FC236}">
                <a16:creationId xmlns:a16="http://schemas.microsoft.com/office/drawing/2014/main" id="{FF956732-437A-C1B3-FC47-3E5298DDCFFA}"/>
              </a:ext>
            </a:extLst>
          </p:cNvPr>
          <p:cNvSpPr>
            <a:spLocks/>
          </p:cNvSpPr>
          <p:nvPr/>
        </p:nvSpPr>
        <p:spPr bwMode="auto">
          <a:xfrm rot="10800000">
            <a:off x="4305019" y="2492014"/>
            <a:ext cx="933682" cy="639067"/>
          </a:xfrm>
          <a:custGeom>
            <a:avLst/>
            <a:gdLst>
              <a:gd name="T0" fmla="*/ 2601 w 11008"/>
              <a:gd name="T1" fmla="*/ 7085 h 7085"/>
              <a:gd name="T2" fmla="*/ 11008 w 11008"/>
              <a:gd name="T3" fmla="*/ 4404 h 7085"/>
              <a:gd name="T4" fmla="*/ 11008 w 11008"/>
              <a:gd name="T5" fmla="*/ 0 h 7085"/>
              <a:gd name="T6" fmla="*/ 1503 w 11008"/>
              <a:gd name="T7" fmla="*/ 3032 h 7085"/>
              <a:gd name="T8" fmla="*/ 0 w 11008"/>
              <a:gd name="T9" fmla="*/ 3511 h 7085"/>
              <a:gd name="T10" fmla="*/ 2601 w 11008"/>
              <a:gd name="T11" fmla="*/ 7085 h 7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008" h="7085">
                <a:moveTo>
                  <a:pt x="2601" y="7085"/>
                </a:moveTo>
                <a:lnTo>
                  <a:pt x="11008" y="4404"/>
                </a:lnTo>
                <a:lnTo>
                  <a:pt x="11008" y="0"/>
                </a:lnTo>
                <a:lnTo>
                  <a:pt x="1503" y="3032"/>
                </a:lnTo>
                <a:lnTo>
                  <a:pt x="0" y="3511"/>
                </a:lnTo>
                <a:lnTo>
                  <a:pt x="2601" y="7085"/>
                </a:lnTo>
                <a:close/>
              </a:path>
            </a:pathLst>
          </a:cu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0E04ED61-BEA6-1C57-D92F-5D57FA4BADC8}"/>
              </a:ext>
            </a:extLst>
          </p:cNvPr>
          <p:cNvSpPr>
            <a:spLocks/>
          </p:cNvSpPr>
          <p:nvPr/>
        </p:nvSpPr>
        <p:spPr bwMode="auto">
          <a:xfrm rot="10800000">
            <a:off x="4305020" y="2422770"/>
            <a:ext cx="712854" cy="311600"/>
          </a:xfrm>
          <a:custGeom>
            <a:avLst/>
            <a:gdLst>
              <a:gd name="T0" fmla="*/ 8407 w 8407"/>
              <a:gd name="T1" fmla="*/ 1425 h 3452"/>
              <a:gd name="T2" fmla="*/ 8407 w 8407"/>
              <a:gd name="T3" fmla="*/ 0 h 3452"/>
              <a:gd name="T4" fmla="*/ 0 w 8407"/>
              <a:gd name="T5" fmla="*/ 2681 h 3452"/>
              <a:gd name="T6" fmla="*/ 75 w 8407"/>
              <a:gd name="T7" fmla="*/ 2785 h 3452"/>
              <a:gd name="T8" fmla="*/ 2051 w 8407"/>
              <a:gd name="T9" fmla="*/ 3452 h 3452"/>
              <a:gd name="T10" fmla="*/ 8407 w 8407"/>
              <a:gd name="T11" fmla="*/ 1425 h 3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407" h="3452">
                <a:moveTo>
                  <a:pt x="8407" y="1425"/>
                </a:moveTo>
                <a:lnTo>
                  <a:pt x="8407" y="0"/>
                </a:lnTo>
                <a:lnTo>
                  <a:pt x="0" y="2681"/>
                </a:lnTo>
                <a:lnTo>
                  <a:pt x="75" y="2785"/>
                </a:lnTo>
                <a:lnTo>
                  <a:pt x="2051" y="3452"/>
                </a:lnTo>
                <a:lnTo>
                  <a:pt x="8407" y="1425"/>
                </a:lnTo>
                <a:close/>
              </a:path>
            </a:pathLst>
          </a:custGeom>
          <a:solidFill>
            <a:srgbClr val="A68200"/>
          </a:soli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E1014F72-C7AD-3FD7-5972-71B435332670}"/>
              </a:ext>
            </a:extLst>
          </p:cNvPr>
          <p:cNvSpPr>
            <a:spLocks/>
          </p:cNvSpPr>
          <p:nvPr/>
        </p:nvSpPr>
        <p:spPr bwMode="auto">
          <a:xfrm rot="10800000">
            <a:off x="4305020" y="2929841"/>
            <a:ext cx="1346334" cy="944898"/>
          </a:xfrm>
          <a:custGeom>
            <a:avLst/>
            <a:gdLst>
              <a:gd name="T0" fmla="*/ 3918 w 15876"/>
              <a:gd name="T1" fmla="*/ 10447 h 10481"/>
              <a:gd name="T2" fmla="*/ 4018 w 15876"/>
              <a:gd name="T3" fmla="*/ 10481 h 10481"/>
              <a:gd name="T4" fmla="*/ 15876 w 15876"/>
              <a:gd name="T5" fmla="*/ 6700 h 10481"/>
              <a:gd name="T6" fmla="*/ 15876 w 15876"/>
              <a:gd name="T7" fmla="*/ 0 h 10481"/>
              <a:gd name="T8" fmla="*/ 1592 w 15876"/>
              <a:gd name="T9" fmla="*/ 4555 h 10481"/>
              <a:gd name="T10" fmla="*/ 0 w 15876"/>
              <a:gd name="T11" fmla="*/ 5063 h 10481"/>
              <a:gd name="T12" fmla="*/ 3918 w 15876"/>
              <a:gd name="T13" fmla="*/ 10447 h 104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876" h="10481">
                <a:moveTo>
                  <a:pt x="3918" y="10447"/>
                </a:moveTo>
                <a:lnTo>
                  <a:pt x="4018" y="10481"/>
                </a:lnTo>
                <a:lnTo>
                  <a:pt x="15876" y="6700"/>
                </a:lnTo>
                <a:lnTo>
                  <a:pt x="15876" y="0"/>
                </a:lnTo>
                <a:lnTo>
                  <a:pt x="1592" y="4555"/>
                </a:lnTo>
                <a:lnTo>
                  <a:pt x="0" y="5063"/>
                </a:lnTo>
                <a:lnTo>
                  <a:pt x="3918" y="10447"/>
                </a:lnTo>
                <a:close/>
              </a:path>
            </a:pathLst>
          </a:custGeom>
          <a:gradFill flip="none" rotWithShape="1">
            <a:gsLst>
              <a:gs pos="0">
                <a:srgbClr val="1DBDC9">
                  <a:shade val="30000"/>
                  <a:satMod val="115000"/>
                </a:srgbClr>
              </a:gs>
              <a:gs pos="50000">
                <a:srgbClr val="1DBDC9">
                  <a:shade val="67500"/>
                  <a:satMod val="115000"/>
                </a:srgbClr>
              </a:gs>
              <a:gs pos="100000">
                <a:srgbClr val="1DBDC9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6B4703C-EC47-B86E-CC9C-227358210749}"/>
              </a:ext>
            </a:extLst>
          </p:cNvPr>
          <p:cNvSpPr>
            <a:spLocks/>
          </p:cNvSpPr>
          <p:nvPr/>
        </p:nvSpPr>
        <p:spPr bwMode="auto">
          <a:xfrm rot="10800000">
            <a:off x="3301120" y="2862039"/>
            <a:ext cx="1003899" cy="408254"/>
          </a:xfrm>
          <a:custGeom>
            <a:avLst/>
            <a:gdLst>
              <a:gd name="T0" fmla="*/ 9472 w 11839"/>
              <a:gd name="T1" fmla="*/ 4525 h 4525"/>
              <a:gd name="T2" fmla="*/ 11839 w 11839"/>
              <a:gd name="T3" fmla="*/ 3725 h 4525"/>
              <a:gd name="T4" fmla="*/ 0 w 11839"/>
              <a:gd name="T5" fmla="*/ 0 h 4525"/>
              <a:gd name="T6" fmla="*/ 0 w 11839"/>
              <a:gd name="T7" fmla="*/ 1544 h 4525"/>
              <a:gd name="T8" fmla="*/ 9472 w 11839"/>
              <a:gd name="T9" fmla="*/ 4525 h 4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39" h="4525">
                <a:moveTo>
                  <a:pt x="9472" y="4525"/>
                </a:moveTo>
                <a:lnTo>
                  <a:pt x="11839" y="3725"/>
                </a:lnTo>
                <a:lnTo>
                  <a:pt x="0" y="0"/>
                </a:lnTo>
                <a:lnTo>
                  <a:pt x="0" y="1544"/>
                </a:lnTo>
                <a:lnTo>
                  <a:pt x="9472" y="4525"/>
                </a:lnTo>
                <a:close/>
              </a:path>
            </a:pathLst>
          </a:custGeom>
          <a:solidFill>
            <a:srgbClr val="057880"/>
          </a:soli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6E214CE7-72EC-DC79-3A0A-9772AC7115CB}"/>
              </a:ext>
            </a:extLst>
          </p:cNvPr>
          <p:cNvSpPr>
            <a:spLocks/>
          </p:cNvSpPr>
          <p:nvPr/>
        </p:nvSpPr>
        <p:spPr bwMode="auto">
          <a:xfrm rot="10800000">
            <a:off x="4305019" y="2857710"/>
            <a:ext cx="1005425" cy="412582"/>
          </a:xfrm>
          <a:custGeom>
            <a:avLst/>
            <a:gdLst>
              <a:gd name="T0" fmla="*/ 2353 w 11858"/>
              <a:gd name="T1" fmla="*/ 4576 h 4576"/>
              <a:gd name="T2" fmla="*/ 11858 w 11858"/>
              <a:gd name="T3" fmla="*/ 1544 h 4576"/>
              <a:gd name="T4" fmla="*/ 11858 w 11858"/>
              <a:gd name="T5" fmla="*/ 0 h 4576"/>
              <a:gd name="T6" fmla="*/ 0 w 11858"/>
              <a:gd name="T7" fmla="*/ 3781 h 4576"/>
              <a:gd name="T8" fmla="*/ 2353 w 11858"/>
              <a:gd name="T9" fmla="*/ 4576 h 4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58" h="4576">
                <a:moveTo>
                  <a:pt x="2353" y="4576"/>
                </a:moveTo>
                <a:lnTo>
                  <a:pt x="11858" y="1544"/>
                </a:lnTo>
                <a:lnTo>
                  <a:pt x="11858" y="0"/>
                </a:lnTo>
                <a:lnTo>
                  <a:pt x="0" y="3781"/>
                </a:lnTo>
                <a:lnTo>
                  <a:pt x="2353" y="4576"/>
                </a:lnTo>
                <a:close/>
              </a:path>
            </a:pathLst>
          </a:custGeom>
          <a:solidFill>
            <a:srgbClr val="057880"/>
          </a:soli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25FE9B77-7402-37C7-26FB-009B2EC70751}"/>
              </a:ext>
            </a:extLst>
          </p:cNvPr>
          <p:cNvSpPr>
            <a:spLocks/>
          </p:cNvSpPr>
          <p:nvPr/>
        </p:nvSpPr>
        <p:spPr bwMode="auto">
          <a:xfrm rot="10800000">
            <a:off x="4305020" y="3463600"/>
            <a:ext cx="1433850" cy="568381"/>
          </a:xfrm>
          <a:custGeom>
            <a:avLst/>
            <a:gdLst>
              <a:gd name="T0" fmla="*/ 16909 w 16909"/>
              <a:gd name="T1" fmla="*/ 1750 h 6305"/>
              <a:gd name="T2" fmla="*/ 16909 w 16909"/>
              <a:gd name="T3" fmla="*/ 0 h 6305"/>
              <a:gd name="T4" fmla="*/ 0 w 16909"/>
              <a:gd name="T5" fmla="*/ 5393 h 6305"/>
              <a:gd name="T6" fmla="*/ 26 w 16909"/>
              <a:gd name="T7" fmla="*/ 5428 h 6305"/>
              <a:gd name="T8" fmla="*/ 2625 w 16909"/>
              <a:gd name="T9" fmla="*/ 6305 h 6305"/>
              <a:gd name="T10" fmla="*/ 16909 w 16909"/>
              <a:gd name="T11" fmla="*/ 1750 h 6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09" h="6305">
                <a:moveTo>
                  <a:pt x="16909" y="1750"/>
                </a:moveTo>
                <a:lnTo>
                  <a:pt x="16909" y="0"/>
                </a:lnTo>
                <a:lnTo>
                  <a:pt x="0" y="5393"/>
                </a:lnTo>
                <a:lnTo>
                  <a:pt x="26" y="5428"/>
                </a:lnTo>
                <a:lnTo>
                  <a:pt x="2625" y="6305"/>
                </a:lnTo>
                <a:lnTo>
                  <a:pt x="16909" y="1750"/>
                </a:lnTo>
                <a:close/>
              </a:path>
            </a:pathLst>
          </a:custGeom>
          <a:solidFill>
            <a:srgbClr val="1B241F"/>
          </a:soli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A32E5CB1-C457-FDBA-F352-6D500AB7A8A7}"/>
              </a:ext>
            </a:extLst>
          </p:cNvPr>
          <p:cNvSpPr>
            <a:spLocks/>
          </p:cNvSpPr>
          <p:nvPr/>
        </p:nvSpPr>
        <p:spPr bwMode="auto">
          <a:xfrm rot="10800000">
            <a:off x="4305020" y="2065727"/>
            <a:ext cx="641621" cy="539529"/>
          </a:xfrm>
          <a:custGeom>
            <a:avLst/>
            <a:gdLst>
              <a:gd name="T0" fmla="*/ 2601 w 7565"/>
              <a:gd name="T1" fmla="*/ 5988 h 5988"/>
              <a:gd name="T2" fmla="*/ 7565 w 7565"/>
              <a:gd name="T3" fmla="*/ 4405 h 5988"/>
              <a:gd name="T4" fmla="*/ 7565 w 7565"/>
              <a:gd name="T5" fmla="*/ 0 h 5988"/>
              <a:gd name="T6" fmla="*/ 1209 w 7565"/>
              <a:gd name="T7" fmla="*/ 2027 h 5988"/>
              <a:gd name="T8" fmla="*/ 0 w 7565"/>
              <a:gd name="T9" fmla="*/ 2413 h 5988"/>
              <a:gd name="T10" fmla="*/ 2601 w 7565"/>
              <a:gd name="T11" fmla="*/ 5988 h 59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65" h="5988">
                <a:moveTo>
                  <a:pt x="2601" y="5988"/>
                </a:moveTo>
                <a:lnTo>
                  <a:pt x="7565" y="4405"/>
                </a:lnTo>
                <a:lnTo>
                  <a:pt x="7565" y="0"/>
                </a:lnTo>
                <a:lnTo>
                  <a:pt x="1209" y="2027"/>
                </a:lnTo>
                <a:lnTo>
                  <a:pt x="0" y="2413"/>
                </a:lnTo>
                <a:lnTo>
                  <a:pt x="2601" y="5988"/>
                </a:lnTo>
                <a:close/>
              </a:path>
            </a:pathLst>
          </a:custGeom>
          <a:gradFill flip="none" rotWithShape="1">
            <a:gsLst>
              <a:gs pos="0">
                <a:srgbClr val="99CC00">
                  <a:shade val="30000"/>
                  <a:satMod val="115000"/>
                </a:srgbClr>
              </a:gs>
              <a:gs pos="50000">
                <a:srgbClr val="99CC00">
                  <a:shade val="67500"/>
                  <a:satMod val="115000"/>
                </a:srgbClr>
              </a:gs>
              <a:gs pos="100000">
                <a:srgbClr val="99CC0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852E8609-8D64-1DEF-A8FE-D22FB4850F57}"/>
              </a:ext>
            </a:extLst>
          </p:cNvPr>
          <p:cNvSpPr>
            <a:spLocks/>
          </p:cNvSpPr>
          <p:nvPr/>
        </p:nvSpPr>
        <p:spPr bwMode="auto">
          <a:xfrm rot="10800000">
            <a:off x="3369303" y="2494898"/>
            <a:ext cx="935717" cy="636183"/>
          </a:xfrm>
          <a:custGeom>
            <a:avLst/>
            <a:gdLst>
              <a:gd name="T0" fmla="*/ 8427 w 11034"/>
              <a:gd name="T1" fmla="*/ 7056 h 7056"/>
              <a:gd name="T2" fmla="*/ 11034 w 11034"/>
              <a:gd name="T3" fmla="*/ 3473 h 7056"/>
              <a:gd name="T4" fmla="*/ 9472 w 11034"/>
              <a:gd name="T5" fmla="*/ 2981 h 7056"/>
              <a:gd name="T6" fmla="*/ 0 w 11034"/>
              <a:gd name="T7" fmla="*/ 0 h 7056"/>
              <a:gd name="T8" fmla="*/ 0 w 11034"/>
              <a:gd name="T9" fmla="*/ 4404 h 7056"/>
              <a:gd name="T10" fmla="*/ 8427 w 11034"/>
              <a:gd name="T11" fmla="*/ 7056 h 7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034" h="7056">
                <a:moveTo>
                  <a:pt x="8427" y="7056"/>
                </a:moveTo>
                <a:lnTo>
                  <a:pt x="11034" y="3473"/>
                </a:lnTo>
                <a:lnTo>
                  <a:pt x="9472" y="2981"/>
                </a:lnTo>
                <a:lnTo>
                  <a:pt x="0" y="0"/>
                </a:lnTo>
                <a:lnTo>
                  <a:pt x="0" y="4404"/>
                </a:lnTo>
                <a:lnTo>
                  <a:pt x="8427" y="7056"/>
                </a:lnTo>
                <a:close/>
              </a:path>
            </a:pathLst>
          </a:custGeom>
          <a:gradFill flip="none" rotWithShape="1">
            <a:gsLst>
              <a:gs pos="0">
                <a:srgbClr val="FFCC00">
                  <a:shade val="30000"/>
                  <a:satMod val="115000"/>
                </a:srgbClr>
              </a:gs>
              <a:gs pos="50000">
                <a:srgbClr val="FFCC00">
                  <a:shade val="67500"/>
                  <a:satMod val="115000"/>
                </a:srgbClr>
              </a:gs>
              <a:gs pos="100000">
                <a:srgbClr val="FFCC0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23" name="Freeform 15">
            <a:extLst>
              <a:ext uri="{FF2B5EF4-FFF2-40B4-BE49-F238E27FC236}">
                <a16:creationId xmlns:a16="http://schemas.microsoft.com/office/drawing/2014/main" id="{D22D447A-512E-AA86-64D8-A1F5C89F8F10}"/>
              </a:ext>
            </a:extLst>
          </p:cNvPr>
          <p:cNvSpPr>
            <a:spLocks/>
          </p:cNvSpPr>
          <p:nvPr/>
        </p:nvSpPr>
        <p:spPr bwMode="auto">
          <a:xfrm rot="10800000">
            <a:off x="4305020" y="3545827"/>
            <a:ext cx="1883646" cy="1334398"/>
          </a:xfrm>
          <a:custGeom>
            <a:avLst/>
            <a:gdLst>
              <a:gd name="T0" fmla="*/ 5304 w 22213"/>
              <a:gd name="T1" fmla="*/ 14794 h 14794"/>
              <a:gd name="T2" fmla="*/ 22213 w 22213"/>
              <a:gd name="T3" fmla="*/ 9401 h 14794"/>
              <a:gd name="T4" fmla="*/ 22213 w 22213"/>
              <a:gd name="T5" fmla="*/ 0 h 14794"/>
              <a:gd name="T6" fmla="*/ 0 w 22213"/>
              <a:gd name="T7" fmla="*/ 7501 h 14794"/>
              <a:gd name="T8" fmla="*/ 5304 w 22213"/>
              <a:gd name="T9" fmla="*/ 14794 h 14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13" h="14794">
                <a:moveTo>
                  <a:pt x="5304" y="14794"/>
                </a:moveTo>
                <a:lnTo>
                  <a:pt x="22213" y="9401"/>
                </a:lnTo>
                <a:lnTo>
                  <a:pt x="22213" y="0"/>
                </a:lnTo>
                <a:lnTo>
                  <a:pt x="0" y="7501"/>
                </a:lnTo>
                <a:lnTo>
                  <a:pt x="5304" y="14794"/>
                </a:lnTo>
                <a:close/>
              </a:path>
            </a:pathLst>
          </a:custGeom>
          <a:gradFill flip="none" rotWithShape="1">
            <a:gsLst>
              <a:gs pos="0">
                <a:srgbClr val="36433C">
                  <a:shade val="30000"/>
                  <a:satMod val="115000"/>
                </a:srgbClr>
              </a:gs>
              <a:gs pos="50000">
                <a:srgbClr val="36433C">
                  <a:shade val="67500"/>
                  <a:satMod val="115000"/>
                </a:srgbClr>
              </a:gs>
              <a:gs pos="100000">
                <a:srgbClr val="36433C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5DD4D9D6-212C-ABD8-67D8-05424D1C73F9}"/>
              </a:ext>
            </a:extLst>
          </p:cNvPr>
          <p:cNvSpPr>
            <a:spLocks/>
          </p:cNvSpPr>
          <p:nvPr/>
        </p:nvSpPr>
        <p:spPr bwMode="auto">
          <a:xfrm rot="10800000">
            <a:off x="4305018" y="2008025"/>
            <a:ext cx="420793" cy="200521"/>
          </a:xfrm>
          <a:custGeom>
            <a:avLst/>
            <a:gdLst>
              <a:gd name="T0" fmla="*/ 4964 w 4964"/>
              <a:gd name="T1" fmla="*/ 1177 h 2225"/>
              <a:gd name="T2" fmla="*/ 4964 w 4964"/>
              <a:gd name="T3" fmla="*/ 0 h 2225"/>
              <a:gd name="T4" fmla="*/ 0 w 4964"/>
              <a:gd name="T5" fmla="*/ 1583 h 2225"/>
              <a:gd name="T6" fmla="*/ 73 w 4964"/>
              <a:gd name="T7" fmla="*/ 1683 h 2225"/>
              <a:gd name="T8" fmla="*/ 1676 w 4964"/>
              <a:gd name="T9" fmla="*/ 2225 h 2225"/>
              <a:gd name="T10" fmla="*/ 4964 w 4964"/>
              <a:gd name="T11" fmla="*/ 1177 h 2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64" h="2225">
                <a:moveTo>
                  <a:pt x="4964" y="1177"/>
                </a:moveTo>
                <a:lnTo>
                  <a:pt x="4964" y="0"/>
                </a:lnTo>
                <a:lnTo>
                  <a:pt x="0" y="1583"/>
                </a:lnTo>
                <a:lnTo>
                  <a:pt x="73" y="1683"/>
                </a:lnTo>
                <a:lnTo>
                  <a:pt x="1676" y="2225"/>
                </a:lnTo>
                <a:lnTo>
                  <a:pt x="4964" y="1177"/>
                </a:lnTo>
                <a:close/>
              </a:path>
            </a:pathLst>
          </a:custGeom>
          <a:solidFill>
            <a:srgbClr val="5E8300"/>
          </a:soli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8FA85025-222A-53AA-8F05-9ED3ED8FC9C1}"/>
              </a:ext>
            </a:extLst>
          </p:cNvPr>
          <p:cNvSpPr>
            <a:spLocks/>
          </p:cNvSpPr>
          <p:nvPr/>
        </p:nvSpPr>
        <p:spPr bwMode="auto">
          <a:xfrm rot="10800000">
            <a:off x="3590638" y="2427098"/>
            <a:ext cx="714380" cy="307272"/>
          </a:xfrm>
          <a:custGeom>
            <a:avLst/>
            <a:gdLst>
              <a:gd name="T0" fmla="*/ 0 w 8427"/>
              <a:gd name="T1" fmla="*/ 1425 h 3409"/>
              <a:gd name="T2" fmla="*/ 6302 w 8427"/>
              <a:gd name="T3" fmla="*/ 3409 h 3409"/>
              <a:gd name="T4" fmla="*/ 8391 w 8427"/>
              <a:gd name="T5" fmla="*/ 2703 h 3409"/>
              <a:gd name="T6" fmla="*/ 8427 w 8427"/>
              <a:gd name="T7" fmla="*/ 2652 h 3409"/>
              <a:gd name="T8" fmla="*/ 0 w 8427"/>
              <a:gd name="T9" fmla="*/ 0 h 3409"/>
              <a:gd name="T10" fmla="*/ 0 w 8427"/>
              <a:gd name="T11" fmla="*/ 1425 h 3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427" h="3409">
                <a:moveTo>
                  <a:pt x="0" y="1425"/>
                </a:moveTo>
                <a:lnTo>
                  <a:pt x="6302" y="3409"/>
                </a:lnTo>
                <a:lnTo>
                  <a:pt x="8391" y="2703"/>
                </a:lnTo>
                <a:lnTo>
                  <a:pt x="8427" y="2652"/>
                </a:lnTo>
                <a:lnTo>
                  <a:pt x="0" y="0"/>
                </a:lnTo>
                <a:lnTo>
                  <a:pt x="0" y="1425"/>
                </a:lnTo>
                <a:close/>
              </a:path>
            </a:pathLst>
          </a:custGeom>
          <a:solidFill>
            <a:srgbClr val="A68200"/>
          </a:soli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91B52287-E726-EDA9-C890-EAF81DF6171A}"/>
              </a:ext>
            </a:extLst>
          </p:cNvPr>
          <p:cNvSpPr>
            <a:spLocks/>
          </p:cNvSpPr>
          <p:nvPr/>
        </p:nvSpPr>
        <p:spPr bwMode="auto">
          <a:xfrm rot="10800000">
            <a:off x="2421374" y="3551598"/>
            <a:ext cx="1883646" cy="1328627"/>
          </a:xfrm>
          <a:custGeom>
            <a:avLst/>
            <a:gdLst>
              <a:gd name="T0" fmla="*/ 16950 w 22213"/>
              <a:gd name="T1" fmla="*/ 14735 h 14735"/>
              <a:gd name="T2" fmla="*/ 22213 w 22213"/>
              <a:gd name="T3" fmla="*/ 7501 h 14735"/>
              <a:gd name="T4" fmla="*/ 0 w 22213"/>
              <a:gd name="T5" fmla="*/ 0 h 14735"/>
              <a:gd name="T6" fmla="*/ 0 w 22213"/>
              <a:gd name="T7" fmla="*/ 9401 h 14735"/>
              <a:gd name="T8" fmla="*/ 16950 w 22213"/>
              <a:gd name="T9" fmla="*/ 14735 h 147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13" h="14735">
                <a:moveTo>
                  <a:pt x="16950" y="14735"/>
                </a:moveTo>
                <a:lnTo>
                  <a:pt x="22213" y="7501"/>
                </a:lnTo>
                <a:lnTo>
                  <a:pt x="0" y="0"/>
                </a:lnTo>
                <a:lnTo>
                  <a:pt x="0" y="9401"/>
                </a:lnTo>
                <a:lnTo>
                  <a:pt x="16950" y="14735"/>
                </a:lnTo>
                <a:close/>
              </a:path>
            </a:pathLst>
          </a:custGeom>
          <a:gradFill flip="none" rotWithShape="1">
            <a:gsLst>
              <a:gs pos="0">
                <a:srgbClr val="36433C">
                  <a:shade val="30000"/>
                  <a:satMod val="115000"/>
                </a:srgbClr>
              </a:gs>
              <a:gs pos="50000">
                <a:srgbClr val="36433C">
                  <a:shade val="67500"/>
                  <a:satMod val="115000"/>
                </a:srgbClr>
              </a:gs>
              <a:gs pos="100000">
                <a:srgbClr val="36433C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27" name="Freeform 19">
            <a:extLst>
              <a:ext uri="{FF2B5EF4-FFF2-40B4-BE49-F238E27FC236}">
                <a16:creationId xmlns:a16="http://schemas.microsoft.com/office/drawing/2014/main" id="{8FE1949B-8D3A-A7FD-A7E6-DC79C080CF59}"/>
              </a:ext>
            </a:extLst>
          </p:cNvPr>
          <p:cNvSpPr>
            <a:spLocks/>
          </p:cNvSpPr>
          <p:nvPr/>
        </p:nvSpPr>
        <p:spPr bwMode="auto">
          <a:xfrm rot="10800000">
            <a:off x="4305020" y="1450463"/>
            <a:ext cx="362278" cy="652051"/>
          </a:xfrm>
          <a:custGeom>
            <a:avLst/>
            <a:gdLst>
              <a:gd name="T0" fmla="*/ 4270 w 4270"/>
              <a:gd name="T1" fmla="*/ 7230 h 7230"/>
              <a:gd name="T2" fmla="*/ 4270 w 4270"/>
              <a:gd name="T3" fmla="*/ 0 h 7230"/>
              <a:gd name="T4" fmla="*/ 982 w 4270"/>
              <a:gd name="T5" fmla="*/ 1048 h 7230"/>
              <a:gd name="T6" fmla="*/ 0 w 4270"/>
              <a:gd name="T7" fmla="*/ 1361 h 7230"/>
              <a:gd name="T8" fmla="*/ 4270 w 4270"/>
              <a:gd name="T9" fmla="*/ 7230 h 7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70" h="7230">
                <a:moveTo>
                  <a:pt x="4270" y="7230"/>
                </a:moveTo>
                <a:lnTo>
                  <a:pt x="4270" y="0"/>
                </a:lnTo>
                <a:lnTo>
                  <a:pt x="982" y="1048"/>
                </a:lnTo>
                <a:lnTo>
                  <a:pt x="0" y="1361"/>
                </a:lnTo>
                <a:lnTo>
                  <a:pt x="4270" y="7230"/>
                </a:lnTo>
                <a:close/>
              </a:path>
            </a:pathLst>
          </a:custGeom>
          <a:gradFill flip="none" rotWithShape="1">
            <a:gsLst>
              <a:gs pos="0">
                <a:srgbClr val="DC2E30">
                  <a:shade val="30000"/>
                  <a:satMod val="115000"/>
                </a:srgbClr>
              </a:gs>
              <a:gs pos="50000">
                <a:srgbClr val="DC2E30">
                  <a:shade val="67500"/>
                  <a:satMod val="115000"/>
                </a:srgbClr>
              </a:gs>
              <a:gs pos="100000">
                <a:srgbClr val="DC2E3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28" name="Freeform 20">
            <a:extLst>
              <a:ext uri="{FF2B5EF4-FFF2-40B4-BE49-F238E27FC236}">
                <a16:creationId xmlns:a16="http://schemas.microsoft.com/office/drawing/2014/main" id="{FED9DB08-7968-7920-9C3A-D6F6EC64E149}"/>
              </a:ext>
            </a:extLst>
          </p:cNvPr>
          <p:cNvSpPr>
            <a:spLocks/>
          </p:cNvSpPr>
          <p:nvPr/>
        </p:nvSpPr>
        <p:spPr bwMode="auto">
          <a:xfrm rot="10800000">
            <a:off x="3942232" y="1450463"/>
            <a:ext cx="362787" cy="652051"/>
          </a:xfrm>
          <a:custGeom>
            <a:avLst/>
            <a:gdLst>
              <a:gd name="T0" fmla="*/ 4281 w 4281"/>
              <a:gd name="T1" fmla="*/ 1347 h 7230"/>
              <a:gd name="T2" fmla="*/ 3214 w 4281"/>
              <a:gd name="T3" fmla="*/ 1011 h 7230"/>
              <a:gd name="T4" fmla="*/ 0 w 4281"/>
              <a:gd name="T5" fmla="*/ 0 h 7230"/>
              <a:gd name="T6" fmla="*/ 0 w 4281"/>
              <a:gd name="T7" fmla="*/ 7230 h 7230"/>
              <a:gd name="T8" fmla="*/ 4281 w 4281"/>
              <a:gd name="T9" fmla="*/ 1347 h 7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81" h="7230">
                <a:moveTo>
                  <a:pt x="4281" y="1347"/>
                </a:moveTo>
                <a:lnTo>
                  <a:pt x="3214" y="1011"/>
                </a:lnTo>
                <a:lnTo>
                  <a:pt x="0" y="0"/>
                </a:lnTo>
                <a:lnTo>
                  <a:pt x="0" y="7230"/>
                </a:lnTo>
                <a:lnTo>
                  <a:pt x="4281" y="1347"/>
                </a:lnTo>
                <a:close/>
              </a:path>
            </a:pathLst>
          </a:custGeom>
          <a:gradFill flip="none" rotWithShape="1">
            <a:gsLst>
              <a:gs pos="0">
                <a:srgbClr val="DC2E30">
                  <a:shade val="30000"/>
                  <a:satMod val="115000"/>
                </a:srgbClr>
              </a:gs>
              <a:gs pos="50000">
                <a:srgbClr val="DC2E30">
                  <a:shade val="67500"/>
                  <a:satMod val="115000"/>
                </a:srgbClr>
              </a:gs>
              <a:gs pos="100000">
                <a:srgbClr val="DC2E3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29" name="Freeform 21">
            <a:extLst>
              <a:ext uri="{FF2B5EF4-FFF2-40B4-BE49-F238E27FC236}">
                <a16:creationId xmlns:a16="http://schemas.microsoft.com/office/drawing/2014/main" id="{C268D509-D4DE-A356-773C-6E5626213C7B}"/>
              </a:ext>
            </a:extLst>
          </p:cNvPr>
          <p:cNvSpPr>
            <a:spLocks/>
          </p:cNvSpPr>
          <p:nvPr/>
        </p:nvSpPr>
        <p:spPr bwMode="auto">
          <a:xfrm rot="10800000">
            <a:off x="3661873" y="2067170"/>
            <a:ext cx="643146" cy="538087"/>
          </a:xfrm>
          <a:custGeom>
            <a:avLst/>
            <a:gdLst>
              <a:gd name="T0" fmla="*/ 4976 w 7584"/>
              <a:gd name="T1" fmla="*/ 5972 h 5972"/>
              <a:gd name="T2" fmla="*/ 7584 w 7584"/>
              <a:gd name="T3" fmla="*/ 2387 h 5972"/>
              <a:gd name="T4" fmla="*/ 6302 w 7584"/>
              <a:gd name="T5" fmla="*/ 1984 h 5972"/>
              <a:gd name="T6" fmla="*/ 0 w 7584"/>
              <a:gd name="T7" fmla="*/ 0 h 5972"/>
              <a:gd name="T8" fmla="*/ 0 w 7584"/>
              <a:gd name="T9" fmla="*/ 4405 h 5972"/>
              <a:gd name="T10" fmla="*/ 4976 w 7584"/>
              <a:gd name="T11" fmla="*/ 5972 h 5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584" h="5972">
                <a:moveTo>
                  <a:pt x="4976" y="5972"/>
                </a:moveTo>
                <a:lnTo>
                  <a:pt x="7584" y="2387"/>
                </a:lnTo>
                <a:lnTo>
                  <a:pt x="6302" y="1984"/>
                </a:lnTo>
                <a:lnTo>
                  <a:pt x="0" y="0"/>
                </a:lnTo>
                <a:lnTo>
                  <a:pt x="0" y="4405"/>
                </a:lnTo>
                <a:lnTo>
                  <a:pt x="4976" y="5972"/>
                </a:lnTo>
                <a:close/>
              </a:path>
            </a:pathLst>
          </a:custGeom>
          <a:gradFill flip="none" rotWithShape="1">
            <a:gsLst>
              <a:gs pos="0">
                <a:srgbClr val="99CC00">
                  <a:shade val="30000"/>
                  <a:satMod val="115000"/>
                </a:srgbClr>
              </a:gs>
              <a:gs pos="50000">
                <a:srgbClr val="99CC00">
                  <a:shade val="67500"/>
                  <a:satMod val="115000"/>
                </a:srgbClr>
              </a:gs>
              <a:gs pos="100000">
                <a:srgbClr val="99CC0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30" name="Freeform 22">
            <a:extLst>
              <a:ext uri="{FF2B5EF4-FFF2-40B4-BE49-F238E27FC236}">
                <a16:creationId xmlns:a16="http://schemas.microsoft.com/office/drawing/2014/main" id="{071952E1-05A7-A68C-08E8-C2B0B345E1AE}"/>
              </a:ext>
            </a:extLst>
          </p:cNvPr>
          <p:cNvSpPr>
            <a:spLocks/>
          </p:cNvSpPr>
          <p:nvPr/>
        </p:nvSpPr>
        <p:spPr bwMode="auto">
          <a:xfrm rot="10800000">
            <a:off x="3883209" y="2010910"/>
            <a:ext cx="421811" cy="197635"/>
          </a:xfrm>
          <a:custGeom>
            <a:avLst/>
            <a:gdLst>
              <a:gd name="T0" fmla="*/ 0 w 4976"/>
              <a:gd name="T1" fmla="*/ 1177 h 2188"/>
              <a:gd name="T2" fmla="*/ 3214 w 4976"/>
              <a:gd name="T3" fmla="*/ 2188 h 2188"/>
              <a:gd name="T4" fmla="*/ 4951 w 4976"/>
              <a:gd name="T5" fmla="*/ 1601 h 2188"/>
              <a:gd name="T6" fmla="*/ 4976 w 4976"/>
              <a:gd name="T7" fmla="*/ 1567 h 2188"/>
              <a:gd name="T8" fmla="*/ 0 w 4976"/>
              <a:gd name="T9" fmla="*/ 0 h 2188"/>
              <a:gd name="T10" fmla="*/ 0 w 4976"/>
              <a:gd name="T11" fmla="*/ 1177 h 2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76" h="2188">
                <a:moveTo>
                  <a:pt x="0" y="1177"/>
                </a:moveTo>
                <a:lnTo>
                  <a:pt x="3214" y="2188"/>
                </a:lnTo>
                <a:lnTo>
                  <a:pt x="4951" y="1601"/>
                </a:lnTo>
                <a:lnTo>
                  <a:pt x="4976" y="1567"/>
                </a:lnTo>
                <a:lnTo>
                  <a:pt x="0" y="0"/>
                </a:lnTo>
                <a:lnTo>
                  <a:pt x="0" y="1177"/>
                </a:lnTo>
                <a:close/>
              </a:path>
            </a:pathLst>
          </a:custGeom>
          <a:solidFill>
            <a:srgbClr val="5E8300"/>
          </a:solidFill>
          <a:ln>
            <a:noFill/>
          </a:ln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US" sz="1662">
              <a:latin typeface="맑은 고딕 (Body)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59AF9A-ABD1-5C0F-3327-639B70B52643}"/>
              </a:ext>
            </a:extLst>
          </p:cNvPr>
          <p:cNvSpPr/>
          <p:nvPr/>
        </p:nvSpPr>
        <p:spPr>
          <a:xfrm>
            <a:off x="5310443" y="1462524"/>
            <a:ext cx="3203687" cy="469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If the behavior of the baby is abnormal, </a:t>
            </a:r>
          </a:p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parents are notified immediately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EE1FBA-78FF-240E-6CA8-559B6711BF19}"/>
              </a:ext>
            </a:extLst>
          </p:cNvPr>
          <p:cNvSpPr/>
          <p:nvPr/>
        </p:nvSpPr>
        <p:spPr>
          <a:xfrm>
            <a:off x="6081518" y="2051832"/>
            <a:ext cx="2432613" cy="374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Behavior is analyzed from the </a:t>
            </a:r>
          </a:p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constructed control chart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8C305B-FFFB-0BA8-3CA4-156E6B641545}"/>
              </a:ext>
            </a:extLst>
          </p:cNvPr>
          <p:cNvSpPr/>
          <p:nvPr/>
        </p:nvSpPr>
        <p:spPr>
          <a:xfrm>
            <a:off x="5545408" y="2464284"/>
            <a:ext cx="2993209" cy="3940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Control chart is constructed </a:t>
            </a:r>
          </a:p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corresponding to the motion of baby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A5967B-891A-C8BA-C27B-4CEE9B2B7E4C}"/>
              </a:ext>
            </a:extLst>
          </p:cNvPr>
          <p:cNvSpPr/>
          <p:nvPr/>
        </p:nvSpPr>
        <p:spPr>
          <a:xfrm>
            <a:off x="6381033" y="2914894"/>
            <a:ext cx="2133099" cy="570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In each interval baby </a:t>
            </a:r>
          </a:p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motion area is analyzed,   and ellipse(s) is/are drawn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AD6C6E-5C71-9105-82E8-4488B6C05D34}"/>
              </a:ext>
            </a:extLst>
          </p:cNvPr>
          <p:cNvSpPr/>
          <p:nvPr/>
        </p:nvSpPr>
        <p:spPr>
          <a:xfrm>
            <a:off x="6728433" y="3556295"/>
            <a:ext cx="1785698" cy="4756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Video is divided into different intervals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13E307-0BE2-FC72-B4E8-D3BAD62F9493}"/>
              </a:ext>
            </a:extLst>
          </p:cNvPr>
          <p:cNvSpPr/>
          <p:nvPr/>
        </p:nvSpPr>
        <p:spPr>
          <a:xfrm>
            <a:off x="5030548" y="1448259"/>
            <a:ext cx="286981" cy="295422"/>
          </a:xfrm>
          <a:prstGeom prst="rect">
            <a:avLst/>
          </a:prstGeom>
          <a:solidFill>
            <a:srgbClr val="DB1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7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 (Body)"/>
              </a:rPr>
              <a:t>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D01158-894C-9462-9C19-EF421F2074F3}"/>
              </a:ext>
            </a:extLst>
          </p:cNvPr>
          <p:cNvSpPr/>
          <p:nvPr/>
        </p:nvSpPr>
        <p:spPr>
          <a:xfrm>
            <a:off x="5773835" y="2052718"/>
            <a:ext cx="286981" cy="295422"/>
          </a:xfrm>
          <a:prstGeom prst="rect">
            <a:avLst/>
          </a:prstGeom>
          <a:solidFill>
            <a:srgbClr val="6C9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2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 (Body)"/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69C0C1-3F23-C923-A2F6-BD273C3E45C8}"/>
              </a:ext>
            </a:extLst>
          </p:cNvPr>
          <p:cNvSpPr/>
          <p:nvPr/>
        </p:nvSpPr>
        <p:spPr>
          <a:xfrm>
            <a:off x="5263189" y="2468907"/>
            <a:ext cx="286981" cy="295422"/>
          </a:xfrm>
          <a:prstGeom prst="rect">
            <a:avLst/>
          </a:prstGeom>
          <a:solidFill>
            <a:srgbClr val="EE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46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 (Body)"/>
              </a:rPr>
              <a:t>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C9B15E-F984-87D9-F83C-27307E136722}"/>
              </a:ext>
            </a:extLst>
          </p:cNvPr>
          <p:cNvSpPr/>
          <p:nvPr/>
        </p:nvSpPr>
        <p:spPr>
          <a:xfrm>
            <a:off x="6094051" y="2916216"/>
            <a:ext cx="286981" cy="295422"/>
          </a:xfrm>
          <a:prstGeom prst="rect">
            <a:avLst/>
          </a:prstGeom>
          <a:solidFill>
            <a:srgbClr val="088E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15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 (Body)"/>
              </a:rPr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87107B-996A-CEDA-1BB3-5016904FE05C}"/>
              </a:ext>
            </a:extLst>
          </p:cNvPr>
          <p:cNvSpPr/>
          <p:nvPr/>
        </p:nvSpPr>
        <p:spPr>
          <a:xfrm>
            <a:off x="6438525" y="3555368"/>
            <a:ext cx="286981" cy="295422"/>
          </a:xfrm>
          <a:prstGeom prst="rect">
            <a:avLst/>
          </a:prstGeom>
          <a:solidFill>
            <a:srgbClr val="2835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85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 (Body)"/>
              </a:rPr>
              <a:t>2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AD15934-C50A-DEB2-5371-975BAB2188FE}"/>
              </a:ext>
            </a:extLst>
          </p:cNvPr>
          <p:cNvCxnSpPr>
            <a:stCxn id="24" idx="3"/>
          </p:cNvCxnSpPr>
          <p:nvPr/>
        </p:nvCxnSpPr>
        <p:spPr>
          <a:xfrm flipV="1">
            <a:off x="4719623" y="2050124"/>
            <a:ext cx="3794507" cy="674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BB9A17-4A88-E58C-A6C0-D10D3F1BD1EB}"/>
              </a:ext>
            </a:extLst>
          </p:cNvPr>
          <p:cNvCxnSpPr>
            <a:stCxn id="16" idx="3"/>
          </p:cNvCxnSpPr>
          <p:nvPr/>
        </p:nvCxnSpPr>
        <p:spPr>
          <a:xfrm flipV="1">
            <a:off x="5011516" y="2452826"/>
            <a:ext cx="3502614" cy="3015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EF1EE36-ACFD-49E9-1BE3-4FE07A08AF85}"/>
              </a:ext>
            </a:extLst>
          </p:cNvPr>
          <p:cNvCxnSpPr>
            <a:stCxn id="19" idx="3"/>
          </p:cNvCxnSpPr>
          <p:nvPr/>
        </p:nvCxnSpPr>
        <p:spPr>
          <a:xfrm flipV="1">
            <a:off x="5310444" y="2899017"/>
            <a:ext cx="3203686" cy="3037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346B88A-43E7-BB75-4530-CD2C8268F149}"/>
              </a:ext>
            </a:extLst>
          </p:cNvPr>
          <p:cNvCxnSpPr>
            <a:stCxn id="20" idx="3"/>
          </p:cNvCxnSpPr>
          <p:nvPr/>
        </p:nvCxnSpPr>
        <p:spPr>
          <a:xfrm>
            <a:off x="5736666" y="3542660"/>
            <a:ext cx="2777464" cy="874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63FB24E-D5F2-B785-DA4B-5EE758821A67}"/>
              </a:ext>
            </a:extLst>
          </p:cNvPr>
          <p:cNvSpPr/>
          <p:nvPr/>
        </p:nvSpPr>
        <p:spPr>
          <a:xfrm>
            <a:off x="6959035" y="4374428"/>
            <a:ext cx="1555096" cy="567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Input video is </a:t>
            </a:r>
          </a:p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acquired from </a:t>
            </a:r>
          </a:p>
          <a:p>
            <a:r>
              <a:rPr lang="en-US" sz="1292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camera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797A47F-5FC9-3402-D490-8CB0B459DFCB}"/>
              </a:ext>
            </a:extLst>
          </p:cNvPr>
          <p:cNvSpPr/>
          <p:nvPr/>
        </p:nvSpPr>
        <p:spPr>
          <a:xfrm>
            <a:off x="6679208" y="4374427"/>
            <a:ext cx="287810" cy="295422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85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 (Body)"/>
              </a:rPr>
              <a:t>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D07627-7301-1B0C-5208-B846B1B813AE}"/>
              </a:ext>
            </a:extLst>
          </p:cNvPr>
          <p:cNvCxnSpPr>
            <a:stCxn id="11" idx="3"/>
          </p:cNvCxnSpPr>
          <p:nvPr/>
        </p:nvCxnSpPr>
        <p:spPr>
          <a:xfrm flipV="1">
            <a:off x="6210316" y="4374427"/>
            <a:ext cx="2303814" cy="872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EFDB815-F829-1447-2AA1-AE494B4F3D5D}"/>
              </a:ext>
            </a:extLst>
          </p:cNvPr>
          <p:cNvSpPr/>
          <p:nvPr/>
        </p:nvSpPr>
        <p:spPr>
          <a:xfrm>
            <a:off x="679434" y="1458583"/>
            <a:ext cx="1751421" cy="2516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Information sharing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040C22-C757-0C0D-1CF8-5B0920C63AE0}"/>
              </a:ext>
            </a:extLst>
          </p:cNvPr>
          <p:cNvSpPr/>
          <p:nvPr/>
        </p:nvSpPr>
        <p:spPr>
          <a:xfrm>
            <a:off x="679433" y="2074229"/>
            <a:ext cx="1963069" cy="259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Behavior analysis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872F0A-840E-D38B-F838-9C1E322641CF}"/>
              </a:ext>
            </a:extLst>
          </p:cNvPr>
          <p:cNvSpPr/>
          <p:nvPr/>
        </p:nvSpPr>
        <p:spPr>
          <a:xfrm>
            <a:off x="679433" y="2505061"/>
            <a:ext cx="1728125" cy="3521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Control chart </a:t>
            </a:r>
          </a:p>
          <a:p>
            <a:r>
              <a:rPr lang="en-US" sz="1292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construction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95B01C0-FEA2-2199-B3CF-20F31A037940}"/>
              </a:ext>
            </a:extLst>
          </p:cNvPr>
          <p:cNvSpPr/>
          <p:nvPr/>
        </p:nvSpPr>
        <p:spPr>
          <a:xfrm>
            <a:off x="679433" y="2942031"/>
            <a:ext cx="1735693" cy="391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Baby movement</a:t>
            </a:r>
          </a:p>
          <a:p>
            <a:r>
              <a:rPr lang="en-US" sz="1292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detection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9416EB-22E6-3EE7-B61F-B57767E20CFA}"/>
              </a:ext>
            </a:extLst>
          </p:cNvPr>
          <p:cNvSpPr/>
          <p:nvPr/>
        </p:nvSpPr>
        <p:spPr>
          <a:xfrm>
            <a:off x="679433" y="3561677"/>
            <a:ext cx="1235946" cy="3130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Intervals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349598-F620-B1FE-8723-D679F6ADA870}"/>
              </a:ext>
            </a:extLst>
          </p:cNvPr>
          <p:cNvSpPr/>
          <p:nvPr/>
        </p:nvSpPr>
        <p:spPr>
          <a:xfrm>
            <a:off x="2413896" y="1448261"/>
            <a:ext cx="57431" cy="392380"/>
          </a:xfrm>
          <a:prstGeom prst="rect">
            <a:avLst/>
          </a:prstGeom>
          <a:solidFill>
            <a:srgbClr val="E3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 (Body)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AA028C0-0A45-8651-C363-31D113D9CEF7}"/>
              </a:ext>
            </a:extLst>
          </p:cNvPr>
          <p:cNvCxnSpPr>
            <a:stCxn id="25" idx="2"/>
          </p:cNvCxnSpPr>
          <p:nvPr/>
        </p:nvCxnSpPr>
        <p:spPr>
          <a:xfrm flipH="1">
            <a:off x="679434" y="2490734"/>
            <a:ext cx="2914256" cy="102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0A286D9-98FE-6191-B9D2-836D120D39FA}"/>
              </a:ext>
            </a:extLst>
          </p:cNvPr>
          <p:cNvCxnSpPr>
            <a:stCxn id="18" idx="1"/>
          </p:cNvCxnSpPr>
          <p:nvPr/>
        </p:nvCxnSpPr>
        <p:spPr>
          <a:xfrm flipH="1">
            <a:off x="679434" y="2934216"/>
            <a:ext cx="2621687" cy="78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CA88C30-037E-0D7D-C76E-D27900BBDF85}"/>
              </a:ext>
            </a:extLst>
          </p:cNvPr>
          <p:cNvCxnSpPr>
            <a:stCxn id="26" idx="0"/>
          </p:cNvCxnSpPr>
          <p:nvPr/>
        </p:nvCxnSpPr>
        <p:spPr>
          <a:xfrm flipH="1">
            <a:off x="679433" y="3551598"/>
            <a:ext cx="2188240" cy="1007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B81DCFF-9396-723B-D06B-7CC6807541CF}"/>
              </a:ext>
            </a:extLst>
          </p:cNvPr>
          <p:cNvCxnSpPr>
            <a:stCxn id="30" idx="2"/>
          </p:cNvCxnSpPr>
          <p:nvPr/>
        </p:nvCxnSpPr>
        <p:spPr>
          <a:xfrm flipH="1">
            <a:off x="679434" y="2063930"/>
            <a:ext cx="3205895" cy="1029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694A075-6018-5802-A07F-AFE33DFF68B4}"/>
              </a:ext>
            </a:extLst>
          </p:cNvPr>
          <p:cNvCxnSpPr>
            <a:stCxn id="28" idx="3"/>
          </p:cNvCxnSpPr>
          <p:nvPr/>
        </p:nvCxnSpPr>
        <p:spPr>
          <a:xfrm flipH="1" flipV="1">
            <a:off x="679433" y="1448261"/>
            <a:ext cx="3625585" cy="220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3176E1D8-1A9F-B3DD-CA75-1351778DDDFC}"/>
              </a:ext>
            </a:extLst>
          </p:cNvPr>
          <p:cNvSpPr/>
          <p:nvPr/>
        </p:nvSpPr>
        <p:spPr>
          <a:xfrm>
            <a:off x="679433" y="4402567"/>
            <a:ext cx="1235946" cy="353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 (Body)"/>
              </a:rPr>
              <a:t>Input video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CECA225-6875-F5C0-1B04-BB8AC0FDF0E6}"/>
              </a:ext>
            </a:extLst>
          </p:cNvPr>
          <p:cNvCxnSpPr>
            <a:stCxn id="14" idx="0"/>
          </p:cNvCxnSpPr>
          <p:nvPr/>
        </p:nvCxnSpPr>
        <p:spPr>
          <a:xfrm flipH="1">
            <a:off x="679433" y="4394334"/>
            <a:ext cx="17127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2191B02-F7F8-DDD0-2BBB-F41298AC0369}"/>
              </a:ext>
            </a:extLst>
          </p:cNvPr>
          <p:cNvSpPr/>
          <p:nvPr/>
        </p:nvSpPr>
        <p:spPr>
          <a:xfrm>
            <a:off x="2646536" y="2077877"/>
            <a:ext cx="50622" cy="341919"/>
          </a:xfrm>
          <a:prstGeom prst="rect">
            <a:avLst/>
          </a:prstGeom>
          <a:solidFill>
            <a:srgbClr val="78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 (Body)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11DE93F-8438-21CA-8B14-BFA65DBCC406}"/>
              </a:ext>
            </a:extLst>
          </p:cNvPr>
          <p:cNvSpPr/>
          <p:nvPr/>
        </p:nvSpPr>
        <p:spPr>
          <a:xfrm>
            <a:off x="2413896" y="2500986"/>
            <a:ext cx="64897" cy="356725"/>
          </a:xfrm>
          <a:prstGeom prst="rect">
            <a:avLst/>
          </a:prstGeom>
          <a:solidFill>
            <a:srgbClr val="EDB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 (Body)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BC43F6A-764B-F6C2-1ED8-CEAFC0B353BA}"/>
              </a:ext>
            </a:extLst>
          </p:cNvPr>
          <p:cNvSpPr/>
          <p:nvPr/>
        </p:nvSpPr>
        <p:spPr>
          <a:xfrm>
            <a:off x="2413896" y="2946913"/>
            <a:ext cx="64897" cy="420558"/>
          </a:xfrm>
          <a:prstGeom prst="rect">
            <a:avLst/>
          </a:prstGeom>
          <a:solidFill>
            <a:srgbClr val="099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 (Body)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AD02D44-83B3-AEAB-CE9A-A81B168FBFB8}"/>
              </a:ext>
            </a:extLst>
          </p:cNvPr>
          <p:cNvSpPr/>
          <p:nvPr/>
        </p:nvSpPr>
        <p:spPr>
          <a:xfrm>
            <a:off x="1915378" y="3551443"/>
            <a:ext cx="76682" cy="403665"/>
          </a:xfrm>
          <a:prstGeom prst="rect">
            <a:avLst/>
          </a:prstGeom>
          <a:solidFill>
            <a:srgbClr val="2632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 (Body)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0AE678-153F-6D48-F65E-04AB42998E24}"/>
              </a:ext>
            </a:extLst>
          </p:cNvPr>
          <p:cNvSpPr/>
          <p:nvPr/>
        </p:nvSpPr>
        <p:spPr>
          <a:xfrm>
            <a:off x="1918772" y="4399535"/>
            <a:ext cx="60783" cy="434027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 (Body)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F4874AD-C24A-FBBB-B03E-E6E45D095236}"/>
              </a:ext>
            </a:extLst>
          </p:cNvPr>
          <p:cNvCxnSpPr>
            <a:endCxn id="28" idx="3"/>
          </p:cNvCxnSpPr>
          <p:nvPr/>
        </p:nvCxnSpPr>
        <p:spPr>
          <a:xfrm flipH="1" flipV="1">
            <a:off x="4305018" y="1450462"/>
            <a:ext cx="4209112" cy="214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613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EF71D-5319-37FB-197F-4EEC1F32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2" name="Line Callout 1 145">
            <a:extLst>
              <a:ext uri="{FF2B5EF4-FFF2-40B4-BE49-F238E27FC236}">
                <a16:creationId xmlns:a16="http://schemas.microsoft.com/office/drawing/2014/main" id="{FDAA29C8-3FDA-7453-13E5-A0A27E92695F}"/>
              </a:ext>
            </a:extLst>
          </p:cNvPr>
          <p:cNvSpPr/>
          <p:nvPr/>
        </p:nvSpPr>
        <p:spPr>
          <a:xfrm>
            <a:off x="1045344" y="3336929"/>
            <a:ext cx="1656568" cy="641561"/>
          </a:xfrm>
          <a:prstGeom prst="borderCallout1">
            <a:avLst>
              <a:gd name="adj1" fmla="val 78644"/>
              <a:gd name="adj2" fmla="val 140024"/>
              <a:gd name="adj3" fmla="val 9561"/>
              <a:gd name="adj4" fmla="val 10134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Each ellipse cannot </a:t>
            </a:r>
          </a:p>
          <a:p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exceed any body</a:t>
            </a:r>
          </a:p>
          <a:p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part size</a:t>
            </a:r>
          </a:p>
        </p:txBody>
      </p:sp>
      <p:sp>
        <p:nvSpPr>
          <p:cNvPr id="4" name="Line Callout 1 115">
            <a:extLst>
              <a:ext uri="{FF2B5EF4-FFF2-40B4-BE49-F238E27FC236}">
                <a16:creationId xmlns:a16="http://schemas.microsoft.com/office/drawing/2014/main" id="{6F0ED9DB-50E2-9B1E-A2D5-93936517530A}"/>
              </a:ext>
            </a:extLst>
          </p:cNvPr>
          <p:cNvSpPr/>
          <p:nvPr/>
        </p:nvSpPr>
        <p:spPr>
          <a:xfrm>
            <a:off x="5085160" y="2733649"/>
            <a:ext cx="1590467" cy="710663"/>
          </a:xfrm>
          <a:prstGeom prst="borderCallout1">
            <a:avLst>
              <a:gd name="adj1" fmla="val -24526"/>
              <a:gd name="adj2" fmla="val -21021"/>
              <a:gd name="adj3" fmla="val 43099"/>
              <a:gd name="adj4" fmla="val -2532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Information about how far is baby </a:t>
            </a:r>
          </a:p>
          <a:p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from camera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3FD9A8-3961-8B1E-8609-ADFA04A6B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39762"/>
            <a:ext cx="7254176" cy="724942"/>
          </a:xfrm>
        </p:spPr>
        <p:txBody>
          <a:bodyPr/>
          <a:lstStyle/>
          <a:p>
            <a:r>
              <a:rPr lang="en-US" dirty="0">
                <a:latin typeface="맑은 고딕 (Body)"/>
              </a:rPr>
              <a:t>iii. Overall framework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1C3E26-1839-E0F6-05E1-5AB5D51FA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531" y="1532530"/>
            <a:ext cx="1573823" cy="1028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45AB18-12B4-D9F5-6524-95B688B75B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439" y="1462267"/>
            <a:ext cx="1355287" cy="10128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984E80-E789-2AB9-80C4-24688540AA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56" y="1514557"/>
            <a:ext cx="1582274" cy="10128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A2EF8B-FB76-9E91-C4BA-BF2F29811A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357" y="1595205"/>
            <a:ext cx="1582274" cy="1012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904B26-FEDB-3868-C2E0-1332AB226D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060" y="1653573"/>
            <a:ext cx="1582274" cy="10128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74C703-7C9B-05FA-7342-A9D9E68E3F99}"/>
              </a:ext>
            </a:extLst>
          </p:cNvPr>
          <p:cNvSpPr txBox="1"/>
          <p:nvPr/>
        </p:nvSpPr>
        <p:spPr>
          <a:xfrm>
            <a:off x="1595897" y="2642243"/>
            <a:ext cx="966601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8" b="1" dirty="0">
                <a:latin typeface="맑은 고딕 (Body)"/>
              </a:rPr>
              <a:t>Input video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F96FBE-CE11-A123-65DF-AB622DA9B9A5}"/>
              </a:ext>
            </a:extLst>
          </p:cNvPr>
          <p:cNvCxnSpPr/>
          <p:nvPr/>
        </p:nvCxnSpPr>
        <p:spPr>
          <a:xfrm>
            <a:off x="2751432" y="2087298"/>
            <a:ext cx="54518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9F02E2-5278-5828-4A06-40698A4AACFB}"/>
              </a:ext>
            </a:extLst>
          </p:cNvPr>
          <p:cNvCxnSpPr>
            <a:stCxn id="27" idx="1"/>
            <a:endCxn id="28" idx="3"/>
          </p:cNvCxnSpPr>
          <p:nvPr/>
        </p:nvCxnSpPr>
        <p:spPr>
          <a:xfrm flipH="1" flipV="1">
            <a:off x="6970803" y="4005533"/>
            <a:ext cx="44077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3D8355-EED0-F1AF-ED99-CAF88672303A}"/>
              </a:ext>
            </a:extLst>
          </p:cNvPr>
          <p:cNvCxnSpPr>
            <a:stCxn id="6" idx="3"/>
          </p:cNvCxnSpPr>
          <p:nvPr/>
        </p:nvCxnSpPr>
        <p:spPr>
          <a:xfrm flipV="1">
            <a:off x="4891354" y="2046880"/>
            <a:ext cx="54815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03">
            <a:extLst>
              <a:ext uri="{FF2B5EF4-FFF2-40B4-BE49-F238E27FC236}">
                <a16:creationId xmlns:a16="http://schemas.microsoft.com/office/drawing/2014/main" id="{F6E789A7-4285-C0B2-86EC-576BF0ADD726}"/>
              </a:ext>
            </a:extLst>
          </p:cNvPr>
          <p:cNvSpPr/>
          <p:nvPr/>
        </p:nvSpPr>
        <p:spPr>
          <a:xfrm>
            <a:off x="5449412" y="1632065"/>
            <a:ext cx="1626778" cy="910465"/>
          </a:xfrm>
          <a:prstGeom prst="roundRect">
            <a:avLst>
              <a:gd name="adj" fmla="val 2274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Compute frame</a:t>
            </a:r>
          </a:p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to baby ratio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E66975-CE62-9B81-D21E-40B54E73B5F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6" t="22768" r="31458" b="11085"/>
          <a:stretch/>
        </p:blipFill>
        <p:spPr>
          <a:xfrm>
            <a:off x="3360799" y="3503436"/>
            <a:ext cx="1587211" cy="101287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96209338-D8B7-6B27-3465-18B72B25D32C}"/>
              </a:ext>
            </a:extLst>
          </p:cNvPr>
          <p:cNvSpPr/>
          <p:nvPr/>
        </p:nvSpPr>
        <p:spPr>
          <a:xfrm>
            <a:off x="4066733" y="3507124"/>
            <a:ext cx="327810" cy="300589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latin typeface="맑은 고딕 (Body)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694D1C-A119-89C7-7120-4DE8189A7931}"/>
              </a:ext>
            </a:extLst>
          </p:cNvPr>
          <p:cNvSpPr/>
          <p:nvPr/>
        </p:nvSpPr>
        <p:spPr>
          <a:xfrm>
            <a:off x="4011547" y="3799143"/>
            <a:ext cx="353855" cy="172864"/>
          </a:xfrm>
          <a:prstGeom prst="ellipse">
            <a:avLst/>
          </a:prstGeom>
          <a:noFill/>
          <a:ln w="1905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latin typeface="맑은 고딕 (Body)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9F7EF34-BBE4-BD31-DD19-3C1AC8A4ECE9}"/>
              </a:ext>
            </a:extLst>
          </p:cNvPr>
          <p:cNvSpPr/>
          <p:nvPr/>
        </p:nvSpPr>
        <p:spPr>
          <a:xfrm>
            <a:off x="4006004" y="4044018"/>
            <a:ext cx="480745" cy="47229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latin typeface="맑은 고딕 (Body)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1F756D-DB17-B1E3-B31F-7737B1A36D77}"/>
              </a:ext>
            </a:extLst>
          </p:cNvPr>
          <p:cNvSpPr/>
          <p:nvPr/>
        </p:nvSpPr>
        <p:spPr>
          <a:xfrm>
            <a:off x="4285874" y="3873689"/>
            <a:ext cx="366620" cy="24965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latin typeface="맑은 고딕 (Body)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44267EF-5849-C436-1121-09119E454E0C}"/>
              </a:ext>
            </a:extLst>
          </p:cNvPr>
          <p:cNvSpPr/>
          <p:nvPr/>
        </p:nvSpPr>
        <p:spPr>
          <a:xfrm>
            <a:off x="3750580" y="3716685"/>
            <a:ext cx="366620" cy="24965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latin typeface="맑은 고딕 (Body)"/>
            </a:endParaRPr>
          </a:p>
        </p:txBody>
      </p:sp>
      <p:cxnSp>
        <p:nvCxnSpPr>
          <p:cNvPr id="22" name="Elbow Connector 112">
            <a:extLst>
              <a:ext uri="{FF2B5EF4-FFF2-40B4-BE49-F238E27FC236}">
                <a16:creationId xmlns:a16="http://schemas.microsoft.com/office/drawing/2014/main" id="{ED35E9E7-E2E6-072E-AB84-958F4C5DBC84}"/>
              </a:ext>
            </a:extLst>
          </p:cNvPr>
          <p:cNvCxnSpPr>
            <a:stCxn id="15" idx="3"/>
            <a:endCxn id="27" idx="0"/>
          </p:cNvCxnSpPr>
          <p:nvPr/>
        </p:nvCxnSpPr>
        <p:spPr>
          <a:xfrm>
            <a:off x="7076190" y="2087298"/>
            <a:ext cx="1089100" cy="1597461"/>
          </a:xfrm>
          <a:prstGeom prst="bentConnector2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908EBEB-F521-B9BD-1755-40A40CD5C505}"/>
              </a:ext>
            </a:extLst>
          </p:cNvPr>
          <p:cNvCxnSpPr>
            <a:stCxn id="28" idx="1"/>
            <a:endCxn id="16" idx="3"/>
          </p:cNvCxnSpPr>
          <p:nvPr/>
        </p:nvCxnSpPr>
        <p:spPr>
          <a:xfrm flipH="1">
            <a:off x="4948010" y="4005532"/>
            <a:ext cx="515359" cy="4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ine Callout 1 114">
            <a:extLst>
              <a:ext uri="{FF2B5EF4-FFF2-40B4-BE49-F238E27FC236}">
                <a16:creationId xmlns:a16="http://schemas.microsoft.com/office/drawing/2014/main" id="{8B439F4E-14A5-D3F1-B046-FAF4339240AF}"/>
              </a:ext>
            </a:extLst>
          </p:cNvPr>
          <p:cNvSpPr/>
          <p:nvPr/>
        </p:nvSpPr>
        <p:spPr>
          <a:xfrm>
            <a:off x="7329264" y="4689140"/>
            <a:ext cx="1589742" cy="676644"/>
          </a:xfrm>
          <a:prstGeom prst="borderCallout1">
            <a:avLst>
              <a:gd name="adj1" fmla="val 53675"/>
              <a:gd name="adj2" fmla="val -1482"/>
              <a:gd name="adj3" fmla="val -56358"/>
              <a:gd name="adj4" fmla="val -2710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Expert knowledge </a:t>
            </a:r>
          </a:p>
          <a:p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about size of baby parts [1]</a:t>
            </a:r>
          </a:p>
        </p:txBody>
      </p:sp>
      <p:sp>
        <p:nvSpPr>
          <p:cNvPr id="25" name="Line Callout 1 146">
            <a:extLst>
              <a:ext uri="{FF2B5EF4-FFF2-40B4-BE49-F238E27FC236}">
                <a16:creationId xmlns:a16="http://schemas.microsoft.com/office/drawing/2014/main" id="{C64B6B68-1C1A-0051-49A6-12BEFFC0529C}"/>
              </a:ext>
            </a:extLst>
          </p:cNvPr>
          <p:cNvSpPr/>
          <p:nvPr/>
        </p:nvSpPr>
        <p:spPr>
          <a:xfrm>
            <a:off x="1042439" y="4852867"/>
            <a:ext cx="1932924" cy="1220418"/>
          </a:xfrm>
          <a:prstGeom prst="borderCallout1">
            <a:avLst>
              <a:gd name="adj1" fmla="val 20083"/>
              <a:gd name="adj2" fmla="val 122580"/>
              <a:gd name="adj3" fmla="val 77987"/>
              <a:gd name="adj4" fmla="val 10004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Number of ellipses </a:t>
            </a:r>
          </a:p>
          <a:p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     represents diversity</a:t>
            </a:r>
          </a:p>
          <a:p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     of motion</a:t>
            </a:r>
          </a:p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Size of ellipses       represents intensity of motion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0AD664-F26E-892C-3BD5-B043B9544733}"/>
              </a:ext>
            </a:extLst>
          </p:cNvPr>
          <p:cNvSpPr txBox="1"/>
          <p:nvPr/>
        </p:nvSpPr>
        <p:spPr>
          <a:xfrm>
            <a:off x="3338460" y="2504415"/>
            <a:ext cx="1534857" cy="433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8" b="1" dirty="0">
                <a:latin typeface="맑은 고딕 (Body)"/>
              </a:rPr>
              <a:t>Baby segmentation from background</a:t>
            </a:r>
          </a:p>
        </p:txBody>
      </p:sp>
      <p:sp>
        <p:nvSpPr>
          <p:cNvPr id="27" name="Rounded Rectangle 148">
            <a:extLst>
              <a:ext uri="{FF2B5EF4-FFF2-40B4-BE49-F238E27FC236}">
                <a16:creationId xmlns:a16="http://schemas.microsoft.com/office/drawing/2014/main" id="{B54EACD1-CB28-8078-C651-26447C417707}"/>
              </a:ext>
            </a:extLst>
          </p:cNvPr>
          <p:cNvSpPr/>
          <p:nvPr/>
        </p:nvSpPr>
        <p:spPr>
          <a:xfrm>
            <a:off x="7411573" y="3684759"/>
            <a:ext cx="1507434" cy="641549"/>
          </a:xfrm>
          <a:prstGeom prst="roundRect">
            <a:avLst>
              <a:gd name="adj" fmla="val 2274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Compute </a:t>
            </a:r>
          </a:p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motion area</a:t>
            </a:r>
          </a:p>
        </p:txBody>
      </p:sp>
      <p:sp>
        <p:nvSpPr>
          <p:cNvPr id="28" name="Rounded Rectangle 149">
            <a:extLst>
              <a:ext uri="{FF2B5EF4-FFF2-40B4-BE49-F238E27FC236}">
                <a16:creationId xmlns:a16="http://schemas.microsoft.com/office/drawing/2014/main" id="{4E95D6AF-3C93-5686-74D8-A109F9DDB384}"/>
              </a:ext>
            </a:extLst>
          </p:cNvPr>
          <p:cNvSpPr/>
          <p:nvPr/>
        </p:nvSpPr>
        <p:spPr>
          <a:xfrm>
            <a:off x="5463369" y="3684758"/>
            <a:ext cx="1507434" cy="641549"/>
          </a:xfrm>
          <a:prstGeom prst="roundRect">
            <a:avLst>
              <a:gd name="adj" fmla="val 2274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Match with </a:t>
            </a:r>
          </a:p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expert data</a:t>
            </a:r>
          </a:p>
        </p:txBody>
      </p:sp>
      <p:sp>
        <p:nvSpPr>
          <p:cNvPr id="29" name="Freeform 80">
            <a:extLst>
              <a:ext uri="{FF2B5EF4-FFF2-40B4-BE49-F238E27FC236}">
                <a16:creationId xmlns:a16="http://schemas.microsoft.com/office/drawing/2014/main" id="{12D3B060-283B-ED35-E427-8079952EC540}"/>
              </a:ext>
            </a:extLst>
          </p:cNvPr>
          <p:cNvSpPr/>
          <p:nvPr/>
        </p:nvSpPr>
        <p:spPr>
          <a:xfrm>
            <a:off x="3887568" y="5612074"/>
            <a:ext cx="216063" cy="158262"/>
          </a:xfrm>
          <a:custGeom>
            <a:avLst/>
            <a:gdLst>
              <a:gd name="connsiteX0" fmla="*/ 6350 w 234068"/>
              <a:gd name="connsiteY0" fmla="*/ 171450 h 171450"/>
              <a:gd name="connsiteX1" fmla="*/ 9525 w 234068"/>
              <a:gd name="connsiteY1" fmla="*/ 92075 h 171450"/>
              <a:gd name="connsiteX2" fmla="*/ 0 w 234068"/>
              <a:gd name="connsiteY2" fmla="*/ 85725 h 171450"/>
              <a:gd name="connsiteX3" fmla="*/ 9525 w 234068"/>
              <a:gd name="connsiteY3" fmla="*/ 0 h 171450"/>
              <a:gd name="connsiteX4" fmla="*/ 9525 w 234068"/>
              <a:gd name="connsiteY4" fmla="*/ 0 h 171450"/>
              <a:gd name="connsiteX5" fmla="*/ 215900 w 234068"/>
              <a:gd name="connsiteY5" fmla="*/ 12700 h 171450"/>
              <a:gd name="connsiteX6" fmla="*/ 222250 w 234068"/>
              <a:gd name="connsiteY6" fmla="*/ 12700 h 171450"/>
              <a:gd name="connsiteX7" fmla="*/ 203200 w 234068"/>
              <a:gd name="connsiteY7" fmla="*/ 85725 h 171450"/>
              <a:gd name="connsiteX8" fmla="*/ 209550 w 234068"/>
              <a:gd name="connsiteY8" fmla="*/ 857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4068" h="171450">
                <a:moveTo>
                  <a:pt x="6350" y="171450"/>
                </a:moveTo>
                <a:cubicBezTo>
                  <a:pt x="8466" y="138906"/>
                  <a:pt x="10583" y="106362"/>
                  <a:pt x="9525" y="92075"/>
                </a:cubicBezTo>
                <a:cubicBezTo>
                  <a:pt x="8467" y="77788"/>
                  <a:pt x="0" y="101071"/>
                  <a:pt x="0" y="85725"/>
                </a:cubicBezTo>
                <a:cubicBezTo>
                  <a:pt x="0" y="70379"/>
                  <a:pt x="9525" y="0"/>
                  <a:pt x="9525" y="0"/>
                </a:cubicBezTo>
                <a:lnTo>
                  <a:pt x="9525" y="0"/>
                </a:lnTo>
                <a:lnTo>
                  <a:pt x="215900" y="12700"/>
                </a:lnTo>
                <a:cubicBezTo>
                  <a:pt x="251354" y="14817"/>
                  <a:pt x="224367" y="529"/>
                  <a:pt x="222250" y="12700"/>
                </a:cubicBezTo>
                <a:cubicBezTo>
                  <a:pt x="220133" y="24871"/>
                  <a:pt x="203200" y="85725"/>
                  <a:pt x="203200" y="85725"/>
                </a:cubicBezTo>
                <a:cubicBezTo>
                  <a:pt x="201083" y="97896"/>
                  <a:pt x="205316" y="91810"/>
                  <a:pt x="209550" y="85725"/>
                </a:cubicBezTo>
              </a:path>
            </a:pathLst>
          </a:custGeom>
          <a:noFill/>
          <a:ln w="2857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FC1D27-E016-59A4-39E9-96EC0BE3ACB6}"/>
              </a:ext>
            </a:extLst>
          </p:cNvPr>
          <p:cNvCxnSpPr/>
          <p:nvPr/>
        </p:nvCxnSpPr>
        <p:spPr>
          <a:xfrm>
            <a:off x="3722064" y="5792429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4813BFB-2917-CC5F-1F4E-5504466789E7}"/>
              </a:ext>
            </a:extLst>
          </p:cNvPr>
          <p:cNvSpPr txBox="1"/>
          <p:nvPr/>
        </p:nvSpPr>
        <p:spPr>
          <a:xfrm rot="16200000">
            <a:off x="2966862" y="5399134"/>
            <a:ext cx="1084077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738" dirty="0"/>
              <a:t>Movement Intensity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FCDC00-4A63-9A4B-ADC7-2D5D97BA7991}"/>
              </a:ext>
            </a:extLst>
          </p:cNvPr>
          <p:cNvCxnSpPr/>
          <p:nvPr/>
        </p:nvCxnSpPr>
        <p:spPr>
          <a:xfrm>
            <a:off x="3725665" y="5001858"/>
            <a:ext cx="0" cy="9601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C78A50-44AB-3576-FBF3-79F9C4978A30}"/>
              </a:ext>
            </a:extLst>
          </p:cNvPr>
          <p:cNvCxnSpPr/>
          <p:nvPr/>
        </p:nvCxnSpPr>
        <p:spPr>
          <a:xfrm>
            <a:off x="3725666" y="5947698"/>
            <a:ext cx="10178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7097C6C-6801-3EF1-4CB8-CE4405F5541B}"/>
              </a:ext>
            </a:extLst>
          </p:cNvPr>
          <p:cNvCxnSpPr/>
          <p:nvPr/>
        </p:nvCxnSpPr>
        <p:spPr>
          <a:xfrm>
            <a:off x="3725665" y="5791417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ACCD31-0AD2-0080-3662-8C0A8CAA03AE}"/>
              </a:ext>
            </a:extLst>
          </p:cNvPr>
          <p:cNvCxnSpPr/>
          <p:nvPr/>
        </p:nvCxnSpPr>
        <p:spPr>
          <a:xfrm>
            <a:off x="3725665" y="5621146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C96C18B-3FDE-4268-E31C-4F8E8D578A28}"/>
              </a:ext>
            </a:extLst>
          </p:cNvPr>
          <p:cNvCxnSpPr/>
          <p:nvPr/>
        </p:nvCxnSpPr>
        <p:spPr>
          <a:xfrm>
            <a:off x="3725665" y="5450873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D0A6145-5952-230E-12E9-8DE4DB5B5123}"/>
              </a:ext>
            </a:extLst>
          </p:cNvPr>
          <p:cNvCxnSpPr/>
          <p:nvPr/>
        </p:nvCxnSpPr>
        <p:spPr>
          <a:xfrm>
            <a:off x="3725665" y="5280601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CEACA0-724B-F01C-B0F7-BADD206C00C4}"/>
              </a:ext>
            </a:extLst>
          </p:cNvPr>
          <p:cNvCxnSpPr/>
          <p:nvPr/>
        </p:nvCxnSpPr>
        <p:spPr>
          <a:xfrm>
            <a:off x="3725665" y="5110330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F6FF742-FC2A-FD05-56A0-6F64386C3091}"/>
              </a:ext>
            </a:extLst>
          </p:cNvPr>
          <p:cNvCxnSpPr/>
          <p:nvPr/>
        </p:nvCxnSpPr>
        <p:spPr>
          <a:xfrm>
            <a:off x="3891953" y="5873666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72666AC-5C94-26B1-A978-13F7EFB5D8C4}"/>
              </a:ext>
            </a:extLst>
          </p:cNvPr>
          <p:cNvCxnSpPr/>
          <p:nvPr/>
        </p:nvCxnSpPr>
        <p:spPr>
          <a:xfrm>
            <a:off x="4081147" y="5873666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2C8766-7DFA-F8AC-6B1C-95229375087D}"/>
              </a:ext>
            </a:extLst>
          </p:cNvPr>
          <p:cNvCxnSpPr/>
          <p:nvPr/>
        </p:nvCxnSpPr>
        <p:spPr>
          <a:xfrm>
            <a:off x="4270342" y="5873666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F651A9-1E0E-F172-75BF-C2D318D30823}"/>
              </a:ext>
            </a:extLst>
          </p:cNvPr>
          <p:cNvCxnSpPr/>
          <p:nvPr/>
        </p:nvCxnSpPr>
        <p:spPr>
          <a:xfrm>
            <a:off x="4459535" y="5873666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7FE228F-33E3-D417-6978-39ABBC253E42}"/>
              </a:ext>
            </a:extLst>
          </p:cNvPr>
          <p:cNvCxnSpPr/>
          <p:nvPr/>
        </p:nvCxnSpPr>
        <p:spPr>
          <a:xfrm>
            <a:off x="4648727" y="5873666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3010DDB-7318-36D9-951B-8C6FD8ACAD4C}"/>
              </a:ext>
            </a:extLst>
          </p:cNvPr>
          <p:cNvSpPr txBox="1"/>
          <p:nvPr/>
        </p:nvSpPr>
        <p:spPr>
          <a:xfrm>
            <a:off x="3775650" y="5907957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03DC66-31BC-31CF-6098-BC9CB7DE9A84}"/>
              </a:ext>
            </a:extLst>
          </p:cNvPr>
          <p:cNvSpPr txBox="1"/>
          <p:nvPr/>
        </p:nvSpPr>
        <p:spPr>
          <a:xfrm>
            <a:off x="3974024" y="5907957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F0D6D4-E1FF-4F7E-C9FD-7E1FBF495DF2}"/>
              </a:ext>
            </a:extLst>
          </p:cNvPr>
          <p:cNvSpPr txBox="1"/>
          <p:nvPr/>
        </p:nvSpPr>
        <p:spPr>
          <a:xfrm>
            <a:off x="4172399" y="5916120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843A46-3C96-0ACE-CA2A-2800328D6D8F}"/>
              </a:ext>
            </a:extLst>
          </p:cNvPr>
          <p:cNvSpPr txBox="1"/>
          <p:nvPr/>
        </p:nvSpPr>
        <p:spPr>
          <a:xfrm>
            <a:off x="4370774" y="5916120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CD8687-1A52-486B-51BC-EA381E7203EF}"/>
              </a:ext>
            </a:extLst>
          </p:cNvPr>
          <p:cNvSpPr txBox="1"/>
          <p:nvPr/>
        </p:nvSpPr>
        <p:spPr>
          <a:xfrm>
            <a:off x="4569148" y="5916120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8D7A69-0A7E-7968-9A81-6290A0DBAE8F}"/>
              </a:ext>
            </a:extLst>
          </p:cNvPr>
          <p:cNvSpPr txBox="1"/>
          <p:nvPr/>
        </p:nvSpPr>
        <p:spPr>
          <a:xfrm>
            <a:off x="3492954" y="5704418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F3EBCF-BFA1-895E-0F93-5E9DB2F75BB1}"/>
              </a:ext>
            </a:extLst>
          </p:cNvPr>
          <p:cNvSpPr txBox="1"/>
          <p:nvPr/>
        </p:nvSpPr>
        <p:spPr>
          <a:xfrm>
            <a:off x="3492954" y="5534009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EE89D3-2A53-3F67-D4EC-800A166BA666}"/>
              </a:ext>
            </a:extLst>
          </p:cNvPr>
          <p:cNvSpPr txBox="1"/>
          <p:nvPr/>
        </p:nvSpPr>
        <p:spPr>
          <a:xfrm>
            <a:off x="3492954" y="5363641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B47BA8-202A-38F9-1223-81AE2CCA46E9}"/>
              </a:ext>
            </a:extLst>
          </p:cNvPr>
          <p:cNvSpPr txBox="1"/>
          <p:nvPr/>
        </p:nvSpPr>
        <p:spPr>
          <a:xfrm>
            <a:off x="3492954" y="5190531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7D2487-3410-46B7-0CA2-D1DAC362AD54}"/>
              </a:ext>
            </a:extLst>
          </p:cNvPr>
          <p:cNvSpPr txBox="1"/>
          <p:nvPr/>
        </p:nvSpPr>
        <p:spPr>
          <a:xfrm>
            <a:off x="3492953" y="5020158"/>
            <a:ext cx="3314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10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26AE83A-30C8-6CF2-0D1D-033AFC8D9EB9}"/>
              </a:ext>
            </a:extLst>
          </p:cNvPr>
          <p:cNvCxnSpPr/>
          <p:nvPr/>
        </p:nvCxnSpPr>
        <p:spPr>
          <a:xfrm>
            <a:off x="3722064" y="5905359"/>
            <a:ext cx="1008690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4109002-B0DB-6DEF-6E00-7C883FAD7ADA}"/>
              </a:ext>
            </a:extLst>
          </p:cNvPr>
          <p:cNvSpPr txBox="1"/>
          <p:nvPr/>
        </p:nvSpPr>
        <p:spPr>
          <a:xfrm>
            <a:off x="3642781" y="6008754"/>
            <a:ext cx="1127722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738" dirty="0"/>
              <a:t>Movement Diversity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A6EA142-E603-DDA2-153D-D7A1C2922125}"/>
              </a:ext>
            </a:extLst>
          </p:cNvPr>
          <p:cNvCxnSpPr/>
          <p:nvPr/>
        </p:nvCxnSpPr>
        <p:spPr>
          <a:xfrm>
            <a:off x="3891123" y="5001858"/>
            <a:ext cx="0" cy="94584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1CD293D-1533-F0B0-CDCC-E7DC33474193}"/>
              </a:ext>
            </a:extLst>
          </p:cNvPr>
          <p:cNvCxnSpPr/>
          <p:nvPr/>
        </p:nvCxnSpPr>
        <p:spPr>
          <a:xfrm>
            <a:off x="4081147" y="5001858"/>
            <a:ext cx="0" cy="945269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87E5DC7-43C2-F30E-2BCD-BD301D948BA8}"/>
              </a:ext>
            </a:extLst>
          </p:cNvPr>
          <p:cNvCxnSpPr/>
          <p:nvPr/>
        </p:nvCxnSpPr>
        <p:spPr>
          <a:xfrm>
            <a:off x="4266679" y="5001859"/>
            <a:ext cx="0" cy="939333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5189EB7-2B48-DF4E-94AE-35AA9E0572F5}"/>
              </a:ext>
            </a:extLst>
          </p:cNvPr>
          <p:cNvCxnSpPr/>
          <p:nvPr/>
        </p:nvCxnSpPr>
        <p:spPr>
          <a:xfrm>
            <a:off x="4459535" y="5001858"/>
            <a:ext cx="0" cy="931638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D95BCA8-AD15-BB2A-3A4C-1C9C8204FFFE}"/>
              </a:ext>
            </a:extLst>
          </p:cNvPr>
          <p:cNvCxnSpPr/>
          <p:nvPr/>
        </p:nvCxnSpPr>
        <p:spPr>
          <a:xfrm>
            <a:off x="4648727" y="5001858"/>
            <a:ext cx="0" cy="926969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98C4640-9C9C-D56A-9B79-1E57D4FFFEB6}"/>
              </a:ext>
            </a:extLst>
          </p:cNvPr>
          <p:cNvCxnSpPr/>
          <p:nvPr/>
        </p:nvCxnSpPr>
        <p:spPr>
          <a:xfrm>
            <a:off x="3732978" y="5621146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4A44987-32BA-93B8-DCD0-E5D8E0ED3F68}"/>
              </a:ext>
            </a:extLst>
          </p:cNvPr>
          <p:cNvCxnSpPr/>
          <p:nvPr/>
        </p:nvCxnSpPr>
        <p:spPr>
          <a:xfrm>
            <a:off x="3732978" y="5450487"/>
            <a:ext cx="1008690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1568787-0F18-7CD5-BECF-F522592576CE}"/>
              </a:ext>
            </a:extLst>
          </p:cNvPr>
          <p:cNvCxnSpPr/>
          <p:nvPr/>
        </p:nvCxnSpPr>
        <p:spPr>
          <a:xfrm>
            <a:off x="3732978" y="5280601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9C67648-A307-F9C1-DC2F-2E9CB2D78503}"/>
              </a:ext>
            </a:extLst>
          </p:cNvPr>
          <p:cNvCxnSpPr/>
          <p:nvPr/>
        </p:nvCxnSpPr>
        <p:spPr>
          <a:xfrm>
            <a:off x="3732978" y="5110189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DD1A802-6C79-A13F-227F-437BA91A55A8}"/>
              </a:ext>
            </a:extLst>
          </p:cNvPr>
          <p:cNvSpPr txBox="1"/>
          <p:nvPr/>
        </p:nvSpPr>
        <p:spPr>
          <a:xfrm>
            <a:off x="4755422" y="5340729"/>
            <a:ext cx="522969" cy="234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23" b="1" dirty="0"/>
              <a:t>UCL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B75D34-68D0-828A-0E43-E7F62E2A97C5}"/>
              </a:ext>
            </a:extLst>
          </p:cNvPr>
          <p:cNvSpPr txBox="1"/>
          <p:nvPr/>
        </p:nvSpPr>
        <p:spPr>
          <a:xfrm>
            <a:off x="4761598" y="5775712"/>
            <a:ext cx="522969" cy="234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23" b="1" dirty="0"/>
              <a:t>LCL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BCC1083-6501-2537-64EA-064794428303}"/>
              </a:ext>
            </a:extLst>
          </p:cNvPr>
          <p:cNvCxnSpPr/>
          <p:nvPr/>
        </p:nvCxnSpPr>
        <p:spPr>
          <a:xfrm>
            <a:off x="3795511" y="5015489"/>
            <a:ext cx="0" cy="931638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AFDA1C2-A7E6-557D-04CF-E4D07E15AD0D}"/>
              </a:ext>
            </a:extLst>
          </p:cNvPr>
          <p:cNvSpPr txBox="1"/>
          <p:nvPr/>
        </p:nvSpPr>
        <p:spPr>
          <a:xfrm>
            <a:off x="3486139" y="5808132"/>
            <a:ext cx="347386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0.2</a:t>
            </a:r>
          </a:p>
        </p:txBody>
      </p: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E87AA913-6361-D2CB-0FA3-95208DA8EAF5}"/>
              </a:ext>
            </a:extLst>
          </p:cNvPr>
          <p:cNvSpPr/>
          <p:nvPr/>
        </p:nvSpPr>
        <p:spPr>
          <a:xfrm>
            <a:off x="3864152" y="5769762"/>
            <a:ext cx="51537" cy="55180"/>
          </a:xfrm>
          <a:prstGeom prst="flowChartConnector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6BAB8538-14D6-DC53-409B-0986ADC6F696}"/>
              </a:ext>
            </a:extLst>
          </p:cNvPr>
          <p:cNvSpPr/>
          <p:nvPr/>
        </p:nvSpPr>
        <p:spPr>
          <a:xfrm>
            <a:off x="3861388" y="5667035"/>
            <a:ext cx="68093" cy="42202"/>
          </a:xfrm>
          <a:prstGeom prst="triangle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71" name="5-Point Star 197">
            <a:extLst>
              <a:ext uri="{FF2B5EF4-FFF2-40B4-BE49-F238E27FC236}">
                <a16:creationId xmlns:a16="http://schemas.microsoft.com/office/drawing/2014/main" id="{13D3EAA0-C829-DCCF-DE7D-F7B9F68A28ED}"/>
              </a:ext>
            </a:extLst>
          </p:cNvPr>
          <p:cNvSpPr/>
          <p:nvPr/>
        </p:nvSpPr>
        <p:spPr>
          <a:xfrm>
            <a:off x="3870764" y="5591046"/>
            <a:ext cx="45720" cy="42202"/>
          </a:xfrm>
          <a:prstGeom prst="star5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72" name="Flowchart: Collate 71">
            <a:extLst>
              <a:ext uri="{FF2B5EF4-FFF2-40B4-BE49-F238E27FC236}">
                <a16:creationId xmlns:a16="http://schemas.microsoft.com/office/drawing/2014/main" id="{B4B6D804-7F42-E12C-A990-7DC81A02C44B}"/>
              </a:ext>
            </a:extLst>
          </p:cNvPr>
          <p:cNvSpPr/>
          <p:nvPr/>
        </p:nvSpPr>
        <p:spPr>
          <a:xfrm>
            <a:off x="4047021" y="5598216"/>
            <a:ext cx="66588" cy="44414"/>
          </a:xfrm>
          <a:prstGeom prst="flowChartCollate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73" name="Diamond 72">
            <a:extLst>
              <a:ext uri="{FF2B5EF4-FFF2-40B4-BE49-F238E27FC236}">
                <a16:creationId xmlns:a16="http://schemas.microsoft.com/office/drawing/2014/main" id="{A8FBDD67-6D0B-0861-FB5F-3098A63F0CDA}"/>
              </a:ext>
            </a:extLst>
          </p:cNvPr>
          <p:cNvSpPr/>
          <p:nvPr/>
        </p:nvSpPr>
        <p:spPr>
          <a:xfrm>
            <a:off x="4052948" y="5665778"/>
            <a:ext cx="54733" cy="51159"/>
          </a:xfrm>
          <a:prstGeom prst="diamond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74" name="Rounded Rectangle 200">
            <a:extLst>
              <a:ext uri="{FF2B5EF4-FFF2-40B4-BE49-F238E27FC236}">
                <a16:creationId xmlns:a16="http://schemas.microsoft.com/office/drawing/2014/main" id="{BF5558FF-D728-0BC5-5384-D64B431F4FF1}"/>
              </a:ext>
            </a:extLst>
          </p:cNvPr>
          <p:cNvSpPr/>
          <p:nvPr/>
        </p:nvSpPr>
        <p:spPr>
          <a:xfrm>
            <a:off x="3411018" y="4972116"/>
            <a:ext cx="1693403" cy="1206474"/>
          </a:xfrm>
          <a:prstGeom prst="roundRect">
            <a:avLst>
              <a:gd name="adj" fmla="val 11145"/>
            </a:avLst>
          </a:prstGeom>
          <a:solidFill>
            <a:schemeClr val="accent1">
              <a:lumMod val="20000"/>
              <a:lumOff val="80000"/>
              <a:alpha val="2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C4DC89F-D211-3D78-75C8-D5786ABEA774}"/>
              </a:ext>
            </a:extLst>
          </p:cNvPr>
          <p:cNvCxnSpPr>
            <a:stCxn id="16" idx="2"/>
          </p:cNvCxnSpPr>
          <p:nvPr/>
        </p:nvCxnSpPr>
        <p:spPr>
          <a:xfrm flipH="1">
            <a:off x="4149823" y="4516309"/>
            <a:ext cx="4581" cy="44373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373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EF71D-5319-37FB-197F-4EEC1F32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2" name="Freeform 50">
            <a:extLst>
              <a:ext uri="{FF2B5EF4-FFF2-40B4-BE49-F238E27FC236}">
                <a16:creationId xmlns:a16="http://schemas.microsoft.com/office/drawing/2014/main" id="{46BB6562-F98E-6EF8-EAE3-1208CDAD9B25}"/>
              </a:ext>
            </a:extLst>
          </p:cNvPr>
          <p:cNvSpPr/>
          <p:nvPr/>
        </p:nvSpPr>
        <p:spPr>
          <a:xfrm>
            <a:off x="1409643" y="3265934"/>
            <a:ext cx="3386736" cy="1969477"/>
          </a:xfrm>
          <a:custGeom>
            <a:avLst/>
            <a:gdLst>
              <a:gd name="connsiteX0" fmla="*/ 0 w 3668964"/>
              <a:gd name="connsiteY0" fmla="*/ 2133600 h 2133600"/>
              <a:gd name="connsiteX1" fmla="*/ 1227667 w 3668964"/>
              <a:gd name="connsiteY1" fmla="*/ 1159933 h 2133600"/>
              <a:gd name="connsiteX2" fmla="*/ 1981200 w 3668964"/>
              <a:gd name="connsiteY2" fmla="*/ 1126067 h 2133600"/>
              <a:gd name="connsiteX3" fmla="*/ 3556000 w 3668964"/>
              <a:gd name="connsiteY3" fmla="*/ 296333 h 2133600"/>
              <a:gd name="connsiteX4" fmla="*/ 3547534 w 3668964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68964" h="2133600">
                <a:moveTo>
                  <a:pt x="0" y="2133600"/>
                </a:moveTo>
                <a:cubicBezTo>
                  <a:pt x="448733" y="1730727"/>
                  <a:pt x="897467" y="1327855"/>
                  <a:pt x="1227667" y="1159933"/>
                </a:cubicBezTo>
                <a:cubicBezTo>
                  <a:pt x="1557867" y="992011"/>
                  <a:pt x="1593144" y="1270000"/>
                  <a:pt x="1981200" y="1126067"/>
                </a:cubicBezTo>
                <a:cubicBezTo>
                  <a:pt x="2369256" y="982134"/>
                  <a:pt x="3294944" y="484011"/>
                  <a:pt x="3556000" y="296333"/>
                </a:cubicBezTo>
                <a:cubicBezTo>
                  <a:pt x="3817056" y="108655"/>
                  <a:pt x="3543301" y="47978"/>
                  <a:pt x="3547534" y="0"/>
                </a:cubicBezTo>
              </a:path>
            </a:pathLst>
          </a:custGeom>
          <a:noFill/>
          <a:ln w="41275" cmpd="sng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36CFE0-3212-5094-A698-5C4541D54699}"/>
              </a:ext>
            </a:extLst>
          </p:cNvPr>
          <p:cNvCxnSpPr>
            <a:stCxn id="64" idx="6"/>
            <a:endCxn id="65" idx="1"/>
          </p:cNvCxnSpPr>
          <p:nvPr/>
        </p:nvCxnSpPr>
        <p:spPr>
          <a:xfrm>
            <a:off x="1404465" y="5249346"/>
            <a:ext cx="4672579" cy="605715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AD05FF-DF88-0BDA-FEC7-0B86BB498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324060"/>
              </p:ext>
            </p:extLst>
          </p:nvPr>
        </p:nvGraphicFramePr>
        <p:xfrm>
          <a:off x="6077044" y="2782896"/>
          <a:ext cx="2858815" cy="18927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2354">
                  <a:extLst>
                    <a:ext uri="{9D8B030D-6E8A-4147-A177-3AD203B41FA5}">
                      <a16:colId xmlns:a16="http://schemas.microsoft.com/office/drawing/2014/main" val="2962012535"/>
                    </a:ext>
                  </a:extLst>
                </a:gridCol>
                <a:gridCol w="1696461">
                  <a:extLst>
                    <a:ext uri="{9D8B030D-6E8A-4147-A177-3AD203B41FA5}">
                      <a16:colId xmlns:a16="http://schemas.microsoft.com/office/drawing/2014/main" val="566155215"/>
                    </a:ext>
                  </a:extLst>
                </a:gridCol>
              </a:tblGrid>
              <a:tr h="31677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Symbol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Frame</a:t>
                      </a:r>
                      <a:r>
                        <a:rPr lang="en-US" sz="1300" b="1" baseline="0" dirty="0"/>
                        <a:t> in Interval</a:t>
                      </a:r>
                      <a:endParaRPr lang="en-US" sz="1300" b="1" dirty="0"/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732727131"/>
                  </a:ext>
                </a:extLst>
              </a:tr>
              <a:tr h="308855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1st </a:t>
                      </a: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2542977524"/>
                  </a:ext>
                </a:extLst>
              </a:tr>
              <a:tr h="31677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 </a:t>
                      </a: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2135641038"/>
                  </a:ext>
                </a:extLst>
              </a:tr>
              <a:tr h="31677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3rd</a:t>
                      </a: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26400925"/>
                  </a:ext>
                </a:extLst>
              </a:tr>
              <a:tr h="31677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4th</a:t>
                      </a: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2011038516"/>
                  </a:ext>
                </a:extLst>
              </a:tr>
              <a:tr h="31677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5th</a:t>
                      </a: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894010953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C90C8DA-D109-F350-06B6-854A6A5B1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39762"/>
            <a:ext cx="7254176" cy="724942"/>
          </a:xfrm>
        </p:spPr>
        <p:txBody>
          <a:bodyPr/>
          <a:lstStyle/>
          <a:p>
            <a:r>
              <a:rPr lang="en-US" dirty="0"/>
              <a:t>iv. Control chart representation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6F0D0-AED1-8EE6-368D-91E5F3745ECD}"/>
              </a:ext>
            </a:extLst>
          </p:cNvPr>
          <p:cNvSpPr txBox="1"/>
          <p:nvPr/>
        </p:nvSpPr>
        <p:spPr>
          <a:xfrm rot="16200000">
            <a:off x="-289723" y="3605574"/>
            <a:ext cx="2089898" cy="29117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1292" dirty="0">
                <a:latin typeface="맑은 고딕 (Body)"/>
                <a:cs typeface="Times New Roman" panose="02020603050405020304" pitchFamily="18" charset="0"/>
              </a:rPr>
              <a:t>Movement Intensity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AE9D0D-E788-B86A-0545-F03FA16A94FA}"/>
              </a:ext>
            </a:extLst>
          </p:cNvPr>
          <p:cNvCxnSpPr/>
          <p:nvPr/>
        </p:nvCxnSpPr>
        <p:spPr>
          <a:xfrm>
            <a:off x="1207672" y="2393842"/>
            <a:ext cx="0" cy="29578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167FC7-9AA1-8B5E-7868-9204636375C9}"/>
              </a:ext>
            </a:extLst>
          </p:cNvPr>
          <p:cNvCxnSpPr/>
          <p:nvPr/>
        </p:nvCxnSpPr>
        <p:spPr>
          <a:xfrm>
            <a:off x="1207672" y="5307478"/>
            <a:ext cx="38515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E75AD9-E9CF-CA63-2EBD-A517CD5B98E3}"/>
              </a:ext>
            </a:extLst>
          </p:cNvPr>
          <p:cNvCxnSpPr/>
          <p:nvPr/>
        </p:nvCxnSpPr>
        <p:spPr>
          <a:xfrm>
            <a:off x="1207673" y="4826060"/>
            <a:ext cx="2479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379B82-3D50-005B-AF52-900868DA54AC}"/>
              </a:ext>
            </a:extLst>
          </p:cNvPr>
          <p:cNvCxnSpPr/>
          <p:nvPr/>
        </p:nvCxnSpPr>
        <p:spPr>
          <a:xfrm>
            <a:off x="1207673" y="4301542"/>
            <a:ext cx="2479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042495-3FC1-2A7D-F6E3-07D1E8B1EE24}"/>
              </a:ext>
            </a:extLst>
          </p:cNvPr>
          <p:cNvCxnSpPr/>
          <p:nvPr/>
        </p:nvCxnSpPr>
        <p:spPr>
          <a:xfrm>
            <a:off x="1207673" y="3777022"/>
            <a:ext cx="2479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D1326C-50A6-24A4-4EC3-021EDFB3164E}"/>
              </a:ext>
            </a:extLst>
          </p:cNvPr>
          <p:cNvCxnSpPr/>
          <p:nvPr/>
        </p:nvCxnSpPr>
        <p:spPr>
          <a:xfrm>
            <a:off x="1207673" y="3252504"/>
            <a:ext cx="2479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79C23D-EA72-D055-8FFB-73DDB9100D70}"/>
              </a:ext>
            </a:extLst>
          </p:cNvPr>
          <p:cNvCxnSpPr/>
          <p:nvPr/>
        </p:nvCxnSpPr>
        <p:spPr>
          <a:xfrm>
            <a:off x="1207673" y="2727986"/>
            <a:ext cx="2479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0F2141C-31E6-4C76-2652-A7CF2CD5F53D}"/>
              </a:ext>
            </a:extLst>
          </p:cNvPr>
          <p:cNvCxnSpPr/>
          <p:nvPr/>
        </p:nvCxnSpPr>
        <p:spPr>
          <a:xfrm>
            <a:off x="1836927" y="5079426"/>
            <a:ext cx="0" cy="2080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4D4BB0-8812-2ABA-2B0C-D4E086675DA0}"/>
              </a:ext>
            </a:extLst>
          </p:cNvPr>
          <p:cNvCxnSpPr/>
          <p:nvPr/>
        </p:nvCxnSpPr>
        <p:spPr>
          <a:xfrm>
            <a:off x="2552865" y="5079426"/>
            <a:ext cx="0" cy="2080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40399C-4866-7196-9286-67F271F83BD2}"/>
              </a:ext>
            </a:extLst>
          </p:cNvPr>
          <p:cNvCxnSpPr/>
          <p:nvPr/>
        </p:nvCxnSpPr>
        <p:spPr>
          <a:xfrm>
            <a:off x="3268804" y="5079426"/>
            <a:ext cx="0" cy="2080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6D552B7-101A-575A-D287-8334456EBD34}"/>
              </a:ext>
            </a:extLst>
          </p:cNvPr>
          <p:cNvCxnSpPr/>
          <p:nvPr/>
        </p:nvCxnSpPr>
        <p:spPr>
          <a:xfrm>
            <a:off x="3984740" y="5079426"/>
            <a:ext cx="0" cy="2080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3DFED7B-E8D9-612A-E5AD-B7B45D2F2C0A}"/>
              </a:ext>
            </a:extLst>
          </p:cNvPr>
          <p:cNvCxnSpPr/>
          <p:nvPr/>
        </p:nvCxnSpPr>
        <p:spPr>
          <a:xfrm>
            <a:off x="4700669" y="5079426"/>
            <a:ext cx="0" cy="2080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7FAB6C-ADBD-B6B0-532C-6C8A9135D41C}"/>
              </a:ext>
            </a:extLst>
          </p:cNvPr>
          <p:cNvSpPr txBox="1"/>
          <p:nvPr/>
        </p:nvSpPr>
        <p:spPr>
          <a:xfrm>
            <a:off x="1690367" y="5373283"/>
            <a:ext cx="423112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1F9847-4FA6-66B1-D53A-1B5D0A506ED5}"/>
              </a:ext>
            </a:extLst>
          </p:cNvPr>
          <p:cNvSpPr txBox="1"/>
          <p:nvPr/>
        </p:nvSpPr>
        <p:spPr>
          <a:xfrm>
            <a:off x="2422905" y="5372497"/>
            <a:ext cx="605231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2FF4F0-8EAD-3F30-3B38-47479D4E15A6}"/>
              </a:ext>
            </a:extLst>
          </p:cNvPr>
          <p:cNvSpPr txBox="1"/>
          <p:nvPr/>
        </p:nvSpPr>
        <p:spPr>
          <a:xfrm>
            <a:off x="3109603" y="5374531"/>
            <a:ext cx="426254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7AEACE-631D-2083-5748-8EF329183C8A}"/>
              </a:ext>
            </a:extLst>
          </p:cNvPr>
          <p:cNvSpPr txBox="1"/>
          <p:nvPr/>
        </p:nvSpPr>
        <p:spPr>
          <a:xfrm>
            <a:off x="3854591" y="5384079"/>
            <a:ext cx="523866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E68D43-FE8D-1D56-464F-0A22B8EA37C8}"/>
              </a:ext>
            </a:extLst>
          </p:cNvPr>
          <p:cNvSpPr txBox="1"/>
          <p:nvPr/>
        </p:nvSpPr>
        <p:spPr>
          <a:xfrm>
            <a:off x="4577820" y="5372497"/>
            <a:ext cx="356587" cy="291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latin typeface="맑은 고딕 (Body)"/>
                <a:cs typeface="Times New Roman" panose="02020603050405020304" pitchFamily="18" charset="0"/>
              </a:defRPr>
            </a:lvl1pPr>
          </a:lstStyle>
          <a:p>
            <a:r>
              <a:rPr lang="en-US" sz="1292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C9AC45-CFB9-F8B9-4E4D-21B79AD8500C}"/>
              </a:ext>
            </a:extLst>
          </p:cNvPr>
          <p:cNvSpPr txBox="1"/>
          <p:nvPr/>
        </p:nvSpPr>
        <p:spPr>
          <a:xfrm>
            <a:off x="944965" y="4702088"/>
            <a:ext cx="325912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0AE905-F0CD-E479-3386-64EE6461ECB9}"/>
              </a:ext>
            </a:extLst>
          </p:cNvPr>
          <p:cNvSpPr txBox="1"/>
          <p:nvPr/>
        </p:nvSpPr>
        <p:spPr>
          <a:xfrm>
            <a:off x="952026" y="4135867"/>
            <a:ext cx="335718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97862A-D4B5-7766-E9DE-A0F70DEED7F6}"/>
              </a:ext>
            </a:extLst>
          </p:cNvPr>
          <p:cNvSpPr txBox="1"/>
          <p:nvPr/>
        </p:nvSpPr>
        <p:spPr>
          <a:xfrm>
            <a:off x="960644" y="3630927"/>
            <a:ext cx="422060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79F25-0681-3690-D219-09F01F775CED}"/>
              </a:ext>
            </a:extLst>
          </p:cNvPr>
          <p:cNvSpPr txBox="1"/>
          <p:nvPr/>
        </p:nvSpPr>
        <p:spPr>
          <a:xfrm>
            <a:off x="959610" y="3125988"/>
            <a:ext cx="453501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4EAEDE-AE50-11E6-FFF3-61EAE16174E1}"/>
              </a:ext>
            </a:extLst>
          </p:cNvPr>
          <p:cNvSpPr txBox="1"/>
          <p:nvPr/>
        </p:nvSpPr>
        <p:spPr>
          <a:xfrm>
            <a:off x="897041" y="2588606"/>
            <a:ext cx="476870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F480D4-DB20-7203-EF82-CA2A53BAFEF7}"/>
              </a:ext>
            </a:extLst>
          </p:cNvPr>
          <p:cNvCxnSpPr/>
          <p:nvPr/>
        </p:nvCxnSpPr>
        <p:spPr>
          <a:xfrm>
            <a:off x="1194043" y="5177055"/>
            <a:ext cx="3817024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549BD33-139E-E2CC-09B9-6A3B18009D6C}"/>
              </a:ext>
            </a:extLst>
          </p:cNvPr>
          <p:cNvSpPr txBox="1"/>
          <p:nvPr/>
        </p:nvSpPr>
        <p:spPr>
          <a:xfrm>
            <a:off x="2220210" y="5567980"/>
            <a:ext cx="1847289" cy="291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 b="1">
                <a:latin typeface="맑은 고딕 (Body)"/>
                <a:cs typeface="Times New Roman" panose="02020603050405020304" pitchFamily="18" charset="0"/>
              </a:defRPr>
            </a:lvl1pPr>
          </a:lstStyle>
          <a:p>
            <a:r>
              <a:rPr lang="en-US" sz="1292" dirty="0"/>
              <a:t>Movement Diversity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7D030F7-454C-7A2B-F3DA-92188CDDAC20}"/>
              </a:ext>
            </a:extLst>
          </p:cNvPr>
          <p:cNvCxnSpPr/>
          <p:nvPr/>
        </p:nvCxnSpPr>
        <p:spPr>
          <a:xfrm>
            <a:off x="1833788" y="2393842"/>
            <a:ext cx="0" cy="2913637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3DBF4A4-84E4-2B88-12BA-E5EE772FC70B}"/>
              </a:ext>
            </a:extLst>
          </p:cNvPr>
          <p:cNvCxnSpPr/>
          <p:nvPr/>
        </p:nvCxnSpPr>
        <p:spPr>
          <a:xfrm>
            <a:off x="2552865" y="2393842"/>
            <a:ext cx="0" cy="2911877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2B8DCD-2888-2C20-274A-A23BD1CC9B07}"/>
              </a:ext>
            </a:extLst>
          </p:cNvPr>
          <p:cNvCxnSpPr/>
          <p:nvPr/>
        </p:nvCxnSpPr>
        <p:spPr>
          <a:xfrm>
            <a:off x="3254943" y="2393842"/>
            <a:ext cx="0" cy="2893593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442EBD-6E04-7DB6-8928-422CEF3B088D}"/>
              </a:ext>
            </a:extLst>
          </p:cNvPr>
          <p:cNvCxnSpPr/>
          <p:nvPr/>
        </p:nvCxnSpPr>
        <p:spPr>
          <a:xfrm>
            <a:off x="3984740" y="2393841"/>
            <a:ext cx="0" cy="2869887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40C602C-DAD7-3D9C-2508-1BAE728EEE41}"/>
              </a:ext>
            </a:extLst>
          </p:cNvPr>
          <p:cNvCxnSpPr/>
          <p:nvPr/>
        </p:nvCxnSpPr>
        <p:spPr>
          <a:xfrm>
            <a:off x="4700669" y="2393842"/>
            <a:ext cx="0" cy="2855504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F8395CA-204F-D25F-573B-F0E1A15322D0}"/>
              </a:ext>
            </a:extLst>
          </p:cNvPr>
          <p:cNvCxnSpPr/>
          <p:nvPr/>
        </p:nvCxnSpPr>
        <p:spPr>
          <a:xfrm>
            <a:off x="1235344" y="4301542"/>
            <a:ext cx="3817024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615EE66-AA81-B9EA-D764-8AFCC8F6E044}"/>
              </a:ext>
            </a:extLst>
          </p:cNvPr>
          <p:cNvCxnSpPr/>
          <p:nvPr/>
        </p:nvCxnSpPr>
        <p:spPr>
          <a:xfrm>
            <a:off x="1235344" y="3775834"/>
            <a:ext cx="3817024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9635EF9-4627-E31D-8DA5-FA0910CB6DED}"/>
              </a:ext>
            </a:extLst>
          </p:cNvPr>
          <p:cNvCxnSpPr/>
          <p:nvPr/>
        </p:nvCxnSpPr>
        <p:spPr>
          <a:xfrm>
            <a:off x="1235344" y="3252504"/>
            <a:ext cx="3817024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B149FC-5016-AF75-4683-6C3E855E0CD1}"/>
              </a:ext>
            </a:extLst>
          </p:cNvPr>
          <p:cNvCxnSpPr/>
          <p:nvPr/>
        </p:nvCxnSpPr>
        <p:spPr>
          <a:xfrm>
            <a:off x="1235344" y="2727553"/>
            <a:ext cx="3817024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D225E68-FA04-BDC0-0874-C02E5C2C03D7}"/>
              </a:ext>
            </a:extLst>
          </p:cNvPr>
          <p:cNvSpPr txBox="1"/>
          <p:nvPr/>
        </p:nvSpPr>
        <p:spPr>
          <a:xfrm>
            <a:off x="5087846" y="3629412"/>
            <a:ext cx="1237650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UCL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8ABB09-EF89-7C6F-C953-B04848D42EE6}"/>
              </a:ext>
            </a:extLst>
          </p:cNvPr>
          <p:cNvSpPr txBox="1"/>
          <p:nvPr/>
        </p:nvSpPr>
        <p:spPr>
          <a:xfrm>
            <a:off x="5140199" y="5004154"/>
            <a:ext cx="727286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LCL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F840649-DCA0-A4C9-1129-0CE2C0888547}"/>
              </a:ext>
            </a:extLst>
          </p:cNvPr>
          <p:cNvCxnSpPr/>
          <p:nvPr/>
        </p:nvCxnSpPr>
        <p:spPr>
          <a:xfrm>
            <a:off x="1235344" y="4826060"/>
            <a:ext cx="3817024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246B680-4A1D-EEA7-BC4A-A5BBA21FA28C}"/>
              </a:ext>
            </a:extLst>
          </p:cNvPr>
          <p:cNvCxnSpPr/>
          <p:nvPr/>
        </p:nvCxnSpPr>
        <p:spPr>
          <a:xfrm>
            <a:off x="1471977" y="2435832"/>
            <a:ext cx="0" cy="2869887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22DA85F-7742-C27C-5D45-253DCF01A9F1}"/>
              </a:ext>
            </a:extLst>
          </p:cNvPr>
          <p:cNvSpPr txBox="1"/>
          <p:nvPr/>
        </p:nvSpPr>
        <p:spPr>
          <a:xfrm>
            <a:off x="845274" y="5033473"/>
            <a:ext cx="554706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0.2</a:t>
            </a:r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DC8185F0-CF5B-DA2E-3D10-CF8D0DF213FF}"/>
              </a:ext>
            </a:extLst>
          </p:cNvPr>
          <p:cNvSpPr/>
          <p:nvPr/>
        </p:nvSpPr>
        <p:spPr>
          <a:xfrm>
            <a:off x="1223960" y="5197099"/>
            <a:ext cx="99615" cy="88140"/>
          </a:xfrm>
          <a:prstGeom prst="flowChartConnector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FB9AB0D8-1071-3426-7247-97253A5491AC}"/>
              </a:ext>
            </a:extLst>
          </p:cNvPr>
          <p:cNvSpPr/>
          <p:nvPr/>
        </p:nvSpPr>
        <p:spPr>
          <a:xfrm>
            <a:off x="2481428" y="4198563"/>
            <a:ext cx="129714" cy="173594"/>
          </a:xfrm>
          <a:prstGeom prst="triangl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963F5720-B750-FAA5-60E1-AE8E1DBC9216}"/>
              </a:ext>
            </a:extLst>
          </p:cNvPr>
          <p:cNvSpPr/>
          <p:nvPr/>
        </p:nvSpPr>
        <p:spPr>
          <a:xfrm>
            <a:off x="4612124" y="3197648"/>
            <a:ext cx="177090" cy="173627"/>
          </a:xfrm>
          <a:prstGeom prst="diamond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49" name="Flowchart: Collate 48">
            <a:extLst>
              <a:ext uri="{FF2B5EF4-FFF2-40B4-BE49-F238E27FC236}">
                <a16:creationId xmlns:a16="http://schemas.microsoft.com/office/drawing/2014/main" id="{55FBD086-80B0-7612-CA54-025C84CA8C6B}"/>
              </a:ext>
            </a:extLst>
          </p:cNvPr>
          <p:cNvSpPr/>
          <p:nvPr/>
        </p:nvSpPr>
        <p:spPr>
          <a:xfrm>
            <a:off x="4643618" y="3463554"/>
            <a:ext cx="122488" cy="128540"/>
          </a:xfrm>
          <a:prstGeom prst="flowChartCollat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24C2BB-D4C6-45ED-F274-F9ADF88766F9}"/>
              </a:ext>
            </a:extLst>
          </p:cNvPr>
          <p:cNvSpPr txBox="1"/>
          <p:nvPr/>
        </p:nvSpPr>
        <p:spPr>
          <a:xfrm>
            <a:off x="1078540" y="5280980"/>
            <a:ext cx="244411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1" name="5-Point Star 106">
            <a:extLst>
              <a:ext uri="{FF2B5EF4-FFF2-40B4-BE49-F238E27FC236}">
                <a16:creationId xmlns:a16="http://schemas.microsoft.com/office/drawing/2014/main" id="{EF0EAF93-7B51-B897-B19C-A20339B9A94E}"/>
              </a:ext>
            </a:extLst>
          </p:cNvPr>
          <p:cNvSpPr/>
          <p:nvPr/>
        </p:nvSpPr>
        <p:spPr>
          <a:xfrm>
            <a:off x="3170237" y="4235311"/>
            <a:ext cx="177090" cy="139541"/>
          </a:xfrm>
          <a:prstGeom prst="star5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49DEBE-22F8-B136-0EAA-EFD47EAF3CE3}"/>
              </a:ext>
            </a:extLst>
          </p:cNvPr>
          <p:cNvSpPr txBox="1"/>
          <p:nvPr/>
        </p:nvSpPr>
        <p:spPr>
          <a:xfrm>
            <a:off x="3808101" y="2148750"/>
            <a:ext cx="1237650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UCL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0E6C00-BD42-8389-AF11-D910B03DCD6A}"/>
              </a:ext>
            </a:extLst>
          </p:cNvPr>
          <p:cNvSpPr txBox="1"/>
          <p:nvPr/>
        </p:nvSpPr>
        <p:spPr>
          <a:xfrm>
            <a:off x="1309747" y="2167778"/>
            <a:ext cx="727286" cy="2911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92" b="1" dirty="0">
                <a:latin typeface="맑은 고딕 (Body)"/>
                <a:cs typeface="Times New Roman" panose="02020603050405020304" pitchFamily="18" charset="0"/>
              </a:rPr>
              <a:t>LCL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51BBAD1-3A66-1810-43EB-D092DAD027A6}"/>
              </a:ext>
            </a:extLst>
          </p:cNvPr>
          <p:cNvSpPr/>
          <p:nvPr/>
        </p:nvSpPr>
        <p:spPr>
          <a:xfrm>
            <a:off x="4548798" y="3158876"/>
            <a:ext cx="303743" cy="2608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5" name="Rounded Rectangle 141">
            <a:extLst>
              <a:ext uri="{FF2B5EF4-FFF2-40B4-BE49-F238E27FC236}">
                <a16:creationId xmlns:a16="http://schemas.microsoft.com/office/drawing/2014/main" id="{BF2E8015-1BBB-D700-D4C0-79D14EF7FD77}"/>
              </a:ext>
            </a:extLst>
          </p:cNvPr>
          <p:cNvSpPr/>
          <p:nvPr/>
        </p:nvSpPr>
        <p:spPr>
          <a:xfrm>
            <a:off x="6077044" y="1895325"/>
            <a:ext cx="2857312" cy="819674"/>
          </a:xfrm>
          <a:prstGeom prst="roundRect">
            <a:avLst>
              <a:gd name="adj" fmla="val 655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UCL limit is crossed, so parents are notified about abnormal    behavior of the baby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8DD0B81-1485-58F1-417A-E902EA68AEBE}"/>
              </a:ext>
            </a:extLst>
          </p:cNvPr>
          <p:cNvCxnSpPr>
            <a:stCxn id="54" idx="7"/>
            <a:endCxn id="55" idx="1"/>
          </p:cNvCxnSpPr>
          <p:nvPr/>
        </p:nvCxnSpPr>
        <p:spPr>
          <a:xfrm flipV="1">
            <a:off x="4808058" y="2305162"/>
            <a:ext cx="1268985" cy="891917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9DA6AFB0-8CC5-2E22-E4E1-2A5B83062901}"/>
              </a:ext>
            </a:extLst>
          </p:cNvPr>
          <p:cNvSpPr/>
          <p:nvPr/>
        </p:nvSpPr>
        <p:spPr>
          <a:xfrm>
            <a:off x="6522303" y="3170145"/>
            <a:ext cx="147200" cy="125895"/>
          </a:xfrm>
          <a:prstGeom prst="flowChartConnector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729954DB-5B0D-CF9D-3A6D-80513FD1A0B6}"/>
              </a:ext>
            </a:extLst>
          </p:cNvPr>
          <p:cNvSpPr/>
          <p:nvPr/>
        </p:nvSpPr>
        <p:spPr>
          <a:xfrm>
            <a:off x="6535372" y="3460484"/>
            <a:ext cx="129714" cy="173594"/>
          </a:xfrm>
          <a:prstGeom prst="triangl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9" name="5-Point Star 147">
            <a:extLst>
              <a:ext uri="{FF2B5EF4-FFF2-40B4-BE49-F238E27FC236}">
                <a16:creationId xmlns:a16="http://schemas.microsoft.com/office/drawing/2014/main" id="{B224F1CB-3192-1A9F-80C1-A5FCAF545BE4}"/>
              </a:ext>
            </a:extLst>
          </p:cNvPr>
          <p:cNvSpPr/>
          <p:nvPr/>
        </p:nvSpPr>
        <p:spPr>
          <a:xfrm>
            <a:off x="6525344" y="3798521"/>
            <a:ext cx="177090" cy="139541"/>
          </a:xfrm>
          <a:prstGeom prst="star5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60" name="Flowchart: Collate 59">
            <a:extLst>
              <a:ext uri="{FF2B5EF4-FFF2-40B4-BE49-F238E27FC236}">
                <a16:creationId xmlns:a16="http://schemas.microsoft.com/office/drawing/2014/main" id="{A3D0B9B9-4F50-9278-BD00-39EC3F7A4570}"/>
              </a:ext>
            </a:extLst>
          </p:cNvPr>
          <p:cNvSpPr/>
          <p:nvPr/>
        </p:nvSpPr>
        <p:spPr>
          <a:xfrm>
            <a:off x="6557098" y="4114434"/>
            <a:ext cx="122488" cy="128540"/>
          </a:xfrm>
          <a:prstGeom prst="flowChartCollat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206951FE-9BA1-91C2-B2F7-D0548279D7C6}"/>
              </a:ext>
            </a:extLst>
          </p:cNvPr>
          <p:cNvSpPr/>
          <p:nvPr/>
        </p:nvSpPr>
        <p:spPr>
          <a:xfrm>
            <a:off x="6529797" y="4421444"/>
            <a:ext cx="177090" cy="173627"/>
          </a:xfrm>
          <a:prstGeom prst="diamond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62" name="Rounded Rectangle 160">
            <a:extLst>
              <a:ext uri="{FF2B5EF4-FFF2-40B4-BE49-F238E27FC236}">
                <a16:creationId xmlns:a16="http://schemas.microsoft.com/office/drawing/2014/main" id="{F80EB2BE-DC8E-6A22-E0AD-9F9A5808FDF7}"/>
              </a:ext>
            </a:extLst>
          </p:cNvPr>
          <p:cNvSpPr/>
          <p:nvPr/>
        </p:nvSpPr>
        <p:spPr>
          <a:xfrm>
            <a:off x="507410" y="1150151"/>
            <a:ext cx="8426946" cy="690407"/>
          </a:xfrm>
          <a:prstGeom prst="roundRect">
            <a:avLst>
              <a:gd name="adj" fmla="val 655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This whole chart represents the motion behavior of baby for a single interval</a:t>
            </a:r>
          </a:p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These points are plotted based on motion difference between two consecutive frames of an interval</a:t>
            </a:r>
          </a:p>
        </p:txBody>
      </p:sp>
      <p:sp>
        <p:nvSpPr>
          <p:cNvPr id="63" name="Rounded Rectangle 141">
            <a:extLst>
              <a:ext uri="{FF2B5EF4-FFF2-40B4-BE49-F238E27FC236}">
                <a16:creationId xmlns:a16="http://schemas.microsoft.com/office/drawing/2014/main" id="{4CEFD111-C552-11AC-CEF9-635BBCB3C2B8}"/>
              </a:ext>
            </a:extLst>
          </p:cNvPr>
          <p:cNvSpPr/>
          <p:nvPr/>
        </p:nvSpPr>
        <p:spPr>
          <a:xfrm>
            <a:off x="6077044" y="4734936"/>
            <a:ext cx="2857312" cy="652296"/>
          </a:xfrm>
          <a:prstGeom prst="roundRect">
            <a:avLst>
              <a:gd name="adj" fmla="val 655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UCL: Upper control limit</a:t>
            </a:r>
          </a:p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LCL: Lower control limit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37A46BF-4954-C7CA-8140-5231E442E307}"/>
              </a:ext>
            </a:extLst>
          </p:cNvPr>
          <p:cNvSpPr/>
          <p:nvPr/>
        </p:nvSpPr>
        <p:spPr>
          <a:xfrm>
            <a:off x="1139319" y="5113637"/>
            <a:ext cx="265145" cy="2714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65" name="Rounded Rectangle 67">
            <a:extLst>
              <a:ext uri="{FF2B5EF4-FFF2-40B4-BE49-F238E27FC236}">
                <a16:creationId xmlns:a16="http://schemas.microsoft.com/office/drawing/2014/main" id="{09F2752F-3639-CAA8-6B1F-27F2C2241CC3}"/>
              </a:ext>
            </a:extLst>
          </p:cNvPr>
          <p:cNvSpPr/>
          <p:nvPr/>
        </p:nvSpPr>
        <p:spPr>
          <a:xfrm>
            <a:off x="6077044" y="5445224"/>
            <a:ext cx="2857312" cy="819674"/>
          </a:xfrm>
          <a:prstGeom prst="roundRect">
            <a:avLst>
              <a:gd name="adj" fmla="val 655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LCL limit is crossed, </a:t>
            </a:r>
            <a:r>
              <a:rPr lang="en-US" sz="1292" dirty="0">
                <a:solidFill>
                  <a:srgbClr val="FF0000"/>
                </a:solidFill>
                <a:latin typeface="맑은 고딕 (Body)"/>
              </a:rPr>
              <a:t>as there is no motion of the baby so </a:t>
            </a:r>
          </a:p>
          <a:p>
            <a:r>
              <a:rPr lang="en-US" sz="1292" dirty="0">
                <a:solidFill>
                  <a:srgbClr val="FF0000"/>
                </a:solidFill>
                <a:latin typeface="맑은 고딕 (Body)"/>
              </a:rPr>
              <a:t>     parents are notified about </a:t>
            </a:r>
          </a:p>
          <a:p>
            <a:r>
              <a:rPr lang="en-US" sz="1292" dirty="0">
                <a:solidFill>
                  <a:srgbClr val="FF0000"/>
                </a:solidFill>
                <a:latin typeface="맑은 고딕 (Body)"/>
              </a:rPr>
              <a:t>     abnormal behavior of the baby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E497579-8CDF-9ED0-B4B3-EA5644C36620}"/>
              </a:ext>
            </a:extLst>
          </p:cNvPr>
          <p:cNvSpPr/>
          <p:nvPr/>
        </p:nvSpPr>
        <p:spPr>
          <a:xfrm>
            <a:off x="4548798" y="3392036"/>
            <a:ext cx="303743" cy="2608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9447571-634D-618A-E443-2AAC4275FDB6}"/>
              </a:ext>
            </a:extLst>
          </p:cNvPr>
          <p:cNvCxnSpPr>
            <a:stCxn id="66" idx="7"/>
            <a:endCxn id="55" idx="1"/>
          </p:cNvCxnSpPr>
          <p:nvPr/>
        </p:nvCxnSpPr>
        <p:spPr>
          <a:xfrm flipV="1">
            <a:off x="4808058" y="2305162"/>
            <a:ext cx="1268985" cy="1125077"/>
          </a:xfrm>
          <a:prstGeom prst="straightConnector1">
            <a:avLst/>
          </a:prstGeom>
          <a:ln w="28575">
            <a:solidFill>
              <a:schemeClr val="accent5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103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EF71D-5319-37FB-197F-4EEC1F32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F2CE1265-07BD-BF70-4BDB-7CB24C4E01FC}"/>
              </a:ext>
            </a:extLst>
          </p:cNvPr>
          <p:cNvSpPr/>
          <p:nvPr/>
        </p:nvSpPr>
        <p:spPr>
          <a:xfrm>
            <a:off x="7858932" y="5754667"/>
            <a:ext cx="221755" cy="414546"/>
          </a:xfrm>
          <a:custGeom>
            <a:avLst/>
            <a:gdLst>
              <a:gd name="connsiteX0" fmla="*/ 218596 w 240235"/>
              <a:gd name="connsiteY0" fmla="*/ 289739 h 449091"/>
              <a:gd name="connsiteX1" fmla="*/ 224946 w 240235"/>
              <a:gd name="connsiteY1" fmla="*/ 3989 h 449091"/>
              <a:gd name="connsiteX2" fmla="*/ 224946 w 240235"/>
              <a:gd name="connsiteY2" fmla="*/ 143689 h 449091"/>
              <a:gd name="connsiteX3" fmla="*/ 21746 w 240235"/>
              <a:gd name="connsiteY3" fmla="*/ 435789 h 449091"/>
              <a:gd name="connsiteX4" fmla="*/ 15396 w 240235"/>
              <a:gd name="connsiteY4" fmla="*/ 372289 h 449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235" h="449091">
                <a:moveTo>
                  <a:pt x="218596" y="289739"/>
                </a:moveTo>
                <a:cubicBezTo>
                  <a:pt x="221242" y="159035"/>
                  <a:pt x="223888" y="28331"/>
                  <a:pt x="224946" y="3989"/>
                </a:cubicBezTo>
                <a:cubicBezTo>
                  <a:pt x="226004" y="-20353"/>
                  <a:pt x="258813" y="71722"/>
                  <a:pt x="224946" y="143689"/>
                </a:cubicBezTo>
                <a:cubicBezTo>
                  <a:pt x="191079" y="215656"/>
                  <a:pt x="56671" y="397689"/>
                  <a:pt x="21746" y="435789"/>
                </a:cubicBezTo>
                <a:cubicBezTo>
                  <a:pt x="-13179" y="473889"/>
                  <a:pt x="1108" y="423089"/>
                  <a:pt x="15396" y="372289"/>
                </a:cubicBezTo>
              </a:path>
            </a:pathLst>
          </a:custGeom>
          <a:noFill/>
          <a:ln w="2857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4" name="Rounded Rectangle 648">
            <a:extLst>
              <a:ext uri="{FF2B5EF4-FFF2-40B4-BE49-F238E27FC236}">
                <a16:creationId xmlns:a16="http://schemas.microsoft.com/office/drawing/2014/main" id="{B1F2CD50-7A10-2F37-8D3E-269FF136D4BC}"/>
              </a:ext>
            </a:extLst>
          </p:cNvPr>
          <p:cNvSpPr/>
          <p:nvPr/>
        </p:nvSpPr>
        <p:spPr>
          <a:xfrm>
            <a:off x="7335091" y="2555749"/>
            <a:ext cx="1481034" cy="1206474"/>
          </a:xfrm>
          <a:prstGeom prst="roundRect">
            <a:avLst>
              <a:gd name="adj" fmla="val 11145"/>
            </a:avLst>
          </a:prstGeom>
          <a:solidFill>
            <a:schemeClr val="accent1">
              <a:lumMod val="20000"/>
              <a:lumOff val="80000"/>
              <a:alpha val="2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dirty="0"/>
          </a:p>
        </p:txBody>
      </p:sp>
      <p:sp>
        <p:nvSpPr>
          <p:cNvPr id="5" name="Rounded Rectangle 647">
            <a:extLst>
              <a:ext uri="{FF2B5EF4-FFF2-40B4-BE49-F238E27FC236}">
                <a16:creationId xmlns:a16="http://schemas.microsoft.com/office/drawing/2014/main" id="{EE4EDE63-0B45-CC96-0D7F-F764CE0426D6}"/>
              </a:ext>
            </a:extLst>
          </p:cNvPr>
          <p:cNvSpPr/>
          <p:nvPr/>
        </p:nvSpPr>
        <p:spPr>
          <a:xfrm>
            <a:off x="7320766" y="3863700"/>
            <a:ext cx="1495359" cy="1206474"/>
          </a:xfrm>
          <a:prstGeom prst="roundRect">
            <a:avLst>
              <a:gd name="adj" fmla="val 11145"/>
            </a:avLst>
          </a:prstGeom>
          <a:solidFill>
            <a:schemeClr val="accent1">
              <a:lumMod val="20000"/>
              <a:lumOff val="80000"/>
              <a:alpha val="2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dirty="0"/>
          </a:p>
        </p:txBody>
      </p:sp>
      <p:sp>
        <p:nvSpPr>
          <p:cNvPr id="6" name="Freeform 34">
            <a:extLst>
              <a:ext uri="{FF2B5EF4-FFF2-40B4-BE49-F238E27FC236}">
                <a16:creationId xmlns:a16="http://schemas.microsoft.com/office/drawing/2014/main" id="{4F2C491A-ECB3-6109-F81B-C7B8BC5EAFB6}"/>
              </a:ext>
            </a:extLst>
          </p:cNvPr>
          <p:cNvSpPr/>
          <p:nvPr/>
        </p:nvSpPr>
        <p:spPr>
          <a:xfrm>
            <a:off x="7808855" y="1890745"/>
            <a:ext cx="197586" cy="195878"/>
          </a:xfrm>
          <a:custGeom>
            <a:avLst/>
            <a:gdLst>
              <a:gd name="connsiteX0" fmla="*/ 18789 w 214051"/>
              <a:gd name="connsiteY0" fmla="*/ 212201 h 212201"/>
              <a:gd name="connsiteX1" fmla="*/ 18789 w 214051"/>
              <a:gd name="connsiteY1" fmla="*/ 2651 h 212201"/>
              <a:gd name="connsiteX2" fmla="*/ 214051 w 214051"/>
              <a:gd name="connsiteY2" fmla="*/ 93138 h 21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051" h="212201">
                <a:moveTo>
                  <a:pt x="18789" y="212201"/>
                </a:moveTo>
                <a:cubicBezTo>
                  <a:pt x="2517" y="117348"/>
                  <a:pt x="-13755" y="22495"/>
                  <a:pt x="18789" y="2651"/>
                </a:cubicBezTo>
                <a:cubicBezTo>
                  <a:pt x="51333" y="-17193"/>
                  <a:pt x="182301" y="80438"/>
                  <a:pt x="214051" y="93138"/>
                </a:cubicBezTo>
              </a:path>
            </a:pathLst>
          </a:custGeom>
          <a:noFill/>
          <a:ln w="2857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7804B1E-4A8E-4EB7-1321-A8FBB622637D}"/>
              </a:ext>
            </a:extLst>
          </p:cNvPr>
          <p:cNvSpPr/>
          <p:nvPr/>
        </p:nvSpPr>
        <p:spPr>
          <a:xfrm>
            <a:off x="8204694" y="4230480"/>
            <a:ext cx="202223" cy="172915"/>
          </a:xfrm>
          <a:custGeom>
            <a:avLst/>
            <a:gdLst>
              <a:gd name="connsiteX0" fmla="*/ 219075 w 219075"/>
              <a:gd name="connsiteY0" fmla="*/ 187325 h 187325"/>
              <a:gd name="connsiteX1" fmla="*/ 215900 w 219075"/>
              <a:gd name="connsiteY1" fmla="*/ 0 h 187325"/>
              <a:gd name="connsiteX2" fmla="*/ 215900 w 219075"/>
              <a:gd name="connsiteY2" fmla="*/ 0 h 187325"/>
              <a:gd name="connsiteX3" fmla="*/ 0 w 219075"/>
              <a:gd name="connsiteY3" fmla="*/ 0 h 187325"/>
              <a:gd name="connsiteX4" fmla="*/ 0 w 219075"/>
              <a:gd name="connsiteY4" fmla="*/ 0 h 18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" h="187325">
                <a:moveTo>
                  <a:pt x="219075" y="187325"/>
                </a:moveTo>
                <a:lnTo>
                  <a:pt x="215900" y="0"/>
                </a:lnTo>
                <a:lnTo>
                  <a:pt x="21590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DE92515-E278-30C1-F41A-6E630518EA3B}"/>
              </a:ext>
            </a:extLst>
          </p:cNvPr>
          <p:cNvSpPr/>
          <p:nvPr/>
        </p:nvSpPr>
        <p:spPr>
          <a:xfrm>
            <a:off x="7819563" y="3191630"/>
            <a:ext cx="586065" cy="101289"/>
          </a:xfrm>
          <a:custGeom>
            <a:avLst/>
            <a:gdLst>
              <a:gd name="connsiteX0" fmla="*/ 206279 w 634904"/>
              <a:gd name="connsiteY0" fmla="*/ 20520 h 109730"/>
              <a:gd name="connsiteX1" fmla="*/ 6254 w 634904"/>
              <a:gd name="connsiteY1" fmla="*/ 103070 h 109730"/>
              <a:gd name="connsiteX2" fmla="*/ 415829 w 634904"/>
              <a:gd name="connsiteY2" fmla="*/ 93545 h 109730"/>
              <a:gd name="connsiteX3" fmla="*/ 409479 w 634904"/>
              <a:gd name="connsiteY3" fmla="*/ 4645 h 109730"/>
              <a:gd name="connsiteX4" fmla="*/ 634904 w 634904"/>
              <a:gd name="connsiteY4" fmla="*/ 20520 h 109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4904" h="109730">
                <a:moveTo>
                  <a:pt x="206279" y="20520"/>
                </a:moveTo>
                <a:cubicBezTo>
                  <a:pt x="88804" y="55709"/>
                  <a:pt x="-28671" y="90899"/>
                  <a:pt x="6254" y="103070"/>
                </a:cubicBezTo>
                <a:cubicBezTo>
                  <a:pt x="41179" y="115241"/>
                  <a:pt x="348625" y="109949"/>
                  <a:pt x="415829" y="93545"/>
                </a:cubicBezTo>
                <a:cubicBezTo>
                  <a:pt x="483033" y="77141"/>
                  <a:pt x="372967" y="16816"/>
                  <a:pt x="409479" y="4645"/>
                </a:cubicBezTo>
                <a:cubicBezTo>
                  <a:pt x="445991" y="-7526"/>
                  <a:pt x="540447" y="6497"/>
                  <a:pt x="634904" y="20520"/>
                </a:cubicBezTo>
              </a:path>
            </a:pathLst>
          </a:custGeom>
          <a:noFill/>
          <a:ln w="2857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A061EA-AB0F-4AD1-BF32-5938099C0E6D}"/>
              </a:ext>
            </a:extLst>
          </p:cNvPr>
          <p:cNvCxnSpPr/>
          <p:nvPr/>
        </p:nvCxnSpPr>
        <p:spPr>
          <a:xfrm flipV="1">
            <a:off x="7010660" y="4434796"/>
            <a:ext cx="301290" cy="1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7221C5-BED6-F738-78FD-6387B0C50047}"/>
              </a:ext>
            </a:extLst>
          </p:cNvPr>
          <p:cNvCxnSpPr/>
          <p:nvPr/>
        </p:nvCxnSpPr>
        <p:spPr>
          <a:xfrm flipV="1">
            <a:off x="7026289" y="5740182"/>
            <a:ext cx="301290" cy="1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B991AB-A45B-2696-767C-1DD45CBCFEA4}"/>
              </a:ext>
            </a:extLst>
          </p:cNvPr>
          <p:cNvCxnSpPr/>
          <p:nvPr/>
        </p:nvCxnSpPr>
        <p:spPr>
          <a:xfrm flipV="1">
            <a:off x="7026289" y="3087191"/>
            <a:ext cx="301290" cy="1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992DF3-8A21-E1C0-35BB-16AB793F7683}"/>
              </a:ext>
            </a:extLst>
          </p:cNvPr>
          <p:cNvCxnSpPr/>
          <p:nvPr/>
        </p:nvCxnSpPr>
        <p:spPr>
          <a:xfrm flipV="1">
            <a:off x="7026289" y="1915993"/>
            <a:ext cx="301290" cy="1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EF9C881A-4142-5811-954A-4991CC9F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12" y="224118"/>
            <a:ext cx="4179107" cy="669177"/>
          </a:xfrm>
        </p:spPr>
        <p:txBody>
          <a:bodyPr>
            <a:normAutofit fontScale="90000"/>
          </a:bodyPr>
          <a:lstStyle/>
          <a:p>
            <a:r>
              <a:rPr lang="en-US" dirty="0"/>
              <a:t>v. Control charts for intervals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567F0F-7255-D0F2-8CF6-5B6D510572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6" y="3425031"/>
            <a:ext cx="636668" cy="4758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658457-EB3C-4142-22A2-E2AFA078B7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83" y="3477322"/>
            <a:ext cx="743299" cy="4758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8B07D0-3AB8-A122-ECDE-34ED35C188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84" y="3557969"/>
            <a:ext cx="743299" cy="4758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ABFDCB-6B6C-8F81-9427-C087E3C6EDDC}"/>
              </a:ext>
            </a:extLst>
          </p:cNvPr>
          <p:cNvSpPr txBox="1"/>
          <p:nvPr/>
        </p:nvSpPr>
        <p:spPr>
          <a:xfrm>
            <a:off x="9185" y="4011093"/>
            <a:ext cx="966601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8" b="1"/>
              <a:t>Input video</a:t>
            </a:r>
            <a:endParaRPr lang="en-US" sz="1108" b="1" dirty="0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AEA6BC6C-335F-9AE4-5170-ED91146266AB}"/>
              </a:ext>
            </a:extLst>
          </p:cNvPr>
          <p:cNvSpPr/>
          <p:nvPr/>
        </p:nvSpPr>
        <p:spPr>
          <a:xfrm rot="16200000">
            <a:off x="4092968" y="-587151"/>
            <a:ext cx="210652" cy="5854271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B92153-3C7A-1ED8-CFFF-1BAA897501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247" y="2710929"/>
            <a:ext cx="1046213" cy="67634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0B57A0EF-9B8D-4B7E-CF30-2775144AC9C0}"/>
              </a:ext>
            </a:extLst>
          </p:cNvPr>
          <p:cNvSpPr/>
          <p:nvPr/>
        </p:nvSpPr>
        <p:spPr>
          <a:xfrm>
            <a:off x="5173997" y="2843207"/>
            <a:ext cx="146665" cy="2692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322E10-3143-5061-07D1-48EC25B7032A}"/>
              </a:ext>
            </a:extLst>
          </p:cNvPr>
          <p:cNvSpPr/>
          <p:nvPr/>
        </p:nvSpPr>
        <p:spPr>
          <a:xfrm>
            <a:off x="5304589" y="3100956"/>
            <a:ext cx="146665" cy="2692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71C8C35-3796-1B3E-5FCA-9026A217E253}"/>
              </a:ext>
            </a:extLst>
          </p:cNvPr>
          <p:cNvSpPr/>
          <p:nvPr/>
        </p:nvSpPr>
        <p:spPr>
          <a:xfrm>
            <a:off x="5478278" y="2916037"/>
            <a:ext cx="146665" cy="2692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A1F5B3-ABEF-F66F-CC17-2837918D592F}"/>
              </a:ext>
            </a:extLst>
          </p:cNvPr>
          <p:cNvSpPr/>
          <p:nvPr/>
        </p:nvSpPr>
        <p:spPr>
          <a:xfrm>
            <a:off x="3548528" y="2973190"/>
            <a:ext cx="102397" cy="15181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5D0A57-DE76-4146-936C-F60530453BE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0" b="-1"/>
          <a:stretch/>
        </p:blipFill>
        <p:spPr>
          <a:xfrm>
            <a:off x="2465488" y="2712671"/>
            <a:ext cx="1130590" cy="6728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DA2A3B-6A75-7042-D5B5-51AEB89723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634" y="4043448"/>
            <a:ext cx="1125306" cy="685346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610CCDC8-22DD-38F7-9A7D-726A8443F739}"/>
              </a:ext>
            </a:extLst>
          </p:cNvPr>
          <p:cNvSpPr/>
          <p:nvPr/>
        </p:nvSpPr>
        <p:spPr>
          <a:xfrm>
            <a:off x="2899421" y="4159116"/>
            <a:ext cx="131979" cy="34167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4D911AE-8A57-3FE8-0E60-4414B7796717}"/>
              </a:ext>
            </a:extLst>
          </p:cNvPr>
          <p:cNvSpPr/>
          <p:nvPr/>
        </p:nvSpPr>
        <p:spPr>
          <a:xfrm>
            <a:off x="3050704" y="4240108"/>
            <a:ext cx="170718" cy="32386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25EE919-CE23-19FE-8D11-B687895C2857}"/>
              </a:ext>
            </a:extLst>
          </p:cNvPr>
          <p:cNvSpPr/>
          <p:nvPr/>
        </p:nvSpPr>
        <p:spPr>
          <a:xfrm>
            <a:off x="2978616" y="4059129"/>
            <a:ext cx="186274" cy="2614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C01BFB0-C8DE-F9AD-FB33-944308F68A2F}"/>
              </a:ext>
            </a:extLst>
          </p:cNvPr>
          <p:cNvSpPr/>
          <p:nvPr/>
        </p:nvSpPr>
        <p:spPr>
          <a:xfrm>
            <a:off x="2962692" y="4369859"/>
            <a:ext cx="372196" cy="14482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E36D0057-12F6-21FF-92D3-EA8539EDA5CB}"/>
              </a:ext>
            </a:extLst>
          </p:cNvPr>
          <p:cNvSpPr/>
          <p:nvPr/>
        </p:nvSpPr>
        <p:spPr>
          <a:xfrm rot="16200000">
            <a:off x="4085503" y="549570"/>
            <a:ext cx="228278" cy="5851569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AE6377-61BF-E3FB-E63D-21B3473375FC}"/>
              </a:ext>
            </a:extLst>
          </p:cNvPr>
          <p:cNvSpPr txBox="1"/>
          <p:nvPr/>
        </p:nvSpPr>
        <p:spPr>
          <a:xfrm>
            <a:off x="3885099" y="2219567"/>
            <a:ext cx="854730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8" b="1" dirty="0"/>
              <a:t>Interval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BD04E6-EAF4-BC16-396D-14402D3AB47B}"/>
              </a:ext>
            </a:extLst>
          </p:cNvPr>
          <p:cNvSpPr txBox="1"/>
          <p:nvPr/>
        </p:nvSpPr>
        <p:spPr>
          <a:xfrm>
            <a:off x="3856745" y="3360646"/>
            <a:ext cx="854730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8" b="1" dirty="0"/>
              <a:t>Interval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5CD7E8-30BC-AFC7-2BEB-9A2612C19931}"/>
              </a:ext>
            </a:extLst>
          </p:cNvPr>
          <p:cNvSpPr txBox="1"/>
          <p:nvPr/>
        </p:nvSpPr>
        <p:spPr>
          <a:xfrm>
            <a:off x="3898902" y="4684264"/>
            <a:ext cx="854730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8" b="1" dirty="0"/>
              <a:t>Interval 3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D7DC1C6-3ABD-2E14-B810-23981F397B7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7"/>
          <a:stretch/>
        </p:blipFill>
        <p:spPr>
          <a:xfrm>
            <a:off x="1275918" y="1537865"/>
            <a:ext cx="1106826" cy="755881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73755EE1-036B-CDB5-6AB6-E83B3C820B92}"/>
              </a:ext>
            </a:extLst>
          </p:cNvPr>
          <p:cNvSpPr/>
          <p:nvPr/>
        </p:nvSpPr>
        <p:spPr>
          <a:xfrm>
            <a:off x="1718959" y="1760337"/>
            <a:ext cx="171819" cy="9968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1915291-D3F9-5A5A-9F6B-A8A7A484858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7"/>
          <a:stretch/>
        </p:blipFill>
        <p:spPr>
          <a:xfrm>
            <a:off x="2464689" y="1524215"/>
            <a:ext cx="1131390" cy="74873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CFAB1A4-7FA0-9B5D-602C-FCE162F80409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7"/>
          <a:stretch/>
        </p:blipFill>
        <p:spPr>
          <a:xfrm>
            <a:off x="3678023" y="1543941"/>
            <a:ext cx="1127565" cy="732486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686DA0F9-C9FC-3DAF-B2C1-B8BE8D46DC47}"/>
              </a:ext>
            </a:extLst>
          </p:cNvPr>
          <p:cNvSpPr/>
          <p:nvPr/>
        </p:nvSpPr>
        <p:spPr>
          <a:xfrm>
            <a:off x="4083905" y="1745843"/>
            <a:ext cx="283923" cy="12639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D43C050-E2D4-49AF-87F3-7266609DC8B2}"/>
              </a:ext>
            </a:extLst>
          </p:cNvPr>
          <p:cNvCxnSpPr/>
          <p:nvPr/>
        </p:nvCxnSpPr>
        <p:spPr>
          <a:xfrm flipV="1">
            <a:off x="1253123" y="2496069"/>
            <a:ext cx="7574687" cy="45658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64EACD01-62A1-E872-365D-18DDB0405EA1}"/>
              </a:ext>
            </a:extLst>
          </p:cNvPr>
          <p:cNvSpPr/>
          <p:nvPr/>
        </p:nvSpPr>
        <p:spPr>
          <a:xfrm rot="16200000">
            <a:off x="4065729" y="3190711"/>
            <a:ext cx="212601" cy="5801747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54CFE2-77BE-EF8A-9557-4F5C1E5224CE}"/>
              </a:ext>
            </a:extLst>
          </p:cNvPr>
          <p:cNvSpPr txBox="1"/>
          <p:nvPr/>
        </p:nvSpPr>
        <p:spPr>
          <a:xfrm>
            <a:off x="3877567" y="5985990"/>
            <a:ext cx="854730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8" b="1" dirty="0"/>
              <a:t>Interval 4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B55E792-0615-2809-DA13-32BF47E93F8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89" y="5363269"/>
            <a:ext cx="1122776" cy="68236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15BA7CB-771A-AFF1-5FAD-28D9A9A3F0E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310" y="5364505"/>
            <a:ext cx="1132853" cy="679890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28C62C0F-FC95-C0EE-C01E-39E79F7844AA}"/>
              </a:ext>
            </a:extLst>
          </p:cNvPr>
          <p:cNvSpPr/>
          <p:nvPr/>
        </p:nvSpPr>
        <p:spPr>
          <a:xfrm>
            <a:off x="2650718" y="5409073"/>
            <a:ext cx="219675" cy="28209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775CC4C-B598-FFFB-C10B-532D2D580C0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734" y="5355383"/>
            <a:ext cx="1123775" cy="69813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276C11D-08D1-7309-D5BD-5BC61C856B6C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7"/>
          <a:stretch/>
        </p:blipFill>
        <p:spPr>
          <a:xfrm>
            <a:off x="4887533" y="1534912"/>
            <a:ext cx="1075472" cy="758833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9B086EB6-097C-4E83-D2DA-1E00B3194B77}"/>
              </a:ext>
            </a:extLst>
          </p:cNvPr>
          <p:cNvSpPr/>
          <p:nvPr/>
        </p:nvSpPr>
        <p:spPr>
          <a:xfrm>
            <a:off x="5279037" y="1744078"/>
            <a:ext cx="276918" cy="1487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FD95221-A6D1-05E3-40A7-A2DE4F088FE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745" y="2708490"/>
            <a:ext cx="1084682" cy="681218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3967CF6-3384-AD93-80FB-64C3C1A44302}"/>
              </a:ext>
            </a:extLst>
          </p:cNvPr>
          <p:cNvSpPr/>
          <p:nvPr/>
        </p:nvSpPr>
        <p:spPr>
          <a:xfrm>
            <a:off x="6205451" y="2774660"/>
            <a:ext cx="311422" cy="11681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4EFC523-427F-D5E9-DD8E-EF2D4CCD5C6B}"/>
              </a:ext>
            </a:extLst>
          </p:cNvPr>
          <p:cNvSpPr/>
          <p:nvPr/>
        </p:nvSpPr>
        <p:spPr>
          <a:xfrm>
            <a:off x="6737721" y="2995201"/>
            <a:ext cx="311422" cy="11681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97CDF71-9407-9345-C2AF-7CFF3C78B096}"/>
              </a:ext>
            </a:extLst>
          </p:cNvPr>
          <p:cNvCxnSpPr/>
          <p:nvPr/>
        </p:nvCxnSpPr>
        <p:spPr>
          <a:xfrm flipV="1">
            <a:off x="1246458" y="3794264"/>
            <a:ext cx="7581352" cy="3063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0F92FE7B-C1FA-E34E-09D6-3985568A26E7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21" y="4044075"/>
            <a:ext cx="1129621" cy="684095"/>
          </a:xfrm>
          <a:prstGeom prst="rect">
            <a:avLst/>
          </a:prstGeom>
        </p:spPr>
      </p:pic>
      <p:sp>
        <p:nvSpPr>
          <p:cNvPr id="53" name="Oval 52">
            <a:extLst>
              <a:ext uri="{FF2B5EF4-FFF2-40B4-BE49-F238E27FC236}">
                <a16:creationId xmlns:a16="http://schemas.microsoft.com/office/drawing/2014/main" id="{C97A4387-2AEC-0B30-7798-87BEAECA7EFA}"/>
              </a:ext>
            </a:extLst>
          </p:cNvPr>
          <p:cNvSpPr/>
          <p:nvPr/>
        </p:nvSpPr>
        <p:spPr>
          <a:xfrm>
            <a:off x="1544438" y="4177868"/>
            <a:ext cx="201509" cy="29679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6107F7A-AC8B-C4BF-2898-00C1A6A638B5}"/>
              </a:ext>
            </a:extLst>
          </p:cNvPr>
          <p:cNvSpPr/>
          <p:nvPr/>
        </p:nvSpPr>
        <p:spPr>
          <a:xfrm>
            <a:off x="1685442" y="4396946"/>
            <a:ext cx="172326" cy="31395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3917785-412B-D412-ABE7-F93AB1637D21}"/>
              </a:ext>
            </a:extLst>
          </p:cNvPr>
          <p:cNvSpPr/>
          <p:nvPr/>
        </p:nvSpPr>
        <p:spPr>
          <a:xfrm>
            <a:off x="1872978" y="4251534"/>
            <a:ext cx="132846" cy="35583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5B39A3A-CE68-239F-34E0-133D404FD050}"/>
              </a:ext>
            </a:extLst>
          </p:cNvPr>
          <p:cNvSpPr/>
          <p:nvPr/>
        </p:nvSpPr>
        <p:spPr>
          <a:xfrm>
            <a:off x="1764065" y="4050685"/>
            <a:ext cx="193348" cy="27429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2555DA3-C620-32F1-63DC-251C03D4EE1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132" y="4043179"/>
            <a:ext cx="1123155" cy="68588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DD08358-0A14-C68E-52CD-4C97AAF3EB5F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5"/>
          <a:stretch/>
        </p:blipFill>
        <p:spPr>
          <a:xfrm>
            <a:off x="4920945" y="4043179"/>
            <a:ext cx="1052706" cy="68499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84D0CF0-7D48-BFAF-A40A-D42CE7034879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5"/>
          <a:stretch/>
        </p:blipFill>
        <p:spPr>
          <a:xfrm>
            <a:off x="6051686" y="4043179"/>
            <a:ext cx="1021217" cy="684990"/>
          </a:xfrm>
          <a:prstGeom prst="rect">
            <a:avLst/>
          </a:prstGeom>
        </p:spPr>
      </p:pic>
      <p:sp>
        <p:nvSpPr>
          <p:cNvPr id="60" name="Left Bracket 59">
            <a:extLst>
              <a:ext uri="{FF2B5EF4-FFF2-40B4-BE49-F238E27FC236}">
                <a16:creationId xmlns:a16="http://schemas.microsoft.com/office/drawing/2014/main" id="{17389CE4-2388-10E6-32FA-F7E506AEF9D3}"/>
              </a:ext>
            </a:extLst>
          </p:cNvPr>
          <p:cNvSpPr/>
          <p:nvPr/>
        </p:nvSpPr>
        <p:spPr>
          <a:xfrm rot="16200000">
            <a:off x="4050255" y="1900240"/>
            <a:ext cx="243548" cy="5801747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41F681A5-9263-4257-2E8F-B729F81A25A5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7"/>
          <a:stretch/>
        </p:blipFill>
        <p:spPr>
          <a:xfrm>
            <a:off x="4917959" y="5352114"/>
            <a:ext cx="1048915" cy="701402"/>
          </a:xfrm>
          <a:prstGeom prst="rect">
            <a:avLst/>
          </a:prstGeom>
        </p:spPr>
      </p:pic>
      <p:sp>
        <p:nvSpPr>
          <p:cNvPr id="62" name="Oval 61">
            <a:extLst>
              <a:ext uri="{FF2B5EF4-FFF2-40B4-BE49-F238E27FC236}">
                <a16:creationId xmlns:a16="http://schemas.microsoft.com/office/drawing/2014/main" id="{14AD2873-448D-C687-870F-8FB215C7DCE2}"/>
              </a:ext>
            </a:extLst>
          </p:cNvPr>
          <p:cNvSpPr/>
          <p:nvPr/>
        </p:nvSpPr>
        <p:spPr>
          <a:xfrm>
            <a:off x="5339153" y="5581913"/>
            <a:ext cx="75786" cy="5498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514A8D4-5B0E-06C3-8599-DFB7ACBDCA31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7"/>
          <a:stretch/>
        </p:blipFill>
        <p:spPr>
          <a:xfrm>
            <a:off x="6045495" y="5352114"/>
            <a:ext cx="1020630" cy="701401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1593A68A-3F70-4AFD-164F-927F0784B74F}"/>
              </a:ext>
            </a:extLst>
          </p:cNvPr>
          <p:cNvSpPr/>
          <p:nvPr/>
        </p:nvSpPr>
        <p:spPr>
          <a:xfrm>
            <a:off x="6455331" y="5545448"/>
            <a:ext cx="117599" cy="4831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AA8B7200-AC2E-6C6C-3491-9BDABB046BB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951" y="1528393"/>
            <a:ext cx="1080476" cy="74980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CD107DB4-08C5-F877-41F6-9C1BEDF7F629}"/>
              </a:ext>
            </a:extLst>
          </p:cNvPr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4"/>
          <a:stretch/>
        </p:blipFill>
        <p:spPr>
          <a:xfrm>
            <a:off x="1256598" y="2694593"/>
            <a:ext cx="1126146" cy="709014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4AF90A1-7522-6005-CECC-99AB0F760BA8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790" y="2712485"/>
            <a:ext cx="1131798" cy="673228"/>
          </a:xfrm>
          <a:prstGeom prst="rect">
            <a:avLst/>
          </a:prstGeom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D1D589D-1678-C519-5C2F-836A163C6756}"/>
              </a:ext>
            </a:extLst>
          </p:cNvPr>
          <p:cNvCxnSpPr/>
          <p:nvPr/>
        </p:nvCxnSpPr>
        <p:spPr>
          <a:xfrm>
            <a:off x="1261821" y="5159829"/>
            <a:ext cx="7598579" cy="457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24">
            <a:extLst>
              <a:ext uri="{FF2B5EF4-FFF2-40B4-BE49-F238E27FC236}">
                <a16:creationId xmlns:a16="http://schemas.microsoft.com/office/drawing/2014/main" id="{40C14C3E-2CBC-5E85-174E-4DE30FAEF3E8}"/>
              </a:ext>
            </a:extLst>
          </p:cNvPr>
          <p:cNvCxnSpPr>
            <a:stCxn id="16" idx="3"/>
            <a:endCxn id="34" idx="1"/>
          </p:cNvCxnSpPr>
          <p:nvPr/>
        </p:nvCxnSpPr>
        <p:spPr>
          <a:xfrm flipV="1">
            <a:off x="933383" y="1915806"/>
            <a:ext cx="342535" cy="1880070"/>
          </a:xfrm>
          <a:prstGeom prst="bentConnector3">
            <a:avLst>
              <a:gd name="adj1" fmla="val 29465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30">
            <a:extLst>
              <a:ext uri="{FF2B5EF4-FFF2-40B4-BE49-F238E27FC236}">
                <a16:creationId xmlns:a16="http://schemas.microsoft.com/office/drawing/2014/main" id="{D3CF0307-99CE-4092-1366-5DEF31E4AC93}"/>
              </a:ext>
            </a:extLst>
          </p:cNvPr>
          <p:cNvCxnSpPr>
            <a:stCxn id="16" idx="3"/>
            <a:endCxn id="42" idx="1"/>
          </p:cNvCxnSpPr>
          <p:nvPr/>
        </p:nvCxnSpPr>
        <p:spPr>
          <a:xfrm>
            <a:off x="933383" y="3795877"/>
            <a:ext cx="328506" cy="1908573"/>
          </a:xfrm>
          <a:prstGeom prst="bentConnector3">
            <a:avLst>
              <a:gd name="adj1" fmla="val 3235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41">
            <a:extLst>
              <a:ext uri="{FF2B5EF4-FFF2-40B4-BE49-F238E27FC236}">
                <a16:creationId xmlns:a16="http://schemas.microsoft.com/office/drawing/2014/main" id="{E53AEBDF-A61B-32DD-CD2B-890C84B6A718}"/>
              </a:ext>
            </a:extLst>
          </p:cNvPr>
          <p:cNvCxnSpPr>
            <a:stCxn id="16" idx="3"/>
            <a:endCxn id="66" idx="1"/>
          </p:cNvCxnSpPr>
          <p:nvPr/>
        </p:nvCxnSpPr>
        <p:spPr>
          <a:xfrm flipV="1">
            <a:off x="933383" y="3049099"/>
            <a:ext cx="323215" cy="746777"/>
          </a:xfrm>
          <a:prstGeom prst="bentConnector3">
            <a:avLst>
              <a:gd name="adj1" fmla="val 32016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43">
            <a:extLst>
              <a:ext uri="{FF2B5EF4-FFF2-40B4-BE49-F238E27FC236}">
                <a16:creationId xmlns:a16="http://schemas.microsoft.com/office/drawing/2014/main" id="{11BF90EB-E64D-0919-E6A6-D0E7765D7D9C}"/>
              </a:ext>
            </a:extLst>
          </p:cNvPr>
          <p:cNvCxnSpPr>
            <a:stCxn id="16" idx="3"/>
            <a:endCxn id="52" idx="1"/>
          </p:cNvCxnSpPr>
          <p:nvPr/>
        </p:nvCxnSpPr>
        <p:spPr>
          <a:xfrm>
            <a:off x="933383" y="3795877"/>
            <a:ext cx="328438" cy="590246"/>
          </a:xfrm>
          <a:prstGeom prst="bentConnector3">
            <a:avLst>
              <a:gd name="adj1" fmla="val 33029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AA29B7C-5847-A03B-C3C0-64905025B8F2}"/>
              </a:ext>
            </a:extLst>
          </p:cNvPr>
          <p:cNvCxnSpPr/>
          <p:nvPr/>
        </p:nvCxnSpPr>
        <p:spPr>
          <a:xfrm>
            <a:off x="7654959" y="3379067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1BBB075-601D-586F-2D6F-997FC8EACE14}"/>
              </a:ext>
            </a:extLst>
          </p:cNvPr>
          <p:cNvSpPr txBox="1"/>
          <p:nvPr/>
        </p:nvSpPr>
        <p:spPr>
          <a:xfrm rot="16200000">
            <a:off x="6899757" y="2985772"/>
            <a:ext cx="1084077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738" dirty="0"/>
              <a:t>Movement Intensity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1622ACB-9EDE-2F20-65A2-A67A06D63567}"/>
              </a:ext>
            </a:extLst>
          </p:cNvPr>
          <p:cNvCxnSpPr/>
          <p:nvPr/>
        </p:nvCxnSpPr>
        <p:spPr>
          <a:xfrm>
            <a:off x="7658560" y="2588496"/>
            <a:ext cx="0" cy="9601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42EBBA6-F6F5-A74F-5CD5-6D483705F99C}"/>
              </a:ext>
            </a:extLst>
          </p:cNvPr>
          <p:cNvCxnSpPr/>
          <p:nvPr/>
        </p:nvCxnSpPr>
        <p:spPr>
          <a:xfrm>
            <a:off x="7658561" y="3534336"/>
            <a:ext cx="10178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E6A8656-E055-BAA5-8782-96BDBA6790FD}"/>
              </a:ext>
            </a:extLst>
          </p:cNvPr>
          <p:cNvCxnSpPr/>
          <p:nvPr/>
        </p:nvCxnSpPr>
        <p:spPr>
          <a:xfrm>
            <a:off x="7658560" y="3378056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0738868-BD5C-A78D-C21C-24506AA380AE}"/>
              </a:ext>
            </a:extLst>
          </p:cNvPr>
          <p:cNvCxnSpPr/>
          <p:nvPr/>
        </p:nvCxnSpPr>
        <p:spPr>
          <a:xfrm>
            <a:off x="7658560" y="3207784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A734763-73FA-B854-226A-AC2A10F17600}"/>
              </a:ext>
            </a:extLst>
          </p:cNvPr>
          <p:cNvCxnSpPr/>
          <p:nvPr/>
        </p:nvCxnSpPr>
        <p:spPr>
          <a:xfrm>
            <a:off x="7658560" y="3037511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D36E16A-3B42-104C-51EF-A48152EB3554}"/>
              </a:ext>
            </a:extLst>
          </p:cNvPr>
          <p:cNvCxnSpPr/>
          <p:nvPr/>
        </p:nvCxnSpPr>
        <p:spPr>
          <a:xfrm>
            <a:off x="7658560" y="2867240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F0CC9FA-F4AF-2DE9-088C-938CEB5A9BA3}"/>
              </a:ext>
            </a:extLst>
          </p:cNvPr>
          <p:cNvCxnSpPr/>
          <p:nvPr/>
        </p:nvCxnSpPr>
        <p:spPr>
          <a:xfrm>
            <a:off x="7658560" y="2696968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4C5209D-084E-145B-4112-84500058DB53}"/>
              </a:ext>
            </a:extLst>
          </p:cNvPr>
          <p:cNvCxnSpPr/>
          <p:nvPr/>
        </p:nvCxnSpPr>
        <p:spPr>
          <a:xfrm>
            <a:off x="7824848" y="3460305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D4F2742-9BAF-AE07-52F6-6C59433B246B}"/>
              </a:ext>
            </a:extLst>
          </p:cNvPr>
          <p:cNvCxnSpPr/>
          <p:nvPr/>
        </p:nvCxnSpPr>
        <p:spPr>
          <a:xfrm>
            <a:off x="8014042" y="3460305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A7F45CF-9157-9690-07A7-E30E18199319}"/>
              </a:ext>
            </a:extLst>
          </p:cNvPr>
          <p:cNvCxnSpPr/>
          <p:nvPr/>
        </p:nvCxnSpPr>
        <p:spPr>
          <a:xfrm>
            <a:off x="8203237" y="3460305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95E6564-6D35-058B-4167-FBFBBA23A3F3}"/>
              </a:ext>
            </a:extLst>
          </p:cNvPr>
          <p:cNvCxnSpPr/>
          <p:nvPr/>
        </p:nvCxnSpPr>
        <p:spPr>
          <a:xfrm>
            <a:off x="8392430" y="3460305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DB65D37-FBCE-DBDC-7BE8-695B1B8AA8D4}"/>
              </a:ext>
            </a:extLst>
          </p:cNvPr>
          <p:cNvCxnSpPr/>
          <p:nvPr/>
        </p:nvCxnSpPr>
        <p:spPr>
          <a:xfrm>
            <a:off x="8581622" y="3460305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781133D-C9C3-7B47-EA82-213212953A2B}"/>
              </a:ext>
            </a:extLst>
          </p:cNvPr>
          <p:cNvSpPr txBox="1"/>
          <p:nvPr/>
        </p:nvSpPr>
        <p:spPr>
          <a:xfrm>
            <a:off x="7708545" y="3494595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9B37856-308A-5264-1A81-FB56980AD04E}"/>
              </a:ext>
            </a:extLst>
          </p:cNvPr>
          <p:cNvSpPr txBox="1"/>
          <p:nvPr/>
        </p:nvSpPr>
        <p:spPr>
          <a:xfrm>
            <a:off x="7906919" y="3494595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ED3172F-CF8C-32F4-618C-69C0EE8A9BD3}"/>
              </a:ext>
            </a:extLst>
          </p:cNvPr>
          <p:cNvSpPr txBox="1"/>
          <p:nvPr/>
        </p:nvSpPr>
        <p:spPr>
          <a:xfrm>
            <a:off x="8105294" y="3502758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2C8FA89-D7E1-FA48-F658-BC0BCDFECC5E}"/>
              </a:ext>
            </a:extLst>
          </p:cNvPr>
          <p:cNvSpPr txBox="1"/>
          <p:nvPr/>
        </p:nvSpPr>
        <p:spPr>
          <a:xfrm>
            <a:off x="8303669" y="3502758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B9E7902-0668-1ACE-E14D-C42F368DD958}"/>
              </a:ext>
            </a:extLst>
          </p:cNvPr>
          <p:cNvSpPr txBox="1"/>
          <p:nvPr/>
        </p:nvSpPr>
        <p:spPr>
          <a:xfrm>
            <a:off x="8502043" y="3502758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BB19FF-847B-28CD-BC20-F127AC91721C}"/>
              </a:ext>
            </a:extLst>
          </p:cNvPr>
          <p:cNvSpPr txBox="1"/>
          <p:nvPr/>
        </p:nvSpPr>
        <p:spPr>
          <a:xfrm>
            <a:off x="7425849" y="3291056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EA03F06-C0C0-4C85-49FE-D5B78DFD7057}"/>
              </a:ext>
            </a:extLst>
          </p:cNvPr>
          <p:cNvSpPr txBox="1"/>
          <p:nvPr/>
        </p:nvSpPr>
        <p:spPr>
          <a:xfrm>
            <a:off x="7425849" y="3120647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ABD6D48-F758-3CF5-8FF1-4857AD7794EC}"/>
              </a:ext>
            </a:extLst>
          </p:cNvPr>
          <p:cNvSpPr txBox="1"/>
          <p:nvPr/>
        </p:nvSpPr>
        <p:spPr>
          <a:xfrm>
            <a:off x="7425849" y="2950279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A56C9FC-5548-91A9-4035-68D5ADCB8655}"/>
              </a:ext>
            </a:extLst>
          </p:cNvPr>
          <p:cNvSpPr txBox="1"/>
          <p:nvPr/>
        </p:nvSpPr>
        <p:spPr>
          <a:xfrm>
            <a:off x="7425849" y="2777170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914581C-A11D-2FF5-794B-3FA195B3148E}"/>
              </a:ext>
            </a:extLst>
          </p:cNvPr>
          <p:cNvSpPr txBox="1"/>
          <p:nvPr/>
        </p:nvSpPr>
        <p:spPr>
          <a:xfrm>
            <a:off x="7425848" y="2606796"/>
            <a:ext cx="3314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10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17F4E5C-466D-19D2-2DAB-04E1CA1D1A1D}"/>
              </a:ext>
            </a:extLst>
          </p:cNvPr>
          <p:cNvCxnSpPr/>
          <p:nvPr/>
        </p:nvCxnSpPr>
        <p:spPr>
          <a:xfrm>
            <a:off x="7654959" y="3491997"/>
            <a:ext cx="1008690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BAC8BFC9-D39C-6619-1127-3AFC33E2F01E}"/>
              </a:ext>
            </a:extLst>
          </p:cNvPr>
          <p:cNvSpPr txBox="1"/>
          <p:nvPr/>
        </p:nvSpPr>
        <p:spPr>
          <a:xfrm>
            <a:off x="7639352" y="3587450"/>
            <a:ext cx="1127722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738" dirty="0"/>
              <a:t>Movement Diversity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7E040D6-305B-469C-3CD9-E986ABCA115F}"/>
              </a:ext>
            </a:extLst>
          </p:cNvPr>
          <p:cNvCxnSpPr/>
          <p:nvPr/>
        </p:nvCxnSpPr>
        <p:spPr>
          <a:xfrm>
            <a:off x="7824018" y="2588496"/>
            <a:ext cx="0" cy="94584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A7E3694-B332-07EB-F88C-518BCF3FFCFC}"/>
              </a:ext>
            </a:extLst>
          </p:cNvPr>
          <p:cNvCxnSpPr/>
          <p:nvPr/>
        </p:nvCxnSpPr>
        <p:spPr>
          <a:xfrm>
            <a:off x="8014042" y="2588497"/>
            <a:ext cx="0" cy="945269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7447C5A-17C3-F9E1-2ED2-6DA747ADA2FE}"/>
              </a:ext>
            </a:extLst>
          </p:cNvPr>
          <p:cNvCxnSpPr/>
          <p:nvPr/>
        </p:nvCxnSpPr>
        <p:spPr>
          <a:xfrm>
            <a:off x="8199574" y="2588497"/>
            <a:ext cx="0" cy="939333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88EF993-3BD8-6A8D-4627-DA1EC784D445}"/>
              </a:ext>
            </a:extLst>
          </p:cNvPr>
          <p:cNvCxnSpPr/>
          <p:nvPr/>
        </p:nvCxnSpPr>
        <p:spPr>
          <a:xfrm>
            <a:off x="8392430" y="2588496"/>
            <a:ext cx="0" cy="931638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58E0C78-3EC6-3137-A5A7-42617CBD167E}"/>
              </a:ext>
            </a:extLst>
          </p:cNvPr>
          <p:cNvCxnSpPr/>
          <p:nvPr/>
        </p:nvCxnSpPr>
        <p:spPr>
          <a:xfrm>
            <a:off x="8581622" y="2588496"/>
            <a:ext cx="0" cy="926969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3F99706-3774-34F9-F42B-BFFDF1878C67}"/>
              </a:ext>
            </a:extLst>
          </p:cNvPr>
          <p:cNvCxnSpPr/>
          <p:nvPr/>
        </p:nvCxnSpPr>
        <p:spPr>
          <a:xfrm>
            <a:off x="7665873" y="3207784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88B3A19-10A9-C345-91AF-5430CD347556}"/>
              </a:ext>
            </a:extLst>
          </p:cNvPr>
          <p:cNvCxnSpPr/>
          <p:nvPr/>
        </p:nvCxnSpPr>
        <p:spPr>
          <a:xfrm>
            <a:off x="7665873" y="3037125"/>
            <a:ext cx="1008690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F97879B-07AA-976B-3DA9-994D22FE4509}"/>
              </a:ext>
            </a:extLst>
          </p:cNvPr>
          <p:cNvCxnSpPr/>
          <p:nvPr/>
        </p:nvCxnSpPr>
        <p:spPr>
          <a:xfrm>
            <a:off x="7665873" y="2867240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E896B279-69E3-9E59-3420-5DCF462B722E}"/>
              </a:ext>
            </a:extLst>
          </p:cNvPr>
          <p:cNvCxnSpPr/>
          <p:nvPr/>
        </p:nvCxnSpPr>
        <p:spPr>
          <a:xfrm>
            <a:off x="7665873" y="2696828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95859786-5634-2BE3-66BF-D2260ED5D54F}"/>
              </a:ext>
            </a:extLst>
          </p:cNvPr>
          <p:cNvCxnSpPr/>
          <p:nvPr/>
        </p:nvCxnSpPr>
        <p:spPr>
          <a:xfrm>
            <a:off x="7728406" y="2602127"/>
            <a:ext cx="0" cy="931638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FB45EBD-55D8-9946-50A8-9F99CF95034D}"/>
              </a:ext>
            </a:extLst>
          </p:cNvPr>
          <p:cNvSpPr txBox="1"/>
          <p:nvPr/>
        </p:nvSpPr>
        <p:spPr>
          <a:xfrm>
            <a:off x="7419034" y="3394770"/>
            <a:ext cx="347386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0.2</a:t>
            </a:r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6656A18A-14BF-7860-48AF-C7264B97F5EA}"/>
              </a:ext>
            </a:extLst>
          </p:cNvPr>
          <p:cNvSpPr/>
          <p:nvPr/>
        </p:nvSpPr>
        <p:spPr>
          <a:xfrm>
            <a:off x="7989067" y="3176802"/>
            <a:ext cx="51537" cy="55180"/>
          </a:xfrm>
          <a:prstGeom prst="flowChartConnector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ADC4079A-69C6-FBAA-427F-C2D579247C92}"/>
              </a:ext>
            </a:extLst>
          </p:cNvPr>
          <p:cNvSpPr/>
          <p:nvPr/>
        </p:nvSpPr>
        <p:spPr>
          <a:xfrm>
            <a:off x="7794551" y="3259627"/>
            <a:ext cx="68093" cy="42202"/>
          </a:xfrm>
          <a:prstGeom prst="triangle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12" name="5-Point Star 365">
            <a:extLst>
              <a:ext uri="{FF2B5EF4-FFF2-40B4-BE49-F238E27FC236}">
                <a16:creationId xmlns:a16="http://schemas.microsoft.com/office/drawing/2014/main" id="{5BA37A5A-780F-D49D-7CA5-31301B96CFFD}"/>
              </a:ext>
            </a:extLst>
          </p:cNvPr>
          <p:cNvSpPr/>
          <p:nvPr/>
        </p:nvSpPr>
        <p:spPr>
          <a:xfrm>
            <a:off x="8175841" y="3250691"/>
            <a:ext cx="45720" cy="42202"/>
          </a:xfrm>
          <a:prstGeom prst="star5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13" name="Flowchart: Collate 112">
            <a:extLst>
              <a:ext uri="{FF2B5EF4-FFF2-40B4-BE49-F238E27FC236}">
                <a16:creationId xmlns:a16="http://schemas.microsoft.com/office/drawing/2014/main" id="{AC46942C-247E-AE3A-417B-7851D125CAE4}"/>
              </a:ext>
            </a:extLst>
          </p:cNvPr>
          <p:cNvSpPr/>
          <p:nvPr/>
        </p:nvSpPr>
        <p:spPr>
          <a:xfrm>
            <a:off x="8168755" y="3182167"/>
            <a:ext cx="66588" cy="44414"/>
          </a:xfrm>
          <a:prstGeom prst="flowChartCollate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59BC60C4-34D4-2DBF-F8AD-20B860D3BA4C}"/>
              </a:ext>
            </a:extLst>
          </p:cNvPr>
          <p:cNvSpPr/>
          <p:nvPr/>
        </p:nvSpPr>
        <p:spPr>
          <a:xfrm>
            <a:off x="8365064" y="3184648"/>
            <a:ext cx="54733" cy="51159"/>
          </a:xfrm>
          <a:prstGeom prst="diamond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CC01E4E-C597-21EA-7DBE-EFD97BED6111}"/>
              </a:ext>
            </a:extLst>
          </p:cNvPr>
          <p:cNvCxnSpPr/>
          <p:nvPr/>
        </p:nvCxnSpPr>
        <p:spPr>
          <a:xfrm>
            <a:off x="7661795" y="4666917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74D13D9E-5A81-89C9-51DC-67CC33E47A06}"/>
              </a:ext>
            </a:extLst>
          </p:cNvPr>
          <p:cNvSpPr txBox="1"/>
          <p:nvPr/>
        </p:nvSpPr>
        <p:spPr>
          <a:xfrm rot="16200000">
            <a:off x="6906593" y="4273622"/>
            <a:ext cx="1084077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738" dirty="0"/>
              <a:t>Movement Intensity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47963F0-6294-E138-0101-5931B3FF69C9}"/>
              </a:ext>
            </a:extLst>
          </p:cNvPr>
          <p:cNvCxnSpPr/>
          <p:nvPr/>
        </p:nvCxnSpPr>
        <p:spPr>
          <a:xfrm>
            <a:off x="7665397" y="3876346"/>
            <a:ext cx="0" cy="9601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DA874F1-2444-537B-5AE4-A67E03A6036B}"/>
              </a:ext>
            </a:extLst>
          </p:cNvPr>
          <p:cNvCxnSpPr/>
          <p:nvPr/>
        </p:nvCxnSpPr>
        <p:spPr>
          <a:xfrm>
            <a:off x="7665397" y="4822186"/>
            <a:ext cx="10178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F801D67-CECE-6129-FD26-8E05D249B9DB}"/>
              </a:ext>
            </a:extLst>
          </p:cNvPr>
          <p:cNvCxnSpPr/>
          <p:nvPr/>
        </p:nvCxnSpPr>
        <p:spPr>
          <a:xfrm>
            <a:off x="7665397" y="4665906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4B370DA-5F7D-9AB4-E391-D0E980565E6A}"/>
              </a:ext>
            </a:extLst>
          </p:cNvPr>
          <p:cNvCxnSpPr/>
          <p:nvPr/>
        </p:nvCxnSpPr>
        <p:spPr>
          <a:xfrm>
            <a:off x="7665397" y="4495634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21D0B89-93AB-EEA6-00E8-C0E5BFDD121E}"/>
              </a:ext>
            </a:extLst>
          </p:cNvPr>
          <p:cNvCxnSpPr/>
          <p:nvPr/>
        </p:nvCxnSpPr>
        <p:spPr>
          <a:xfrm>
            <a:off x="7665397" y="4325361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E1C1D73-095C-0B07-2801-587F52A6C987}"/>
              </a:ext>
            </a:extLst>
          </p:cNvPr>
          <p:cNvCxnSpPr/>
          <p:nvPr/>
        </p:nvCxnSpPr>
        <p:spPr>
          <a:xfrm>
            <a:off x="7665397" y="4155090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2508C6-9CCE-C6F2-8377-E0CD7F6A75BB}"/>
              </a:ext>
            </a:extLst>
          </p:cNvPr>
          <p:cNvCxnSpPr/>
          <p:nvPr/>
        </p:nvCxnSpPr>
        <p:spPr>
          <a:xfrm>
            <a:off x="7665397" y="3984818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EA133C75-A42A-936A-86FD-8E62367744F2}"/>
              </a:ext>
            </a:extLst>
          </p:cNvPr>
          <p:cNvCxnSpPr/>
          <p:nvPr/>
        </p:nvCxnSpPr>
        <p:spPr>
          <a:xfrm>
            <a:off x="7831684" y="4748155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FE907EF-168E-16AC-7297-BC5FF6DA69DE}"/>
              </a:ext>
            </a:extLst>
          </p:cNvPr>
          <p:cNvCxnSpPr/>
          <p:nvPr/>
        </p:nvCxnSpPr>
        <p:spPr>
          <a:xfrm>
            <a:off x="8020878" y="4748155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5C1027A-090E-4F72-6332-BF5026B89405}"/>
              </a:ext>
            </a:extLst>
          </p:cNvPr>
          <p:cNvCxnSpPr/>
          <p:nvPr/>
        </p:nvCxnSpPr>
        <p:spPr>
          <a:xfrm>
            <a:off x="8210073" y="4748155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7207B82F-E934-CE2B-18B6-96F9C47653CD}"/>
              </a:ext>
            </a:extLst>
          </p:cNvPr>
          <p:cNvCxnSpPr/>
          <p:nvPr/>
        </p:nvCxnSpPr>
        <p:spPr>
          <a:xfrm>
            <a:off x="8399267" y="4748155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2008AE30-DCE9-567E-C102-23C1739439D3}"/>
              </a:ext>
            </a:extLst>
          </p:cNvPr>
          <p:cNvCxnSpPr/>
          <p:nvPr/>
        </p:nvCxnSpPr>
        <p:spPr>
          <a:xfrm>
            <a:off x="8588459" y="4748155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73F683DA-F808-4DED-34FE-5EAC8D1BFAB1}"/>
              </a:ext>
            </a:extLst>
          </p:cNvPr>
          <p:cNvSpPr txBox="1"/>
          <p:nvPr/>
        </p:nvSpPr>
        <p:spPr>
          <a:xfrm>
            <a:off x="7715381" y="4782445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A927C5F-534C-2905-8876-84E96FD634DB}"/>
              </a:ext>
            </a:extLst>
          </p:cNvPr>
          <p:cNvSpPr txBox="1"/>
          <p:nvPr/>
        </p:nvSpPr>
        <p:spPr>
          <a:xfrm>
            <a:off x="7913756" y="4782445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2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2FB0360-11FE-60D4-683A-70F2C00C754F}"/>
              </a:ext>
            </a:extLst>
          </p:cNvPr>
          <p:cNvSpPr txBox="1"/>
          <p:nvPr/>
        </p:nvSpPr>
        <p:spPr>
          <a:xfrm>
            <a:off x="8112130" y="4790608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3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823011A-98FA-E609-CEE3-D0C344CD8957}"/>
              </a:ext>
            </a:extLst>
          </p:cNvPr>
          <p:cNvSpPr txBox="1"/>
          <p:nvPr/>
        </p:nvSpPr>
        <p:spPr>
          <a:xfrm>
            <a:off x="8310505" y="4790608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4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D405297-21ED-4DE7-8A44-8E322E3E5D37}"/>
              </a:ext>
            </a:extLst>
          </p:cNvPr>
          <p:cNvSpPr txBox="1"/>
          <p:nvPr/>
        </p:nvSpPr>
        <p:spPr>
          <a:xfrm>
            <a:off x="8508879" y="4790608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5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5118200-5DEE-ECE3-38F9-BECB911A329F}"/>
              </a:ext>
            </a:extLst>
          </p:cNvPr>
          <p:cNvSpPr txBox="1"/>
          <p:nvPr/>
        </p:nvSpPr>
        <p:spPr>
          <a:xfrm>
            <a:off x="7432685" y="4578906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2C22DDE-DB66-9F92-0833-B6F76745CD3F}"/>
              </a:ext>
            </a:extLst>
          </p:cNvPr>
          <p:cNvSpPr txBox="1"/>
          <p:nvPr/>
        </p:nvSpPr>
        <p:spPr>
          <a:xfrm>
            <a:off x="7432685" y="4408498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4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0CEC09B-B1EC-60FA-D7AF-C96207B34845}"/>
              </a:ext>
            </a:extLst>
          </p:cNvPr>
          <p:cNvSpPr txBox="1"/>
          <p:nvPr/>
        </p:nvSpPr>
        <p:spPr>
          <a:xfrm>
            <a:off x="7432685" y="4238129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6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0C65FA9-8D22-F2D5-032B-4E6D19D79E31}"/>
              </a:ext>
            </a:extLst>
          </p:cNvPr>
          <p:cNvSpPr txBox="1"/>
          <p:nvPr/>
        </p:nvSpPr>
        <p:spPr>
          <a:xfrm>
            <a:off x="7432685" y="4065020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8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5E31C97-E633-1B75-C61E-3E27E4FA397E}"/>
              </a:ext>
            </a:extLst>
          </p:cNvPr>
          <p:cNvSpPr txBox="1"/>
          <p:nvPr/>
        </p:nvSpPr>
        <p:spPr>
          <a:xfrm>
            <a:off x="7432685" y="3894647"/>
            <a:ext cx="3314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10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1A5F7FA-9AE8-2888-27B2-B2770B3D1BD3}"/>
              </a:ext>
            </a:extLst>
          </p:cNvPr>
          <p:cNvCxnSpPr/>
          <p:nvPr/>
        </p:nvCxnSpPr>
        <p:spPr>
          <a:xfrm>
            <a:off x="7661795" y="4779848"/>
            <a:ext cx="1008690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CF84D778-82DC-3907-378E-1C503C3F8317}"/>
              </a:ext>
            </a:extLst>
          </p:cNvPr>
          <p:cNvSpPr txBox="1"/>
          <p:nvPr/>
        </p:nvSpPr>
        <p:spPr>
          <a:xfrm>
            <a:off x="7646212" y="4875551"/>
            <a:ext cx="1127722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738" dirty="0"/>
              <a:t>Movement Diversity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2E1716C-2718-94D2-2810-5246FBC1BD96}"/>
              </a:ext>
            </a:extLst>
          </p:cNvPr>
          <p:cNvCxnSpPr/>
          <p:nvPr/>
        </p:nvCxnSpPr>
        <p:spPr>
          <a:xfrm>
            <a:off x="7830854" y="3876346"/>
            <a:ext cx="0" cy="94584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5003CB0-1495-1963-3D2A-49BAA7C7DB94}"/>
              </a:ext>
            </a:extLst>
          </p:cNvPr>
          <p:cNvCxnSpPr/>
          <p:nvPr/>
        </p:nvCxnSpPr>
        <p:spPr>
          <a:xfrm>
            <a:off x="8020878" y="3876347"/>
            <a:ext cx="0" cy="945269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AC203BF-F50B-4D66-BE21-F69B1ABE029D}"/>
              </a:ext>
            </a:extLst>
          </p:cNvPr>
          <p:cNvCxnSpPr/>
          <p:nvPr/>
        </p:nvCxnSpPr>
        <p:spPr>
          <a:xfrm>
            <a:off x="8206410" y="3876347"/>
            <a:ext cx="0" cy="939333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1399BB0-3265-0FB4-5194-10571267B6CD}"/>
              </a:ext>
            </a:extLst>
          </p:cNvPr>
          <p:cNvCxnSpPr/>
          <p:nvPr/>
        </p:nvCxnSpPr>
        <p:spPr>
          <a:xfrm>
            <a:off x="8399267" y="3876346"/>
            <a:ext cx="0" cy="931638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D6CF4AD-F44F-DD8A-DA77-768643A19744}"/>
              </a:ext>
            </a:extLst>
          </p:cNvPr>
          <p:cNvCxnSpPr/>
          <p:nvPr/>
        </p:nvCxnSpPr>
        <p:spPr>
          <a:xfrm>
            <a:off x="8588459" y="3876346"/>
            <a:ext cx="0" cy="926969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FE11C6E1-B500-2475-A17D-274D44C6E88B}"/>
              </a:ext>
            </a:extLst>
          </p:cNvPr>
          <p:cNvCxnSpPr/>
          <p:nvPr/>
        </p:nvCxnSpPr>
        <p:spPr>
          <a:xfrm>
            <a:off x="7672709" y="4495634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A9C373E-1C5A-A895-563A-D124F19F2D5A}"/>
              </a:ext>
            </a:extLst>
          </p:cNvPr>
          <p:cNvCxnSpPr/>
          <p:nvPr/>
        </p:nvCxnSpPr>
        <p:spPr>
          <a:xfrm>
            <a:off x="7672709" y="4324976"/>
            <a:ext cx="1008690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BFFC09E8-07C1-7CAD-C6A7-88E57D1A73E2}"/>
              </a:ext>
            </a:extLst>
          </p:cNvPr>
          <p:cNvCxnSpPr/>
          <p:nvPr/>
        </p:nvCxnSpPr>
        <p:spPr>
          <a:xfrm>
            <a:off x="7672709" y="4155090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C7A46C3-DC2D-FD18-C16F-8705F18C63AE}"/>
              </a:ext>
            </a:extLst>
          </p:cNvPr>
          <p:cNvCxnSpPr/>
          <p:nvPr/>
        </p:nvCxnSpPr>
        <p:spPr>
          <a:xfrm>
            <a:off x="7672709" y="3984678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4D9B0F8-907C-0994-9AE4-649C05F18F84}"/>
              </a:ext>
            </a:extLst>
          </p:cNvPr>
          <p:cNvCxnSpPr/>
          <p:nvPr/>
        </p:nvCxnSpPr>
        <p:spPr>
          <a:xfrm>
            <a:off x="7735242" y="3889977"/>
            <a:ext cx="0" cy="931638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5466B01-C391-5F05-E301-20CD55FE0A83}"/>
              </a:ext>
            </a:extLst>
          </p:cNvPr>
          <p:cNvSpPr txBox="1"/>
          <p:nvPr/>
        </p:nvSpPr>
        <p:spPr>
          <a:xfrm>
            <a:off x="7425871" y="4682620"/>
            <a:ext cx="347386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0.2</a:t>
            </a:r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5BAF491E-8068-1C2D-5890-8B0EB289CCAD}"/>
              </a:ext>
            </a:extLst>
          </p:cNvPr>
          <p:cNvSpPr/>
          <p:nvPr/>
        </p:nvSpPr>
        <p:spPr>
          <a:xfrm>
            <a:off x="8373498" y="4388526"/>
            <a:ext cx="51537" cy="55180"/>
          </a:xfrm>
          <a:prstGeom prst="flowChartConnector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53" name="Isosceles Triangle 152">
            <a:extLst>
              <a:ext uri="{FF2B5EF4-FFF2-40B4-BE49-F238E27FC236}">
                <a16:creationId xmlns:a16="http://schemas.microsoft.com/office/drawing/2014/main" id="{78ED280A-B532-22E8-C455-099171088997}"/>
              </a:ext>
            </a:extLst>
          </p:cNvPr>
          <p:cNvSpPr/>
          <p:nvPr/>
        </p:nvSpPr>
        <p:spPr>
          <a:xfrm>
            <a:off x="8362854" y="4195401"/>
            <a:ext cx="68093" cy="42202"/>
          </a:xfrm>
          <a:prstGeom prst="triangle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54" name="5-Point Star 412">
            <a:extLst>
              <a:ext uri="{FF2B5EF4-FFF2-40B4-BE49-F238E27FC236}">
                <a16:creationId xmlns:a16="http://schemas.microsoft.com/office/drawing/2014/main" id="{C7A2A3CC-48AF-5C88-228B-D586BF8FD939}"/>
              </a:ext>
            </a:extLst>
          </p:cNvPr>
          <p:cNvSpPr/>
          <p:nvPr/>
        </p:nvSpPr>
        <p:spPr>
          <a:xfrm>
            <a:off x="8376407" y="4170216"/>
            <a:ext cx="45720" cy="42202"/>
          </a:xfrm>
          <a:prstGeom prst="star5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55" name="Flowchart: Collate 154">
            <a:extLst>
              <a:ext uri="{FF2B5EF4-FFF2-40B4-BE49-F238E27FC236}">
                <a16:creationId xmlns:a16="http://schemas.microsoft.com/office/drawing/2014/main" id="{E31200FD-6E4E-E493-E492-BE2A99A7EAA7}"/>
              </a:ext>
            </a:extLst>
          </p:cNvPr>
          <p:cNvSpPr/>
          <p:nvPr/>
        </p:nvSpPr>
        <p:spPr>
          <a:xfrm>
            <a:off x="8172048" y="4225505"/>
            <a:ext cx="66588" cy="44414"/>
          </a:xfrm>
          <a:prstGeom prst="flowChartCollate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56" name="Diamond 155">
            <a:extLst>
              <a:ext uri="{FF2B5EF4-FFF2-40B4-BE49-F238E27FC236}">
                <a16:creationId xmlns:a16="http://schemas.microsoft.com/office/drawing/2014/main" id="{EB4312D5-CB8D-0B40-7C6A-94C6BCDD2145}"/>
              </a:ext>
            </a:extLst>
          </p:cNvPr>
          <p:cNvSpPr/>
          <p:nvPr/>
        </p:nvSpPr>
        <p:spPr>
          <a:xfrm>
            <a:off x="8180930" y="4170215"/>
            <a:ext cx="54733" cy="51159"/>
          </a:xfrm>
          <a:prstGeom prst="diamond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AFF76553-06F2-DEE0-7B70-510221906CE6}"/>
              </a:ext>
            </a:extLst>
          </p:cNvPr>
          <p:cNvCxnSpPr/>
          <p:nvPr/>
        </p:nvCxnSpPr>
        <p:spPr>
          <a:xfrm>
            <a:off x="7696626" y="6014962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F8598137-05E4-45CD-79AE-B91F309193A9}"/>
              </a:ext>
            </a:extLst>
          </p:cNvPr>
          <p:cNvSpPr txBox="1"/>
          <p:nvPr/>
        </p:nvSpPr>
        <p:spPr>
          <a:xfrm rot="16200000">
            <a:off x="6896466" y="5645316"/>
            <a:ext cx="1084077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738" dirty="0"/>
              <a:t>Movement Intensity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960AB3FE-BADD-2F27-2213-9EAF8746A945}"/>
              </a:ext>
            </a:extLst>
          </p:cNvPr>
          <p:cNvCxnSpPr/>
          <p:nvPr/>
        </p:nvCxnSpPr>
        <p:spPr>
          <a:xfrm>
            <a:off x="7700228" y="5224391"/>
            <a:ext cx="0" cy="9601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FE26045-4D09-3CC7-45F9-BC7D794FFAC4}"/>
              </a:ext>
            </a:extLst>
          </p:cNvPr>
          <p:cNvCxnSpPr/>
          <p:nvPr/>
        </p:nvCxnSpPr>
        <p:spPr>
          <a:xfrm>
            <a:off x="7700228" y="6170231"/>
            <a:ext cx="10178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2FE6EDE-5B9B-860B-3D49-F7AFB007C95A}"/>
              </a:ext>
            </a:extLst>
          </p:cNvPr>
          <p:cNvCxnSpPr/>
          <p:nvPr/>
        </p:nvCxnSpPr>
        <p:spPr>
          <a:xfrm>
            <a:off x="7700228" y="6013951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7A483D8-9E7E-46FD-07D6-7A8BCC2C417D}"/>
              </a:ext>
            </a:extLst>
          </p:cNvPr>
          <p:cNvCxnSpPr/>
          <p:nvPr/>
        </p:nvCxnSpPr>
        <p:spPr>
          <a:xfrm>
            <a:off x="7700228" y="5843679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32F2338B-93FE-5646-3A94-3C6B1210EB36}"/>
              </a:ext>
            </a:extLst>
          </p:cNvPr>
          <p:cNvCxnSpPr/>
          <p:nvPr/>
        </p:nvCxnSpPr>
        <p:spPr>
          <a:xfrm>
            <a:off x="7700228" y="5673406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7F3AABB-FEB7-235B-4C3F-39817650BA88}"/>
              </a:ext>
            </a:extLst>
          </p:cNvPr>
          <p:cNvCxnSpPr/>
          <p:nvPr/>
        </p:nvCxnSpPr>
        <p:spPr>
          <a:xfrm>
            <a:off x="7700228" y="5503135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FCF29F6-F224-71A1-60D0-2E1C14C1045A}"/>
              </a:ext>
            </a:extLst>
          </p:cNvPr>
          <p:cNvCxnSpPr/>
          <p:nvPr/>
        </p:nvCxnSpPr>
        <p:spPr>
          <a:xfrm>
            <a:off x="7697083" y="5332863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7A80EF3-D440-2665-BA0A-9074B8E049A7}"/>
              </a:ext>
            </a:extLst>
          </p:cNvPr>
          <p:cNvCxnSpPr/>
          <p:nvPr/>
        </p:nvCxnSpPr>
        <p:spPr>
          <a:xfrm>
            <a:off x="7866516" y="6096200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EFF5523-4578-2383-4880-D03E217DB820}"/>
              </a:ext>
            </a:extLst>
          </p:cNvPr>
          <p:cNvCxnSpPr/>
          <p:nvPr/>
        </p:nvCxnSpPr>
        <p:spPr>
          <a:xfrm>
            <a:off x="8055709" y="6096200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7A29D49-6794-4D9D-8E23-67309705BD01}"/>
              </a:ext>
            </a:extLst>
          </p:cNvPr>
          <p:cNvCxnSpPr/>
          <p:nvPr/>
        </p:nvCxnSpPr>
        <p:spPr>
          <a:xfrm>
            <a:off x="8244904" y="6096200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3B98A0-8FDB-D64C-65E0-33EA8AA6C89D}"/>
              </a:ext>
            </a:extLst>
          </p:cNvPr>
          <p:cNvCxnSpPr/>
          <p:nvPr/>
        </p:nvCxnSpPr>
        <p:spPr>
          <a:xfrm>
            <a:off x="8434098" y="6096200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A4D37D6F-784E-5341-8F2B-07D8BEE7804E}"/>
              </a:ext>
            </a:extLst>
          </p:cNvPr>
          <p:cNvCxnSpPr/>
          <p:nvPr/>
        </p:nvCxnSpPr>
        <p:spPr>
          <a:xfrm>
            <a:off x="8623290" y="6096200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8AA7B90D-6774-8280-94D4-FE68F282AFD4}"/>
              </a:ext>
            </a:extLst>
          </p:cNvPr>
          <p:cNvSpPr txBox="1"/>
          <p:nvPr/>
        </p:nvSpPr>
        <p:spPr>
          <a:xfrm>
            <a:off x="7750212" y="6130490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1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8D794EB-F67B-A597-CAC3-2D9D31FE2B9F}"/>
              </a:ext>
            </a:extLst>
          </p:cNvPr>
          <p:cNvSpPr txBox="1"/>
          <p:nvPr/>
        </p:nvSpPr>
        <p:spPr>
          <a:xfrm>
            <a:off x="7948587" y="6130490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2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C17AA89-319F-25E6-4FB1-74B5808CE51C}"/>
              </a:ext>
            </a:extLst>
          </p:cNvPr>
          <p:cNvSpPr txBox="1"/>
          <p:nvPr/>
        </p:nvSpPr>
        <p:spPr>
          <a:xfrm>
            <a:off x="8146962" y="6138653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3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AD24B68-9388-FCC5-30F1-86FA383DA788}"/>
              </a:ext>
            </a:extLst>
          </p:cNvPr>
          <p:cNvSpPr txBox="1"/>
          <p:nvPr/>
        </p:nvSpPr>
        <p:spPr>
          <a:xfrm>
            <a:off x="8345337" y="6138653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4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80813D1-5EB6-CBE6-02BC-E8D9F1EBBCB7}"/>
              </a:ext>
            </a:extLst>
          </p:cNvPr>
          <p:cNvSpPr txBox="1"/>
          <p:nvPr/>
        </p:nvSpPr>
        <p:spPr>
          <a:xfrm>
            <a:off x="8543710" y="6138653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5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D313EF3-0652-0078-D469-D9F38F5D8398}"/>
              </a:ext>
            </a:extLst>
          </p:cNvPr>
          <p:cNvSpPr txBox="1"/>
          <p:nvPr/>
        </p:nvSpPr>
        <p:spPr>
          <a:xfrm>
            <a:off x="7467516" y="5926951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E74D4E1-AA27-0661-7D73-E731AE1D8E48}"/>
              </a:ext>
            </a:extLst>
          </p:cNvPr>
          <p:cNvSpPr txBox="1"/>
          <p:nvPr/>
        </p:nvSpPr>
        <p:spPr>
          <a:xfrm>
            <a:off x="7467516" y="5756543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4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6461D82-3285-FB56-A974-270C0DC141FB}"/>
              </a:ext>
            </a:extLst>
          </p:cNvPr>
          <p:cNvSpPr txBox="1"/>
          <p:nvPr/>
        </p:nvSpPr>
        <p:spPr>
          <a:xfrm>
            <a:off x="7467516" y="5586174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6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EBCA496-72F2-1502-B9BE-45D2E5906163}"/>
              </a:ext>
            </a:extLst>
          </p:cNvPr>
          <p:cNvSpPr txBox="1"/>
          <p:nvPr/>
        </p:nvSpPr>
        <p:spPr>
          <a:xfrm>
            <a:off x="7467516" y="5413065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8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F75640E-A619-3D73-754E-A96032DEFBC2}"/>
              </a:ext>
            </a:extLst>
          </p:cNvPr>
          <p:cNvSpPr txBox="1"/>
          <p:nvPr/>
        </p:nvSpPr>
        <p:spPr>
          <a:xfrm>
            <a:off x="7459408" y="5246259"/>
            <a:ext cx="3314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10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EB39D18D-CB62-BBB8-E2BC-D998EEFDBA9B}"/>
              </a:ext>
            </a:extLst>
          </p:cNvPr>
          <p:cNvCxnSpPr/>
          <p:nvPr/>
        </p:nvCxnSpPr>
        <p:spPr>
          <a:xfrm>
            <a:off x="7696626" y="6127893"/>
            <a:ext cx="1008690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93A90834-E6DD-86D7-4EDC-CA34A1EF2EC6}"/>
              </a:ext>
            </a:extLst>
          </p:cNvPr>
          <p:cNvSpPr txBox="1"/>
          <p:nvPr/>
        </p:nvSpPr>
        <p:spPr>
          <a:xfrm>
            <a:off x="7617344" y="6231287"/>
            <a:ext cx="1127722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738" dirty="0"/>
              <a:t>Movement Diversity</a:t>
            </a: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03FC6D0-B996-4BE7-3650-82E11320C5EF}"/>
              </a:ext>
            </a:extLst>
          </p:cNvPr>
          <p:cNvCxnSpPr/>
          <p:nvPr/>
        </p:nvCxnSpPr>
        <p:spPr>
          <a:xfrm>
            <a:off x="7865686" y="5224391"/>
            <a:ext cx="0" cy="94584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F75CC80F-D331-11A8-26F1-CB000625F23B}"/>
              </a:ext>
            </a:extLst>
          </p:cNvPr>
          <p:cNvCxnSpPr/>
          <p:nvPr/>
        </p:nvCxnSpPr>
        <p:spPr>
          <a:xfrm>
            <a:off x="8055709" y="5224392"/>
            <a:ext cx="0" cy="945269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CE22FC79-FD26-493F-AD2D-227B79A6FB63}"/>
              </a:ext>
            </a:extLst>
          </p:cNvPr>
          <p:cNvCxnSpPr/>
          <p:nvPr/>
        </p:nvCxnSpPr>
        <p:spPr>
          <a:xfrm>
            <a:off x="8241241" y="5224392"/>
            <a:ext cx="0" cy="939333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01A552DC-4ED2-21FB-439C-6E9DCC044359}"/>
              </a:ext>
            </a:extLst>
          </p:cNvPr>
          <p:cNvCxnSpPr/>
          <p:nvPr/>
        </p:nvCxnSpPr>
        <p:spPr>
          <a:xfrm>
            <a:off x="8434098" y="5224391"/>
            <a:ext cx="0" cy="931638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90B098C5-2F22-0630-715E-6D162A47025B}"/>
              </a:ext>
            </a:extLst>
          </p:cNvPr>
          <p:cNvCxnSpPr/>
          <p:nvPr/>
        </p:nvCxnSpPr>
        <p:spPr>
          <a:xfrm>
            <a:off x="8623290" y="5224391"/>
            <a:ext cx="0" cy="926969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5002B06-1373-2AC8-BD7B-12DC3C1B2F17}"/>
              </a:ext>
            </a:extLst>
          </p:cNvPr>
          <p:cNvCxnSpPr/>
          <p:nvPr/>
        </p:nvCxnSpPr>
        <p:spPr>
          <a:xfrm>
            <a:off x="7707541" y="5843679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BC4A8BB9-F8B0-1F88-03FB-CCCA22470278}"/>
              </a:ext>
            </a:extLst>
          </p:cNvPr>
          <p:cNvCxnSpPr/>
          <p:nvPr/>
        </p:nvCxnSpPr>
        <p:spPr>
          <a:xfrm>
            <a:off x="7707541" y="5673021"/>
            <a:ext cx="1008690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66A25920-5AE1-1425-FB62-92E3CC8D247C}"/>
              </a:ext>
            </a:extLst>
          </p:cNvPr>
          <p:cNvCxnSpPr/>
          <p:nvPr/>
        </p:nvCxnSpPr>
        <p:spPr>
          <a:xfrm>
            <a:off x="7707541" y="5503135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773EAE21-5425-CBDD-FF94-224041F5C30A}"/>
              </a:ext>
            </a:extLst>
          </p:cNvPr>
          <p:cNvCxnSpPr/>
          <p:nvPr/>
        </p:nvCxnSpPr>
        <p:spPr>
          <a:xfrm>
            <a:off x="7717711" y="5332723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75F0348-08F9-6D95-465C-625185F7982A}"/>
              </a:ext>
            </a:extLst>
          </p:cNvPr>
          <p:cNvCxnSpPr/>
          <p:nvPr/>
        </p:nvCxnSpPr>
        <p:spPr>
          <a:xfrm>
            <a:off x="7770073" y="5238022"/>
            <a:ext cx="0" cy="931638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C7B1424C-7A58-69DA-BDFC-111768CD3E27}"/>
              </a:ext>
            </a:extLst>
          </p:cNvPr>
          <p:cNvSpPr txBox="1"/>
          <p:nvPr/>
        </p:nvSpPr>
        <p:spPr>
          <a:xfrm>
            <a:off x="7460702" y="6012496"/>
            <a:ext cx="347386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0.2</a:t>
            </a:r>
          </a:p>
        </p:txBody>
      </p:sp>
      <p:sp>
        <p:nvSpPr>
          <p:cNvPr id="194" name="Flowchart: Connector 193">
            <a:extLst>
              <a:ext uri="{FF2B5EF4-FFF2-40B4-BE49-F238E27FC236}">
                <a16:creationId xmlns:a16="http://schemas.microsoft.com/office/drawing/2014/main" id="{24EBF538-9B10-D558-2050-7A879A078435}"/>
              </a:ext>
            </a:extLst>
          </p:cNvPr>
          <p:cNvSpPr/>
          <p:nvPr/>
        </p:nvSpPr>
        <p:spPr>
          <a:xfrm>
            <a:off x="8033110" y="5991169"/>
            <a:ext cx="51537" cy="55180"/>
          </a:xfrm>
          <a:prstGeom prst="flowChartConnector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95" name="Isosceles Triangle 194">
            <a:extLst>
              <a:ext uri="{FF2B5EF4-FFF2-40B4-BE49-F238E27FC236}">
                <a16:creationId xmlns:a16="http://schemas.microsoft.com/office/drawing/2014/main" id="{FAF04F76-2789-9A3D-90F2-805E98C25C7B}"/>
              </a:ext>
            </a:extLst>
          </p:cNvPr>
          <p:cNvSpPr/>
          <p:nvPr/>
        </p:nvSpPr>
        <p:spPr>
          <a:xfrm>
            <a:off x="8023523" y="5723268"/>
            <a:ext cx="68093" cy="42202"/>
          </a:xfrm>
          <a:prstGeom prst="triangle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96" name="5-Point Star 499">
            <a:extLst>
              <a:ext uri="{FF2B5EF4-FFF2-40B4-BE49-F238E27FC236}">
                <a16:creationId xmlns:a16="http://schemas.microsoft.com/office/drawing/2014/main" id="{B4F7D509-E5D0-0096-A447-2A1CB5C50796}"/>
              </a:ext>
            </a:extLst>
          </p:cNvPr>
          <p:cNvSpPr/>
          <p:nvPr/>
        </p:nvSpPr>
        <p:spPr>
          <a:xfrm>
            <a:off x="8033879" y="5856206"/>
            <a:ext cx="45720" cy="42202"/>
          </a:xfrm>
          <a:prstGeom prst="star5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97" name="Flowchart: Collate 196">
            <a:extLst>
              <a:ext uri="{FF2B5EF4-FFF2-40B4-BE49-F238E27FC236}">
                <a16:creationId xmlns:a16="http://schemas.microsoft.com/office/drawing/2014/main" id="{E641E4A0-DF7D-9134-0D15-974C6D64664D}"/>
              </a:ext>
            </a:extLst>
          </p:cNvPr>
          <p:cNvSpPr/>
          <p:nvPr/>
        </p:nvSpPr>
        <p:spPr>
          <a:xfrm>
            <a:off x="7834670" y="6129072"/>
            <a:ext cx="66588" cy="44414"/>
          </a:xfrm>
          <a:prstGeom prst="flowChartCollate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98" name="Diamond 197">
            <a:extLst>
              <a:ext uri="{FF2B5EF4-FFF2-40B4-BE49-F238E27FC236}">
                <a16:creationId xmlns:a16="http://schemas.microsoft.com/office/drawing/2014/main" id="{39EB62A6-ED3E-9B38-6BAB-BB7175A02CAA}"/>
              </a:ext>
            </a:extLst>
          </p:cNvPr>
          <p:cNvSpPr/>
          <p:nvPr/>
        </p:nvSpPr>
        <p:spPr>
          <a:xfrm>
            <a:off x="7844668" y="6072765"/>
            <a:ext cx="54733" cy="51159"/>
          </a:xfrm>
          <a:prstGeom prst="diamond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5F094BE1-55AB-9F14-8C17-C239DB005099}"/>
              </a:ext>
            </a:extLst>
          </p:cNvPr>
          <p:cNvSpPr/>
          <p:nvPr/>
        </p:nvSpPr>
        <p:spPr>
          <a:xfrm>
            <a:off x="2887612" y="1736308"/>
            <a:ext cx="228705" cy="1198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9B10B6D3-170F-F1FC-C906-074B005EE288}"/>
              </a:ext>
            </a:extLst>
          </p:cNvPr>
          <p:cNvSpPr/>
          <p:nvPr/>
        </p:nvSpPr>
        <p:spPr>
          <a:xfrm rot="1917970">
            <a:off x="6230731" y="1620711"/>
            <a:ext cx="276918" cy="14706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197BBB94-ACE8-918B-57D1-EDC9A460E966}"/>
              </a:ext>
            </a:extLst>
          </p:cNvPr>
          <p:cNvSpPr/>
          <p:nvPr/>
        </p:nvSpPr>
        <p:spPr>
          <a:xfrm rot="542560">
            <a:off x="6746572" y="1821111"/>
            <a:ext cx="276918" cy="1487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54B6F19-0EB9-8AC9-B644-9F146933D91A}"/>
              </a:ext>
            </a:extLst>
          </p:cNvPr>
          <p:cNvSpPr/>
          <p:nvPr/>
        </p:nvSpPr>
        <p:spPr>
          <a:xfrm rot="21342335">
            <a:off x="1358747" y="2865115"/>
            <a:ext cx="276918" cy="14706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4471CE59-F730-0645-7260-F7AB0B23A73E}"/>
              </a:ext>
            </a:extLst>
          </p:cNvPr>
          <p:cNvSpPr/>
          <p:nvPr/>
        </p:nvSpPr>
        <p:spPr>
          <a:xfrm rot="4310929">
            <a:off x="1800862" y="3051476"/>
            <a:ext cx="276918" cy="14706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A31FC346-64E6-B2DE-2535-C58C2B793285}"/>
              </a:ext>
            </a:extLst>
          </p:cNvPr>
          <p:cNvSpPr/>
          <p:nvPr/>
        </p:nvSpPr>
        <p:spPr>
          <a:xfrm rot="974106">
            <a:off x="3135822" y="2996887"/>
            <a:ext cx="270498" cy="12166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8BC554D8-84C0-5181-A4F9-AB7523F484F2}"/>
              </a:ext>
            </a:extLst>
          </p:cNvPr>
          <p:cNvSpPr/>
          <p:nvPr/>
        </p:nvSpPr>
        <p:spPr>
          <a:xfrm rot="1805035">
            <a:off x="3882262" y="2817842"/>
            <a:ext cx="270498" cy="12166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613599AC-CDF5-E0B1-B545-55237A3D17E8}"/>
              </a:ext>
            </a:extLst>
          </p:cNvPr>
          <p:cNvSpPr/>
          <p:nvPr/>
        </p:nvSpPr>
        <p:spPr>
          <a:xfrm rot="292262">
            <a:off x="4429678" y="2981206"/>
            <a:ext cx="270498" cy="12166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A273D949-D283-5CEE-38DA-C06D424D0B4C}"/>
              </a:ext>
            </a:extLst>
          </p:cNvPr>
          <p:cNvSpPr/>
          <p:nvPr/>
        </p:nvSpPr>
        <p:spPr>
          <a:xfrm rot="2867615">
            <a:off x="4217819" y="3215939"/>
            <a:ext cx="270498" cy="12166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682ECFC2-A5DB-5764-22E7-7DF98C2E1D98}"/>
              </a:ext>
            </a:extLst>
          </p:cNvPr>
          <p:cNvSpPr/>
          <p:nvPr/>
        </p:nvSpPr>
        <p:spPr>
          <a:xfrm>
            <a:off x="6539787" y="3124972"/>
            <a:ext cx="146665" cy="2692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1FE92A0E-E083-5009-83F5-F338DB5C2A61}"/>
              </a:ext>
            </a:extLst>
          </p:cNvPr>
          <p:cNvSpPr/>
          <p:nvPr/>
        </p:nvSpPr>
        <p:spPr>
          <a:xfrm>
            <a:off x="4198294" y="4074112"/>
            <a:ext cx="186274" cy="2614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E185DE85-D8AA-12E8-BE4B-074AD771B709}"/>
              </a:ext>
            </a:extLst>
          </p:cNvPr>
          <p:cNvSpPr/>
          <p:nvPr/>
        </p:nvSpPr>
        <p:spPr>
          <a:xfrm>
            <a:off x="4112035" y="4223907"/>
            <a:ext cx="186274" cy="2614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92406DCE-9BBC-D177-8EE6-B45E4853017A}"/>
              </a:ext>
            </a:extLst>
          </p:cNvPr>
          <p:cNvSpPr/>
          <p:nvPr/>
        </p:nvSpPr>
        <p:spPr>
          <a:xfrm>
            <a:off x="4260238" y="4270842"/>
            <a:ext cx="186274" cy="2614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A24212F4-6337-D8A8-5C47-8E8140C49AC6}"/>
              </a:ext>
            </a:extLst>
          </p:cNvPr>
          <p:cNvSpPr/>
          <p:nvPr/>
        </p:nvSpPr>
        <p:spPr>
          <a:xfrm>
            <a:off x="4277744" y="4388525"/>
            <a:ext cx="309222" cy="20846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FF2DCAC3-727E-7039-80E9-15B2503F1682}"/>
              </a:ext>
            </a:extLst>
          </p:cNvPr>
          <p:cNvSpPr/>
          <p:nvPr/>
        </p:nvSpPr>
        <p:spPr>
          <a:xfrm>
            <a:off x="5283507" y="4168529"/>
            <a:ext cx="186274" cy="2614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70F4FA1E-B078-3212-1763-17763A3D1383}"/>
              </a:ext>
            </a:extLst>
          </p:cNvPr>
          <p:cNvSpPr/>
          <p:nvPr/>
        </p:nvSpPr>
        <p:spPr>
          <a:xfrm>
            <a:off x="5345451" y="4365259"/>
            <a:ext cx="186274" cy="2614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D5B18266-690E-D527-E9D0-6A778991DFFC}"/>
              </a:ext>
            </a:extLst>
          </p:cNvPr>
          <p:cNvSpPr/>
          <p:nvPr/>
        </p:nvSpPr>
        <p:spPr>
          <a:xfrm>
            <a:off x="5407616" y="4059574"/>
            <a:ext cx="186274" cy="2614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D49CEE1D-ECC0-FAD2-8DF2-CA868DD0534B}"/>
              </a:ext>
            </a:extLst>
          </p:cNvPr>
          <p:cNvSpPr/>
          <p:nvPr/>
        </p:nvSpPr>
        <p:spPr>
          <a:xfrm>
            <a:off x="6386656" y="4199828"/>
            <a:ext cx="186274" cy="2614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05758893-327A-08F0-0C07-79B8C5C50AB2}"/>
              </a:ext>
            </a:extLst>
          </p:cNvPr>
          <p:cNvSpPr/>
          <p:nvPr/>
        </p:nvSpPr>
        <p:spPr>
          <a:xfrm>
            <a:off x="6448600" y="4396558"/>
            <a:ext cx="186274" cy="2614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0C3F4F12-E064-FF62-C599-C27F42A96299}"/>
              </a:ext>
            </a:extLst>
          </p:cNvPr>
          <p:cNvSpPr/>
          <p:nvPr/>
        </p:nvSpPr>
        <p:spPr>
          <a:xfrm>
            <a:off x="6510765" y="4090872"/>
            <a:ext cx="186274" cy="2614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E46D27CA-58B4-449A-4736-A5B738B04AFD}"/>
              </a:ext>
            </a:extLst>
          </p:cNvPr>
          <p:cNvSpPr/>
          <p:nvPr/>
        </p:nvSpPr>
        <p:spPr>
          <a:xfrm rot="642057">
            <a:off x="1343974" y="5503551"/>
            <a:ext cx="315509" cy="1613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9D9AC81-79EA-80C5-69A7-D3D31B868B25}"/>
              </a:ext>
            </a:extLst>
          </p:cNvPr>
          <p:cNvSpPr/>
          <p:nvPr/>
        </p:nvSpPr>
        <p:spPr>
          <a:xfrm rot="642057">
            <a:off x="1790659" y="5567600"/>
            <a:ext cx="315509" cy="16139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1F0D1744-D252-DD55-8EA9-09108EB4EE88}"/>
              </a:ext>
            </a:extLst>
          </p:cNvPr>
          <p:cNvSpPr/>
          <p:nvPr/>
        </p:nvSpPr>
        <p:spPr>
          <a:xfrm>
            <a:off x="2911865" y="5560709"/>
            <a:ext cx="201509" cy="29679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F45A89DC-DE23-FA35-3F88-35502038BC4A}"/>
              </a:ext>
            </a:extLst>
          </p:cNvPr>
          <p:cNvSpPr/>
          <p:nvPr/>
        </p:nvSpPr>
        <p:spPr>
          <a:xfrm>
            <a:off x="3958352" y="5436226"/>
            <a:ext cx="130471" cy="2407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833B8522-09FF-3359-CFA1-E8EA7FDC13B3}"/>
              </a:ext>
            </a:extLst>
          </p:cNvPr>
          <p:cNvSpPr/>
          <p:nvPr/>
        </p:nvSpPr>
        <p:spPr>
          <a:xfrm>
            <a:off x="4174169" y="5543117"/>
            <a:ext cx="117158" cy="21342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B98EC9E3-CBBE-A895-4AAA-6DCB1D48288A}"/>
              </a:ext>
            </a:extLst>
          </p:cNvPr>
          <p:cNvCxnSpPr/>
          <p:nvPr/>
        </p:nvCxnSpPr>
        <p:spPr>
          <a:xfrm>
            <a:off x="7650436" y="2080872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8E88D437-A11C-37E2-5901-40462FA58095}"/>
              </a:ext>
            </a:extLst>
          </p:cNvPr>
          <p:cNvSpPr txBox="1"/>
          <p:nvPr/>
        </p:nvSpPr>
        <p:spPr>
          <a:xfrm rot="16200000">
            <a:off x="6889013" y="1695605"/>
            <a:ext cx="1084077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738" dirty="0"/>
              <a:t>Movement Intensity</a:t>
            </a:r>
          </a:p>
        </p:txBody>
      </p: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D0E71B75-42E7-EB3B-B47E-D21EBD0525B9}"/>
              </a:ext>
            </a:extLst>
          </p:cNvPr>
          <p:cNvCxnSpPr/>
          <p:nvPr/>
        </p:nvCxnSpPr>
        <p:spPr>
          <a:xfrm>
            <a:off x="7654037" y="1290301"/>
            <a:ext cx="0" cy="9601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50CEB17B-A63C-E8BE-3F50-25EAD11FA93E}"/>
              </a:ext>
            </a:extLst>
          </p:cNvPr>
          <p:cNvCxnSpPr/>
          <p:nvPr/>
        </p:nvCxnSpPr>
        <p:spPr>
          <a:xfrm>
            <a:off x="7654038" y="2236141"/>
            <a:ext cx="10178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4A9D952F-3A60-546E-5732-5BE2957BE6BC}"/>
              </a:ext>
            </a:extLst>
          </p:cNvPr>
          <p:cNvCxnSpPr/>
          <p:nvPr/>
        </p:nvCxnSpPr>
        <p:spPr>
          <a:xfrm>
            <a:off x="7654037" y="2079861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C4B163D-5B13-A2B0-E2F9-87D8F3EB1B94}"/>
              </a:ext>
            </a:extLst>
          </p:cNvPr>
          <p:cNvCxnSpPr/>
          <p:nvPr/>
        </p:nvCxnSpPr>
        <p:spPr>
          <a:xfrm>
            <a:off x="7654037" y="1909589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B4E70606-D5F9-8BCE-CB1D-097139B5222A}"/>
              </a:ext>
            </a:extLst>
          </p:cNvPr>
          <p:cNvCxnSpPr/>
          <p:nvPr/>
        </p:nvCxnSpPr>
        <p:spPr>
          <a:xfrm>
            <a:off x="7654037" y="1739316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E1F0EF91-0EBD-8684-8EC7-FC0A241A1980}"/>
              </a:ext>
            </a:extLst>
          </p:cNvPr>
          <p:cNvCxnSpPr/>
          <p:nvPr/>
        </p:nvCxnSpPr>
        <p:spPr>
          <a:xfrm>
            <a:off x="7654037" y="1569045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3365790-F701-889F-069F-19CDB5FA6CA7}"/>
              </a:ext>
            </a:extLst>
          </p:cNvPr>
          <p:cNvCxnSpPr/>
          <p:nvPr/>
        </p:nvCxnSpPr>
        <p:spPr>
          <a:xfrm>
            <a:off x="7654037" y="1398773"/>
            <a:ext cx="655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99454CE0-5A98-6A5D-54C3-66FCE19941D2}"/>
              </a:ext>
            </a:extLst>
          </p:cNvPr>
          <p:cNvCxnSpPr/>
          <p:nvPr/>
        </p:nvCxnSpPr>
        <p:spPr>
          <a:xfrm>
            <a:off x="7820325" y="2162109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75F6518-0043-1034-1E7C-9E934ED7AA11}"/>
              </a:ext>
            </a:extLst>
          </p:cNvPr>
          <p:cNvCxnSpPr/>
          <p:nvPr/>
        </p:nvCxnSpPr>
        <p:spPr>
          <a:xfrm>
            <a:off x="8009519" y="2162109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FEF31A32-BA57-5EDA-BF42-6EDC27C6B2AA}"/>
              </a:ext>
            </a:extLst>
          </p:cNvPr>
          <p:cNvCxnSpPr/>
          <p:nvPr/>
        </p:nvCxnSpPr>
        <p:spPr>
          <a:xfrm>
            <a:off x="8198713" y="2162109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4B758C2-C535-755D-1E7D-6C73B3E33B7E}"/>
              </a:ext>
            </a:extLst>
          </p:cNvPr>
          <p:cNvCxnSpPr/>
          <p:nvPr/>
        </p:nvCxnSpPr>
        <p:spPr>
          <a:xfrm>
            <a:off x="8387907" y="2162109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1E3E2A82-9131-C6F1-9808-3535961B388A}"/>
              </a:ext>
            </a:extLst>
          </p:cNvPr>
          <p:cNvCxnSpPr/>
          <p:nvPr/>
        </p:nvCxnSpPr>
        <p:spPr>
          <a:xfrm>
            <a:off x="8577099" y="2162109"/>
            <a:ext cx="0" cy="675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17716263-B9E9-A495-64BE-5723956249D9}"/>
              </a:ext>
            </a:extLst>
          </p:cNvPr>
          <p:cNvSpPr txBox="1"/>
          <p:nvPr/>
        </p:nvSpPr>
        <p:spPr>
          <a:xfrm>
            <a:off x="7704021" y="2196400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1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DDBEE78-733A-46F2-7822-5323D90DC78C}"/>
              </a:ext>
            </a:extLst>
          </p:cNvPr>
          <p:cNvSpPr txBox="1"/>
          <p:nvPr/>
        </p:nvSpPr>
        <p:spPr>
          <a:xfrm>
            <a:off x="7930984" y="2196400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2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4B26A54C-2716-1B67-F840-4CDBEAAC3E63}"/>
              </a:ext>
            </a:extLst>
          </p:cNvPr>
          <p:cNvSpPr txBox="1"/>
          <p:nvPr/>
        </p:nvSpPr>
        <p:spPr>
          <a:xfrm>
            <a:off x="8100771" y="2204563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3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AAC91B2-FBB8-9CFF-6B50-3A47B21DDFA6}"/>
              </a:ext>
            </a:extLst>
          </p:cNvPr>
          <p:cNvSpPr txBox="1"/>
          <p:nvPr/>
        </p:nvSpPr>
        <p:spPr>
          <a:xfrm>
            <a:off x="8299146" y="2204563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4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3D17F8A-3ADD-664F-D1CF-D33572EF77C1}"/>
              </a:ext>
            </a:extLst>
          </p:cNvPr>
          <p:cNvSpPr txBox="1"/>
          <p:nvPr/>
        </p:nvSpPr>
        <p:spPr>
          <a:xfrm>
            <a:off x="8497520" y="2204563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5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C58654F9-0FDC-1EF6-B048-43D20F8AB1A0}"/>
              </a:ext>
            </a:extLst>
          </p:cNvPr>
          <p:cNvSpPr txBox="1"/>
          <p:nvPr/>
        </p:nvSpPr>
        <p:spPr>
          <a:xfrm>
            <a:off x="7421325" y="1992861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2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5418F203-5D46-95C9-E774-5108B2031B9C}"/>
              </a:ext>
            </a:extLst>
          </p:cNvPr>
          <p:cNvSpPr txBox="1"/>
          <p:nvPr/>
        </p:nvSpPr>
        <p:spPr>
          <a:xfrm>
            <a:off x="7421325" y="1822452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4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FF0E267-8888-A804-DDFF-E461B703E2C3}"/>
              </a:ext>
            </a:extLst>
          </p:cNvPr>
          <p:cNvSpPr txBox="1"/>
          <p:nvPr/>
        </p:nvSpPr>
        <p:spPr>
          <a:xfrm>
            <a:off x="7421325" y="1652084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6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8937C5A2-A4AC-9381-2217-7EF4A2589699}"/>
              </a:ext>
            </a:extLst>
          </p:cNvPr>
          <p:cNvSpPr txBox="1"/>
          <p:nvPr/>
        </p:nvSpPr>
        <p:spPr>
          <a:xfrm>
            <a:off x="7421325" y="1478975"/>
            <a:ext cx="1687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8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E4C04D2-6484-C6B1-D435-D0BE012FE984}"/>
              </a:ext>
            </a:extLst>
          </p:cNvPr>
          <p:cNvSpPr txBox="1"/>
          <p:nvPr/>
        </p:nvSpPr>
        <p:spPr>
          <a:xfrm>
            <a:off x="7421325" y="1308601"/>
            <a:ext cx="331465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10</a:t>
            </a: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CBBFDD16-8C68-9CBB-5316-0CFEE06E93DC}"/>
              </a:ext>
            </a:extLst>
          </p:cNvPr>
          <p:cNvCxnSpPr/>
          <p:nvPr/>
        </p:nvCxnSpPr>
        <p:spPr>
          <a:xfrm>
            <a:off x="7650436" y="2193802"/>
            <a:ext cx="1008690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D46E7515-F071-E4D1-A0D2-B49B00E1C838}"/>
              </a:ext>
            </a:extLst>
          </p:cNvPr>
          <p:cNvSpPr txBox="1"/>
          <p:nvPr/>
        </p:nvSpPr>
        <p:spPr>
          <a:xfrm>
            <a:off x="7594614" y="2282878"/>
            <a:ext cx="1127722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800" b="1"/>
            </a:lvl1pPr>
          </a:lstStyle>
          <a:p>
            <a:r>
              <a:rPr lang="en-US" sz="738" dirty="0"/>
              <a:t>Movement Diversity</a:t>
            </a:r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02B5D1D8-9CA0-77F0-3A20-A99CAFD5EBAA}"/>
              </a:ext>
            </a:extLst>
          </p:cNvPr>
          <p:cNvCxnSpPr/>
          <p:nvPr/>
        </p:nvCxnSpPr>
        <p:spPr>
          <a:xfrm>
            <a:off x="7819495" y="1290301"/>
            <a:ext cx="0" cy="94584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43ACF152-45EE-937E-0598-B9674780D587}"/>
              </a:ext>
            </a:extLst>
          </p:cNvPr>
          <p:cNvCxnSpPr/>
          <p:nvPr/>
        </p:nvCxnSpPr>
        <p:spPr>
          <a:xfrm>
            <a:off x="8009519" y="1290301"/>
            <a:ext cx="0" cy="945269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0ED7E89E-987E-1800-3533-1E8B35265F70}"/>
              </a:ext>
            </a:extLst>
          </p:cNvPr>
          <p:cNvCxnSpPr/>
          <p:nvPr/>
        </p:nvCxnSpPr>
        <p:spPr>
          <a:xfrm>
            <a:off x="8195051" y="1290302"/>
            <a:ext cx="0" cy="939333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1C3A6A08-2026-8A4D-44DE-99B4F600313D}"/>
              </a:ext>
            </a:extLst>
          </p:cNvPr>
          <p:cNvCxnSpPr/>
          <p:nvPr/>
        </p:nvCxnSpPr>
        <p:spPr>
          <a:xfrm>
            <a:off x="8387907" y="1290301"/>
            <a:ext cx="0" cy="931638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9896CE32-B687-3A26-C141-B589AC4E5C66}"/>
              </a:ext>
            </a:extLst>
          </p:cNvPr>
          <p:cNvCxnSpPr/>
          <p:nvPr/>
        </p:nvCxnSpPr>
        <p:spPr>
          <a:xfrm>
            <a:off x="8577099" y="1290301"/>
            <a:ext cx="0" cy="926969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FECD36-4EBB-1D08-ABDD-B44579385CA8}"/>
              </a:ext>
            </a:extLst>
          </p:cNvPr>
          <p:cNvCxnSpPr/>
          <p:nvPr/>
        </p:nvCxnSpPr>
        <p:spPr>
          <a:xfrm>
            <a:off x="7661350" y="1909589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F9FC0737-C1E8-4FE8-A567-12D78DF1A7CD}"/>
              </a:ext>
            </a:extLst>
          </p:cNvPr>
          <p:cNvCxnSpPr/>
          <p:nvPr/>
        </p:nvCxnSpPr>
        <p:spPr>
          <a:xfrm>
            <a:off x="7661350" y="1738930"/>
            <a:ext cx="1008690" cy="0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C51ADB6-3F6B-9C76-D547-5660DF70CA46}"/>
              </a:ext>
            </a:extLst>
          </p:cNvPr>
          <p:cNvCxnSpPr/>
          <p:nvPr/>
        </p:nvCxnSpPr>
        <p:spPr>
          <a:xfrm>
            <a:off x="7661350" y="1569045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89033B7E-6278-B753-83C4-B1F60226FF07}"/>
              </a:ext>
            </a:extLst>
          </p:cNvPr>
          <p:cNvCxnSpPr/>
          <p:nvPr/>
        </p:nvCxnSpPr>
        <p:spPr>
          <a:xfrm>
            <a:off x="7661350" y="1398633"/>
            <a:ext cx="1008690" cy="0"/>
          </a:xfrm>
          <a:prstGeom prst="line">
            <a:avLst/>
          </a:prstGeom>
          <a:ln w="6350">
            <a:solidFill>
              <a:schemeClr val="tx1"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93FDC379-29EC-5A8B-B968-CC8BF1C3C467}"/>
              </a:ext>
            </a:extLst>
          </p:cNvPr>
          <p:cNvCxnSpPr/>
          <p:nvPr/>
        </p:nvCxnSpPr>
        <p:spPr>
          <a:xfrm>
            <a:off x="7723883" y="1303932"/>
            <a:ext cx="0" cy="931638"/>
          </a:xfrm>
          <a:prstGeom prst="line">
            <a:avLst/>
          </a:prstGeom>
          <a:ln w="28575">
            <a:solidFill>
              <a:srgbClr val="DB1E2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0A1A0B94-CEFF-2E47-DAF2-4D58C04B5D2C}"/>
              </a:ext>
            </a:extLst>
          </p:cNvPr>
          <p:cNvSpPr txBox="1"/>
          <p:nvPr/>
        </p:nvSpPr>
        <p:spPr>
          <a:xfrm>
            <a:off x="7414511" y="2096575"/>
            <a:ext cx="347386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8" b="1" dirty="0"/>
              <a:t>0.2</a:t>
            </a:r>
          </a:p>
        </p:txBody>
      </p:sp>
      <p:sp>
        <p:nvSpPr>
          <p:cNvPr id="261" name="Flowchart: Connector 260">
            <a:extLst>
              <a:ext uri="{FF2B5EF4-FFF2-40B4-BE49-F238E27FC236}">
                <a16:creationId xmlns:a16="http://schemas.microsoft.com/office/drawing/2014/main" id="{8F630846-5AE4-FFA7-1F60-732BC1EC936D}"/>
              </a:ext>
            </a:extLst>
          </p:cNvPr>
          <p:cNvSpPr/>
          <p:nvPr/>
        </p:nvSpPr>
        <p:spPr>
          <a:xfrm>
            <a:off x="7792524" y="2058205"/>
            <a:ext cx="51537" cy="55180"/>
          </a:xfrm>
          <a:prstGeom prst="flowChartConnector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62" name="Isosceles Triangle 261">
            <a:extLst>
              <a:ext uri="{FF2B5EF4-FFF2-40B4-BE49-F238E27FC236}">
                <a16:creationId xmlns:a16="http://schemas.microsoft.com/office/drawing/2014/main" id="{6BF2B274-1D92-0C95-0BBB-E7E0B59A0099}"/>
              </a:ext>
            </a:extLst>
          </p:cNvPr>
          <p:cNvSpPr/>
          <p:nvPr/>
        </p:nvSpPr>
        <p:spPr>
          <a:xfrm>
            <a:off x="7789760" y="1955478"/>
            <a:ext cx="68093" cy="42202"/>
          </a:xfrm>
          <a:prstGeom prst="triangle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63" name="5-Point Star 282">
            <a:extLst>
              <a:ext uri="{FF2B5EF4-FFF2-40B4-BE49-F238E27FC236}">
                <a16:creationId xmlns:a16="http://schemas.microsoft.com/office/drawing/2014/main" id="{D6A120C7-CAA9-458E-0E78-467E1C24CBC2}"/>
              </a:ext>
            </a:extLst>
          </p:cNvPr>
          <p:cNvSpPr/>
          <p:nvPr/>
        </p:nvSpPr>
        <p:spPr>
          <a:xfrm>
            <a:off x="7799136" y="1910272"/>
            <a:ext cx="45720" cy="42202"/>
          </a:xfrm>
          <a:prstGeom prst="star5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64" name="Flowchart: Collate 263">
            <a:extLst>
              <a:ext uri="{FF2B5EF4-FFF2-40B4-BE49-F238E27FC236}">
                <a16:creationId xmlns:a16="http://schemas.microsoft.com/office/drawing/2014/main" id="{9C94ABD9-D5EE-C8DB-A569-5C8209F47E43}"/>
              </a:ext>
            </a:extLst>
          </p:cNvPr>
          <p:cNvSpPr/>
          <p:nvPr/>
        </p:nvSpPr>
        <p:spPr>
          <a:xfrm>
            <a:off x="7799292" y="1868070"/>
            <a:ext cx="48888" cy="42202"/>
          </a:xfrm>
          <a:prstGeom prst="flowChartCollate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65" name="Diamond 264">
            <a:extLst>
              <a:ext uri="{FF2B5EF4-FFF2-40B4-BE49-F238E27FC236}">
                <a16:creationId xmlns:a16="http://schemas.microsoft.com/office/drawing/2014/main" id="{2EB49572-7881-70BF-1439-EA7F39122F7C}"/>
              </a:ext>
            </a:extLst>
          </p:cNvPr>
          <p:cNvSpPr/>
          <p:nvPr/>
        </p:nvSpPr>
        <p:spPr>
          <a:xfrm>
            <a:off x="7981320" y="1954221"/>
            <a:ext cx="54733" cy="51159"/>
          </a:xfrm>
          <a:prstGeom prst="diamond">
            <a:avLst/>
          </a:prstGeom>
          <a:noFill/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0D6F98AF-0359-272C-9E23-637C9F0A5C9D}"/>
              </a:ext>
            </a:extLst>
          </p:cNvPr>
          <p:cNvSpPr/>
          <p:nvPr/>
        </p:nvSpPr>
        <p:spPr>
          <a:xfrm>
            <a:off x="6313245" y="3131139"/>
            <a:ext cx="146665" cy="2692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67" name="Rounded Rectangle 651">
            <a:extLst>
              <a:ext uri="{FF2B5EF4-FFF2-40B4-BE49-F238E27FC236}">
                <a16:creationId xmlns:a16="http://schemas.microsoft.com/office/drawing/2014/main" id="{C6A1DAD3-9E60-BC80-5CA0-02BCDDA7F721}"/>
              </a:ext>
            </a:extLst>
          </p:cNvPr>
          <p:cNvSpPr/>
          <p:nvPr/>
        </p:nvSpPr>
        <p:spPr>
          <a:xfrm>
            <a:off x="7335091" y="1258653"/>
            <a:ext cx="1481034" cy="1206474"/>
          </a:xfrm>
          <a:prstGeom prst="roundRect">
            <a:avLst>
              <a:gd name="adj" fmla="val 11145"/>
            </a:avLst>
          </a:prstGeom>
          <a:solidFill>
            <a:schemeClr val="accent1">
              <a:lumMod val="20000"/>
              <a:lumOff val="80000"/>
              <a:alpha val="2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 dirty="0"/>
          </a:p>
        </p:txBody>
      </p:sp>
      <p:graphicFrame>
        <p:nvGraphicFramePr>
          <p:cNvPr id="268" name="Table 267">
            <a:extLst>
              <a:ext uri="{FF2B5EF4-FFF2-40B4-BE49-F238E27FC236}">
                <a16:creationId xmlns:a16="http://schemas.microsoft.com/office/drawing/2014/main" id="{D3324A1B-8215-452E-EF47-3DD8694FB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521832"/>
              </p:ext>
            </p:extLst>
          </p:nvPr>
        </p:nvGraphicFramePr>
        <p:xfrm>
          <a:off x="2112449" y="1079411"/>
          <a:ext cx="4155660" cy="4248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2610">
                  <a:extLst>
                    <a:ext uri="{9D8B030D-6E8A-4147-A177-3AD203B41FA5}">
                      <a16:colId xmlns:a16="http://schemas.microsoft.com/office/drawing/2014/main" val="2948226402"/>
                    </a:ext>
                  </a:extLst>
                </a:gridCol>
                <a:gridCol w="692610">
                  <a:extLst>
                    <a:ext uri="{9D8B030D-6E8A-4147-A177-3AD203B41FA5}">
                      <a16:colId xmlns:a16="http://schemas.microsoft.com/office/drawing/2014/main" val="1865734360"/>
                    </a:ext>
                  </a:extLst>
                </a:gridCol>
                <a:gridCol w="692610">
                  <a:extLst>
                    <a:ext uri="{9D8B030D-6E8A-4147-A177-3AD203B41FA5}">
                      <a16:colId xmlns:a16="http://schemas.microsoft.com/office/drawing/2014/main" val="129425635"/>
                    </a:ext>
                  </a:extLst>
                </a:gridCol>
                <a:gridCol w="692610">
                  <a:extLst>
                    <a:ext uri="{9D8B030D-6E8A-4147-A177-3AD203B41FA5}">
                      <a16:colId xmlns:a16="http://schemas.microsoft.com/office/drawing/2014/main" val="93451356"/>
                    </a:ext>
                  </a:extLst>
                </a:gridCol>
                <a:gridCol w="692610">
                  <a:extLst>
                    <a:ext uri="{9D8B030D-6E8A-4147-A177-3AD203B41FA5}">
                      <a16:colId xmlns:a16="http://schemas.microsoft.com/office/drawing/2014/main" val="530303946"/>
                    </a:ext>
                  </a:extLst>
                </a:gridCol>
                <a:gridCol w="692610">
                  <a:extLst>
                    <a:ext uri="{9D8B030D-6E8A-4147-A177-3AD203B41FA5}">
                      <a16:colId xmlns:a16="http://schemas.microsoft.com/office/drawing/2014/main" val="129799231"/>
                    </a:ext>
                  </a:extLst>
                </a:gridCol>
              </a:tblGrid>
              <a:tr h="213832">
                <a:tc>
                  <a:txBody>
                    <a:bodyPr/>
                    <a:lstStyle/>
                    <a:p>
                      <a:r>
                        <a:rPr lang="en-US" sz="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Sign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endParaRPr lang="en-US" sz="800" b="1">
                        <a:highlight>
                          <a:srgbClr val="FFFF00"/>
                        </a:highlight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endParaRPr lang="en-US" sz="800" b="1">
                        <a:highlight>
                          <a:srgbClr val="FFFF00"/>
                        </a:highlight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endParaRPr lang="en-US" sz="800" b="1">
                        <a:highlight>
                          <a:srgbClr val="FFFF00"/>
                        </a:highlight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endParaRPr lang="en-US" sz="800" b="1">
                        <a:highlight>
                          <a:srgbClr val="FFFF00"/>
                        </a:highlight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endParaRPr lang="en-US" sz="800" b="1">
                        <a:highlight>
                          <a:srgbClr val="FFFF00"/>
                        </a:highlight>
                      </a:endParaRP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4036071915"/>
                  </a:ext>
                </a:extLst>
              </a:tr>
              <a:tr h="211015">
                <a:tc>
                  <a:txBody>
                    <a:bodyPr/>
                    <a:lstStyle/>
                    <a:p>
                      <a:r>
                        <a:rPr lang="en-US" sz="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Frame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1st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2nd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3rd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4th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5th</a:t>
                      </a:r>
                    </a:p>
                  </a:txBody>
                  <a:tcPr marL="84406" marR="84406" marT="42203" marB="42203"/>
                </a:tc>
                <a:extLst>
                  <a:ext uri="{0D108BD9-81ED-4DB2-BD59-A6C34878D82A}">
                    <a16:rowId xmlns:a16="http://schemas.microsoft.com/office/drawing/2014/main" val="1342962433"/>
                  </a:ext>
                </a:extLst>
              </a:tr>
            </a:tbl>
          </a:graphicData>
        </a:graphic>
      </p:graphicFrame>
      <p:sp>
        <p:nvSpPr>
          <p:cNvPr id="269" name="Flowchart: Connector 268">
            <a:extLst>
              <a:ext uri="{FF2B5EF4-FFF2-40B4-BE49-F238E27FC236}">
                <a16:creationId xmlns:a16="http://schemas.microsoft.com/office/drawing/2014/main" id="{6469A35F-B39F-1FC9-4530-A0378E68A082}"/>
              </a:ext>
            </a:extLst>
          </p:cNvPr>
          <p:cNvSpPr/>
          <p:nvPr/>
        </p:nvSpPr>
        <p:spPr>
          <a:xfrm>
            <a:off x="3118913" y="1145879"/>
            <a:ext cx="58395" cy="81342"/>
          </a:xfrm>
          <a:prstGeom prst="flowChartConnector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70" name="Isosceles Triangle 269">
            <a:extLst>
              <a:ext uri="{FF2B5EF4-FFF2-40B4-BE49-F238E27FC236}">
                <a16:creationId xmlns:a16="http://schemas.microsoft.com/office/drawing/2014/main" id="{406FD597-79CC-C82E-CD12-272CA6413F3B}"/>
              </a:ext>
            </a:extLst>
          </p:cNvPr>
          <p:cNvSpPr/>
          <p:nvPr/>
        </p:nvSpPr>
        <p:spPr>
          <a:xfrm>
            <a:off x="3815957" y="1125607"/>
            <a:ext cx="51458" cy="112160"/>
          </a:xfrm>
          <a:prstGeom prst="triangl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71" name="5-Point Star 643">
            <a:extLst>
              <a:ext uri="{FF2B5EF4-FFF2-40B4-BE49-F238E27FC236}">
                <a16:creationId xmlns:a16="http://schemas.microsoft.com/office/drawing/2014/main" id="{0E098000-3075-F966-88D1-B25EC0EAF9D3}"/>
              </a:ext>
            </a:extLst>
          </p:cNvPr>
          <p:cNvSpPr/>
          <p:nvPr/>
        </p:nvSpPr>
        <p:spPr>
          <a:xfrm>
            <a:off x="4485299" y="1130006"/>
            <a:ext cx="70252" cy="90158"/>
          </a:xfrm>
          <a:prstGeom prst="star5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72" name="Flowchart: Collate 271">
            <a:extLst>
              <a:ext uri="{FF2B5EF4-FFF2-40B4-BE49-F238E27FC236}">
                <a16:creationId xmlns:a16="http://schemas.microsoft.com/office/drawing/2014/main" id="{0210487D-58BD-76CA-A9FF-AEC9788A629A}"/>
              </a:ext>
            </a:extLst>
          </p:cNvPr>
          <p:cNvSpPr/>
          <p:nvPr/>
        </p:nvSpPr>
        <p:spPr>
          <a:xfrm>
            <a:off x="5179465" y="1138064"/>
            <a:ext cx="48591" cy="83051"/>
          </a:xfrm>
          <a:prstGeom prst="flowChartCollat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73" name="Diamond 272">
            <a:extLst>
              <a:ext uri="{FF2B5EF4-FFF2-40B4-BE49-F238E27FC236}">
                <a16:creationId xmlns:a16="http://schemas.microsoft.com/office/drawing/2014/main" id="{C7D95662-1A20-B4E7-5CA1-71A4859D26BA}"/>
              </a:ext>
            </a:extLst>
          </p:cNvPr>
          <p:cNvSpPr/>
          <p:nvPr/>
        </p:nvSpPr>
        <p:spPr>
          <a:xfrm>
            <a:off x="5855728" y="1115798"/>
            <a:ext cx="70252" cy="112182"/>
          </a:xfrm>
          <a:prstGeom prst="diamond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</p:spTree>
    <p:extLst>
      <p:ext uri="{BB962C8B-B14F-4D97-AF65-F5344CB8AC3E}">
        <p14:creationId xmlns:p14="http://schemas.microsoft.com/office/powerpoint/2010/main" val="16367078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EF71D-5319-37FB-197F-4EEC1F32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96E105-8DC8-635F-628F-04D39F75B5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65" t="6968" r="6749" b="6968"/>
          <a:stretch/>
        </p:blipFill>
        <p:spPr>
          <a:xfrm>
            <a:off x="848544" y="2096852"/>
            <a:ext cx="7743630" cy="398813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F875AA5-D0C1-9758-0E0C-15EFB1D2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39762"/>
            <a:ext cx="7254176" cy="724942"/>
          </a:xfrm>
        </p:spPr>
        <p:txBody>
          <a:bodyPr>
            <a:normAutofit fontScale="90000"/>
          </a:bodyPr>
          <a:lstStyle/>
          <a:p>
            <a:r>
              <a:rPr lang="en-US" dirty="0"/>
              <a:t>vi. Control chart representation in terms of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8D55B-610D-AC10-5B71-2A08064F61B5}"/>
              </a:ext>
            </a:extLst>
          </p:cNvPr>
          <p:cNvSpPr/>
          <p:nvPr/>
        </p:nvSpPr>
        <p:spPr>
          <a:xfrm rot="19806433">
            <a:off x="1610238" y="2868652"/>
            <a:ext cx="610079" cy="348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62" dirty="0">
                <a:latin typeface="맑은 고딕 (Body)"/>
              </a:rPr>
              <a:t>UCL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AD44C2-31E6-DF0D-2FC5-33A66AD6A574}"/>
              </a:ext>
            </a:extLst>
          </p:cNvPr>
          <p:cNvSpPr/>
          <p:nvPr/>
        </p:nvSpPr>
        <p:spPr>
          <a:xfrm>
            <a:off x="3804056" y="1756104"/>
            <a:ext cx="1815711" cy="348109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62" dirty="0">
                <a:latin typeface="맑은 고딕 (Body)"/>
              </a:rPr>
              <a:t>Intensity &gt; UCL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DF1F38-FD5D-D1DF-8458-28B4B484B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686796"/>
              </p:ext>
            </p:extLst>
          </p:nvPr>
        </p:nvGraphicFramePr>
        <p:xfrm>
          <a:off x="1496616" y="953601"/>
          <a:ext cx="5934802" cy="7450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4767">
                  <a:extLst>
                    <a:ext uri="{9D8B030D-6E8A-4147-A177-3AD203B41FA5}">
                      <a16:colId xmlns:a16="http://schemas.microsoft.com/office/drawing/2014/main" val="2948226402"/>
                    </a:ext>
                  </a:extLst>
                </a:gridCol>
                <a:gridCol w="888615">
                  <a:extLst>
                    <a:ext uri="{9D8B030D-6E8A-4147-A177-3AD203B41FA5}">
                      <a16:colId xmlns:a16="http://schemas.microsoft.com/office/drawing/2014/main" val="1865734360"/>
                    </a:ext>
                  </a:extLst>
                </a:gridCol>
                <a:gridCol w="824762">
                  <a:extLst>
                    <a:ext uri="{9D8B030D-6E8A-4147-A177-3AD203B41FA5}">
                      <a16:colId xmlns:a16="http://schemas.microsoft.com/office/drawing/2014/main" val="129425635"/>
                    </a:ext>
                  </a:extLst>
                </a:gridCol>
                <a:gridCol w="781354">
                  <a:extLst>
                    <a:ext uri="{9D8B030D-6E8A-4147-A177-3AD203B41FA5}">
                      <a16:colId xmlns:a16="http://schemas.microsoft.com/office/drawing/2014/main" val="93451356"/>
                    </a:ext>
                  </a:extLst>
                </a:gridCol>
                <a:gridCol w="781354">
                  <a:extLst>
                    <a:ext uri="{9D8B030D-6E8A-4147-A177-3AD203B41FA5}">
                      <a16:colId xmlns:a16="http://schemas.microsoft.com/office/drawing/2014/main" val="530303946"/>
                    </a:ext>
                  </a:extLst>
                </a:gridCol>
                <a:gridCol w="781354">
                  <a:extLst>
                    <a:ext uri="{9D8B030D-6E8A-4147-A177-3AD203B41FA5}">
                      <a16:colId xmlns:a16="http://schemas.microsoft.com/office/drawing/2014/main" val="129799231"/>
                    </a:ext>
                  </a:extLst>
                </a:gridCol>
                <a:gridCol w="812596">
                  <a:extLst>
                    <a:ext uri="{9D8B030D-6E8A-4147-A177-3AD203B41FA5}">
                      <a16:colId xmlns:a16="http://schemas.microsoft.com/office/drawing/2014/main" val="889768725"/>
                    </a:ext>
                  </a:extLst>
                </a:gridCol>
              </a:tblGrid>
              <a:tr h="405528">
                <a:tc>
                  <a:txBody>
                    <a:bodyPr/>
                    <a:lstStyle/>
                    <a:p>
                      <a:r>
                        <a:rPr lang="en-US" sz="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Representation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X-axis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Y-axis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Z-axis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1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1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1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4036071915"/>
                  </a:ext>
                </a:extLst>
              </a:tr>
              <a:tr h="339553">
                <a:tc>
                  <a:txBody>
                    <a:bodyPr/>
                    <a:lstStyle/>
                    <a:p>
                      <a:r>
                        <a:rPr lang="en-US" sz="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Intensity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Diversity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Intensity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ctr" defTabSz="9143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Diversity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34296243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1D06D30-760A-DDA0-96B5-F54C5EA44DDE}"/>
              </a:ext>
            </a:extLst>
          </p:cNvPr>
          <p:cNvSpPr txBox="1"/>
          <p:nvPr/>
        </p:nvSpPr>
        <p:spPr>
          <a:xfrm>
            <a:off x="3368668" y="4751309"/>
            <a:ext cx="1074333" cy="248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5" dirty="0">
                <a:latin typeface="Georgia" panose="02040502050405020303" pitchFamily="18" charset="0"/>
              </a:rPr>
              <a:t>(</a:t>
            </a:r>
            <a:r>
              <a:rPr lang="en-US" sz="1015" i="1" dirty="0">
                <a:latin typeface="Georgia" panose="02040502050405020303" pitchFamily="18" charset="0"/>
              </a:rPr>
              <a:t>T</a:t>
            </a:r>
            <a:r>
              <a:rPr lang="en-US" sz="1015" dirty="0"/>
              <a:t>=1, </a:t>
            </a:r>
            <a:r>
              <a:rPr lang="en-US" sz="1015" i="1" dirty="0">
                <a:latin typeface="Georgia" panose="02040502050405020303" pitchFamily="18" charset="0"/>
              </a:rPr>
              <a:t>I</a:t>
            </a:r>
            <a:r>
              <a:rPr lang="en-US" sz="1015" dirty="0"/>
              <a:t>=0, </a:t>
            </a:r>
            <a:r>
              <a:rPr lang="en-US" sz="1015" i="1" dirty="0">
                <a:latin typeface="Georgia" panose="02040502050405020303" pitchFamily="18" charset="0"/>
              </a:rPr>
              <a:t>D</a:t>
            </a:r>
            <a:r>
              <a:rPr lang="en-US" sz="1015" dirty="0"/>
              <a:t>=0)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C3B9BB-9676-2FD8-62E0-4D2C02856A60}"/>
              </a:ext>
            </a:extLst>
          </p:cNvPr>
          <p:cNvSpPr txBox="1"/>
          <p:nvPr/>
        </p:nvSpPr>
        <p:spPr>
          <a:xfrm rot="19293750">
            <a:off x="4223537" y="4065436"/>
            <a:ext cx="1074333" cy="248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5" dirty="0">
                <a:latin typeface="Georgia" panose="02040502050405020303" pitchFamily="18" charset="0"/>
              </a:rPr>
              <a:t>(</a:t>
            </a:r>
            <a:r>
              <a:rPr lang="en-US" sz="1015" i="1" dirty="0">
                <a:latin typeface="Georgia" panose="02040502050405020303" pitchFamily="18" charset="0"/>
              </a:rPr>
              <a:t>T</a:t>
            </a:r>
            <a:r>
              <a:rPr lang="en-US" sz="1015" dirty="0"/>
              <a:t>=2, </a:t>
            </a:r>
            <a:r>
              <a:rPr lang="en-US" sz="1015" i="1" dirty="0">
                <a:latin typeface="Georgia" panose="02040502050405020303" pitchFamily="18" charset="0"/>
              </a:rPr>
              <a:t>I</a:t>
            </a:r>
            <a:r>
              <a:rPr lang="en-US" sz="1015" dirty="0"/>
              <a:t>=3, </a:t>
            </a:r>
            <a:r>
              <a:rPr lang="en-US" sz="1015" i="1" dirty="0">
                <a:latin typeface="Georgia" panose="02040502050405020303" pitchFamily="18" charset="0"/>
              </a:rPr>
              <a:t>D</a:t>
            </a:r>
            <a:r>
              <a:rPr lang="en-US" sz="1015" dirty="0"/>
              <a:t>=1)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7175C0-58F6-69B7-3476-BE7CF893116E}"/>
              </a:ext>
            </a:extLst>
          </p:cNvPr>
          <p:cNvSpPr txBox="1"/>
          <p:nvPr/>
        </p:nvSpPr>
        <p:spPr>
          <a:xfrm rot="20716604">
            <a:off x="4724923" y="3433829"/>
            <a:ext cx="1074333" cy="248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5" dirty="0">
                <a:latin typeface="Georgia" panose="02040502050405020303" pitchFamily="18" charset="0"/>
              </a:rPr>
              <a:t>(</a:t>
            </a:r>
            <a:r>
              <a:rPr lang="en-US" sz="1015" i="1" dirty="0">
                <a:latin typeface="Georgia" panose="02040502050405020303" pitchFamily="18" charset="0"/>
              </a:rPr>
              <a:t>T</a:t>
            </a:r>
            <a:r>
              <a:rPr lang="en-US" sz="1015" dirty="0"/>
              <a:t>=3, </a:t>
            </a:r>
            <a:r>
              <a:rPr lang="en-US" sz="1015" i="1" dirty="0">
                <a:latin typeface="Georgia" panose="02040502050405020303" pitchFamily="18" charset="0"/>
              </a:rPr>
              <a:t>I</a:t>
            </a:r>
            <a:r>
              <a:rPr lang="en-US" sz="1015" dirty="0"/>
              <a:t>=4, </a:t>
            </a:r>
            <a:r>
              <a:rPr lang="en-US" sz="1015" i="1" dirty="0">
                <a:latin typeface="Georgia" panose="02040502050405020303" pitchFamily="18" charset="0"/>
              </a:rPr>
              <a:t>D</a:t>
            </a:r>
            <a:r>
              <a:rPr lang="en-US" sz="1015" dirty="0"/>
              <a:t>=3)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7CCCF-B393-2E7C-D041-D529EF23CA6F}"/>
              </a:ext>
            </a:extLst>
          </p:cNvPr>
          <p:cNvSpPr txBox="1"/>
          <p:nvPr/>
        </p:nvSpPr>
        <p:spPr>
          <a:xfrm rot="20554801">
            <a:off x="5804838" y="3487514"/>
            <a:ext cx="1074333" cy="248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5" dirty="0">
                <a:latin typeface="Georgia" panose="02040502050405020303" pitchFamily="18" charset="0"/>
              </a:rPr>
              <a:t>(</a:t>
            </a:r>
            <a:r>
              <a:rPr lang="en-US" sz="1015" i="1" dirty="0">
                <a:latin typeface="Georgia" panose="02040502050405020303" pitchFamily="18" charset="0"/>
              </a:rPr>
              <a:t>T</a:t>
            </a:r>
            <a:r>
              <a:rPr lang="en-US" sz="1015" dirty="0"/>
              <a:t>=4, </a:t>
            </a:r>
            <a:r>
              <a:rPr lang="en-US" sz="1015" i="1" dirty="0">
                <a:latin typeface="Georgia" panose="02040502050405020303" pitchFamily="18" charset="0"/>
              </a:rPr>
              <a:t>I</a:t>
            </a:r>
            <a:r>
              <a:rPr lang="en-US" sz="1015" dirty="0"/>
              <a:t>=7, </a:t>
            </a:r>
            <a:r>
              <a:rPr lang="en-US" sz="1015" i="1" dirty="0">
                <a:latin typeface="Georgia" panose="02040502050405020303" pitchFamily="18" charset="0"/>
              </a:rPr>
              <a:t>D</a:t>
            </a:r>
            <a:r>
              <a:rPr lang="en-US" sz="1015" dirty="0"/>
              <a:t>=4)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00328-F627-BCA4-8A0A-2F02727A4F71}"/>
              </a:ext>
            </a:extLst>
          </p:cNvPr>
          <p:cNvSpPr txBox="1"/>
          <p:nvPr/>
        </p:nvSpPr>
        <p:spPr>
          <a:xfrm rot="20020203">
            <a:off x="6868937" y="3030524"/>
            <a:ext cx="1074333" cy="248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5" dirty="0">
                <a:latin typeface="Georgia" panose="02040502050405020303" pitchFamily="18" charset="0"/>
              </a:rPr>
              <a:t>(</a:t>
            </a:r>
            <a:r>
              <a:rPr lang="en-US" sz="1015" i="1" dirty="0">
                <a:latin typeface="Georgia" panose="02040502050405020303" pitchFamily="18" charset="0"/>
              </a:rPr>
              <a:t>T</a:t>
            </a:r>
            <a:r>
              <a:rPr lang="en-US" sz="1015" dirty="0"/>
              <a:t>=5, </a:t>
            </a:r>
            <a:r>
              <a:rPr lang="en-US" sz="1015" i="1" dirty="0">
                <a:latin typeface="Georgia" panose="02040502050405020303" pitchFamily="18" charset="0"/>
              </a:rPr>
              <a:t>I</a:t>
            </a:r>
            <a:r>
              <a:rPr lang="en-US" sz="1015" dirty="0"/>
              <a:t>=7, </a:t>
            </a:r>
            <a:r>
              <a:rPr lang="en-US" sz="1015" i="1" dirty="0">
                <a:latin typeface="Georgia" panose="02040502050405020303" pitchFamily="18" charset="0"/>
              </a:rPr>
              <a:t>D</a:t>
            </a:r>
            <a:r>
              <a:rPr lang="en-US" sz="1015" dirty="0"/>
              <a:t>=5)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A5B74-F2DB-2E2D-1C65-6D3B671721BC}"/>
              </a:ext>
            </a:extLst>
          </p:cNvPr>
          <p:cNvCxnSpPr/>
          <p:nvPr/>
        </p:nvCxnSpPr>
        <p:spPr>
          <a:xfrm>
            <a:off x="2778825" y="4778495"/>
            <a:ext cx="5383983" cy="246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B8B1E3-F438-7144-12DF-3A63403073E8}"/>
              </a:ext>
            </a:extLst>
          </p:cNvPr>
          <p:cNvCxnSpPr/>
          <p:nvPr/>
        </p:nvCxnSpPr>
        <p:spPr>
          <a:xfrm>
            <a:off x="1848262" y="5207907"/>
            <a:ext cx="5483685" cy="2997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19A22F-690F-9632-CBC0-4DA86C76FCC2}"/>
              </a:ext>
            </a:extLst>
          </p:cNvPr>
          <p:cNvCxnSpPr/>
          <p:nvPr/>
        </p:nvCxnSpPr>
        <p:spPr>
          <a:xfrm flipV="1">
            <a:off x="1250040" y="4151859"/>
            <a:ext cx="1628489" cy="9457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414A0C-BFD4-5CB0-8D5A-07FFC2D27E51}"/>
              </a:ext>
            </a:extLst>
          </p:cNvPr>
          <p:cNvCxnSpPr/>
          <p:nvPr/>
        </p:nvCxnSpPr>
        <p:spPr>
          <a:xfrm flipV="1">
            <a:off x="1264297" y="2620852"/>
            <a:ext cx="1628489" cy="9457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235C294-FB1A-CF0B-55EB-1783A6D7BCDB}"/>
              </a:ext>
            </a:extLst>
          </p:cNvPr>
          <p:cNvSpPr/>
          <p:nvPr/>
        </p:nvSpPr>
        <p:spPr>
          <a:xfrm>
            <a:off x="7077813" y="2994058"/>
            <a:ext cx="196101" cy="1524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5B7D02F-BD2C-EC54-A81A-D106A1E9A55A}"/>
              </a:ext>
            </a:extLst>
          </p:cNvPr>
          <p:cNvSpPr/>
          <p:nvPr/>
        </p:nvSpPr>
        <p:spPr>
          <a:xfrm>
            <a:off x="3899154" y="4642441"/>
            <a:ext cx="196101" cy="1524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6A5E069-E9D0-A373-0CAC-73CDE4ACB7E0}"/>
              </a:ext>
            </a:extLst>
          </p:cNvPr>
          <p:cNvSpPr/>
          <p:nvPr/>
        </p:nvSpPr>
        <p:spPr>
          <a:xfrm>
            <a:off x="4492053" y="4472350"/>
            <a:ext cx="196101" cy="15240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0C5463-691E-2F46-B84E-AF691270CA7A}"/>
              </a:ext>
            </a:extLst>
          </p:cNvPr>
          <p:cNvSpPr/>
          <p:nvPr/>
        </p:nvSpPr>
        <p:spPr>
          <a:xfrm>
            <a:off x="5404029" y="3611095"/>
            <a:ext cx="196101" cy="15240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1" name="Chevron 44">
            <a:extLst>
              <a:ext uri="{FF2B5EF4-FFF2-40B4-BE49-F238E27FC236}">
                <a16:creationId xmlns:a16="http://schemas.microsoft.com/office/drawing/2014/main" id="{A33D25F4-DFC2-A6C8-A71A-395348411151}"/>
              </a:ext>
            </a:extLst>
          </p:cNvPr>
          <p:cNvSpPr/>
          <p:nvPr/>
        </p:nvSpPr>
        <p:spPr>
          <a:xfrm rot="20266283">
            <a:off x="4299249" y="4522476"/>
            <a:ext cx="188912" cy="178120"/>
          </a:xfrm>
          <a:prstGeom prst="chevron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solidFill>
                <a:schemeClr val="tx1"/>
              </a:solidFill>
            </a:endParaRPr>
          </a:p>
        </p:txBody>
      </p:sp>
      <p:sp>
        <p:nvSpPr>
          <p:cNvPr id="22" name="Chevron 45">
            <a:extLst>
              <a:ext uri="{FF2B5EF4-FFF2-40B4-BE49-F238E27FC236}">
                <a16:creationId xmlns:a16="http://schemas.microsoft.com/office/drawing/2014/main" id="{90A636C9-5387-7CB8-6CF4-2C5B9A29D5AC}"/>
              </a:ext>
            </a:extLst>
          </p:cNvPr>
          <p:cNvSpPr/>
          <p:nvPr/>
        </p:nvSpPr>
        <p:spPr>
          <a:xfrm rot="18922567">
            <a:off x="5267087" y="3721655"/>
            <a:ext cx="188912" cy="178120"/>
          </a:xfrm>
          <a:prstGeom prst="chevron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solidFill>
                <a:schemeClr val="tx1"/>
              </a:solidFill>
            </a:endParaRPr>
          </a:p>
        </p:txBody>
      </p:sp>
      <p:sp>
        <p:nvSpPr>
          <p:cNvPr id="23" name="Chevron 46">
            <a:extLst>
              <a:ext uri="{FF2B5EF4-FFF2-40B4-BE49-F238E27FC236}">
                <a16:creationId xmlns:a16="http://schemas.microsoft.com/office/drawing/2014/main" id="{81A8AA67-343C-5FCB-2480-E38CDE1F41C5}"/>
              </a:ext>
            </a:extLst>
          </p:cNvPr>
          <p:cNvSpPr/>
          <p:nvPr/>
        </p:nvSpPr>
        <p:spPr>
          <a:xfrm rot="20594472">
            <a:off x="5824830" y="3485726"/>
            <a:ext cx="188912" cy="178120"/>
          </a:xfrm>
          <a:prstGeom prst="chevron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BD09DB-B780-BEF7-1379-E646CDB7FE9C}"/>
              </a:ext>
            </a:extLst>
          </p:cNvPr>
          <p:cNvSpPr/>
          <p:nvPr/>
        </p:nvSpPr>
        <p:spPr>
          <a:xfrm>
            <a:off x="6002568" y="3433649"/>
            <a:ext cx="196101" cy="1524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25" name="Chevron 47">
            <a:extLst>
              <a:ext uri="{FF2B5EF4-FFF2-40B4-BE49-F238E27FC236}">
                <a16:creationId xmlns:a16="http://schemas.microsoft.com/office/drawing/2014/main" id="{01D6B9D8-7BE8-1AA9-395D-900C6D5811F9}"/>
              </a:ext>
            </a:extLst>
          </p:cNvPr>
          <p:cNvSpPr/>
          <p:nvPr/>
        </p:nvSpPr>
        <p:spPr>
          <a:xfrm rot="20097322">
            <a:off x="6905200" y="3059398"/>
            <a:ext cx="188912" cy="178120"/>
          </a:xfrm>
          <a:prstGeom prst="chevron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D91184F-CFBE-49F0-801B-6AF8F2969ABC}"/>
              </a:ext>
            </a:extLst>
          </p:cNvPr>
          <p:cNvCxnSpPr>
            <a:stCxn id="24" idx="0"/>
            <a:endCxn id="6" idx="2"/>
          </p:cNvCxnSpPr>
          <p:nvPr/>
        </p:nvCxnSpPr>
        <p:spPr>
          <a:xfrm flipH="1" flipV="1">
            <a:off x="4711912" y="2104213"/>
            <a:ext cx="1388707" cy="132943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92C247-0139-5ABE-A2E7-A18F9C65B52C}"/>
              </a:ext>
            </a:extLst>
          </p:cNvPr>
          <p:cNvCxnSpPr>
            <a:stCxn id="17" idx="7"/>
            <a:endCxn id="28" idx="2"/>
          </p:cNvCxnSpPr>
          <p:nvPr/>
        </p:nvCxnSpPr>
        <p:spPr>
          <a:xfrm flipV="1">
            <a:off x="7245196" y="2104127"/>
            <a:ext cx="207723" cy="91225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E79B49D-9BFB-66E7-708A-044ECE05EAC7}"/>
              </a:ext>
            </a:extLst>
          </p:cNvPr>
          <p:cNvSpPr/>
          <p:nvPr/>
        </p:nvSpPr>
        <p:spPr>
          <a:xfrm>
            <a:off x="5908798" y="1756018"/>
            <a:ext cx="3088241" cy="348109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62" dirty="0">
                <a:latin typeface="맑은 고딕 (Body)"/>
              </a:rPr>
              <a:t>Diversity and Intensity &gt; UCL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7B199A-5A9F-F7F2-1C12-7F6E5C75A7A4}"/>
              </a:ext>
            </a:extLst>
          </p:cNvPr>
          <p:cNvSpPr/>
          <p:nvPr/>
        </p:nvSpPr>
        <p:spPr>
          <a:xfrm>
            <a:off x="603015" y="1756278"/>
            <a:ext cx="3088241" cy="348109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62" dirty="0">
                <a:latin typeface="맑은 고딕 (Body)"/>
              </a:rPr>
              <a:t>Diversity and Intensity &lt; LCL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CD8F07A-0044-78BA-A31B-F00C840A10D5}"/>
              </a:ext>
            </a:extLst>
          </p:cNvPr>
          <p:cNvCxnSpPr>
            <a:stCxn id="18" idx="0"/>
            <a:endCxn id="29" idx="2"/>
          </p:cNvCxnSpPr>
          <p:nvPr/>
        </p:nvCxnSpPr>
        <p:spPr>
          <a:xfrm flipH="1" flipV="1">
            <a:off x="2147136" y="2104387"/>
            <a:ext cx="1850069" cy="2538054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808A9F3-F633-7906-3102-7105E927017F}"/>
              </a:ext>
            </a:extLst>
          </p:cNvPr>
          <p:cNvSpPr/>
          <p:nvPr/>
        </p:nvSpPr>
        <p:spPr>
          <a:xfrm>
            <a:off x="8283982" y="4240680"/>
            <a:ext cx="971027" cy="348109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62" dirty="0">
                <a:latin typeface="맑은 고딕 (Body)"/>
              </a:rPr>
              <a:t>Normal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7796012-D15A-2308-56E8-939B4DE03B1D}"/>
              </a:ext>
            </a:extLst>
          </p:cNvPr>
          <p:cNvCxnSpPr>
            <a:stCxn id="20" idx="5"/>
            <a:endCxn id="31" idx="1"/>
          </p:cNvCxnSpPr>
          <p:nvPr/>
        </p:nvCxnSpPr>
        <p:spPr>
          <a:xfrm>
            <a:off x="5571412" y="3741182"/>
            <a:ext cx="2712570" cy="673553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46D339-A8AC-7A0A-02F7-9C434672DB32}"/>
              </a:ext>
            </a:extLst>
          </p:cNvPr>
          <p:cNvCxnSpPr>
            <a:stCxn id="19" idx="6"/>
          </p:cNvCxnSpPr>
          <p:nvPr/>
        </p:nvCxnSpPr>
        <p:spPr>
          <a:xfrm flipV="1">
            <a:off x="4688154" y="4396014"/>
            <a:ext cx="3595829" cy="152539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720DF2E-71E0-155C-2478-1E1B5675A071}"/>
              </a:ext>
            </a:extLst>
          </p:cNvPr>
          <p:cNvSpPr/>
          <p:nvPr/>
        </p:nvSpPr>
        <p:spPr>
          <a:xfrm>
            <a:off x="6012034" y="5149336"/>
            <a:ext cx="610079" cy="348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62" dirty="0">
                <a:latin typeface="맑은 고딕 (Body)"/>
              </a:rPr>
              <a:t>UCL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F51FC9-3E66-5CA7-47A2-6B81B9E0A2B4}"/>
              </a:ext>
            </a:extLst>
          </p:cNvPr>
          <p:cNvSpPr/>
          <p:nvPr/>
        </p:nvSpPr>
        <p:spPr>
          <a:xfrm>
            <a:off x="6220833" y="4662503"/>
            <a:ext cx="610079" cy="348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62" dirty="0">
                <a:latin typeface="맑은 고딕 (Body)"/>
              </a:rPr>
              <a:t>LCL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32D316B-D76C-EF55-6BC2-8F0FB5CF0F33}"/>
              </a:ext>
            </a:extLst>
          </p:cNvPr>
          <p:cNvSpPr/>
          <p:nvPr/>
        </p:nvSpPr>
        <p:spPr>
          <a:xfrm rot="19781155">
            <a:off x="2027071" y="4411549"/>
            <a:ext cx="610079" cy="348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62" dirty="0">
                <a:latin typeface="맑은 고딕 (Body)"/>
              </a:rPr>
              <a:t>LCL</a:t>
            </a:r>
          </a:p>
        </p:txBody>
      </p:sp>
      <p:sp>
        <p:nvSpPr>
          <p:cNvPr id="37" name="Rounded Rectangle 93">
            <a:extLst>
              <a:ext uri="{FF2B5EF4-FFF2-40B4-BE49-F238E27FC236}">
                <a16:creationId xmlns:a16="http://schemas.microsoft.com/office/drawing/2014/main" id="{C3E01B20-D5F9-4B0B-2E66-3A57BDABA0B5}"/>
              </a:ext>
            </a:extLst>
          </p:cNvPr>
          <p:cNvSpPr/>
          <p:nvPr/>
        </p:nvSpPr>
        <p:spPr>
          <a:xfrm>
            <a:off x="4789276" y="5988912"/>
            <a:ext cx="442480" cy="19940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38" name="Rounded Rectangle 94">
            <a:extLst>
              <a:ext uri="{FF2B5EF4-FFF2-40B4-BE49-F238E27FC236}">
                <a16:creationId xmlns:a16="http://schemas.microsoft.com/office/drawing/2014/main" id="{898531FC-93DA-08A4-C33E-C0576328F2D7}"/>
              </a:ext>
            </a:extLst>
          </p:cNvPr>
          <p:cNvSpPr/>
          <p:nvPr/>
        </p:nvSpPr>
        <p:spPr>
          <a:xfrm>
            <a:off x="7273914" y="5822147"/>
            <a:ext cx="442480" cy="19940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39" name="Rounded Rectangle 95">
            <a:extLst>
              <a:ext uri="{FF2B5EF4-FFF2-40B4-BE49-F238E27FC236}">
                <a16:creationId xmlns:a16="http://schemas.microsoft.com/office/drawing/2014/main" id="{37F80D7E-3BE7-520E-DC4F-D7ED9294AC0E}"/>
              </a:ext>
            </a:extLst>
          </p:cNvPr>
          <p:cNvSpPr/>
          <p:nvPr/>
        </p:nvSpPr>
        <p:spPr>
          <a:xfrm rot="16403122">
            <a:off x="688257" y="4223607"/>
            <a:ext cx="486727" cy="18088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EA01BA-D14E-CAF0-CC15-152DDD34F7AE}"/>
              </a:ext>
            </a:extLst>
          </p:cNvPr>
          <p:cNvSpPr txBox="1"/>
          <p:nvPr/>
        </p:nvSpPr>
        <p:spPr>
          <a:xfrm rot="16200000">
            <a:off x="484065" y="4102367"/>
            <a:ext cx="826445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92" b="1" dirty="0"/>
              <a:t>Diversity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D54EC1-F012-CA25-2793-E3C974A64D83}"/>
              </a:ext>
            </a:extLst>
          </p:cNvPr>
          <p:cNvSpPr txBox="1"/>
          <p:nvPr/>
        </p:nvSpPr>
        <p:spPr>
          <a:xfrm rot="19342182">
            <a:off x="7497943" y="5403615"/>
            <a:ext cx="817853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92" b="1" dirty="0"/>
              <a:t>Intensity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282B90-73D9-3317-D969-BF79425FEE99}"/>
              </a:ext>
            </a:extLst>
          </p:cNvPr>
          <p:cNvSpPr txBox="1"/>
          <p:nvPr/>
        </p:nvSpPr>
        <p:spPr>
          <a:xfrm>
            <a:off x="3763404" y="5849359"/>
            <a:ext cx="537327" cy="291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92" b="1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769890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EF71D-5319-37FB-197F-4EEC1F32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534E53FB-B3FB-F5C2-72C4-F5482383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1" y="271727"/>
            <a:ext cx="4087038" cy="532718"/>
          </a:xfrm>
        </p:spPr>
        <p:txBody>
          <a:bodyPr>
            <a:normAutofit fontScale="90000"/>
          </a:bodyPr>
          <a:lstStyle/>
          <a:p>
            <a:r>
              <a:rPr lang="en-US" altLang="ko-KR" sz="2031" dirty="0"/>
              <a:t>vii. Motion estimation mechanism</a:t>
            </a:r>
            <a:endParaRPr lang="ko-KR" altLang="en-US" sz="203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EBD31A-10A1-F16E-FEEF-C5F93DA4DDA0}"/>
              </a:ext>
            </a:extLst>
          </p:cNvPr>
          <p:cNvGrpSpPr/>
          <p:nvPr/>
        </p:nvGrpSpPr>
        <p:grpSpPr>
          <a:xfrm>
            <a:off x="668524" y="1016732"/>
            <a:ext cx="8038344" cy="5370121"/>
            <a:chOff x="711593" y="584684"/>
            <a:chExt cx="8708206" cy="5817631"/>
          </a:xfrm>
        </p:grpSpPr>
        <p:sp>
          <p:nvSpPr>
            <p:cNvPr id="5" name="Flowchart: Terminator 4">
              <a:extLst>
                <a:ext uri="{FF2B5EF4-FFF2-40B4-BE49-F238E27FC236}">
                  <a16:creationId xmlns:a16="http://schemas.microsoft.com/office/drawing/2014/main" id="{FF0F6857-8629-78C5-8AEA-FFBCB2268108}"/>
                </a:ext>
              </a:extLst>
            </p:cNvPr>
            <p:cNvSpPr/>
            <p:nvPr/>
          </p:nvSpPr>
          <p:spPr>
            <a:xfrm>
              <a:off x="4472209" y="584684"/>
              <a:ext cx="1008112" cy="249533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Start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52E5C0C-7E84-3C99-8297-7BAD872714D1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4976265" y="834217"/>
              <a:ext cx="0" cy="218519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CB8DA9-7920-3FE5-702E-2F83178BEE95}"/>
                </a:ext>
              </a:extLst>
            </p:cNvPr>
            <p:cNvSpPr/>
            <p:nvPr/>
          </p:nvSpPr>
          <p:spPr>
            <a:xfrm>
              <a:off x="3680121" y="1052736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Input video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1EF9B6A-6B85-25EA-E347-46CB46867F72}"/>
                </a:ext>
              </a:extLst>
            </p:cNvPr>
            <p:cNvSpPr/>
            <p:nvPr/>
          </p:nvSpPr>
          <p:spPr>
            <a:xfrm>
              <a:off x="3682424" y="1858326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Two consecutive frames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AE9A67-160D-DE4C-0641-70F9EE0B6B81}"/>
                </a:ext>
              </a:extLst>
            </p:cNvPr>
            <p:cNvSpPr/>
            <p:nvPr/>
          </p:nvSpPr>
          <p:spPr>
            <a:xfrm>
              <a:off x="711593" y="2668904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Absolute difference  </a:t>
              </a:r>
            </a:p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computation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606DC8-F210-F664-53E8-11FCBCD8EFFA}"/>
                </a:ext>
              </a:extLst>
            </p:cNvPr>
            <p:cNvSpPr/>
            <p:nvPr/>
          </p:nvSpPr>
          <p:spPr>
            <a:xfrm>
              <a:off x="3681272" y="2668906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Remove noise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E46BD5-F73D-326D-3A42-9E4ED912883A}"/>
                </a:ext>
              </a:extLst>
            </p:cNvPr>
            <p:cNvSpPr/>
            <p:nvPr/>
          </p:nvSpPr>
          <p:spPr>
            <a:xfrm>
              <a:off x="6645188" y="2668905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Background subtraction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37FC985-1F16-76F6-21A6-58B5C09B7B9B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4976265" y="1541775"/>
              <a:ext cx="2303" cy="31655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459D3FA-29F2-6651-6969-A3C54B3AC041}"/>
                </a:ext>
              </a:extLst>
            </p:cNvPr>
            <p:cNvCxnSpPr>
              <a:stCxn id="8" idx="2"/>
              <a:endCxn id="10" idx="0"/>
            </p:cNvCxnSpPr>
            <p:nvPr/>
          </p:nvCxnSpPr>
          <p:spPr>
            <a:xfrm flipH="1">
              <a:off x="4977416" y="2347365"/>
              <a:ext cx="1152" cy="32154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093525-5546-2FD2-A606-9656CC9851A8}"/>
                </a:ext>
              </a:extLst>
            </p:cNvPr>
            <p:cNvSpPr/>
            <p:nvPr/>
          </p:nvSpPr>
          <p:spPr>
            <a:xfrm>
              <a:off x="3680121" y="3479486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Optical flow algorithm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8E87171-2169-2DA5-2031-7CC646F05E1B}"/>
                </a:ext>
              </a:extLst>
            </p:cNvPr>
            <p:cNvCxnSpPr>
              <a:stCxn id="10" idx="2"/>
              <a:endCxn id="14" idx="0"/>
            </p:cNvCxnSpPr>
            <p:nvPr/>
          </p:nvCxnSpPr>
          <p:spPr>
            <a:xfrm flipH="1">
              <a:off x="4976265" y="3157945"/>
              <a:ext cx="1151" cy="32154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2DA2CE1-6DA8-9F1C-8C72-98690A5088F9}"/>
                </a:ext>
              </a:extLst>
            </p:cNvPr>
            <p:cNvSpPr/>
            <p:nvPr/>
          </p:nvSpPr>
          <p:spPr>
            <a:xfrm>
              <a:off x="3681272" y="4290066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Binary motion estimation </a:t>
              </a:r>
            </a:p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from optical flow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1AB024C-5B57-4023-B848-DCF23E1A9506}"/>
                </a:ext>
              </a:extLst>
            </p:cNvPr>
            <p:cNvCxnSpPr>
              <a:endCxn id="16" idx="0"/>
            </p:cNvCxnSpPr>
            <p:nvPr/>
          </p:nvCxnSpPr>
          <p:spPr>
            <a:xfrm flipH="1">
              <a:off x="4977416" y="3968525"/>
              <a:ext cx="1151" cy="32154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C840AB-FB5C-A0CD-AA81-874503F3B2A3}"/>
                </a:ext>
              </a:extLst>
            </p:cNvPr>
            <p:cNvSpPr/>
            <p:nvPr/>
          </p:nvSpPr>
          <p:spPr>
            <a:xfrm>
              <a:off x="3681272" y="5147850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Binary images integration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BF272B2-EE5C-83DD-255B-260A0FB5544D}"/>
                </a:ext>
              </a:extLst>
            </p:cNvPr>
            <p:cNvCxnSpPr>
              <a:stCxn id="16" idx="2"/>
              <a:endCxn id="18" idx="0"/>
            </p:cNvCxnSpPr>
            <p:nvPr/>
          </p:nvCxnSpPr>
          <p:spPr>
            <a:xfrm>
              <a:off x="4977416" y="4779105"/>
              <a:ext cx="0" cy="36874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78B6CC5-355A-0F76-D08D-9255D320B01C}"/>
                </a:ext>
              </a:extLst>
            </p:cNvPr>
            <p:cNvSpPr/>
            <p:nvPr/>
          </p:nvSpPr>
          <p:spPr>
            <a:xfrm>
              <a:off x="715054" y="3479486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Thresholding on calculated </a:t>
              </a:r>
            </a:p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difference image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B3F3271-34EB-8620-0C47-8996DB9809BA}"/>
                </a:ext>
              </a:extLst>
            </p:cNvPr>
            <p:cNvCxnSpPr>
              <a:endCxn id="20" idx="0"/>
            </p:cNvCxnSpPr>
            <p:nvPr/>
          </p:nvCxnSpPr>
          <p:spPr>
            <a:xfrm flipH="1">
              <a:off x="2011198" y="3157945"/>
              <a:ext cx="1151" cy="32154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223C029-2D09-392A-001C-E1DF71B45DF1}"/>
                </a:ext>
              </a:extLst>
            </p:cNvPr>
            <p:cNvSpPr/>
            <p:nvPr/>
          </p:nvSpPr>
          <p:spPr>
            <a:xfrm>
              <a:off x="716205" y="4290066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Binary motion estimation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29FA548-4BAC-CB95-2380-D136C62E970D}"/>
                </a:ext>
              </a:extLst>
            </p:cNvPr>
            <p:cNvCxnSpPr>
              <a:endCxn id="22" idx="0"/>
            </p:cNvCxnSpPr>
            <p:nvPr/>
          </p:nvCxnSpPr>
          <p:spPr>
            <a:xfrm flipH="1">
              <a:off x="2012349" y="3968525"/>
              <a:ext cx="1151" cy="32154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E81F0F7-5EC2-BD94-10AA-1C195856947C}"/>
                </a:ext>
              </a:extLst>
            </p:cNvPr>
            <p:cNvSpPr/>
            <p:nvPr/>
          </p:nvSpPr>
          <p:spPr>
            <a:xfrm>
              <a:off x="6644037" y="3487997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Thresholding on subtracted </a:t>
              </a:r>
            </a:p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image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0824A3A-1684-500B-F637-26B5C3DFFC55}"/>
                </a:ext>
              </a:extLst>
            </p:cNvPr>
            <p:cNvCxnSpPr>
              <a:endCxn id="24" idx="0"/>
            </p:cNvCxnSpPr>
            <p:nvPr/>
          </p:nvCxnSpPr>
          <p:spPr>
            <a:xfrm flipH="1">
              <a:off x="7940181" y="3166456"/>
              <a:ext cx="1151" cy="32154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B3D943-51AD-EB54-7062-6B0335233CAB}"/>
                </a:ext>
              </a:extLst>
            </p:cNvPr>
            <p:cNvSpPr/>
            <p:nvPr/>
          </p:nvSpPr>
          <p:spPr>
            <a:xfrm>
              <a:off x="6645188" y="4298577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Binary motion estimation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5761B3E-FEE8-66A7-4174-D5A5915442E4}"/>
                </a:ext>
              </a:extLst>
            </p:cNvPr>
            <p:cNvCxnSpPr>
              <a:endCxn id="26" idx="0"/>
            </p:cNvCxnSpPr>
            <p:nvPr/>
          </p:nvCxnSpPr>
          <p:spPr>
            <a:xfrm flipH="1">
              <a:off x="7941332" y="3977036"/>
              <a:ext cx="1151" cy="32154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32">
              <a:extLst>
                <a:ext uri="{FF2B5EF4-FFF2-40B4-BE49-F238E27FC236}">
                  <a16:creationId xmlns:a16="http://schemas.microsoft.com/office/drawing/2014/main" id="{00A53245-3A52-C360-9C5D-594F0FFF82CF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 rot="5400000">
              <a:off x="3332384" y="1022719"/>
              <a:ext cx="321539" cy="2970831"/>
            </a:xfrm>
            <a:prstGeom prst="bentConnector3">
              <a:avLst>
                <a:gd name="adj1" fmla="val 34201"/>
              </a:avLst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35">
              <a:extLst>
                <a:ext uri="{FF2B5EF4-FFF2-40B4-BE49-F238E27FC236}">
                  <a16:creationId xmlns:a16="http://schemas.microsoft.com/office/drawing/2014/main" id="{0939C4AF-3896-DEEA-62F3-FE307E92E70E}"/>
                </a:ext>
              </a:extLst>
            </p:cNvPr>
            <p:cNvCxnSpPr>
              <a:stCxn id="8" idx="2"/>
              <a:endCxn id="11" idx="0"/>
            </p:cNvCxnSpPr>
            <p:nvPr/>
          </p:nvCxnSpPr>
          <p:spPr>
            <a:xfrm rot="16200000" flipH="1">
              <a:off x="6299180" y="1026753"/>
              <a:ext cx="321540" cy="2962764"/>
            </a:xfrm>
            <a:prstGeom prst="bentConnector3">
              <a:avLst>
                <a:gd name="adj1" fmla="val 34201"/>
              </a:avLst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BC4284F-814E-8DB2-ECC4-20EA44FD0391}"/>
                </a:ext>
              </a:extLst>
            </p:cNvPr>
            <p:cNvSpPr/>
            <p:nvPr/>
          </p:nvSpPr>
          <p:spPr>
            <a:xfrm>
              <a:off x="3681272" y="5913276"/>
              <a:ext cx="2592288" cy="4890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Final motion computation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BB9C30A-6888-9A64-DB2B-058AFD781A16}"/>
                </a:ext>
              </a:extLst>
            </p:cNvPr>
            <p:cNvCxnSpPr>
              <a:stCxn id="18" idx="2"/>
              <a:endCxn id="30" idx="0"/>
            </p:cNvCxnSpPr>
            <p:nvPr/>
          </p:nvCxnSpPr>
          <p:spPr>
            <a:xfrm>
              <a:off x="4977416" y="5636889"/>
              <a:ext cx="0" cy="27638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lowchart: Decision 31">
              <a:extLst>
                <a:ext uri="{FF2B5EF4-FFF2-40B4-BE49-F238E27FC236}">
                  <a16:creationId xmlns:a16="http://schemas.microsoft.com/office/drawing/2014/main" id="{718CDD61-B0BB-A566-127A-7D0E723E2C41}"/>
                </a:ext>
              </a:extLst>
            </p:cNvPr>
            <p:cNvSpPr/>
            <p:nvPr/>
          </p:nvSpPr>
          <p:spPr>
            <a:xfrm>
              <a:off x="6861212" y="5131313"/>
              <a:ext cx="1548172" cy="906590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Last </a:t>
              </a:r>
            </a:p>
            <a:p>
              <a:pPr algn="ctr"/>
              <a:r>
                <a:rPr lang="en-US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frame?</a:t>
              </a:r>
            </a:p>
          </p:txBody>
        </p:sp>
        <p:cxnSp>
          <p:nvCxnSpPr>
            <p:cNvPr id="33" name="Elbow Connector 55">
              <a:extLst>
                <a:ext uri="{FF2B5EF4-FFF2-40B4-BE49-F238E27FC236}">
                  <a16:creationId xmlns:a16="http://schemas.microsoft.com/office/drawing/2014/main" id="{6E6D1257-5DAE-4591-7F11-C47AFCF78482}"/>
                </a:ext>
              </a:extLst>
            </p:cNvPr>
            <p:cNvCxnSpPr>
              <a:stCxn id="30" idx="3"/>
              <a:endCxn id="32" idx="1"/>
            </p:cNvCxnSpPr>
            <p:nvPr/>
          </p:nvCxnSpPr>
          <p:spPr>
            <a:xfrm flipV="1">
              <a:off x="6273560" y="5584608"/>
              <a:ext cx="587652" cy="573188"/>
            </a:xfrm>
            <a:prstGeom prst="bentConnector3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105">
              <a:extLst>
                <a:ext uri="{FF2B5EF4-FFF2-40B4-BE49-F238E27FC236}">
                  <a16:creationId xmlns:a16="http://schemas.microsoft.com/office/drawing/2014/main" id="{4E330D1F-512C-81C9-0F19-5D21709CA36C}"/>
                </a:ext>
              </a:extLst>
            </p:cNvPr>
            <p:cNvCxnSpPr>
              <a:stCxn id="32" idx="3"/>
              <a:endCxn id="42" idx="3"/>
            </p:cNvCxnSpPr>
            <p:nvPr/>
          </p:nvCxnSpPr>
          <p:spPr>
            <a:xfrm flipH="1" flipV="1">
              <a:off x="4980537" y="1645863"/>
              <a:ext cx="3428847" cy="3938745"/>
            </a:xfrm>
            <a:prstGeom prst="bentConnector3">
              <a:avLst>
                <a:gd name="adj1" fmla="val -27902"/>
              </a:avLst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: Rounded Corners 100">
              <a:extLst>
                <a:ext uri="{FF2B5EF4-FFF2-40B4-BE49-F238E27FC236}">
                  <a16:creationId xmlns:a16="http://schemas.microsoft.com/office/drawing/2014/main" id="{DA2B59A5-60B4-23BD-050C-7509487DC5DF}"/>
                </a:ext>
              </a:extLst>
            </p:cNvPr>
            <p:cNvSpPr/>
            <p:nvPr/>
          </p:nvSpPr>
          <p:spPr>
            <a:xfrm>
              <a:off x="6370109" y="1385128"/>
              <a:ext cx="2885538" cy="2342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Process next consecutive frames</a:t>
              </a:r>
            </a:p>
          </p:txBody>
        </p:sp>
        <p:sp>
          <p:nvSpPr>
            <p:cNvPr id="36" name="Flowchart: Terminator 35">
              <a:extLst>
                <a:ext uri="{FF2B5EF4-FFF2-40B4-BE49-F238E27FC236}">
                  <a16:creationId xmlns:a16="http://schemas.microsoft.com/office/drawing/2014/main" id="{540E8D84-1082-2F76-D00A-175565A96E20}"/>
                </a:ext>
              </a:extLst>
            </p:cNvPr>
            <p:cNvSpPr/>
            <p:nvPr/>
          </p:nvSpPr>
          <p:spPr>
            <a:xfrm>
              <a:off x="8411687" y="6131795"/>
              <a:ext cx="1008112" cy="249533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End</a:t>
              </a:r>
              <a:endParaRPr lang="ja-JP" alt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endParaRPr>
            </a:p>
          </p:txBody>
        </p:sp>
        <p:cxnSp>
          <p:nvCxnSpPr>
            <p:cNvPr id="37" name="Elbow Connector 117">
              <a:extLst>
                <a:ext uri="{FF2B5EF4-FFF2-40B4-BE49-F238E27FC236}">
                  <a16:creationId xmlns:a16="http://schemas.microsoft.com/office/drawing/2014/main" id="{836D8B7B-ED3E-09DE-6382-9A69B3F8CF9F}"/>
                </a:ext>
              </a:extLst>
            </p:cNvPr>
            <p:cNvCxnSpPr>
              <a:stCxn id="32" idx="2"/>
              <a:endCxn id="36" idx="1"/>
            </p:cNvCxnSpPr>
            <p:nvPr/>
          </p:nvCxnSpPr>
          <p:spPr>
            <a:xfrm rot="16200000" flipH="1">
              <a:off x="7914163" y="5759037"/>
              <a:ext cx="218659" cy="776389"/>
            </a:xfrm>
            <a:prstGeom prst="bentConnector2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: Rounded Corners 100">
              <a:extLst>
                <a:ext uri="{FF2B5EF4-FFF2-40B4-BE49-F238E27FC236}">
                  <a16:creationId xmlns:a16="http://schemas.microsoft.com/office/drawing/2014/main" id="{5C8A2011-1F1C-ABDD-6D28-E1B01E495223}"/>
                </a:ext>
              </a:extLst>
            </p:cNvPr>
            <p:cNvSpPr/>
            <p:nvPr/>
          </p:nvSpPr>
          <p:spPr>
            <a:xfrm>
              <a:off x="7646931" y="5993257"/>
              <a:ext cx="586500" cy="2342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39" name="Rectangle: Rounded Corners 100">
              <a:extLst>
                <a:ext uri="{FF2B5EF4-FFF2-40B4-BE49-F238E27FC236}">
                  <a16:creationId xmlns:a16="http://schemas.microsoft.com/office/drawing/2014/main" id="{AD135CC5-389F-9366-3E78-9CA8F59F698B}"/>
                </a:ext>
              </a:extLst>
            </p:cNvPr>
            <p:cNvSpPr/>
            <p:nvPr/>
          </p:nvSpPr>
          <p:spPr>
            <a:xfrm>
              <a:off x="8485989" y="5342605"/>
              <a:ext cx="713206" cy="23420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92" dirty="0">
                  <a:solidFill>
                    <a:schemeClr val="tx1"/>
                  </a:solidFill>
                  <a:latin typeface="맑은 고딕 (Body)"/>
                  <a:cs typeface="Times New Roman" panose="02020603050405020304" pitchFamily="18" charset="0"/>
                </a:rPr>
                <a:t>No</a:t>
              </a:r>
            </a:p>
          </p:txBody>
        </p:sp>
        <p:cxnSp>
          <p:nvCxnSpPr>
            <p:cNvPr id="40" name="Elbow Connector 124">
              <a:extLst>
                <a:ext uri="{FF2B5EF4-FFF2-40B4-BE49-F238E27FC236}">
                  <a16:creationId xmlns:a16="http://schemas.microsoft.com/office/drawing/2014/main" id="{92D65674-F546-7B07-9EEC-D0E9F7688EE6}"/>
                </a:ext>
              </a:extLst>
            </p:cNvPr>
            <p:cNvCxnSpPr>
              <a:stCxn id="26" idx="2"/>
            </p:cNvCxnSpPr>
            <p:nvPr/>
          </p:nvCxnSpPr>
          <p:spPr>
            <a:xfrm rot="5400000">
              <a:off x="6400025" y="3363857"/>
              <a:ext cx="117548" cy="296506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126">
              <a:extLst>
                <a:ext uri="{FF2B5EF4-FFF2-40B4-BE49-F238E27FC236}">
                  <a16:creationId xmlns:a16="http://schemas.microsoft.com/office/drawing/2014/main" id="{3E2D5A9A-81A4-EA89-817C-9A031BF94A48}"/>
                </a:ext>
              </a:extLst>
            </p:cNvPr>
            <p:cNvCxnSpPr>
              <a:stCxn id="22" idx="2"/>
            </p:cNvCxnSpPr>
            <p:nvPr/>
          </p:nvCxnSpPr>
          <p:spPr>
            <a:xfrm rot="16200000" flipH="1">
              <a:off x="3431278" y="3360176"/>
              <a:ext cx="126060" cy="2963918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75CE78B-240D-6AC9-9BE3-4B494C15A4F4}"/>
                </a:ext>
              </a:extLst>
            </p:cNvPr>
            <p:cNvSpPr/>
            <p:nvPr/>
          </p:nvSpPr>
          <p:spPr>
            <a:xfrm>
              <a:off x="4758638" y="1592796"/>
              <a:ext cx="221899" cy="1061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</p:grpSp>
    </p:spTree>
    <p:extLst>
      <p:ext uri="{BB962C8B-B14F-4D97-AF65-F5344CB8AC3E}">
        <p14:creationId xmlns:p14="http://schemas.microsoft.com/office/powerpoint/2010/main" val="538374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EF71D-5319-37FB-197F-4EEC1F32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011B0-7F36-7CB3-2C73-AF98B5708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205257"/>
            <a:ext cx="7254176" cy="669177"/>
          </a:xfrm>
        </p:spPr>
        <p:txBody>
          <a:bodyPr>
            <a:normAutofit/>
          </a:bodyPr>
          <a:lstStyle/>
          <a:p>
            <a:r>
              <a:rPr lang="en-US" dirty="0"/>
              <a:t>viii. Baby behavior estimation mechanism</a:t>
            </a: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B0768A04-B8F8-CAE8-6524-6502B68164BE}"/>
              </a:ext>
            </a:extLst>
          </p:cNvPr>
          <p:cNvSpPr/>
          <p:nvPr/>
        </p:nvSpPr>
        <p:spPr>
          <a:xfrm>
            <a:off x="4377749" y="1146400"/>
            <a:ext cx="930565" cy="230338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Start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A8DE0F4-FF54-FCB8-C836-7B33F52D71A8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43032" y="1376738"/>
            <a:ext cx="1" cy="18675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5F1BCE2-B88A-FD8F-4437-9136141138F6}"/>
              </a:ext>
            </a:extLst>
          </p:cNvPr>
          <p:cNvSpPr/>
          <p:nvPr/>
        </p:nvSpPr>
        <p:spPr>
          <a:xfrm>
            <a:off x="2400300" y="1563488"/>
            <a:ext cx="4885464" cy="3348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Input video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7F9B85-6D26-0DBD-5155-6A83CD632DC3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4843032" y="1898326"/>
            <a:ext cx="0" cy="29661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3332BD0-FDFA-850B-8406-B173AF1DCC1A}"/>
              </a:ext>
            </a:extLst>
          </p:cNvPr>
          <p:cNvSpPr/>
          <p:nvPr/>
        </p:nvSpPr>
        <p:spPr>
          <a:xfrm>
            <a:off x="2400300" y="2194942"/>
            <a:ext cx="4885464" cy="337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Select interval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B8D317-BC42-97DD-1727-C900AB743125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4843032" y="2532568"/>
            <a:ext cx="1973" cy="19978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1D6F75B-48F3-6340-E6D0-05AD5F1D726C}"/>
              </a:ext>
            </a:extLst>
          </p:cNvPr>
          <p:cNvSpPr/>
          <p:nvPr/>
        </p:nvSpPr>
        <p:spPr>
          <a:xfrm>
            <a:off x="2402272" y="2732351"/>
            <a:ext cx="4885465" cy="337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Compute motion through motion estimation mechanism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DAFB5A-44B4-6DE3-B02A-3429E182F0EE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4843032" y="3069976"/>
            <a:ext cx="1973" cy="22123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7AE7120-31AD-7584-E995-22785352C65B}"/>
              </a:ext>
            </a:extLst>
          </p:cNvPr>
          <p:cNvSpPr/>
          <p:nvPr/>
        </p:nvSpPr>
        <p:spPr>
          <a:xfrm>
            <a:off x="2400300" y="3291210"/>
            <a:ext cx="4885465" cy="337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Draw ellipse(s) on all frames of single interval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4E807F-2A46-A3FC-5DA9-473AAEE894A6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4843032" y="3628835"/>
            <a:ext cx="0" cy="220328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AF85584-9A84-5FEE-0FF5-D8089909871C}"/>
              </a:ext>
            </a:extLst>
          </p:cNvPr>
          <p:cNvSpPr/>
          <p:nvPr/>
        </p:nvSpPr>
        <p:spPr>
          <a:xfrm>
            <a:off x="2400300" y="3849163"/>
            <a:ext cx="4885465" cy="337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Construct control chart using ellipse(s) [</a:t>
            </a:r>
            <a:r>
              <a:rPr lang="en-US" altLang="ja-JP" sz="1108" b="1" i="1" dirty="0">
                <a:solidFill>
                  <a:schemeClr val="tx1"/>
                </a:solidFill>
                <a:latin typeface="Georgia" panose="02040502050405020303" pitchFamily="18" charset="0"/>
              </a:rPr>
              <a:t>I </a:t>
            </a:r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and</a:t>
            </a:r>
            <a:r>
              <a:rPr lang="en-US" altLang="ja-JP" sz="1108" b="1" i="1" dirty="0">
                <a:solidFill>
                  <a:schemeClr val="tx1"/>
                </a:solidFill>
                <a:latin typeface="Georgia" panose="02040502050405020303" pitchFamily="18" charset="0"/>
              </a:rPr>
              <a:t> D</a:t>
            </a:r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]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25984359-6823-336F-360C-CE75DB477861}"/>
              </a:ext>
            </a:extLst>
          </p:cNvPr>
          <p:cNvSpPr/>
          <p:nvPr/>
        </p:nvSpPr>
        <p:spPr>
          <a:xfrm>
            <a:off x="3530270" y="4440166"/>
            <a:ext cx="2625522" cy="83685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1" b="1" i="1" dirty="0">
                <a:solidFill>
                  <a:srgbClr val="FF0000"/>
                </a:solidFill>
                <a:latin typeface="Georgia" panose="02040502050405020303" pitchFamily="18" charset="0"/>
              </a:rPr>
              <a:t>I </a:t>
            </a:r>
            <a:r>
              <a:rPr lang="en-US" sz="831" dirty="0">
                <a:solidFill>
                  <a:srgbClr val="FF0000"/>
                </a:solidFill>
                <a:latin typeface="맑은 고딕 (Body)"/>
                <a:cs typeface="Times New Roman" panose="02020603050405020304" pitchFamily="18" charset="0"/>
              </a:rPr>
              <a:t>&lt;</a:t>
            </a:r>
            <a:r>
              <a:rPr lang="en-US" sz="831" b="1" i="1" dirty="0">
                <a:solidFill>
                  <a:srgbClr val="FF0000"/>
                </a:solidFill>
                <a:latin typeface="Georgia" panose="02040502050405020303" pitchFamily="18" charset="0"/>
              </a:rPr>
              <a:t> </a:t>
            </a:r>
            <a:r>
              <a:rPr lang="en-US" sz="831" dirty="0">
                <a:solidFill>
                  <a:srgbClr val="FF0000"/>
                </a:solidFill>
                <a:latin typeface="맑은 고딕 (Body)"/>
                <a:cs typeface="Times New Roman" panose="02020603050405020304" pitchFamily="18" charset="0"/>
              </a:rPr>
              <a:t>LCL</a:t>
            </a:r>
            <a:r>
              <a:rPr lang="en-US" sz="831" b="1" i="1" dirty="0">
                <a:solidFill>
                  <a:srgbClr val="FF0000"/>
                </a:solidFill>
                <a:latin typeface="Georgia" panose="02040502050405020303" pitchFamily="18" charset="0"/>
              </a:rPr>
              <a:t> </a:t>
            </a:r>
            <a:r>
              <a:rPr lang="en-US" sz="831" b="1" dirty="0">
                <a:solidFill>
                  <a:srgbClr val="FF0000"/>
                </a:solidFill>
                <a:latin typeface="맑은 고딕 (Body)"/>
                <a:cs typeface="Times New Roman" panose="02020603050405020304" pitchFamily="18" charset="0"/>
              </a:rPr>
              <a:t>OR</a:t>
            </a:r>
            <a:r>
              <a:rPr lang="en-US" sz="831" b="1" i="1" dirty="0">
                <a:solidFill>
                  <a:srgbClr val="FF0000"/>
                </a:solidFill>
                <a:latin typeface="Georgia" panose="02040502050405020303" pitchFamily="18" charset="0"/>
              </a:rPr>
              <a:t> I </a:t>
            </a:r>
            <a:r>
              <a:rPr lang="en-US" sz="831" dirty="0">
                <a:solidFill>
                  <a:srgbClr val="FF0000"/>
                </a:solidFill>
                <a:latin typeface="맑은 고딕 (Body)"/>
                <a:cs typeface="Times New Roman" panose="02020603050405020304" pitchFamily="18" charset="0"/>
              </a:rPr>
              <a:t>&gt;</a:t>
            </a:r>
            <a:r>
              <a:rPr lang="en-US" sz="831" b="1" i="1" dirty="0">
                <a:solidFill>
                  <a:srgbClr val="FF0000"/>
                </a:solidFill>
                <a:latin typeface="Georgia" panose="02040502050405020303" pitchFamily="18" charset="0"/>
              </a:rPr>
              <a:t> </a:t>
            </a:r>
            <a:r>
              <a:rPr lang="en-US" sz="831" dirty="0">
                <a:solidFill>
                  <a:srgbClr val="FF0000"/>
                </a:solidFill>
                <a:latin typeface="맑은 고딕 (Body)"/>
                <a:cs typeface="Times New Roman" panose="02020603050405020304" pitchFamily="18" charset="0"/>
              </a:rPr>
              <a:t>UCL?</a:t>
            </a:r>
          </a:p>
          <a:p>
            <a:pPr algn="ctr"/>
            <a:r>
              <a:rPr lang="en-US" sz="831" b="1" dirty="0">
                <a:solidFill>
                  <a:srgbClr val="FF0000"/>
                </a:solidFill>
                <a:latin typeface="맑은 고딕 (Body)"/>
                <a:cs typeface="Times New Roman" panose="02020603050405020304" pitchFamily="18" charset="0"/>
              </a:rPr>
              <a:t>OR</a:t>
            </a:r>
          </a:p>
          <a:p>
            <a:pPr algn="ctr"/>
            <a:r>
              <a:rPr lang="en-US" sz="831" b="1" i="1" dirty="0">
                <a:solidFill>
                  <a:srgbClr val="FF0000"/>
                </a:solidFill>
                <a:latin typeface="Georgia" panose="02040502050405020303" pitchFamily="18" charset="0"/>
              </a:rPr>
              <a:t>D</a:t>
            </a:r>
            <a:r>
              <a:rPr lang="en-US" sz="831" dirty="0">
                <a:solidFill>
                  <a:srgbClr val="FF0000"/>
                </a:solidFill>
                <a:latin typeface="맑은 고딕 (Body)"/>
                <a:cs typeface="Times New Roman" panose="02020603050405020304" pitchFamily="18" charset="0"/>
              </a:rPr>
              <a:t> &lt; LCL </a:t>
            </a:r>
            <a:r>
              <a:rPr lang="en-US" sz="831" b="1" dirty="0">
                <a:solidFill>
                  <a:srgbClr val="FF0000"/>
                </a:solidFill>
                <a:latin typeface="맑은 고딕 (Body)"/>
                <a:cs typeface="Times New Roman" panose="02020603050405020304" pitchFamily="18" charset="0"/>
              </a:rPr>
              <a:t>OR</a:t>
            </a:r>
            <a:r>
              <a:rPr lang="en-US" sz="831" dirty="0">
                <a:solidFill>
                  <a:srgbClr val="FF0000"/>
                </a:solidFill>
                <a:latin typeface="맑은 고딕 (Body)"/>
                <a:cs typeface="Times New Roman" panose="02020603050405020304" pitchFamily="18" charset="0"/>
              </a:rPr>
              <a:t> </a:t>
            </a:r>
            <a:r>
              <a:rPr lang="en-US" sz="831" b="1" i="1" dirty="0">
                <a:solidFill>
                  <a:srgbClr val="FF0000"/>
                </a:solidFill>
                <a:latin typeface="Georgia" panose="02040502050405020303" pitchFamily="18" charset="0"/>
              </a:rPr>
              <a:t>D </a:t>
            </a:r>
            <a:r>
              <a:rPr lang="en-US" sz="831" dirty="0">
                <a:solidFill>
                  <a:srgbClr val="FF0000"/>
                </a:solidFill>
                <a:latin typeface="맑은 고딕 (Body)"/>
                <a:cs typeface="Times New Roman" panose="02020603050405020304" pitchFamily="18" charset="0"/>
              </a:rPr>
              <a:t>&gt; UCL?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92F82F-2277-6AD7-8AB1-ED4659BB5E6F}"/>
              </a:ext>
            </a:extLst>
          </p:cNvPr>
          <p:cNvSpPr/>
          <p:nvPr/>
        </p:nvSpPr>
        <p:spPr>
          <a:xfrm>
            <a:off x="1281520" y="4535803"/>
            <a:ext cx="1816703" cy="644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Report instantly to </a:t>
            </a:r>
          </a:p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parents for abnormal </a:t>
            </a:r>
          </a:p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behavior of baby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7E608-542C-FC8F-8FF1-62505643B626}"/>
              </a:ext>
            </a:extLst>
          </p:cNvPr>
          <p:cNvSpPr/>
          <p:nvPr/>
        </p:nvSpPr>
        <p:spPr>
          <a:xfrm>
            <a:off x="6643461" y="4535803"/>
            <a:ext cx="1816703" cy="644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Normal behavior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1E4902-9B86-8991-FA6A-5A1126D26889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6155792" y="4857871"/>
            <a:ext cx="487669" cy="72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A28EC9-A90F-3C47-02B0-2BE289D103D2}"/>
              </a:ext>
            </a:extLst>
          </p:cNvPr>
          <p:cNvCxnSpPr>
            <a:stCxn id="15" idx="1"/>
            <a:endCxn id="16" idx="3"/>
          </p:cNvCxnSpPr>
          <p:nvPr/>
        </p:nvCxnSpPr>
        <p:spPr>
          <a:xfrm flipH="1" flipV="1">
            <a:off x="3098223" y="4857871"/>
            <a:ext cx="432047" cy="72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BF0B42CD-21DE-D3E1-519B-07D3BC9405D3}"/>
              </a:ext>
            </a:extLst>
          </p:cNvPr>
          <p:cNvSpPr/>
          <p:nvPr/>
        </p:nvSpPr>
        <p:spPr>
          <a:xfrm>
            <a:off x="4137973" y="5625566"/>
            <a:ext cx="1429082" cy="67846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8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Last </a:t>
            </a:r>
          </a:p>
          <a:p>
            <a:pPr algn="ctr"/>
            <a:r>
              <a:rPr lang="en-US" sz="1108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interval?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A12C7C-A796-1DE8-7BC9-1691C8E22FCA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4843032" y="4186788"/>
            <a:ext cx="1" cy="253378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145">
            <a:extLst>
              <a:ext uri="{FF2B5EF4-FFF2-40B4-BE49-F238E27FC236}">
                <a16:creationId xmlns:a16="http://schemas.microsoft.com/office/drawing/2014/main" id="{ABC6756B-A4B3-02C9-6A41-03C066A25DE4}"/>
              </a:ext>
            </a:extLst>
          </p:cNvPr>
          <p:cNvCxnSpPr>
            <a:stCxn id="16" idx="2"/>
            <a:endCxn id="17" idx="2"/>
          </p:cNvCxnSpPr>
          <p:nvPr/>
        </p:nvCxnSpPr>
        <p:spPr>
          <a:xfrm rot="16200000" flipH="1">
            <a:off x="4870842" y="2498968"/>
            <a:ext cx="11723" cy="5361941"/>
          </a:xfrm>
          <a:prstGeom prst="bentConnector3">
            <a:avLst>
              <a:gd name="adj1" fmla="val 180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938B53A-A191-D7A0-7998-D90535DDDE22}"/>
              </a:ext>
            </a:extLst>
          </p:cNvPr>
          <p:cNvCxnSpPr/>
          <p:nvPr/>
        </p:nvCxnSpPr>
        <p:spPr>
          <a:xfrm>
            <a:off x="4843030" y="5385451"/>
            <a:ext cx="0" cy="26587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Terminator 23">
            <a:extLst>
              <a:ext uri="{FF2B5EF4-FFF2-40B4-BE49-F238E27FC236}">
                <a16:creationId xmlns:a16="http://schemas.microsoft.com/office/drawing/2014/main" id="{E1D0D722-0F80-B1AB-783F-C8381831DB10}"/>
              </a:ext>
            </a:extLst>
          </p:cNvPr>
          <p:cNvSpPr/>
          <p:nvPr/>
        </p:nvSpPr>
        <p:spPr>
          <a:xfrm>
            <a:off x="4377747" y="6608272"/>
            <a:ext cx="930565" cy="230338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End</a:t>
            </a:r>
            <a:endParaRPr lang="ja-JP" altLang="en-US" sz="1292" dirty="0">
              <a:solidFill>
                <a:schemeClr val="tx1"/>
              </a:solidFill>
              <a:latin typeface="맑은 고딕 (Body)"/>
              <a:cs typeface="Times New Roman" panose="02020603050405020304" pitchFamily="18" charset="0"/>
            </a:endParaRPr>
          </a:p>
        </p:txBody>
      </p:sp>
      <p:cxnSp>
        <p:nvCxnSpPr>
          <p:cNvPr id="25" name="Elbow Connector 179">
            <a:extLst>
              <a:ext uri="{FF2B5EF4-FFF2-40B4-BE49-F238E27FC236}">
                <a16:creationId xmlns:a16="http://schemas.microsoft.com/office/drawing/2014/main" id="{4727033D-1362-5F0D-F49B-D94C758CD2B7}"/>
              </a:ext>
            </a:extLst>
          </p:cNvPr>
          <p:cNvCxnSpPr>
            <a:stCxn id="20" idx="3"/>
            <a:endCxn id="32" idx="3"/>
          </p:cNvCxnSpPr>
          <p:nvPr/>
        </p:nvCxnSpPr>
        <p:spPr>
          <a:xfrm flipH="1" flipV="1">
            <a:off x="4843030" y="1979787"/>
            <a:ext cx="724025" cy="3985011"/>
          </a:xfrm>
          <a:prstGeom prst="bentConnector3">
            <a:avLst>
              <a:gd name="adj1" fmla="val -464158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100">
            <a:extLst>
              <a:ext uri="{FF2B5EF4-FFF2-40B4-BE49-F238E27FC236}">
                <a16:creationId xmlns:a16="http://schemas.microsoft.com/office/drawing/2014/main" id="{8C3DBD4D-2F5D-F5BB-2583-A048D7A661FB}"/>
              </a:ext>
            </a:extLst>
          </p:cNvPr>
          <p:cNvSpPr/>
          <p:nvPr/>
        </p:nvSpPr>
        <p:spPr>
          <a:xfrm>
            <a:off x="5991799" y="4627405"/>
            <a:ext cx="658344" cy="21618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28" name="Rectangle: Rounded Corners 100">
            <a:extLst>
              <a:ext uri="{FF2B5EF4-FFF2-40B4-BE49-F238E27FC236}">
                <a16:creationId xmlns:a16="http://schemas.microsoft.com/office/drawing/2014/main" id="{8C6DEE38-B202-8EEC-D1C2-FD0968AF6C04}"/>
              </a:ext>
            </a:extLst>
          </p:cNvPr>
          <p:cNvSpPr/>
          <p:nvPr/>
        </p:nvSpPr>
        <p:spPr>
          <a:xfrm>
            <a:off x="3063492" y="4624922"/>
            <a:ext cx="658344" cy="21618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29" name="Rectangle: Rounded Corners 100">
            <a:extLst>
              <a:ext uri="{FF2B5EF4-FFF2-40B4-BE49-F238E27FC236}">
                <a16:creationId xmlns:a16="http://schemas.microsoft.com/office/drawing/2014/main" id="{85AA1109-FFBA-CB61-9ED4-CAA203ECEE7E}"/>
              </a:ext>
            </a:extLst>
          </p:cNvPr>
          <p:cNvSpPr/>
          <p:nvPr/>
        </p:nvSpPr>
        <p:spPr>
          <a:xfrm>
            <a:off x="4244034" y="6235348"/>
            <a:ext cx="658344" cy="21618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30" name="Rectangle: Rounded Corners 100">
            <a:extLst>
              <a:ext uri="{FF2B5EF4-FFF2-40B4-BE49-F238E27FC236}">
                <a16:creationId xmlns:a16="http://schemas.microsoft.com/office/drawing/2014/main" id="{2F3DB5C2-E010-D198-2A4E-60AAF7C11307}"/>
              </a:ext>
            </a:extLst>
          </p:cNvPr>
          <p:cNvSpPr/>
          <p:nvPr/>
        </p:nvSpPr>
        <p:spPr>
          <a:xfrm>
            <a:off x="5463973" y="5709677"/>
            <a:ext cx="658344" cy="21618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31" name="Rectangle: Rounded Corners 100">
            <a:extLst>
              <a:ext uri="{FF2B5EF4-FFF2-40B4-BE49-F238E27FC236}">
                <a16:creationId xmlns:a16="http://schemas.microsoft.com/office/drawing/2014/main" id="{4DCD118C-F639-3D92-346F-E5FED30806FE}"/>
              </a:ext>
            </a:extLst>
          </p:cNvPr>
          <p:cNvSpPr/>
          <p:nvPr/>
        </p:nvSpPr>
        <p:spPr>
          <a:xfrm>
            <a:off x="6831675" y="1696483"/>
            <a:ext cx="2664665" cy="21618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92" dirty="0">
                <a:solidFill>
                  <a:schemeClr val="tx1"/>
                </a:solidFill>
                <a:latin typeface="맑은 고딕 (Body)"/>
              </a:rPr>
              <a:t>Process next interval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B1B278-44E2-0FFA-6D1D-752E702C368D}"/>
              </a:ext>
            </a:extLst>
          </p:cNvPr>
          <p:cNvSpPr/>
          <p:nvPr/>
        </p:nvSpPr>
        <p:spPr>
          <a:xfrm>
            <a:off x="4638201" y="1930802"/>
            <a:ext cx="204830" cy="97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sp>
        <p:nvSpPr>
          <p:cNvPr id="33" name="Rounded Rectangle 141">
            <a:extLst>
              <a:ext uri="{FF2B5EF4-FFF2-40B4-BE49-F238E27FC236}">
                <a16:creationId xmlns:a16="http://schemas.microsoft.com/office/drawing/2014/main" id="{8F8F6B60-C3A0-A116-CCD7-D0EDACC0DC99}"/>
              </a:ext>
            </a:extLst>
          </p:cNvPr>
          <p:cNvSpPr/>
          <p:nvPr/>
        </p:nvSpPr>
        <p:spPr>
          <a:xfrm>
            <a:off x="530869" y="1745230"/>
            <a:ext cx="1681216" cy="618525"/>
          </a:xfrm>
          <a:prstGeom prst="roundRect">
            <a:avLst>
              <a:gd name="adj" fmla="val 655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831" dirty="0">
                <a:solidFill>
                  <a:schemeClr val="tx1"/>
                </a:solidFill>
                <a:latin typeface="맑은 고딕 (Body)"/>
              </a:rPr>
              <a:t>UCL: Upper control limit</a:t>
            </a:r>
          </a:p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831" dirty="0">
                <a:solidFill>
                  <a:schemeClr val="tx1"/>
                </a:solidFill>
                <a:latin typeface="맑은 고딕 (Body)"/>
              </a:rPr>
              <a:t>LCL: Lower control limit</a:t>
            </a:r>
          </a:p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831" b="1" i="1" dirty="0">
                <a:solidFill>
                  <a:schemeClr val="tx1"/>
                </a:solidFill>
                <a:latin typeface="Georgia" panose="02040502050405020303" pitchFamily="18" charset="0"/>
              </a:rPr>
              <a:t>I</a:t>
            </a:r>
            <a:r>
              <a:rPr lang="en-US" sz="831" dirty="0">
                <a:solidFill>
                  <a:schemeClr val="tx1"/>
                </a:solidFill>
                <a:latin typeface="맑은 고딕 (Body)"/>
              </a:rPr>
              <a:t> = Intensity</a:t>
            </a:r>
          </a:p>
          <a:p>
            <a:pPr marL="263776" indent="-263776">
              <a:buFont typeface="Wingdings" panose="05000000000000000000" pitchFamily="2" charset="2"/>
              <a:buChar char="Ø"/>
            </a:pPr>
            <a:r>
              <a:rPr lang="en-US" sz="831" b="1" i="1" dirty="0">
                <a:solidFill>
                  <a:schemeClr val="tx1"/>
                </a:solidFill>
                <a:latin typeface="Georgia" panose="02040502050405020303" pitchFamily="18" charset="0"/>
              </a:rPr>
              <a:t>D</a:t>
            </a:r>
            <a:r>
              <a:rPr lang="en-US" sz="831" dirty="0">
                <a:solidFill>
                  <a:schemeClr val="tx1"/>
                </a:solidFill>
                <a:latin typeface="맑은 고딕 (Body)"/>
              </a:rPr>
              <a:t> = diversity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EB28CF8-435C-41BF-6445-26996ED3485B}"/>
              </a:ext>
            </a:extLst>
          </p:cNvPr>
          <p:cNvCxnSpPr>
            <a:cxnSpLocks/>
          </p:cNvCxnSpPr>
          <p:nvPr/>
        </p:nvCxnSpPr>
        <p:spPr>
          <a:xfrm>
            <a:off x="4849651" y="6304028"/>
            <a:ext cx="0" cy="30424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7689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EF71D-5319-37FB-197F-4EEC1F32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018600-EB60-81D6-63FA-738EF98F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39762"/>
            <a:ext cx="7254176" cy="724942"/>
          </a:xfrm>
        </p:spPr>
        <p:txBody>
          <a:bodyPr>
            <a:normAutofit/>
          </a:bodyPr>
          <a:lstStyle/>
          <a:p>
            <a:r>
              <a:rPr lang="en-US" dirty="0"/>
              <a:t>ix. Standard b</a:t>
            </a:r>
            <a:r>
              <a:rPr kumimoji="1" lang="en-US" altLang="ja-JP" dirty="0"/>
              <a:t>aby size chart </a:t>
            </a:r>
            <a:r>
              <a:rPr lang="en-US" dirty="0"/>
              <a:t>[1]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F4243E-1B3C-4019-DE9F-1FFDA81A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0669"/>
              </p:ext>
            </p:extLst>
          </p:nvPr>
        </p:nvGraphicFramePr>
        <p:xfrm>
          <a:off x="251524" y="1160748"/>
          <a:ext cx="9381997" cy="52205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43703">
                  <a:extLst>
                    <a:ext uri="{9D8B030D-6E8A-4147-A177-3AD203B41FA5}">
                      <a16:colId xmlns:a16="http://schemas.microsoft.com/office/drawing/2014/main" val="1947732490"/>
                    </a:ext>
                  </a:extLst>
                </a:gridCol>
                <a:gridCol w="1129770">
                  <a:extLst>
                    <a:ext uri="{9D8B030D-6E8A-4147-A177-3AD203B41FA5}">
                      <a16:colId xmlns:a16="http://schemas.microsoft.com/office/drawing/2014/main" val="994970106"/>
                    </a:ext>
                  </a:extLst>
                </a:gridCol>
                <a:gridCol w="1178891">
                  <a:extLst>
                    <a:ext uri="{9D8B030D-6E8A-4147-A177-3AD203B41FA5}">
                      <a16:colId xmlns:a16="http://schemas.microsoft.com/office/drawing/2014/main" val="890300948"/>
                    </a:ext>
                  </a:extLst>
                </a:gridCol>
                <a:gridCol w="1375372">
                  <a:extLst>
                    <a:ext uri="{9D8B030D-6E8A-4147-A177-3AD203B41FA5}">
                      <a16:colId xmlns:a16="http://schemas.microsoft.com/office/drawing/2014/main" val="3462477146"/>
                    </a:ext>
                  </a:extLst>
                </a:gridCol>
                <a:gridCol w="1247197">
                  <a:extLst>
                    <a:ext uri="{9D8B030D-6E8A-4147-A177-3AD203B41FA5}">
                      <a16:colId xmlns:a16="http://schemas.microsoft.com/office/drawing/2014/main" val="2046784354"/>
                    </a:ext>
                  </a:extLst>
                </a:gridCol>
                <a:gridCol w="1307064">
                  <a:extLst>
                    <a:ext uri="{9D8B030D-6E8A-4147-A177-3AD203B41FA5}">
                      <a16:colId xmlns:a16="http://schemas.microsoft.com/office/drawing/2014/main" val="2391867024"/>
                    </a:ext>
                  </a:extLst>
                </a:gridCol>
              </a:tblGrid>
              <a:tr h="403060">
                <a:tc rowSpan="2">
                  <a:txBody>
                    <a:bodyPr/>
                    <a:lstStyle/>
                    <a:p>
                      <a:pPr algn="r"/>
                      <a:r>
                        <a:rPr lang="en-US" sz="1300" dirty="0"/>
                        <a:t>      Age (months)</a:t>
                      </a:r>
                    </a:p>
                    <a:p>
                      <a:pPr algn="ctr"/>
                      <a:endParaRPr lang="en-US" sz="1300" dirty="0"/>
                    </a:p>
                    <a:p>
                      <a:pPr algn="l"/>
                      <a:r>
                        <a:rPr lang="en-US" sz="1300" dirty="0"/>
                        <a:t>  Body parts</a:t>
                      </a:r>
                      <a:endParaRPr lang="en-US" sz="1300" b="1" dirty="0"/>
                    </a:p>
                  </a:txBody>
                  <a:tcPr marL="84406" marR="84406" marT="42203" marB="42203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 </a:t>
                      </a:r>
                      <a:endParaRPr lang="en-US" sz="1300" b="1" dirty="0"/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6</a:t>
                      </a:r>
                      <a:endParaRPr lang="en-US" sz="1300" b="1" dirty="0"/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12</a:t>
                      </a:r>
                      <a:endParaRPr lang="en-US" sz="1300" b="1" dirty="0"/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18</a:t>
                      </a:r>
                      <a:endParaRPr lang="en-US" sz="1300" b="1" dirty="0"/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24</a:t>
                      </a:r>
                      <a:endParaRPr lang="en-US" sz="1300" b="1" dirty="0"/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536889011"/>
                  </a:ext>
                </a:extLst>
              </a:tr>
              <a:tr h="3757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Baby</a:t>
                      </a:r>
                      <a:r>
                        <a:rPr lang="en-US" sz="1700" baseline="0" dirty="0"/>
                        <a:t> </a:t>
                      </a:r>
                      <a:r>
                        <a:rPr lang="en-US" sz="1700" dirty="0"/>
                        <a:t>size in cm</a:t>
                      </a:r>
                      <a:endParaRPr lang="en-US" sz="1700" b="1" dirty="0"/>
                    </a:p>
                  </a:txBody>
                  <a:tcPr marL="84406" marR="84406" marT="42203" marB="4220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9193943"/>
                  </a:ext>
                </a:extLst>
              </a:tr>
              <a:tr h="441376">
                <a:tc>
                  <a:txBody>
                    <a:bodyPr/>
                    <a:lstStyle/>
                    <a:p>
                      <a:r>
                        <a:rPr lang="en-US" sz="1300" dirty="0"/>
                        <a:t>Chest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40.5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43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45.5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48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50.5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738328589"/>
                  </a:ext>
                </a:extLst>
              </a:tr>
              <a:tr h="652835">
                <a:tc>
                  <a:txBody>
                    <a:bodyPr/>
                    <a:lstStyle/>
                    <a:p>
                      <a:r>
                        <a:rPr lang="en-US" sz="1300" dirty="0"/>
                        <a:t>Center back</a:t>
                      </a:r>
                    </a:p>
                    <a:p>
                      <a:r>
                        <a:rPr lang="en-US" sz="1300" dirty="0"/>
                        <a:t>(Neck-to-Wrist)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26.5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29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31.5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35.5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45.5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4029390616"/>
                  </a:ext>
                </a:extLst>
              </a:tr>
              <a:tr h="527340">
                <a:tc>
                  <a:txBody>
                    <a:bodyPr/>
                    <a:lstStyle/>
                    <a:p>
                      <a:r>
                        <a:rPr lang="en-US" sz="1300" dirty="0"/>
                        <a:t>Back</a:t>
                      </a:r>
                      <a:r>
                        <a:rPr lang="en-US" sz="1300" baseline="0" dirty="0"/>
                        <a:t> waist</a:t>
                      </a:r>
                    </a:p>
                    <a:p>
                      <a:r>
                        <a:rPr lang="en-US" sz="1300" baseline="0" dirty="0"/>
                        <a:t>(length)</a:t>
                      </a:r>
                      <a:endParaRPr lang="en-US" sz="1300" dirty="0"/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15.5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17.5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19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20.5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21.5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392437981"/>
                  </a:ext>
                </a:extLst>
              </a:tr>
              <a:tr h="527340">
                <a:tc>
                  <a:txBody>
                    <a:bodyPr/>
                    <a:lstStyle/>
                    <a:p>
                      <a:r>
                        <a:rPr lang="en-US" sz="1300" dirty="0"/>
                        <a:t>Cross back</a:t>
                      </a:r>
                    </a:p>
                    <a:p>
                      <a:r>
                        <a:rPr lang="en-US" sz="1300" dirty="0"/>
                        <a:t>(Shoulder to shoulder)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18.5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19.5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21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21.5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22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169209653"/>
                  </a:ext>
                </a:extLst>
              </a:tr>
              <a:tr h="527340">
                <a:tc>
                  <a:txBody>
                    <a:bodyPr/>
                    <a:lstStyle/>
                    <a:p>
                      <a:r>
                        <a:rPr lang="en-US" sz="1300" dirty="0"/>
                        <a:t>Arm length</a:t>
                      </a:r>
                    </a:p>
                    <a:p>
                      <a:r>
                        <a:rPr lang="en-US" sz="1300" dirty="0"/>
                        <a:t>(To underarm)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15.5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16.5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19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20.5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21.5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861244476"/>
                  </a:ext>
                </a:extLst>
              </a:tr>
              <a:tr h="441376">
                <a:tc>
                  <a:txBody>
                    <a:bodyPr/>
                    <a:lstStyle/>
                    <a:p>
                      <a:r>
                        <a:rPr lang="en-US" sz="1300" dirty="0"/>
                        <a:t>Upper arm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14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15.5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16.5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17.5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19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4284379735"/>
                  </a:ext>
                </a:extLst>
              </a:tr>
              <a:tr h="441376">
                <a:tc>
                  <a:txBody>
                    <a:bodyPr/>
                    <a:lstStyle/>
                    <a:p>
                      <a:r>
                        <a:rPr lang="en-US" sz="1300" dirty="0"/>
                        <a:t>Armhole depth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8.5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9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9.5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10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10.5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2441863544"/>
                  </a:ext>
                </a:extLst>
              </a:tr>
              <a:tr h="441376">
                <a:tc>
                  <a:txBody>
                    <a:bodyPr/>
                    <a:lstStyle/>
                    <a:p>
                      <a:r>
                        <a:rPr lang="en-US" sz="1300" dirty="0"/>
                        <a:t>Waist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15.5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48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50.5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52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53.5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3010070902"/>
                  </a:ext>
                </a:extLst>
              </a:tr>
              <a:tr h="441376">
                <a:tc>
                  <a:txBody>
                    <a:bodyPr/>
                    <a:lstStyle/>
                    <a:p>
                      <a:r>
                        <a:rPr lang="en-US" sz="1300" dirty="0"/>
                        <a:t>Hips</a:t>
                      </a: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48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50.5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50.5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53.5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56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val="1403233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4336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433290" y="1880828"/>
            <a:ext cx="144016" cy="43924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8444681" y="728700"/>
            <a:ext cx="1363583" cy="1238164"/>
            <a:chOff x="8444681" y="728700"/>
            <a:chExt cx="1363583" cy="123816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l="69440" t="8343" r="9770" b="72372"/>
            <a:stretch/>
          </p:blipFill>
          <p:spPr>
            <a:xfrm>
              <a:off x="9237476" y="1596222"/>
              <a:ext cx="570788" cy="370642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4681" y="728700"/>
              <a:ext cx="1076908" cy="654222"/>
            </a:xfrm>
            <a:prstGeom prst="rect">
              <a:avLst/>
            </a:prstGeom>
          </p:spPr>
        </p:pic>
        <p:cxnSp>
          <p:nvCxnSpPr>
            <p:cNvPr id="12" name="Curved Connector 11"/>
            <p:cNvCxnSpPr>
              <a:cxnSpLocks/>
              <a:stCxn id="10" idx="2"/>
              <a:endCxn id="5" idx="1"/>
            </p:cNvCxnSpPr>
            <p:nvPr/>
          </p:nvCxnSpPr>
          <p:spPr>
            <a:xfrm rot="16200000" flipH="1">
              <a:off x="8910995" y="1455061"/>
              <a:ext cx="398621" cy="254341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직사각형 7"/>
          <p:cNvSpPr/>
          <p:nvPr/>
        </p:nvSpPr>
        <p:spPr>
          <a:xfrm>
            <a:off x="2721837" y="3378479"/>
            <a:ext cx="70864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rgbClr val="0C4383"/>
                </a:solidFill>
                <a:latin typeface="+mj-ea"/>
              </a:rPr>
              <a:t>6. Conclusion and future directions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-15552" y="1700808"/>
            <a:ext cx="17557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/>
            <a:r>
              <a:rPr lang="en-US" altLang="ko-KR" sz="4000" b="1" dirty="0"/>
              <a:t>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97" y="2791088"/>
            <a:ext cx="1893468" cy="186204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1500" b="1" dirty="0">
                <a:solidFill>
                  <a:schemeClr val="bg1">
                    <a:lumMod val="75000"/>
                  </a:schemeClr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7568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72479" y="39762"/>
            <a:ext cx="9633521" cy="724942"/>
          </a:xfrm>
        </p:spPr>
        <p:txBody>
          <a:bodyPr>
            <a:normAutofit/>
          </a:bodyPr>
          <a:lstStyle/>
          <a:p>
            <a:r>
              <a:rPr lang="en-US" altLang="ko-KR" spc="-100" dirty="0"/>
              <a:t>6. Conclusion and future directions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52400" y="1524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7"/>
          <p:cNvSpPr/>
          <p:nvPr/>
        </p:nvSpPr>
        <p:spPr>
          <a:xfrm>
            <a:off x="272479" y="1073780"/>
            <a:ext cx="9073004" cy="54366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62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98491" y="1163790"/>
            <a:ext cx="8820980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625632723"/>
              </p:ext>
            </p:extLst>
          </p:nvPr>
        </p:nvGraphicFramePr>
        <p:xfrm>
          <a:off x="956556" y="1178749"/>
          <a:ext cx="8172911" cy="4734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7" name="Right Arrow 26"/>
          <p:cNvSpPr/>
          <p:nvPr/>
        </p:nvSpPr>
        <p:spPr>
          <a:xfrm>
            <a:off x="433039" y="1430777"/>
            <a:ext cx="479213" cy="3833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>
            <a:off x="433039" y="1970837"/>
            <a:ext cx="479213" cy="3833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433039" y="2582905"/>
            <a:ext cx="479213" cy="3833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433039" y="3158969"/>
            <a:ext cx="479213" cy="3833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441339" y="3699029"/>
            <a:ext cx="479213" cy="3833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34" name="Right Arrow 33"/>
          <p:cNvSpPr/>
          <p:nvPr/>
        </p:nvSpPr>
        <p:spPr>
          <a:xfrm>
            <a:off x="441339" y="4239089"/>
            <a:ext cx="479213" cy="3833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35" name="Right Arrow 34"/>
          <p:cNvSpPr/>
          <p:nvPr/>
        </p:nvSpPr>
        <p:spPr>
          <a:xfrm>
            <a:off x="441339" y="4779149"/>
            <a:ext cx="479213" cy="3833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441339" y="5295878"/>
            <a:ext cx="479213" cy="38337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611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408AB5-FB8B-643B-5375-70A6EF09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9959-2BC5-43B8-BE1D-1F5B7538884F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D4BF39-2BAD-9F73-1C96-3798C21F4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0D36D4-3ADE-D81C-B5A8-58672F43C149}"/>
              </a:ext>
            </a:extLst>
          </p:cNvPr>
          <p:cNvSpPr/>
          <p:nvPr/>
        </p:nvSpPr>
        <p:spPr>
          <a:xfrm>
            <a:off x="286568" y="944724"/>
            <a:ext cx="8734884" cy="571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6531" indent="-316531">
              <a:buFont typeface="+mj-lt"/>
              <a:buAutoNum type="arabicPeriod"/>
            </a:pPr>
            <a:r>
              <a:rPr lang="en-US" sz="1662" dirty="0">
                <a:hlinkClick r:id="rId2"/>
              </a:rPr>
              <a:t>https://www.craftyarncouncil.com/standards/baby-size-chart</a:t>
            </a:r>
            <a:r>
              <a:rPr lang="en-US" sz="1662" dirty="0"/>
              <a:t> </a:t>
            </a:r>
          </a:p>
          <a:p>
            <a:r>
              <a:rPr lang="en-US" sz="1662" dirty="0"/>
              <a:t>     (Accessed: 14 March 2026, 9:25 AM)</a:t>
            </a:r>
          </a:p>
          <a:p>
            <a:endParaRPr lang="en-US" sz="1662" dirty="0"/>
          </a:p>
          <a:p>
            <a:pPr marL="316531" indent="-316531">
              <a:buAutoNum type="arabicPeriod" startAt="2"/>
            </a:pPr>
            <a:r>
              <a:rPr lang="en-US" sz="1662" dirty="0">
                <a:hlinkClick r:id="rId3"/>
              </a:rPr>
              <a:t>https://docs.opencv.org/3.4/d7/d8b/tutorial_py_lucas_kanade.html</a:t>
            </a:r>
            <a:endParaRPr lang="en-US" sz="1662" dirty="0"/>
          </a:p>
          <a:p>
            <a:r>
              <a:rPr lang="en-US" sz="1662" dirty="0"/>
              <a:t>     (Accessed: 14 March 2026, 9:26 AM) </a:t>
            </a:r>
          </a:p>
          <a:p>
            <a:endParaRPr lang="en-US" sz="1662" dirty="0"/>
          </a:p>
          <a:p>
            <a:r>
              <a:rPr lang="en-US" sz="1662" dirty="0"/>
              <a:t>3.  </a:t>
            </a:r>
            <a:r>
              <a:rPr lang="en-US" sz="1662" dirty="0">
                <a:hlinkClick r:id="rId4"/>
              </a:rPr>
              <a:t>https://docs.opencv.org/3.4/db/d5c/tutorial_py_bg_subtraction.html</a:t>
            </a:r>
            <a:r>
              <a:rPr lang="en-US" sz="1662" dirty="0"/>
              <a:t> </a:t>
            </a:r>
          </a:p>
          <a:p>
            <a:r>
              <a:rPr lang="en-US" sz="1662" dirty="0"/>
              <a:t>     (Accessed: 14 March 2026, 9:27 AM)</a:t>
            </a:r>
          </a:p>
          <a:p>
            <a:endParaRPr lang="en-US" sz="1662" dirty="0"/>
          </a:p>
          <a:p>
            <a:pPr marL="316531" indent="-316531">
              <a:buAutoNum type="arabicPeriod" startAt="4"/>
            </a:pPr>
            <a:r>
              <a:rPr lang="en-US" sz="1662" dirty="0"/>
              <a:t>J. Lim and B. Han, "</a:t>
            </a:r>
            <a:r>
              <a:rPr lang="en-US" sz="1662" b="1" dirty="0"/>
              <a:t>Generalized Background Subtraction Using </a:t>
            </a:r>
            <a:r>
              <a:rPr lang="en-US" sz="1662" b="1" dirty="0" err="1"/>
              <a:t>Superpixels</a:t>
            </a:r>
            <a:r>
              <a:rPr lang="en-US" sz="1662" b="1" dirty="0"/>
              <a:t> with   Label Integrated Motion Estimation</a:t>
            </a:r>
            <a:r>
              <a:rPr lang="en-US" sz="1662" dirty="0"/>
              <a:t>," in </a:t>
            </a:r>
            <a:r>
              <a:rPr lang="en-US" sz="1662" i="1" dirty="0"/>
              <a:t>Computer Vision – ECCV 2014</a:t>
            </a:r>
            <a:r>
              <a:rPr lang="en-US" sz="1662" dirty="0"/>
              <a:t>, Cham, </a:t>
            </a:r>
          </a:p>
          <a:p>
            <a:r>
              <a:rPr lang="en-US" sz="1662" dirty="0"/>
              <a:t>    2014, pp. 173-187.</a:t>
            </a:r>
          </a:p>
          <a:p>
            <a:endParaRPr lang="en-US" sz="1662" dirty="0"/>
          </a:p>
          <a:p>
            <a:pPr marL="316531" indent="-316531">
              <a:buAutoNum type="arabicPeriod" startAt="5"/>
            </a:pPr>
            <a:r>
              <a:rPr lang="en-US" sz="1662" dirty="0"/>
              <a:t>Michael W. Tao, </a:t>
            </a:r>
            <a:r>
              <a:rPr lang="en-US" sz="1662" dirty="0" err="1"/>
              <a:t>Jiamin</a:t>
            </a:r>
            <a:r>
              <a:rPr lang="en-US" sz="1662" dirty="0"/>
              <a:t> Bai, </a:t>
            </a:r>
            <a:r>
              <a:rPr lang="en-US" sz="1662" dirty="0" err="1"/>
              <a:t>Pushmeet</a:t>
            </a:r>
            <a:r>
              <a:rPr lang="en-US" sz="1662" dirty="0"/>
              <a:t> </a:t>
            </a:r>
            <a:r>
              <a:rPr lang="en-US" sz="1662" dirty="0" err="1"/>
              <a:t>Kohli</a:t>
            </a:r>
            <a:r>
              <a:rPr lang="en-US" sz="1662" dirty="0"/>
              <a:t>, and Sylvain Paris. </a:t>
            </a:r>
          </a:p>
          <a:p>
            <a:r>
              <a:rPr lang="en-US" sz="1662" dirty="0"/>
              <a:t>    "</a:t>
            </a:r>
            <a:r>
              <a:rPr lang="en-US" sz="1662" b="1" dirty="0" err="1"/>
              <a:t>SimpleFlow</a:t>
            </a:r>
            <a:r>
              <a:rPr lang="en-US" sz="1662" b="1" dirty="0"/>
              <a:t>: A Non-I   </a:t>
            </a:r>
            <a:r>
              <a:rPr lang="en-US" sz="1662" b="1" dirty="0" err="1"/>
              <a:t>terative</a:t>
            </a:r>
            <a:r>
              <a:rPr lang="en-US" sz="1662" b="1" dirty="0"/>
              <a:t>, Sublinear Optical Flow Algorithm</a:t>
            </a:r>
            <a:r>
              <a:rPr lang="en-US" sz="1662" dirty="0"/>
              <a:t>". </a:t>
            </a:r>
            <a:r>
              <a:rPr lang="en-US" sz="1662" i="1" dirty="0"/>
              <a:t>Computer </a:t>
            </a:r>
          </a:p>
          <a:p>
            <a:r>
              <a:rPr lang="en-US" sz="1662" i="1" dirty="0"/>
              <a:t>     Graphics Forum (</a:t>
            </a:r>
            <a:r>
              <a:rPr lang="en-US" sz="1662" i="1" dirty="0" err="1"/>
              <a:t>Eurographics</a:t>
            </a:r>
            <a:r>
              <a:rPr lang="en-US" sz="1662" i="1" dirty="0"/>
              <a:t> 2012)</a:t>
            </a:r>
            <a:r>
              <a:rPr lang="en-US" sz="1662" dirty="0"/>
              <a:t>, 31(2), May 2012.</a:t>
            </a:r>
          </a:p>
          <a:p>
            <a:endParaRPr lang="en-US" sz="1662" dirty="0"/>
          </a:p>
          <a:p>
            <a:r>
              <a:rPr lang="en-US" sz="1662" dirty="0"/>
              <a:t>6. Method and system for analyzing baby behavior (</a:t>
            </a:r>
            <a:r>
              <a:rPr lang="ko-KR" altLang="en-US" sz="1662" dirty="0"/>
              <a:t>아기 행동 분석 시스템 및 그 방법</a:t>
            </a:r>
            <a:r>
              <a:rPr lang="en-US" altLang="ko-KR" sz="1662" dirty="0"/>
              <a:t>)</a:t>
            </a:r>
          </a:p>
          <a:p>
            <a:endParaRPr lang="en-US" sz="1662" dirty="0"/>
          </a:p>
          <a:p>
            <a:r>
              <a:rPr lang="en-US" sz="1662" dirty="0"/>
              <a:t>7. Hussain, T., </a:t>
            </a:r>
            <a:r>
              <a:rPr lang="en-US" sz="1662" b="1" dirty="0"/>
              <a:t>Muhammad, K</a:t>
            </a:r>
            <a:r>
              <a:rPr lang="en-US" sz="1662" dirty="0"/>
              <a:t>., Khan, S., Ullah, A., Lee, M. Y., &amp; </a:t>
            </a:r>
            <a:r>
              <a:rPr lang="en-US" sz="1662" dirty="0" err="1"/>
              <a:t>Baik</a:t>
            </a:r>
            <a:r>
              <a:rPr lang="en-US" sz="1662" dirty="0"/>
              <a:t>, S. W. (2019).</a:t>
            </a:r>
          </a:p>
          <a:p>
            <a:r>
              <a:rPr lang="en-US" sz="1662" dirty="0"/>
              <a:t>Intelligent baby behavior monitoring using embedded vision in IoT for smart healthcare centers. Journal of Artificial Intelligence and Systems, 1(1), 110-124.</a:t>
            </a:r>
          </a:p>
        </p:txBody>
      </p:sp>
    </p:spTree>
    <p:extLst>
      <p:ext uri="{BB962C8B-B14F-4D97-AF65-F5344CB8AC3E}">
        <p14:creationId xmlns:p14="http://schemas.microsoft.com/office/powerpoint/2010/main" val="38052627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1"/>
          <p:cNvSpPr txBox="1">
            <a:spLocks/>
          </p:cNvSpPr>
          <p:nvPr/>
        </p:nvSpPr>
        <p:spPr>
          <a:xfrm>
            <a:off x="7545288" y="65202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4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D0C252-4C67-42DA-A5FB-456006432159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15925" y="2660315"/>
            <a:ext cx="9071735" cy="155363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3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</a:p>
          <a:p>
            <a:pPr algn="ctr"/>
            <a:r>
              <a:rPr lang="en-US" sz="3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</a:p>
        </p:txBody>
      </p:sp>
      <p:pic>
        <p:nvPicPr>
          <p:cNvPr id="1026" name="Picture 2" descr="Image search results for baby ca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1" r="15238"/>
          <a:stretch/>
        </p:blipFill>
        <p:spPr bwMode="auto">
          <a:xfrm>
            <a:off x="0" y="0"/>
            <a:ext cx="3384376" cy="194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search results for baby ca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73" y="-10138"/>
            <a:ext cx="2906615" cy="193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search results for baby c sleepi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585" y="-13433"/>
            <a:ext cx="3597415" cy="193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lated imag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306"/>
            <a:ext cx="3384376" cy="2082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lated image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032" y="4775306"/>
            <a:ext cx="2738099" cy="208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Related image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786" y="4775306"/>
            <a:ext cx="3746213" cy="209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34747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148017</TotalTime>
  <Words>2639</Words>
  <PresentationFormat>A4 Paper (210x297 mm)</PresentationFormat>
  <Paragraphs>857</Paragraphs>
  <Slides>45</Slides>
  <Notes>28</Notes>
  <HiddenSlides>0</HiddenSlides>
  <MMClips>14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맑은 고딕</vt:lpstr>
      <vt:lpstr>맑은 고딕 (Body)</vt:lpstr>
      <vt:lpstr>Arial</vt:lpstr>
      <vt:lpstr>Calibri</vt:lpstr>
      <vt:lpstr>Cambria Math</vt:lpstr>
      <vt:lpstr>Georgia</vt:lpstr>
      <vt:lpstr>Wingdings</vt:lpstr>
      <vt:lpstr>1_Office 테마</vt:lpstr>
      <vt:lpstr>PowerPoint Presentation</vt:lpstr>
      <vt:lpstr>PowerPoint Presentation</vt:lpstr>
      <vt:lpstr>PowerPoint Presentation</vt:lpstr>
      <vt:lpstr>i. Motivation</vt:lpstr>
      <vt:lpstr>ii. Challenges in possible baby monitoring methods</vt:lpstr>
      <vt:lpstr>PowerPoint Presentation</vt:lpstr>
      <vt:lpstr>i. Why creating dataset?</vt:lpstr>
      <vt:lpstr>ii. Description of dataset</vt:lpstr>
      <vt:lpstr>ii. Description of dataset</vt:lpstr>
      <vt:lpstr>ii. Description of dataset</vt:lpstr>
      <vt:lpstr>PowerPoint Presentation</vt:lpstr>
      <vt:lpstr>i. Frame difference</vt:lpstr>
      <vt:lpstr>i. Frame difference framework</vt:lpstr>
      <vt:lpstr>ii. Optical flow based motion estimation framework</vt:lpstr>
      <vt:lpstr>iii. Background subtraction</vt:lpstr>
      <vt:lpstr>iv. Hybrid method</vt:lpstr>
      <vt:lpstr>iv. Hybrid method</vt:lpstr>
      <vt:lpstr>PowerPoint Presentation</vt:lpstr>
      <vt:lpstr>i. Performance evaluation</vt:lpstr>
      <vt:lpstr>i. Performance evaluation</vt:lpstr>
      <vt:lpstr>ii. Experimental results (Video 1)</vt:lpstr>
      <vt:lpstr>ii. Experimental results (Video 2)</vt:lpstr>
      <vt:lpstr>ii. Experimental results (Video 3)</vt:lpstr>
      <vt:lpstr>ii. Experimental results (Video 4)</vt:lpstr>
      <vt:lpstr>ii. Experimental results (Video 5)</vt:lpstr>
      <vt:lpstr>ii. Experimental results (Video 6)</vt:lpstr>
      <vt:lpstr>ii. Experimental results (Video 7)</vt:lpstr>
      <vt:lpstr>ii. Experimental results (Video 8)</vt:lpstr>
      <vt:lpstr>ii. Experimental results (Video 9)</vt:lpstr>
      <vt:lpstr>ii. Experimental results (Video 10)</vt:lpstr>
      <vt:lpstr>ii. Experimental results (Video 11)</vt:lpstr>
      <vt:lpstr>PowerPoint Presentation</vt:lpstr>
      <vt:lpstr>i. System diagram</vt:lpstr>
      <vt:lpstr>ii. Working of the proposed system</vt:lpstr>
      <vt:lpstr>iii. Overall framework</vt:lpstr>
      <vt:lpstr>iv. Control chart representation</vt:lpstr>
      <vt:lpstr>v. Control charts for intervals</vt:lpstr>
      <vt:lpstr>vi. Control chart representation in terms of time</vt:lpstr>
      <vt:lpstr>vii. Motion estimation mechanism</vt:lpstr>
      <vt:lpstr>viii. Baby behavior estimation mechanism</vt:lpstr>
      <vt:lpstr>ix. Standard baby size chart [1]</vt:lpstr>
      <vt:lpstr>PowerPoint Presentation</vt:lpstr>
      <vt:lpstr>6. Conclusion and future directions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2018-03-30T14:00:57Z</cp:lastPrinted>
  <dcterms:created xsi:type="dcterms:W3CDTF">2013-02-11T04:42:20Z</dcterms:created>
  <dcterms:modified xsi:type="dcterms:W3CDTF">2026-03-26T05:23:01Z</dcterms:modified>
</cp:coreProperties>
</file>
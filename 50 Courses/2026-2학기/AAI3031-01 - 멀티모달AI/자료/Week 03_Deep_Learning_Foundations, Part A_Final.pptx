
<file path=[Content_Types].xml><?xml version="1.0" encoding="utf-8"?>
<Types xmlns="http://schemas.openxmlformats.org/package/2006/content-types">
  <Default Extension="gif" ContentType="image/gif"/>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ink/ink2.xml" ContentType="application/inkml+xml"/>
  <Override PartName="/ppt/notesSlides/notesSlide3.xml" ContentType="application/vnd.openxmlformats-officedocument.presentationml.notesSlide+xml"/>
  <Override PartName="/ppt/ink/ink3.xml" ContentType="application/inkml+xml"/>
  <Override PartName="/ppt/ink/ink4.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notesSlides/notesSlide6.xml" ContentType="application/vnd.openxmlformats-officedocument.presentationml.notesSlide+xml"/>
  <Override PartName="/ppt/notesSlides/notesSlide7.xml" ContentType="application/vnd.openxmlformats-officedocument.presentationml.notesSlide+xml"/>
  <Override PartName="/ppt/ink/ink12.xml" ContentType="application/inkml+xml"/>
  <Override PartName="/ppt/ink/ink13.xml" ContentType="application/inkml+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1"/>
  </p:notesMasterIdLst>
  <p:handoutMasterIdLst>
    <p:handoutMasterId r:id="rId42"/>
  </p:handout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92" r:id="rId15"/>
    <p:sldId id="270" r:id="rId16"/>
    <p:sldId id="271" r:id="rId17"/>
    <p:sldId id="272" r:id="rId18"/>
    <p:sldId id="273" r:id="rId19"/>
    <p:sldId id="274" r:id="rId20"/>
    <p:sldId id="275" r:id="rId21"/>
    <p:sldId id="276" r:id="rId22"/>
    <p:sldId id="293" r:id="rId23"/>
    <p:sldId id="277" r:id="rId24"/>
    <p:sldId id="278" r:id="rId25"/>
    <p:sldId id="279" r:id="rId26"/>
    <p:sldId id="294" r:id="rId27"/>
    <p:sldId id="280" r:id="rId28"/>
    <p:sldId id="281" r:id="rId29"/>
    <p:sldId id="282" r:id="rId30"/>
    <p:sldId id="283" r:id="rId31"/>
    <p:sldId id="284" r:id="rId32"/>
    <p:sldId id="295" r:id="rId33"/>
    <p:sldId id="285" r:id="rId34"/>
    <p:sldId id="286" r:id="rId35"/>
    <p:sldId id="287" r:id="rId36"/>
    <p:sldId id="288" r:id="rId37"/>
    <p:sldId id="289" r:id="rId38"/>
    <p:sldId id="290" r:id="rId39"/>
    <p:sldId id="296" r:id="rId40"/>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7194A"/>
    <a:srgbClr val="1D395B"/>
    <a:srgbClr val="C7D3D6"/>
    <a:srgbClr val="0E2841"/>
    <a:srgbClr val="353537"/>
    <a:srgbClr val="6884FC"/>
    <a:srgbClr val="649BFF"/>
    <a:srgbClr val="558E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6863" autoAdjust="0"/>
  </p:normalViewPr>
  <p:slideViewPr>
    <p:cSldViewPr>
      <p:cViewPr varScale="1">
        <p:scale>
          <a:sx n="91" d="100"/>
          <a:sy n="91" d="100"/>
        </p:scale>
        <p:origin x="102" y="39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9386"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US"/>
          </a:p>
        </p:txBody>
      </p:sp>
      <p:sp>
        <p:nvSpPr>
          <p:cNvPr id="1049387" name="Date Placeholder 2"/>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049D40C6-81BF-42D7-B0F8-90A31835367C}" type="datetimeFigureOut">
              <a:rPr lang="en-US" smtClean="0"/>
              <a:t>9/17/2026</a:t>
            </a:fld>
            <a:endParaRPr lang="en-US"/>
          </a:p>
        </p:txBody>
      </p:sp>
      <p:sp>
        <p:nvSpPr>
          <p:cNvPr id="1049388" name="Footer Placeholder 3"/>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n-US"/>
          </a:p>
        </p:txBody>
      </p:sp>
      <p:sp>
        <p:nvSpPr>
          <p:cNvPr id="1049389" name="Slide Number Placeholder 4"/>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6A83EB6D-060E-4CA0-830E-AACDF146C9C4}"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6-09-07T15:00:43.122"/>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14108 12026 136,'-11'-40'0,"-9"85"0</inkml:trace>
</inkml:ink>
</file>

<file path=ppt/ink/ink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6-09-07T15:00:43.125"/>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14828 12078 136,'5'-42'0,"1"0"0</inkml:trace>
</inkml:ink>
</file>

<file path=ppt/ink/ink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6-09-07T15:00:43.122"/>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14108 12026 136,'-11'-40'0,"-9"85"0</inkml:trace>
</inkml:ink>
</file>

<file path=ppt/ink/ink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6-09-07T15:00:43.125"/>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14828 12078 136,'5'-42'0,"1"0"0</inkml:trace>
</inkml:ink>
</file>

<file path=ppt/ink/ink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6-09-07T15:00:44.346"/>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19301 10788 533</inkml:trace>
</inkml:ink>
</file>

<file path=ppt/ink/ink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6-09-07T15:00:44.373"/>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20037 6819 533</inkml:trace>
</inkml:ink>
</file>

<file path=ppt/ink/ink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6-09-07T15:00:44.385"/>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24160 7632 533</inkml:trace>
</inkml:ink>
</file>

<file path=ppt/ink/ink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6-09-07T15:00:44.412"/>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22525 9230 533</inkml:trace>
</inkml:ink>
</file>

<file path=ppt/ink/ink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6-09-07T15:00:44.415"/>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21953 9104 533</inkml:trace>
</inkml:ink>
</file>

<file path=ppt/ink/ink1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6-09-07T15:00:44.531"/>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17346 15010 533</inkml:trace>
</inkml:ink>
</file>

<file path=ppt/ink/ink1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6-09-07T15:00:44.555"/>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9650 7768 533</inkml:trace>
</inkml:ink>
</file>

<file path=ppt/ink/ink1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6-09-07T15:00:45.279"/>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14016 7293 533</inkml:trace>
</inkml:ink>
</file>

<file path=ppt/ink/ink1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6-09-07T15:00:45.279"/>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14016 7293 533</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9380"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US"/>
          </a:p>
        </p:txBody>
      </p:sp>
      <p:sp>
        <p:nvSpPr>
          <p:cNvPr id="1049381"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1871C29D-22E9-409F-99DA-EDB7E80BBC8E}" type="datetimeFigureOut">
              <a:rPr lang="en-US" smtClean="0"/>
              <a:t>9/17/2026</a:t>
            </a:fld>
            <a:endParaRPr lang="en-US"/>
          </a:p>
        </p:txBody>
      </p:sp>
      <p:sp>
        <p:nvSpPr>
          <p:cNvPr id="1049382"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1049383"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9384"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US"/>
          </a:p>
        </p:txBody>
      </p:sp>
      <p:sp>
        <p:nvSpPr>
          <p:cNvPr id="1049385"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9978199A-2CA8-47D4-96B8-19D924289139}"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RNN vs. CNN vs. NN</a:t>
            </a:r>
          </a:p>
          <a:p>
            <a:r>
              <a:rPr lang="en-US" b="1" dirty="0"/>
              <a:t>NN (basic neural network):</a:t>
            </a:r>
            <a:r>
              <a:rPr lang="en-US" dirty="0"/>
              <a:t> Processes inputs independently; no explicit memory of previous inputs. Examples: Perceptron, Multilayer Perceptron.</a:t>
            </a:r>
          </a:p>
          <a:p>
            <a:r>
              <a:rPr lang="en-US" b="1" dirty="0"/>
              <a:t>CNN:</a:t>
            </a:r>
            <a:r>
              <a:rPr lang="en-US" dirty="0"/>
              <a:t> Learns </a:t>
            </a:r>
            <a:r>
              <a:rPr lang="en-US" b="1" dirty="0"/>
              <a:t>spatial patterns</a:t>
            </a:r>
            <a:r>
              <a:rPr lang="en-US" dirty="0"/>
              <a:t> such as edges, shapes, and objects—commonly used for images. Examples: LeNet-5, </a:t>
            </a:r>
            <a:r>
              <a:rPr lang="en-US" dirty="0" err="1"/>
              <a:t>RestNet</a:t>
            </a:r>
            <a:r>
              <a:rPr lang="en-US" dirty="0"/>
              <a:t> etc.</a:t>
            </a:r>
          </a:p>
          <a:p>
            <a:r>
              <a:rPr lang="en-US" b="1" dirty="0"/>
              <a:t>RNN:</a:t>
            </a:r>
            <a:r>
              <a:rPr lang="en-US" dirty="0"/>
              <a:t> Learns </a:t>
            </a:r>
            <a:r>
              <a:rPr lang="en-US" b="1" dirty="0"/>
              <a:t>sequential/temporal patterns</a:t>
            </a:r>
            <a:r>
              <a:rPr lang="en-US" dirty="0"/>
              <a:t> by remembering previous information; commonly used for text, speech, and time-series data. Examples: LSTM and Gated Recurrent Unit (GRU).</a:t>
            </a:r>
          </a:p>
          <a:p>
            <a:endParaRPr lang="en-US" dirty="0"/>
          </a:p>
          <a:p>
            <a:r>
              <a:rPr lang="en-US" b="1" dirty="0"/>
              <a:t>Simple analogy:</a:t>
            </a:r>
            <a:br>
              <a:rPr lang="en-US" dirty="0"/>
            </a:br>
            <a:r>
              <a:rPr lang="en-US" b="1" dirty="0"/>
              <a:t>NN = </a:t>
            </a:r>
            <a:r>
              <a:rPr lang="en-US" b="0" dirty="0"/>
              <a:t>learns relationships between input and output</a:t>
            </a:r>
            <a:br>
              <a:rPr lang="en-US" dirty="0"/>
            </a:br>
            <a:r>
              <a:rPr lang="en-US" b="1" dirty="0"/>
              <a:t>CNN = </a:t>
            </a:r>
            <a:r>
              <a:rPr lang="en-US" dirty="0"/>
              <a:t>looks at “where” things are</a:t>
            </a:r>
            <a:endParaRPr lang="en-US" b="1" dirty="0"/>
          </a:p>
          <a:p>
            <a:r>
              <a:rPr lang="en-US" b="1" dirty="0"/>
              <a:t>RNN = </a:t>
            </a:r>
            <a:r>
              <a:rPr lang="en-US" b="0" dirty="0"/>
              <a:t>remembers “what came before”</a:t>
            </a:r>
          </a:p>
        </p:txBody>
      </p:sp>
      <p:sp>
        <p:nvSpPr>
          <p:cNvPr id="4" name="Slide Number Placeholder 3"/>
          <p:cNvSpPr>
            <a:spLocks noGrp="1"/>
          </p:cNvSpPr>
          <p:nvPr>
            <p:ph type="sldNum" sz="quarter" idx="5"/>
          </p:nvPr>
        </p:nvSpPr>
        <p:spPr/>
        <p:txBody>
          <a:bodyPr/>
          <a:lstStyle/>
          <a:p>
            <a:fld id="{9978199A-2CA8-47D4-96B8-19D924289139}" type="slidenum">
              <a:rPr lang="en-US" smtClean="0"/>
              <a:t>6</a:t>
            </a:fld>
            <a:endParaRPr lang="en-US"/>
          </a:p>
        </p:txBody>
      </p:sp>
    </p:spTree>
    <p:extLst>
      <p:ext uri="{BB962C8B-B14F-4D97-AF65-F5344CB8AC3E}">
        <p14:creationId xmlns:p14="http://schemas.microsoft.com/office/powerpoint/2010/main" val="15232357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b="1" i="1" u="sng" dirty="0"/>
              <a:t>Pinch a Person (Example)</a:t>
            </a:r>
          </a:p>
          <a:p>
            <a:r>
              <a:rPr lang="en-US" sz="1600" b="1" dirty="0"/>
              <a:t>Sensory Neurons (Skin):</a:t>
            </a:r>
            <a:r>
              <a:rPr lang="en-US" sz="1600" dirty="0"/>
              <a:t> Pressure sensors in the skin detect the pinch and generate an electrical pulse.</a:t>
            </a:r>
          </a:p>
          <a:p>
            <a:r>
              <a:rPr lang="en-US" sz="1600" b="1" dirty="0"/>
              <a:t>Peripheral Nerves (Wire):</a:t>
            </a:r>
            <a:r>
              <a:rPr lang="en-US" sz="1600" dirty="0"/>
              <a:t> Fast-acting nerve fibers shoot the signal up the arm toward the spine.</a:t>
            </a:r>
          </a:p>
          <a:p>
            <a:r>
              <a:rPr lang="en-US" sz="1600" b="1" dirty="0"/>
              <a:t>Spinal Cord (Highway):</a:t>
            </a:r>
            <a:r>
              <a:rPr lang="en-US" sz="1600" dirty="0"/>
              <a:t> The spine receives the message and sends it straight up to the brain.</a:t>
            </a:r>
          </a:p>
          <a:p>
            <a:r>
              <a:rPr lang="en-US" sz="1600" b="1" dirty="0"/>
              <a:t>Brain (Processor):</a:t>
            </a:r>
            <a:endParaRPr lang="en-US" sz="1600" dirty="0"/>
          </a:p>
          <a:p>
            <a:r>
              <a:rPr lang="en-US" sz="1600" b="1" dirty="0"/>
              <a:t>Location:</a:t>
            </a:r>
            <a:r>
              <a:rPr lang="en-US" sz="1600" dirty="0"/>
              <a:t> The </a:t>
            </a:r>
            <a:r>
              <a:rPr lang="en-US" sz="1600" i="1" dirty="0"/>
              <a:t>somatosensory cortex</a:t>
            </a:r>
            <a:r>
              <a:rPr lang="en-US" sz="1600" dirty="0"/>
              <a:t> figures out </a:t>
            </a:r>
            <a:r>
              <a:rPr lang="en-US" sz="1600" b="1" dirty="0"/>
              <a:t>where</a:t>
            </a:r>
            <a:r>
              <a:rPr lang="en-US" sz="1600" dirty="0"/>
              <a:t> and </a:t>
            </a:r>
            <a:r>
              <a:rPr lang="en-US" sz="1600" b="1" dirty="0"/>
              <a:t>how hard</a:t>
            </a:r>
            <a:r>
              <a:rPr lang="en-US" sz="1600" dirty="0"/>
              <a:t> you pinched.</a:t>
            </a:r>
          </a:p>
          <a:p>
            <a:r>
              <a:rPr lang="en-US" sz="1600" b="1" dirty="0"/>
              <a:t>Emotion:</a:t>
            </a:r>
            <a:r>
              <a:rPr lang="en-US" sz="1600" dirty="0"/>
              <a:t> The </a:t>
            </a:r>
            <a:r>
              <a:rPr lang="en-US" sz="1600" i="1" dirty="0"/>
              <a:t>limbic system</a:t>
            </a:r>
            <a:r>
              <a:rPr lang="en-US" sz="1600" dirty="0"/>
              <a:t> triggers the annoyance or "ouch" response.</a:t>
            </a:r>
          </a:p>
          <a:p>
            <a:endParaRPr lang="en-US" sz="1600" kern="1200" dirty="0">
              <a:solidFill>
                <a:schemeClr val="tx1"/>
              </a:solidFill>
              <a:latin typeface="Calibri" panose="020F0502020204030204" pitchFamily="34" charset="0"/>
              <a:ea typeface="+mn-ea"/>
              <a:cs typeface="Calibri" panose="020F0502020204030204" pitchFamily="34" charset="0"/>
            </a:endParaRPr>
          </a:p>
          <a:p>
            <a:endParaRPr lang="en-US" sz="1600" kern="1200" dirty="0">
              <a:solidFill>
                <a:schemeClr val="tx1"/>
              </a:solidFill>
              <a:latin typeface="Calibri" panose="020F0502020204030204" pitchFamily="34" charset="0"/>
              <a:ea typeface="+mn-ea"/>
              <a:cs typeface="Calibri" panose="020F0502020204030204" pitchFamily="34" charset="0"/>
            </a:endParaRPr>
          </a:p>
          <a:p>
            <a:r>
              <a:rPr lang="en-US" sz="1200" b="1" i="1" u="sng" kern="1200" dirty="0">
                <a:solidFill>
                  <a:schemeClr val="tx1"/>
                </a:solidFill>
                <a:effectLst/>
                <a:latin typeface="+mn-lt"/>
                <a:ea typeface="+mn-ea"/>
                <a:cs typeface="+mn-cs"/>
              </a:rPr>
              <a:t>Bridge to Neural Networks</a:t>
            </a:r>
          </a:p>
          <a:p>
            <a:r>
              <a:rPr lang="en-US" sz="1200" b="1" u="sng" kern="1200" dirty="0">
                <a:solidFill>
                  <a:schemeClr val="tx1"/>
                </a:solidFill>
                <a:effectLst/>
                <a:latin typeface="+mn-lt"/>
                <a:ea typeface="+mn-ea"/>
                <a:cs typeface="+mn-cs"/>
              </a:rPr>
              <a:t>Biology</a:t>
            </a:r>
            <a:r>
              <a:rPr lang="en-US" sz="1200" b="1" kern="1200" dirty="0">
                <a:solidFill>
                  <a:schemeClr val="tx1"/>
                </a:solidFill>
                <a:effectLst/>
                <a:latin typeface="+mn-lt"/>
                <a:ea typeface="+mn-ea"/>
                <a:cs typeface="+mn-cs"/>
              </a:rPr>
              <a:t>                                  </a:t>
            </a:r>
            <a:r>
              <a:rPr lang="en-US" sz="1200" b="1" u="sng" kern="1200" dirty="0">
                <a:solidFill>
                  <a:srgbClr val="FF0000"/>
                </a:solidFill>
                <a:effectLst/>
                <a:latin typeface="+mn-lt"/>
                <a:ea typeface="+mn-ea"/>
                <a:cs typeface="+mn-cs"/>
              </a:rPr>
              <a:t>Artificial Neural Network (ANNs)</a:t>
            </a:r>
            <a:endParaRPr lang="en-US" sz="1200" u="sng" kern="1200" dirty="0">
              <a:solidFill>
                <a:srgbClr val="FF0000"/>
              </a:solidFill>
              <a:effectLst/>
              <a:latin typeface="+mn-lt"/>
              <a:ea typeface="+mn-ea"/>
              <a:cs typeface="+mn-cs"/>
            </a:endParaRPr>
          </a:p>
          <a:p>
            <a:r>
              <a:rPr lang="en-US" sz="1200" b="1" kern="1200" dirty="0">
                <a:solidFill>
                  <a:schemeClr val="tx1"/>
                </a:solidFill>
                <a:effectLst/>
                <a:latin typeface="+mn-lt"/>
                <a:ea typeface="+mn-ea"/>
                <a:cs typeface="+mn-cs"/>
              </a:rPr>
              <a:t>Skin sensors                          Input Layer:</a:t>
            </a:r>
            <a:r>
              <a:rPr lang="en-US" sz="1200" kern="1200" dirty="0">
                <a:solidFill>
                  <a:schemeClr val="tx1"/>
                </a:solidFill>
                <a:effectLst/>
                <a:latin typeface="+mn-lt"/>
                <a:ea typeface="+mn-ea"/>
                <a:cs typeface="+mn-cs"/>
              </a:rPr>
              <a:t> Receives raw features (e.g., pressure intensity, pixels, text).</a:t>
            </a:r>
          </a:p>
          <a:p>
            <a:r>
              <a:rPr lang="en-US" sz="1200" b="1" kern="1200" dirty="0">
                <a:solidFill>
                  <a:schemeClr val="tx1"/>
                </a:solidFill>
                <a:effectLst/>
                <a:latin typeface="+mn-lt"/>
                <a:ea typeface="+mn-ea"/>
                <a:cs typeface="+mn-cs"/>
              </a:rPr>
              <a:t>Nerve fibers / Spine            Hidden Layers:</a:t>
            </a:r>
            <a:r>
              <a:rPr lang="en-US" sz="1200" kern="1200" dirty="0">
                <a:solidFill>
                  <a:schemeClr val="tx1"/>
                </a:solidFill>
                <a:effectLst/>
                <a:latin typeface="+mn-lt"/>
                <a:ea typeface="+mn-ea"/>
                <a:cs typeface="+mn-cs"/>
              </a:rPr>
              <a:t> Transmits and transforms signals across weighted connections.</a:t>
            </a:r>
          </a:p>
          <a:p>
            <a:r>
              <a:rPr lang="en-US" sz="1200" b="1" kern="1200" dirty="0">
                <a:solidFill>
                  <a:schemeClr val="tx1"/>
                </a:solidFill>
                <a:effectLst/>
                <a:latin typeface="+mn-lt"/>
                <a:ea typeface="+mn-ea"/>
                <a:cs typeface="+mn-cs"/>
              </a:rPr>
              <a:t>Brain processing                  Output Layer:</a:t>
            </a:r>
            <a:r>
              <a:rPr lang="en-US" sz="1200" kern="1200" dirty="0">
                <a:solidFill>
                  <a:schemeClr val="tx1"/>
                </a:solidFill>
                <a:effectLst/>
                <a:latin typeface="+mn-lt"/>
                <a:ea typeface="+mn-ea"/>
                <a:cs typeface="+mn-cs"/>
              </a:rPr>
              <a:t> Makes the final decision (e.g., "Pinch detected" or "Classify as Spam").</a:t>
            </a:r>
          </a:p>
        </p:txBody>
      </p:sp>
      <p:sp>
        <p:nvSpPr>
          <p:cNvPr id="4" name="Slide Number Placeholder 3"/>
          <p:cNvSpPr>
            <a:spLocks noGrp="1"/>
          </p:cNvSpPr>
          <p:nvPr>
            <p:ph type="sldNum" sz="quarter" idx="5"/>
          </p:nvPr>
        </p:nvSpPr>
        <p:spPr/>
        <p:txBody>
          <a:bodyPr/>
          <a:lstStyle/>
          <a:p>
            <a:fld id="{9978199A-2CA8-47D4-96B8-19D924289139}" type="slidenum">
              <a:rPr lang="en-US" smtClean="0"/>
              <a:t>11</a:t>
            </a:fld>
            <a:endParaRPr lang="en-US"/>
          </a:p>
        </p:txBody>
      </p:sp>
    </p:spTree>
    <p:extLst>
      <p:ext uri="{BB962C8B-B14F-4D97-AF65-F5344CB8AC3E}">
        <p14:creationId xmlns:p14="http://schemas.microsoft.com/office/powerpoint/2010/main" val="3641677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1. Intuitive Everyday Analogy</a:t>
                </a:r>
              </a:p>
              <a:p>
                <a:r>
                  <a:rPr lang="en-US" sz="1200" b="1" kern="1200" dirty="0">
                    <a:solidFill>
                      <a:schemeClr val="tx1"/>
                    </a:solidFill>
                    <a:effectLst/>
                    <a:latin typeface="+mn-lt"/>
                    <a:ea typeface="+mn-ea"/>
                    <a:cs typeface="+mn-cs"/>
                  </a:rPr>
                  <a:t>Linearity = A Straight Ruler / Proportional Change</a:t>
                </a:r>
                <a:endParaRPr lang="en-US" sz="1200" kern="1200" dirty="0">
                  <a:solidFill>
                    <a:schemeClr val="tx1"/>
                  </a:solidFill>
                  <a:effectLst/>
                  <a:latin typeface="+mn-lt"/>
                  <a:ea typeface="+mn-ea"/>
                  <a:cs typeface="+mn-cs"/>
                </a:endParaRPr>
              </a:p>
              <a:p>
                <a:pPr lvl="1"/>
                <a:r>
                  <a:rPr lang="en-US" sz="1200" b="1" kern="1200" dirty="0">
                    <a:solidFill>
                      <a:schemeClr val="tx1"/>
                    </a:solidFill>
                    <a:effectLst/>
                    <a:latin typeface="+mn-lt"/>
                    <a:ea typeface="+mn-ea"/>
                    <a:cs typeface="+mn-cs"/>
                  </a:rPr>
                  <a:t>Analogy:</a:t>
                </a:r>
                <a:r>
                  <a:rPr lang="en-US" sz="1200" kern="1200" dirty="0">
                    <a:solidFill>
                      <a:schemeClr val="tx1"/>
                    </a:solidFill>
                    <a:effectLst/>
                    <a:latin typeface="+mn-lt"/>
                    <a:ea typeface="+mn-ea"/>
                    <a:cs typeface="+mn-cs"/>
                  </a:rPr>
                  <a:t> Buying apples at a fixed rate of $1 each. 1 apple = $1, 2 apples = $2, 10 apples = $10.</a:t>
                </a:r>
              </a:p>
              <a:p>
                <a:pPr lvl="1"/>
                <a:r>
                  <a:rPr lang="en-US" sz="1200" b="1" kern="1200" dirty="0">
                    <a:solidFill>
                      <a:schemeClr val="tx1"/>
                    </a:solidFill>
                    <a:effectLst/>
                    <a:latin typeface="+mn-lt"/>
                    <a:ea typeface="+mn-ea"/>
                    <a:cs typeface="+mn-cs"/>
                  </a:rPr>
                  <a:t>Key Concept:</a:t>
                </a:r>
                <a:r>
                  <a:rPr lang="en-US" sz="1200" kern="1200" dirty="0">
                    <a:solidFill>
                      <a:schemeClr val="tx1"/>
                    </a:solidFill>
                    <a:effectLst/>
                    <a:latin typeface="+mn-lt"/>
                    <a:ea typeface="+mn-ea"/>
                    <a:cs typeface="+mn-cs"/>
                  </a:rPr>
                  <a:t> The output changes in direct proportion to the input. On a graph, it forms a </a:t>
                </a:r>
                <a:r>
                  <a:rPr lang="en-US" sz="1200" b="1" kern="1200" dirty="0">
                    <a:solidFill>
                      <a:schemeClr val="tx1"/>
                    </a:solidFill>
                    <a:effectLst/>
                    <a:latin typeface="+mn-lt"/>
                    <a:ea typeface="+mn-ea"/>
                    <a:cs typeface="+mn-cs"/>
                  </a:rPr>
                  <a:t>straight line</a:t>
                </a:r>
                <a:r>
                  <a:rPr lang="en-US" sz="1200" kern="1200" dirty="0">
                    <a:solidFill>
                      <a:schemeClr val="tx1"/>
                    </a:solidFill>
                    <a:effectLst/>
                    <a:latin typeface="+mn-lt"/>
                    <a:ea typeface="+mn-ea"/>
                    <a:cs typeface="+mn-cs"/>
                  </a:rPr>
                  <a:t>. If you stack multiple linear operations, you still just get a straight line.</a:t>
                </a:r>
              </a:p>
              <a:p>
                <a:pPr lvl="1"/>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Non-Linearity = Bends, Thresholds &amp; Curves</a:t>
                </a:r>
                <a:endParaRPr lang="en-US" sz="1200" kern="1200" dirty="0">
                  <a:solidFill>
                    <a:schemeClr val="tx1"/>
                  </a:solidFill>
                  <a:effectLst/>
                  <a:latin typeface="+mn-lt"/>
                  <a:ea typeface="+mn-ea"/>
                  <a:cs typeface="+mn-cs"/>
                </a:endParaRPr>
              </a:p>
              <a:p>
                <a:pPr lvl="1"/>
                <a:r>
                  <a:rPr lang="en-US" sz="1200" b="1" kern="1200" dirty="0">
                    <a:solidFill>
                      <a:schemeClr val="tx1"/>
                    </a:solidFill>
                    <a:effectLst/>
                    <a:latin typeface="+mn-lt"/>
                    <a:ea typeface="+mn-ea"/>
                    <a:cs typeface="+mn-cs"/>
                  </a:rPr>
                  <a:t>Analogy:</a:t>
                </a:r>
                <a:r>
                  <a:rPr lang="en-US" sz="1200" kern="1200" dirty="0">
                    <a:solidFill>
                      <a:schemeClr val="tx1"/>
                    </a:solidFill>
                    <a:effectLst/>
                    <a:latin typeface="+mn-lt"/>
                    <a:ea typeface="+mn-ea"/>
                    <a:cs typeface="+mn-cs"/>
                  </a:rPr>
                  <a:t> Water heating up. From 20°C to 99°C, it stays liquid. At 100°C, it suddenly boils into steam. The output doesn't just scale linearly—it drastically changes behavior at a threshold.</a:t>
                </a:r>
              </a:p>
              <a:p>
                <a:pPr lvl="1"/>
                <a:r>
                  <a:rPr lang="en-US" sz="1200" b="1" kern="1200" dirty="0">
                    <a:solidFill>
                      <a:schemeClr val="tx1"/>
                    </a:solidFill>
                    <a:effectLst/>
                    <a:latin typeface="+mn-lt"/>
                    <a:ea typeface="+mn-ea"/>
                    <a:cs typeface="+mn-cs"/>
                  </a:rPr>
                  <a:t>Key Concept:</a:t>
                </a:r>
                <a:r>
                  <a:rPr lang="en-US" sz="1200" kern="1200" dirty="0">
                    <a:solidFill>
                      <a:schemeClr val="tx1"/>
                    </a:solidFill>
                    <a:effectLst/>
                    <a:latin typeface="+mn-lt"/>
                    <a:ea typeface="+mn-ea"/>
                    <a:cs typeface="+mn-cs"/>
                  </a:rPr>
                  <a:t> The output changes unpredictably, bends, or switches "ON/OFF". On a graph, it forms </a:t>
                </a:r>
                <a:r>
                  <a:rPr lang="en-US" sz="1200" b="1" kern="1200" dirty="0">
                    <a:solidFill>
                      <a:schemeClr val="tx1"/>
                    </a:solidFill>
                    <a:effectLst/>
                    <a:latin typeface="+mn-lt"/>
                    <a:ea typeface="+mn-ea"/>
                    <a:cs typeface="+mn-cs"/>
                  </a:rPr>
                  <a:t>curves, corners, or steps</a:t>
                </a:r>
                <a:r>
                  <a:rPr lang="en-US" sz="1200" kern="1200" dirty="0">
                    <a:solidFill>
                      <a:schemeClr val="tx1"/>
                    </a:solidFill>
                    <a:effectLst/>
                    <a:latin typeface="+mn-lt"/>
                    <a:ea typeface="+mn-ea"/>
                    <a:cs typeface="+mn-cs"/>
                  </a:rPr>
                  <a:t>.</a:t>
                </a:r>
              </a:p>
              <a:p>
                <a:endParaRPr lang="en-US" sz="1200" b="1"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2. Why Linear-Only Neural Networks Fail (The "Folded Paper" Example)</a:t>
                </a:r>
              </a:p>
              <a:p>
                <a:r>
                  <a:rPr lang="en-US" sz="1200" b="1" kern="1200" dirty="0">
                    <a:solidFill>
                      <a:schemeClr val="tx1"/>
                    </a:solidFill>
                    <a:effectLst/>
                    <a:latin typeface="+mn-lt"/>
                    <a:ea typeface="+mn-ea"/>
                    <a:cs typeface="+mn-cs"/>
                  </a:rPr>
                  <a:t>The Problem:</a:t>
                </a:r>
                <a:r>
                  <a:rPr lang="en-US" sz="1200" kern="1200" dirty="0">
                    <a:solidFill>
                      <a:schemeClr val="tx1"/>
                    </a:solidFill>
                    <a:effectLst/>
                    <a:latin typeface="+mn-lt"/>
                    <a:ea typeface="+mn-ea"/>
                    <a:cs typeface="+mn-cs"/>
                  </a:rPr>
                  <a:t> Real-world data (like recognizing faces, stock prices, or spam) is chaotic and complex. A straight line cannot separate red and blue dots if they are arranged in a circle or a spiral.</a:t>
                </a:r>
              </a:p>
              <a:p>
                <a:r>
                  <a:rPr lang="en-US" sz="1200" b="1" kern="1200" dirty="0">
                    <a:solidFill>
                      <a:schemeClr val="tx1"/>
                    </a:solidFill>
                    <a:effectLst/>
                    <a:latin typeface="+mn-lt"/>
                    <a:ea typeface="+mn-ea"/>
                    <a:cs typeface="+mn-cs"/>
                  </a:rPr>
                  <a:t>The Math Analogy:</a:t>
                </a:r>
                <a:r>
                  <a:rPr lang="en-US" sz="1200" kern="1200" dirty="0">
                    <a:solidFill>
                      <a:schemeClr val="tx1"/>
                    </a:solidFill>
                    <a:effectLst/>
                    <a:latin typeface="+mn-lt"/>
                    <a:ea typeface="+mn-ea"/>
                    <a:cs typeface="+mn-cs"/>
                  </a:rPr>
                  <a:t> If you stack 100 linear layers together, mathematically they simplify down to </a:t>
                </a:r>
                <a:r>
                  <a:rPr lang="en-US" sz="1200" b="1" kern="1200" dirty="0">
                    <a:solidFill>
                      <a:schemeClr val="tx1"/>
                    </a:solidFill>
                    <a:effectLst/>
                    <a:latin typeface="+mn-lt"/>
                    <a:ea typeface="+mn-ea"/>
                    <a:cs typeface="+mn-cs"/>
                  </a:rPr>
                  <a:t>just 1 big linear layer</a:t>
                </a:r>
                <a:r>
                  <a:rPr lang="en-US" sz="1200" kern="1200" dirty="0">
                    <a:solidFill>
                      <a:schemeClr val="tx1"/>
                    </a:solidFill>
                    <a:effectLst/>
                    <a:latin typeface="+mn-lt"/>
                    <a:ea typeface="+mn-ea"/>
                    <a:cs typeface="+mn-cs"/>
                  </a:rPr>
                  <a:t> (</a:t>
                </a:r>
                <a14:m>
                  <m:oMath xmlns:m="http://schemas.openxmlformats.org/officeDocument/2006/math">
                    <m:r>
                      <a:rPr lang="en-US" sz="1200" i="1" kern="1200" smtClean="0">
                        <a:solidFill>
                          <a:schemeClr val="tx1"/>
                        </a:solidFill>
                        <a:latin typeface="Cambria Math" panose="02040503050406030204" pitchFamily="18" charset="0"/>
                        <a:ea typeface="+mn-ea"/>
                        <a:cs typeface="+mn-cs"/>
                      </a:rPr>
                      <m:t>𝑦</m:t>
                    </m:r>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𝑚𝑥</m:t>
                    </m:r>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𝑐</m:t>
                    </m:r>
                  </m:oMath>
                </a14:m>
                <a:r>
                  <a:rPr lang="en-US" sz="1200" kern="1200" dirty="0">
                    <a:solidFill>
                      <a:schemeClr val="tx1"/>
                    </a:solidFill>
                    <a:effectLst/>
                    <a:latin typeface="+mn-lt"/>
                    <a:ea typeface="+mn-ea"/>
                    <a:cs typeface="+mn-cs"/>
                  </a:rPr>
                  <a:t>). No matter how deep your network is, without non-linearity, it behaves like a basic linear regression model.</a:t>
                </a: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3. How Activation Functions Add Non-Linearity</a:t>
                </a:r>
              </a:p>
              <a:p>
                <a:r>
                  <a:rPr lang="en-US" sz="1200" kern="1200" dirty="0">
                    <a:solidFill>
                      <a:schemeClr val="tx1"/>
                    </a:solidFill>
                    <a:effectLst/>
                    <a:latin typeface="+mn-lt"/>
                    <a:ea typeface="+mn-ea"/>
                    <a:cs typeface="+mn-cs"/>
                  </a:rPr>
                  <a:t>Non-linear activation functions bend and twist the decision boundaries so the network can fit complex, real-world patterns:</a:t>
                </a:r>
              </a:p>
              <a:p>
                <a:endParaRPr lang="en-US" sz="1200" kern="1200" dirty="0">
                  <a:solidFill>
                    <a:schemeClr val="tx1"/>
                  </a:solidFill>
                  <a:effectLst/>
                  <a:latin typeface="+mn-lt"/>
                  <a:ea typeface="+mn-ea"/>
                  <a:cs typeface="+mn-cs"/>
                </a:endParaRPr>
              </a:p>
              <a:p>
                <a:r>
                  <a:rPr lang="en-US" sz="1200" b="1" kern="1200" dirty="0" err="1">
                    <a:solidFill>
                      <a:schemeClr val="tx1"/>
                    </a:solidFill>
                    <a:effectLst/>
                    <a:latin typeface="+mn-lt"/>
                    <a:ea typeface="+mn-ea"/>
                    <a:cs typeface="+mn-cs"/>
                  </a:rPr>
                  <a:t>ReLU</a:t>
                </a:r>
                <a:r>
                  <a:rPr lang="en-US" sz="1200" b="1" kern="1200" dirty="0">
                    <a:solidFill>
                      <a:schemeClr val="tx1"/>
                    </a:solidFill>
                    <a:effectLst/>
                    <a:latin typeface="+mn-lt"/>
                    <a:ea typeface="+mn-ea"/>
                    <a:cs typeface="+mn-cs"/>
                  </a:rPr>
                  <a:t> (</a:t>
                </a:r>
                <a14:m>
                  <m:oMath xmlns:m="http://schemas.openxmlformats.org/officeDocument/2006/math">
                    <m:r>
                      <a:rPr lang="en-US" sz="1200" i="1" kern="1200" smtClean="0">
                        <a:solidFill>
                          <a:schemeClr val="tx1"/>
                        </a:solidFill>
                        <a:latin typeface="Cambria Math" panose="02040503050406030204" pitchFamily="18" charset="0"/>
                        <a:ea typeface="+mn-ea"/>
                        <a:cs typeface="+mn-cs"/>
                      </a:rPr>
                      <m:t>𝑓</m:t>
                    </m:r>
                    <m:d>
                      <m:dPr>
                        <m:ctrlPr>
                          <a:rPr lang="en-US" sz="1200" i="1" kern="1200">
                            <a:solidFill>
                              <a:schemeClr val="tx1"/>
                            </a:solidFill>
                            <a:latin typeface="Cambria Math" panose="02040503050406030204" pitchFamily="18" charset="0"/>
                            <a:ea typeface="+mn-ea"/>
                            <a:cs typeface="+mn-cs"/>
                          </a:rPr>
                        </m:ctrlPr>
                      </m:dPr>
                      <m:e>
                        <m:r>
                          <a:rPr lang="en-US" sz="1200" i="1" kern="1200">
                            <a:solidFill>
                              <a:schemeClr val="tx1"/>
                            </a:solidFill>
                            <a:latin typeface="Cambria Math" panose="02040503050406030204" pitchFamily="18" charset="0"/>
                            <a:ea typeface="+mn-ea"/>
                            <a:cs typeface="+mn-cs"/>
                          </a:rPr>
                          <m:t>𝑥</m:t>
                        </m:r>
                      </m:e>
                    </m:d>
                    <m:r>
                      <a:rPr lang="en-US" sz="1200" i="0" kern="1200">
                        <a:solidFill>
                          <a:schemeClr val="tx1"/>
                        </a:solidFill>
                        <a:latin typeface="Cambria Math" panose="02040503050406030204" pitchFamily="18" charset="0"/>
                        <a:ea typeface="+mn-ea"/>
                        <a:cs typeface="+mn-cs"/>
                      </a:rPr>
                      <m:t>=</m:t>
                    </m:r>
                    <m:func>
                      <m:funcPr>
                        <m:ctrlPr>
                          <a:rPr lang="en-US" sz="1200" i="1" kern="1200">
                            <a:solidFill>
                              <a:schemeClr val="tx1"/>
                            </a:solidFill>
                            <a:latin typeface="Cambria Math" panose="02040503050406030204" pitchFamily="18" charset="0"/>
                            <a:ea typeface="+mn-ea"/>
                            <a:cs typeface="+mn-cs"/>
                          </a:rPr>
                        </m:ctrlPr>
                      </m:funcPr>
                      <m:fName>
                        <m:r>
                          <m:rPr>
                            <m:sty m:val="p"/>
                          </m:rPr>
                          <a:rPr lang="en-US" sz="1200" i="0" kern="1200">
                            <a:solidFill>
                              <a:schemeClr val="tx1"/>
                            </a:solidFill>
                            <a:latin typeface="Cambria Math" panose="02040503050406030204" pitchFamily="18" charset="0"/>
                            <a:ea typeface="+mn-ea"/>
                            <a:cs typeface="+mn-cs"/>
                          </a:rPr>
                          <m:t>max</m:t>
                        </m:r>
                      </m:fName>
                      <m:e>
                        <m:d>
                          <m:dPr>
                            <m:ctrlPr>
                              <a:rPr lang="en-US" sz="1200" i="1" kern="1200">
                                <a:solidFill>
                                  <a:schemeClr val="tx1"/>
                                </a:solidFill>
                                <a:latin typeface="Cambria Math" panose="02040503050406030204" pitchFamily="18" charset="0"/>
                                <a:ea typeface="+mn-ea"/>
                                <a:cs typeface="+mn-cs"/>
                              </a:rPr>
                            </m:ctrlPr>
                          </m:dPr>
                          <m:e>
                            <m:r>
                              <a:rPr lang="en-US" sz="1200" i="0" kern="1200">
                                <a:solidFill>
                                  <a:schemeClr val="tx1"/>
                                </a:solidFill>
                                <a:latin typeface="Cambria Math" panose="02040503050406030204" pitchFamily="18" charset="0"/>
                                <a:ea typeface="+mn-ea"/>
                                <a:cs typeface="+mn-cs"/>
                              </a:rPr>
                              <m:t>0,</m:t>
                            </m:r>
                            <m:r>
                              <a:rPr lang="en-US" sz="1200" i="1" kern="1200">
                                <a:solidFill>
                                  <a:schemeClr val="tx1"/>
                                </a:solidFill>
                                <a:latin typeface="Cambria Math" panose="02040503050406030204" pitchFamily="18" charset="0"/>
                                <a:ea typeface="+mn-ea"/>
                                <a:cs typeface="+mn-cs"/>
                              </a:rPr>
                              <m:t>𝑥</m:t>
                            </m:r>
                          </m:e>
                        </m:d>
                      </m:e>
                    </m:func>
                  </m:oMath>
                </a14:m>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Acts like a light switch. If the input is negative, turn it OFF (</a:t>
                </a:r>
                <a14:m>
                  <m:oMath xmlns:m="http://schemas.openxmlformats.org/officeDocument/2006/math">
                    <m:r>
                      <a:rPr lang="en-US" sz="1200" kern="1200" smtClean="0">
                        <a:solidFill>
                          <a:schemeClr val="tx1"/>
                        </a:solidFill>
                        <a:latin typeface="Cambria Math" panose="02040503050406030204" pitchFamily="18" charset="0"/>
                        <a:ea typeface="+mn-ea"/>
                        <a:cs typeface="+mn-cs"/>
                      </a:rPr>
                      <m:t>0</m:t>
                    </m:r>
                  </m:oMath>
                </a14:m>
                <a:r>
                  <a:rPr lang="en-US" sz="1200" kern="1200" dirty="0">
                    <a:solidFill>
                      <a:schemeClr val="tx1"/>
                    </a:solidFill>
                    <a:effectLst/>
                    <a:latin typeface="+mn-lt"/>
                    <a:ea typeface="+mn-ea"/>
                    <a:cs typeface="+mn-cs"/>
                  </a:rPr>
                  <a:t>). If positive, pass it through. This simple "bend" at zero adds non-linearity.</a:t>
                </a:r>
              </a:p>
              <a:p>
                <a:r>
                  <a:rPr lang="en-US" sz="1200" b="1" kern="1200" dirty="0">
                    <a:solidFill>
                      <a:schemeClr val="tx1"/>
                    </a:solidFill>
                    <a:effectLst/>
                    <a:latin typeface="+mn-lt"/>
                    <a:ea typeface="+mn-ea"/>
                    <a:cs typeface="+mn-cs"/>
                  </a:rPr>
                  <a:t>Sigmoid / Tanh:</a:t>
                </a:r>
                <a:r>
                  <a:rPr lang="en-US" sz="1200" kern="1200" dirty="0">
                    <a:solidFill>
                      <a:schemeClr val="tx1"/>
                    </a:solidFill>
                    <a:effectLst/>
                    <a:latin typeface="+mn-lt"/>
                    <a:ea typeface="+mn-ea"/>
                    <a:cs typeface="+mn-cs"/>
                  </a:rPr>
                  <a:t> Act like smooth "S-curves" that squash large inputs into a bounded range (e.g., between 0 and 1 for probabilities), flattening out extreme values. Common use in RNNs/sequence models.</a:t>
                </a: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Takeaway Quote: </a:t>
                </a:r>
                <a:r>
                  <a:rPr lang="en-US" sz="1200" i="1" kern="1200" dirty="0">
                    <a:solidFill>
                      <a:schemeClr val="tx1"/>
                    </a:solidFill>
                    <a:effectLst/>
                    <a:latin typeface="+mn-lt"/>
                    <a:ea typeface="+mn-ea"/>
                    <a:cs typeface="+mn-cs"/>
                  </a:rPr>
                  <a:t>"Linearity lets us draw straight lines. Non-linearity lets us bend, curve, and fold space so the neural network can learn complex, real-world shapes.“</a:t>
                </a:r>
              </a:p>
              <a:p>
                <a:endParaRPr lang="en-US" sz="1200" i="1" kern="1200" dirty="0">
                  <a:solidFill>
                    <a:schemeClr val="tx1"/>
                  </a:solidFill>
                  <a:effectLst/>
                  <a:latin typeface="+mn-lt"/>
                  <a:ea typeface="+mn-ea"/>
                  <a:cs typeface="+mn-cs"/>
                </a:endParaRPr>
              </a:p>
              <a:p>
                <a:r>
                  <a:rPr lang="en-US" b="1" dirty="0"/>
                  <a:t>Tanh (hyperbolic tangent) </a:t>
                </a:r>
                <a:r>
                  <a:rPr lang="en-US" dirty="0"/>
                  <a:t>is an activation function that converts a neuron's value to a range between −1 and +1.</a:t>
                </a:r>
                <a:endParaRPr lang="en-US" sz="1200" kern="1200" dirty="0">
                  <a:solidFill>
                    <a:schemeClr val="tx1"/>
                  </a:solidFill>
                  <a:effectLst/>
                  <a:latin typeface="+mn-lt"/>
                  <a:ea typeface="+mn-ea"/>
                  <a:cs typeface="+mn-cs"/>
                </a:endParaRPr>
              </a:p>
              <a:p>
                <a:endParaRPr lang="en-US" dirty="0"/>
              </a:p>
            </p:txBody>
          </p:sp>
        </mc:Choice>
        <mc:Fallback xmlns="">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1. Intuitive Everyday Analogy</a:t>
                </a:r>
              </a:p>
              <a:p>
                <a:r>
                  <a:rPr lang="en-US" sz="1200" b="1" kern="1200" dirty="0">
                    <a:solidFill>
                      <a:schemeClr val="tx1"/>
                    </a:solidFill>
                    <a:effectLst/>
                    <a:latin typeface="+mn-lt"/>
                    <a:ea typeface="+mn-ea"/>
                    <a:cs typeface="+mn-cs"/>
                  </a:rPr>
                  <a:t>Linearity = A Straight Ruler / Proportional Change</a:t>
                </a:r>
                <a:endParaRPr lang="en-US" sz="1200" kern="1200" dirty="0">
                  <a:solidFill>
                    <a:schemeClr val="tx1"/>
                  </a:solidFill>
                  <a:effectLst/>
                  <a:latin typeface="+mn-lt"/>
                  <a:ea typeface="+mn-ea"/>
                  <a:cs typeface="+mn-cs"/>
                </a:endParaRPr>
              </a:p>
              <a:p>
                <a:pPr lvl="1"/>
                <a:r>
                  <a:rPr lang="en-US" sz="1200" b="1" kern="1200" dirty="0">
                    <a:solidFill>
                      <a:schemeClr val="tx1"/>
                    </a:solidFill>
                    <a:effectLst/>
                    <a:latin typeface="+mn-lt"/>
                    <a:ea typeface="+mn-ea"/>
                    <a:cs typeface="+mn-cs"/>
                  </a:rPr>
                  <a:t>Analogy:</a:t>
                </a:r>
                <a:r>
                  <a:rPr lang="en-US" sz="1200" kern="1200" dirty="0">
                    <a:solidFill>
                      <a:schemeClr val="tx1"/>
                    </a:solidFill>
                    <a:effectLst/>
                    <a:latin typeface="+mn-lt"/>
                    <a:ea typeface="+mn-ea"/>
                    <a:cs typeface="+mn-cs"/>
                  </a:rPr>
                  <a:t> Buying apples at a fixed rate of $1 each. 1 apple = $1, 2 apples = $2, 10 apples = $10.</a:t>
                </a:r>
              </a:p>
              <a:p>
                <a:pPr lvl="1"/>
                <a:r>
                  <a:rPr lang="en-US" sz="1200" b="1" kern="1200" dirty="0">
                    <a:solidFill>
                      <a:schemeClr val="tx1"/>
                    </a:solidFill>
                    <a:effectLst/>
                    <a:latin typeface="+mn-lt"/>
                    <a:ea typeface="+mn-ea"/>
                    <a:cs typeface="+mn-cs"/>
                  </a:rPr>
                  <a:t>Key Concept:</a:t>
                </a:r>
                <a:r>
                  <a:rPr lang="en-US" sz="1200" kern="1200" dirty="0">
                    <a:solidFill>
                      <a:schemeClr val="tx1"/>
                    </a:solidFill>
                    <a:effectLst/>
                    <a:latin typeface="+mn-lt"/>
                    <a:ea typeface="+mn-ea"/>
                    <a:cs typeface="+mn-cs"/>
                  </a:rPr>
                  <a:t> The output changes in direct proportion to the input. On a graph, it forms a </a:t>
                </a:r>
                <a:r>
                  <a:rPr lang="en-US" sz="1200" b="1" kern="1200" dirty="0">
                    <a:solidFill>
                      <a:schemeClr val="tx1"/>
                    </a:solidFill>
                    <a:effectLst/>
                    <a:latin typeface="+mn-lt"/>
                    <a:ea typeface="+mn-ea"/>
                    <a:cs typeface="+mn-cs"/>
                  </a:rPr>
                  <a:t>straight line</a:t>
                </a:r>
                <a:r>
                  <a:rPr lang="en-US" sz="1200" kern="1200" dirty="0">
                    <a:solidFill>
                      <a:schemeClr val="tx1"/>
                    </a:solidFill>
                    <a:effectLst/>
                    <a:latin typeface="+mn-lt"/>
                    <a:ea typeface="+mn-ea"/>
                    <a:cs typeface="+mn-cs"/>
                  </a:rPr>
                  <a:t>. If you stack multiple linear operations, you still just get a straight line.</a:t>
                </a:r>
              </a:p>
              <a:p>
                <a:pPr lvl="1"/>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Non-Linearity = Bends, Thresholds &amp; Curves</a:t>
                </a:r>
                <a:endParaRPr lang="en-US" sz="1200" kern="1200" dirty="0">
                  <a:solidFill>
                    <a:schemeClr val="tx1"/>
                  </a:solidFill>
                  <a:effectLst/>
                  <a:latin typeface="+mn-lt"/>
                  <a:ea typeface="+mn-ea"/>
                  <a:cs typeface="+mn-cs"/>
                </a:endParaRPr>
              </a:p>
              <a:p>
                <a:pPr lvl="1"/>
                <a:r>
                  <a:rPr lang="en-US" sz="1200" b="1" kern="1200" dirty="0">
                    <a:solidFill>
                      <a:schemeClr val="tx1"/>
                    </a:solidFill>
                    <a:effectLst/>
                    <a:latin typeface="+mn-lt"/>
                    <a:ea typeface="+mn-ea"/>
                    <a:cs typeface="+mn-cs"/>
                  </a:rPr>
                  <a:t>Analogy:</a:t>
                </a:r>
                <a:r>
                  <a:rPr lang="en-US" sz="1200" kern="1200" dirty="0">
                    <a:solidFill>
                      <a:schemeClr val="tx1"/>
                    </a:solidFill>
                    <a:effectLst/>
                    <a:latin typeface="+mn-lt"/>
                    <a:ea typeface="+mn-ea"/>
                    <a:cs typeface="+mn-cs"/>
                  </a:rPr>
                  <a:t> Water heating up. From 20°C to 99°C, it stays liquid. At 100°C, it suddenly boils into steam. The output doesn't just scale linearly—it drastically changes behavior at a threshold.</a:t>
                </a:r>
              </a:p>
              <a:p>
                <a:pPr lvl="1"/>
                <a:r>
                  <a:rPr lang="en-US" sz="1200" b="1" kern="1200" dirty="0">
                    <a:solidFill>
                      <a:schemeClr val="tx1"/>
                    </a:solidFill>
                    <a:effectLst/>
                    <a:latin typeface="+mn-lt"/>
                    <a:ea typeface="+mn-ea"/>
                    <a:cs typeface="+mn-cs"/>
                  </a:rPr>
                  <a:t>Key Concept:</a:t>
                </a:r>
                <a:r>
                  <a:rPr lang="en-US" sz="1200" kern="1200" dirty="0">
                    <a:solidFill>
                      <a:schemeClr val="tx1"/>
                    </a:solidFill>
                    <a:effectLst/>
                    <a:latin typeface="+mn-lt"/>
                    <a:ea typeface="+mn-ea"/>
                    <a:cs typeface="+mn-cs"/>
                  </a:rPr>
                  <a:t> The output changes unpredictably, bends, or switches "ON/OFF". On a graph, it forms </a:t>
                </a:r>
                <a:r>
                  <a:rPr lang="en-US" sz="1200" b="1" kern="1200" dirty="0">
                    <a:solidFill>
                      <a:schemeClr val="tx1"/>
                    </a:solidFill>
                    <a:effectLst/>
                    <a:latin typeface="+mn-lt"/>
                    <a:ea typeface="+mn-ea"/>
                    <a:cs typeface="+mn-cs"/>
                  </a:rPr>
                  <a:t>curves, corners, or steps</a:t>
                </a:r>
                <a:r>
                  <a:rPr lang="en-US" sz="1200" kern="1200" dirty="0">
                    <a:solidFill>
                      <a:schemeClr val="tx1"/>
                    </a:solidFill>
                    <a:effectLst/>
                    <a:latin typeface="+mn-lt"/>
                    <a:ea typeface="+mn-ea"/>
                    <a:cs typeface="+mn-cs"/>
                  </a:rPr>
                  <a:t>.</a:t>
                </a:r>
              </a:p>
              <a:p>
                <a:endParaRPr lang="en-US" sz="1200" b="1"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2. Why Linear-Only Neural Networks Fail (The "Folded Paper" Example)</a:t>
                </a:r>
              </a:p>
              <a:p>
                <a:r>
                  <a:rPr lang="en-US" sz="1200" b="1" kern="1200" dirty="0">
                    <a:solidFill>
                      <a:schemeClr val="tx1"/>
                    </a:solidFill>
                    <a:effectLst/>
                    <a:latin typeface="+mn-lt"/>
                    <a:ea typeface="+mn-ea"/>
                    <a:cs typeface="+mn-cs"/>
                  </a:rPr>
                  <a:t>The Problem:</a:t>
                </a:r>
                <a:r>
                  <a:rPr lang="en-US" sz="1200" kern="1200" dirty="0">
                    <a:solidFill>
                      <a:schemeClr val="tx1"/>
                    </a:solidFill>
                    <a:effectLst/>
                    <a:latin typeface="+mn-lt"/>
                    <a:ea typeface="+mn-ea"/>
                    <a:cs typeface="+mn-cs"/>
                  </a:rPr>
                  <a:t> Real-world data (like recognizing faces, stock prices, or spam) is chaotic and complex. A straight line cannot separate red and blue dots if they are arranged in a circle or a spiral.</a:t>
                </a:r>
              </a:p>
              <a:p>
                <a:r>
                  <a:rPr lang="en-US" sz="1200" b="1" kern="1200" dirty="0">
                    <a:solidFill>
                      <a:schemeClr val="tx1"/>
                    </a:solidFill>
                    <a:effectLst/>
                    <a:latin typeface="+mn-lt"/>
                    <a:ea typeface="+mn-ea"/>
                    <a:cs typeface="+mn-cs"/>
                  </a:rPr>
                  <a:t>The Math Analogy:</a:t>
                </a:r>
                <a:r>
                  <a:rPr lang="en-US" sz="1200" kern="1200" dirty="0">
                    <a:solidFill>
                      <a:schemeClr val="tx1"/>
                    </a:solidFill>
                    <a:effectLst/>
                    <a:latin typeface="+mn-lt"/>
                    <a:ea typeface="+mn-ea"/>
                    <a:cs typeface="+mn-cs"/>
                  </a:rPr>
                  <a:t> If you stack 100 linear layers together, mathematically they simplify down to </a:t>
                </a:r>
                <a:r>
                  <a:rPr lang="en-US" sz="1200" b="1" kern="1200" dirty="0">
                    <a:solidFill>
                      <a:schemeClr val="tx1"/>
                    </a:solidFill>
                    <a:effectLst/>
                    <a:latin typeface="+mn-lt"/>
                    <a:ea typeface="+mn-ea"/>
                    <a:cs typeface="+mn-cs"/>
                  </a:rPr>
                  <a:t>just 1 big linear layer</a:t>
                </a:r>
                <a:r>
                  <a:rPr lang="en-US" sz="1200" kern="1200" dirty="0">
                    <a:solidFill>
                      <a:schemeClr val="tx1"/>
                    </a:solidFill>
                    <a:effectLst/>
                    <a:latin typeface="+mn-lt"/>
                    <a:ea typeface="+mn-ea"/>
                    <a:cs typeface="+mn-cs"/>
                  </a:rPr>
                  <a:t> (</a:t>
                </a:r>
                <a:r>
                  <a:rPr lang="en-US" sz="1200" i="0" kern="1200">
                    <a:solidFill>
                      <a:schemeClr val="tx1"/>
                    </a:solidFill>
                    <a:latin typeface="Cambria Math" panose="02040503050406030204" pitchFamily="18" charset="0"/>
                    <a:ea typeface="+mn-ea"/>
                    <a:cs typeface="+mn-cs"/>
                  </a:rPr>
                  <a:t>𝑦=𝑚𝑥+𝑐</a:t>
                </a:r>
                <a:r>
                  <a:rPr lang="en-US" sz="1200" kern="1200" dirty="0">
                    <a:solidFill>
                      <a:schemeClr val="tx1"/>
                    </a:solidFill>
                    <a:effectLst/>
                    <a:latin typeface="+mn-lt"/>
                    <a:ea typeface="+mn-ea"/>
                    <a:cs typeface="+mn-cs"/>
                  </a:rPr>
                  <a:t>). No matter how deep your network is, without non-linearity, it behaves like a basic linear regression model.</a:t>
                </a: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3. How Activation Functions Add Non-Linearity</a:t>
                </a:r>
              </a:p>
              <a:p>
                <a:r>
                  <a:rPr lang="en-US" sz="1200" kern="1200" dirty="0">
                    <a:solidFill>
                      <a:schemeClr val="tx1"/>
                    </a:solidFill>
                    <a:effectLst/>
                    <a:latin typeface="+mn-lt"/>
                    <a:ea typeface="+mn-ea"/>
                    <a:cs typeface="+mn-cs"/>
                  </a:rPr>
                  <a:t>Non-linear activation functions bend and twist the decision boundaries so the network can fit complex, real-world patterns:</a:t>
                </a:r>
              </a:p>
              <a:p>
                <a:endParaRPr lang="en-US" sz="1200" kern="1200" dirty="0">
                  <a:solidFill>
                    <a:schemeClr val="tx1"/>
                  </a:solidFill>
                  <a:effectLst/>
                  <a:latin typeface="+mn-lt"/>
                  <a:ea typeface="+mn-ea"/>
                  <a:cs typeface="+mn-cs"/>
                </a:endParaRPr>
              </a:p>
              <a:p>
                <a:r>
                  <a:rPr lang="en-US" sz="1200" b="1" kern="1200" dirty="0" err="1">
                    <a:solidFill>
                      <a:schemeClr val="tx1"/>
                    </a:solidFill>
                    <a:effectLst/>
                    <a:latin typeface="+mn-lt"/>
                    <a:ea typeface="+mn-ea"/>
                    <a:cs typeface="+mn-cs"/>
                  </a:rPr>
                  <a:t>ReLU</a:t>
                </a:r>
                <a:r>
                  <a:rPr lang="en-US" sz="1200" b="1" kern="1200" dirty="0">
                    <a:solidFill>
                      <a:schemeClr val="tx1"/>
                    </a:solidFill>
                    <a:effectLst/>
                    <a:latin typeface="+mn-lt"/>
                    <a:ea typeface="+mn-ea"/>
                    <a:cs typeface="+mn-cs"/>
                  </a:rPr>
                  <a:t> (</a:t>
                </a:r>
                <a:r>
                  <a:rPr lang="en-US" sz="1200" i="0" kern="1200">
                    <a:solidFill>
                      <a:schemeClr val="tx1"/>
                    </a:solidFill>
                    <a:latin typeface="Cambria Math" panose="02040503050406030204" pitchFamily="18" charset="0"/>
                    <a:ea typeface="+mn-ea"/>
                    <a:cs typeface="+mn-cs"/>
                  </a:rPr>
                  <a:t>𝑓(𝑥)=max⁡(0,𝑥)</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Acts like a light switch. If the input is negative, turn it OFF (</a:t>
                </a:r>
                <a:r>
                  <a:rPr lang="en-US" sz="1200" i="0" kern="1200">
                    <a:solidFill>
                      <a:schemeClr val="tx1"/>
                    </a:solidFill>
                    <a:latin typeface="Cambria Math" panose="02040503050406030204" pitchFamily="18" charset="0"/>
                    <a:ea typeface="+mn-ea"/>
                    <a:cs typeface="+mn-cs"/>
                  </a:rPr>
                  <a:t>0</a:t>
                </a:r>
                <a:r>
                  <a:rPr lang="en-US" sz="1200" kern="1200" dirty="0">
                    <a:solidFill>
                      <a:schemeClr val="tx1"/>
                    </a:solidFill>
                    <a:effectLst/>
                    <a:latin typeface="+mn-lt"/>
                    <a:ea typeface="+mn-ea"/>
                    <a:cs typeface="+mn-cs"/>
                  </a:rPr>
                  <a:t>). If positive, pass it through. This simple "bend" at zero adds non-linearity.</a:t>
                </a:r>
              </a:p>
              <a:p>
                <a:r>
                  <a:rPr lang="en-US" sz="1200" b="1" kern="1200" dirty="0">
                    <a:solidFill>
                      <a:schemeClr val="tx1"/>
                    </a:solidFill>
                    <a:effectLst/>
                    <a:latin typeface="+mn-lt"/>
                    <a:ea typeface="+mn-ea"/>
                    <a:cs typeface="+mn-cs"/>
                  </a:rPr>
                  <a:t>Sigmoid / Tanh:</a:t>
                </a:r>
                <a:r>
                  <a:rPr lang="en-US" sz="1200" kern="1200" dirty="0">
                    <a:solidFill>
                      <a:schemeClr val="tx1"/>
                    </a:solidFill>
                    <a:effectLst/>
                    <a:latin typeface="+mn-lt"/>
                    <a:ea typeface="+mn-ea"/>
                    <a:cs typeface="+mn-cs"/>
                  </a:rPr>
                  <a:t> Act like smooth "S-curves" that squash large inputs into a bounded range (e.g., between 0 and 1 for probabilities), flattening out extreme values.</a:t>
                </a: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Takeaway Quote: </a:t>
                </a:r>
                <a:r>
                  <a:rPr lang="en-US" sz="1200" i="1" kern="1200" dirty="0">
                    <a:solidFill>
                      <a:schemeClr val="tx1"/>
                    </a:solidFill>
                    <a:effectLst/>
                    <a:latin typeface="+mn-lt"/>
                    <a:ea typeface="+mn-ea"/>
                    <a:cs typeface="+mn-cs"/>
                  </a:rPr>
                  <a:t>"Linearity lets us draw straight lines. Non-linearity lets us bend, curve, and fold space so the neural network can learn complex, real-world shapes.“</a:t>
                </a:r>
              </a:p>
              <a:p>
                <a:endParaRPr lang="en-US" sz="1200" i="1" kern="1200" dirty="0">
                  <a:solidFill>
                    <a:schemeClr val="tx1"/>
                  </a:solidFill>
                  <a:effectLst/>
                  <a:latin typeface="+mn-lt"/>
                  <a:ea typeface="+mn-ea"/>
                  <a:cs typeface="+mn-cs"/>
                </a:endParaRPr>
              </a:p>
              <a:p>
                <a:r>
                  <a:rPr lang="en-US" b="1" dirty="0"/>
                  <a:t>Tanh (hyperbolic tangent) </a:t>
                </a:r>
                <a:r>
                  <a:rPr lang="en-US" dirty="0"/>
                  <a:t>is an activation function that converts a neuron's value to a range between −1 and +1.</a:t>
                </a:r>
                <a:endParaRPr lang="en-US" sz="1200" kern="1200" dirty="0">
                  <a:solidFill>
                    <a:schemeClr val="tx1"/>
                  </a:solidFill>
                  <a:effectLst/>
                  <a:latin typeface="+mn-lt"/>
                  <a:ea typeface="+mn-ea"/>
                  <a:cs typeface="+mn-cs"/>
                </a:endParaRPr>
              </a:p>
              <a:p>
                <a:endParaRPr lang="en-US" dirty="0"/>
              </a:p>
            </p:txBody>
          </p:sp>
        </mc:Fallback>
      </mc:AlternateContent>
      <p:sp>
        <p:nvSpPr>
          <p:cNvPr id="4" name="Slide Number Placeholder 3"/>
          <p:cNvSpPr>
            <a:spLocks noGrp="1"/>
          </p:cNvSpPr>
          <p:nvPr>
            <p:ph type="sldNum" sz="quarter" idx="5"/>
          </p:nvPr>
        </p:nvSpPr>
        <p:spPr/>
        <p:txBody>
          <a:bodyPr/>
          <a:lstStyle/>
          <a:p>
            <a:fld id="{9978199A-2CA8-47D4-96B8-19D924289139}" type="slidenum">
              <a:rPr lang="en-US" smtClean="0"/>
              <a:t>14</a:t>
            </a:fld>
            <a:endParaRPr lang="en-US"/>
          </a:p>
        </p:txBody>
      </p:sp>
    </p:spTree>
    <p:extLst>
      <p:ext uri="{BB962C8B-B14F-4D97-AF65-F5344CB8AC3E}">
        <p14:creationId xmlns:p14="http://schemas.microsoft.com/office/powerpoint/2010/main" val="16098187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978199A-2CA8-47D4-96B8-19D924289139}" type="slidenum">
              <a:rPr lang="en-US" smtClean="0"/>
              <a:t>15</a:t>
            </a:fld>
            <a:endParaRPr lang="en-US"/>
          </a:p>
        </p:txBody>
      </p:sp>
    </p:spTree>
    <p:extLst>
      <p:ext uri="{BB962C8B-B14F-4D97-AF65-F5344CB8AC3E}">
        <p14:creationId xmlns:p14="http://schemas.microsoft.com/office/powerpoint/2010/main" val="2293008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a:t>
            </a:r>
            <a:r>
              <a:rPr lang="en-US" b="1" dirty="0"/>
              <a:t>gradient</a:t>
            </a:r>
            <a:r>
              <a:rPr lang="en-US" dirty="0"/>
              <a:t> is a number that tells us </a:t>
            </a:r>
            <a:r>
              <a:rPr lang="en-US" b="1" dirty="0"/>
              <a:t>how much and in which direction something changes</a:t>
            </a:r>
            <a:r>
              <a:rPr lang="en-US" dirty="0"/>
              <a:t>. In deep learning, it mainly tells the network: </a:t>
            </a:r>
            <a:r>
              <a:rPr lang="en-US" b="1" dirty="0"/>
              <a:t>“If I change this weight a little, how much will the error change?”</a:t>
            </a:r>
          </a:p>
          <a:p>
            <a:endParaRPr lang="en-US" dirty="0"/>
          </a:p>
          <a:p>
            <a:r>
              <a:rPr lang="en-US" b="1" dirty="0"/>
              <a:t>Simple example: </a:t>
            </a:r>
            <a:r>
              <a:rPr lang="en-US" dirty="0"/>
              <a:t>Imagine you are going downhill and want to reach the lowest point.</a:t>
            </a:r>
          </a:p>
          <a:p>
            <a:pPr lvl="0"/>
            <a:r>
              <a:rPr lang="en-US" b="1" dirty="0"/>
              <a:t>	Steep slope</a:t>
            </a:r>
            <a:r>
              <a:rPr lang="en-US" dirty="0"/>
              <a:t> → you are far from the bottom and need to make a bigger adjustment. </a:t>
            </a:r>
          </a:p>
          <a:p>
            <a:pPr lvl="0"/>
            <a:r>
              <a:rPr lang="en-US" b="1" dirty="0"/>
              <a:t>	Gentle slope</a:t>
            </a:r>
            <a:r>
              <a:rPr lang="en-US" dirty="0"/>
              <a:t> → you are closer to the bottom, so make a smaller adjustment. </a:t>
            </a:r>
          </a:p>
          <a:p>
            <a:pPr lvl="0"/>
            <a:r>
              <a:rPr lang="en-US" b="1" dirty="0"/>
              <a:t>	Slope = 0</a:t>
            </a:r>
            <a:r>
              <a:rPr lang="en-US" dirty="0"/>
              <a:t> → you may be at the bottom. </a:t>
            </a:r>
          </a:p>
          <a:p>
            <a:pPr lvl="0"/>
            <a:endParaRPr lang="en-US" dirty="0"/>
          </a:p>
          <a:p>
            <a:r>
              <a:rPr lang="en-US" dirty="0"/>
              <a:t>Similarly, during neural-network training:</a:t>
            </a:r>
          </a:p>
          <a:p>
            <a:r>
              <a:rPr lang="en-US" b="1" dirty="0"/>
              <a:t>Prediction → Calculate error → Calculate gradients → Adjust weights → Better prediction</a:t>
            </a:r>
          </a:p>
          <a:p>
            <a:endParaRPr lang="en-US" dirty="0"/>
          </a:p>
          <a:p>
            <a:r>
              <a:rPr lang="en-US" dirty="0"/>
              <a:t>The </a:t>
            </a:r>
            <a:r>
              <a:rPr lang="en-US" b="1" dirty="0"/>
              <a:t>gradient</a:t>
            </a:r>
            <a:r>
              <a:rPr lang="en-US" dirty="0"/>
              <a:t> tells the neural network </a:t>
            </a:r>
            <a:r>
              <a:rPr lang="en-US" b="1" dirty="0"/>
              <a:t>how to adjust its weights to reduce the error</a:t>
            </a:r>
            <a:r>
              <a:rPr lang="en-US" dirty="0"/>
              <a:t>.</a:t>
            </a:r>
          </a:p>
          <a:p>
            <a:endParaRPr lang="en-US" dirty="0"/>
          </a:p>
          <a:p>
            <a:r>
              <a:rPr lang="en-US" dirty="0"/>
              <a:t>A very simple analogy is </a:t>
            </a:r>
            <a:r>
              <a:rPr lang="en-US" b="1" dirty="0"/>
              <a:t>“gradient = direction and amount of adjustment needed.”</a:t>
            </a:r>
            <a:endParaRPr lang="en-US" dirty="0"/>
          </a:p>
        </p:txBody>
      </p:sp>
      <p:sp>
        <p:nvSpPr>
          <p:cNvPr id="4" name="Slide Number Placeholder 3"/>
          <p:cNvSpPr>
            <a:spLocks noGrp="1"/>
          </p:cNvSpPr>
          <p:nvPr>
            <p:ph type="sldNum" sz="quarter" idx="5"/>
          </p:nvPr>
        </p:nvSpPr>
        <p:spPr/>
        <p:txBody>
          <a:bodyPr/>
          <a:lstStyle/>
          <a:p>
            <a:fld id="{9978199A-2CA8-47D4-96B8-19D924289139}" type="slidenum">
              <a:rPr lang="en-US" smtClean="0"/>
              <a:t>20</a:t>
            </a:fld>
            <a:endParaRPr lang="en-US"/>
          </a:p>
        </p:txBody>
      </p:sp>
    </p:spTree>
    <p:extLst>
      <p:ext uri="{BB962C8B-B14F-4D97-AF65-F5344CB8AC3E}">
        <p14:creationId xmlns:p14="http://schemas.microsoft.com/office/powerpoint/2010/main" val="11465424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Pain example in Korea, Memorability, Aesthetic</a:t>
            </a:r>
          </a:p>
        </p:txBody>
      </p:sp>
      <p:sp>
        <p:nvSpPr>
          <p:cNvPr id="4" name="Slide Number Placeholder 3"/>
          <p:cNvSpPr>
            <a:spLocks noGrp="1"/>
          </p:cNvSpPr>
          <p:nvPr>
            <p:ph type="sldNum" sz="quarter" idx="5"/>
          </p:nvPr>
        </p:nvSpPr>
        <p:spPr/>
        <p:txBody>
          <a:bodyPr/>
          <a:lstStyle/>
          <a:p>
            <a:fld id="{9978199A-2CA8-47D4-96B8-19D924289139}" type="slidenum">
              <a:rPr lang="en-US" smtClean="0"/>
              <a:t>26</a:t>
            </a:fld>
            <a:endParaRPr lang="en-US"/>
          </a:p>
        </p:txBody>
      </p:sp>
    </p:spTree>
    <p:extLst>
      <p:ext uri="{BB962C8B-B14F-4D97-AF65-F5344CB8AC3E}">
        <p14:creationId xmlns:p14="http://schemas.microsoft.com/office/powerpoint/2010/main" val="10148801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a:t>
            </a:r>
            <a:r>
              <a:rPr lang="en-US" b="1" dirty="0"/>
              <a:t>gradient</a:t>
            </a:r>
            <a:r>
              <a:rPr lang="en-US" dirty="0"/>
              <a:t> is a number that tells us </a:t>
            </a:r>
            <a:r>
              <a:rPr lang="en-US" b="1" dirty="0"/>
              <a:t>how much and in which direction something changes</a:t>
            </a:r>
            <a:r>
              <a:rPr lang="en-US" dirty="0"/>
              <a:t>. In deep learning, it mainly tells the network: </a:t>
            </a:r>
            <a:r>
              <a:rPr lang="en-US" b="1" dirty="0"/>
              <a:t>“If I change this weight a little, how much will the error change?”</a:t>
            </a:r>
          </a:p>
          <a:p>
            <a:endParaRPr lang="en-US" dirty="0"/>
          </a:p>
          <a:p>
            <a:r>
              <a:rPr lang="en-US" b="1" dirty="0"/>
              <a:t>Simple example: </a:t>
            </a:r>
            <a:r>
              <a:rPr lang="en-US" dirty="0"/>
              <a:t>Imagine you are going downhill and want to reach the lowest point.</a:t>
            </a:r>
          </a:p>
          <a:p>
            <a:pPr lvl="0"/>
            <a:r>
              <a:rPr lang="en-US" b="1" dirty="0"/>
              <a:t>	Steep slope</a:t>
            </a:r>
            <a:r>
              <a:rPr lang="en-US" dirty="0"/>
              <a:t> → you are far from the bottom and need to make a bigger adjustment. </a:t>
            </a:r>
          </a:p>
          <a:p>
            <a:pPr lvl="0"/>
            <a:r>
              <a:rPr lang="en-US" b="1" dirty="0"/>
              <a:t>	Gentle slope</a:t>
            </a:r>
            <a:r>
              <a:rPr lang="en-US" dirty="0"/>
              <a:t> → you are closer to the bottom, so make a smaller adjustment. </a:t>
            </a:r>
          </a:p>
          <a:p>
            <a:pPr lvl="0"/>
            <a:r>
              <a:rPr lang="en-US" b="1" dirty="0"/>
              <a:t>	Slope = 0</a:t>
            </a:r>
            <a:r>
              <a:rPr lang="en-US" dirty="0"/>
              <a:t> → you may be at the bottom. </a:t>
            </a:r>
          </a:p>
          <a:p>
            <a:pPr lvl="0"/>
            <a:endParaRPr lang="en-US" dirty="0"/>
          </a:p>
          <a:p>
            <a:r>
              <a:rPr lang="en-US" dirty="0"/>
              <a:t>Similarly, during neural-network training:</a:t>
            </a:r>
          </a:p>
          <a:p>
            <a:r>
              <a:rPr lang="en-US" b="1" dirty="0"/>
              <a:t>Prediction → Calculate error → Calculate gradients → Adjust weights → Better prediction</a:t>
            </a:r>
          </a:p>
          <a:p>
            <a:endParaRPr lang="en-US" dirty="0"/>
          </a:p>
          <a:p>
            <a:r>
              <a:rPr lang="en-US" dirty="0"/>
              <a:t>The </a:t>
            </a:r>
            <a:r>
              <a:rPr lang="en-US" b="1" dirty="0"/>
              <a:t>gradient</a:t>
            </a:r>
            <a:r>
              <a:rPr lang="en-US" dirty="0"/>
              <a:t> tells the neural network </a:t>
            </a:r>
            <a:r>
              <a:rPr lang="en-US" b="1" dirty="0"/>
              <a:t>how to adjust its weights to reduce the error</a:t>
            </a:r>
            <a:r>
              <a:rPr lang="en-US" dirty="0"/>
              <a:t>.</a:t>
            </a:r>
          </a:p>
          <a:p>
            <a:endParaRPr lang="en-US" dirty="0"/>
          </a:p>
        </p:txBody>
      </p:sp>
      <p:sp>
        <p:nvSpPr>
          <p:cNvPr id="4" name="Slide Number Placeholder 3"/>
          <p:cNvSpPr>
            <a:spLocks noGrp="1"/>
          </p:cNvSpPr>
          <p:nvPr>
            <p:ph type="sldNum" sz="quarter" idx="5"/>
          </p:nvPr>
        </p:nvSpPr>
        <p:spPr/>
        <p:txBody>
          <a:bodyPr/>
          <a:lstStyle/>
          <a:p>
            <a:fld id="{9978199A-2CA8-47D4-96B8-19D924289139}" type="slidenum">
              <a:rPr lang="en-US" smtClean="0"/>
              <a:t>28</a:t>
            </a:fld>
            <a:endParaRPr lang="en-US"/>
          </a:p>
        </p:txBody>
      </p:sp>
    </p:spTree>
    <p:extLst>
      <p:ext uri="{BB962C8B-B14F-4D97-AF65-F5344CB8AC3E}">
        <p14:creationId xmlns:p14="http://schemas.microsoft.com/office/powerpoint/2010/main" val="28787625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A few well-known embedding models for reference:</a:t>
            </a:r>
          </a:p>
          <a:p>
            <a:r>
              <a:rPr lang="en-US" b="1" dirty="0"/>
              <a:t>Word2Vec</a:t>
            </a:r>
            <a:r>
              <a:rPr lang="en-US" dirty="0"/>
              <a:t> — word embeddings; represents words as vectors based on their context. </a:t>
            </a:r>
          </a:p>
          <a:p>
            <a:r>
              <a:rPr lang="en-US" b="1" dirty="0"/>
              <a:t>Bidirectional Encoder Representations from Transformers (BERT)</a:t>
            </a:r>
            <a:r>
              <a:rPr lang="en-US" dirty="0"/>
              <a:t> — contextual text embeddings; represents words/sentences based on surrounding context. </a:t>
            </a:r>
          </a:p>
          <a:p>
            <a:r>
              <a:rPr lang="en-US" b="1" dirty="0"/>
              <a:t>CLIP</a:t>
            </a:r>
            <a:r>
              <a:rPr lang="en-US" dirty="0"/>
              <a:t> — multimodal embeddings; maps </a:t>
            </a:r>
            <a:r>
              <a:rPr lang="en-US" b="1" dirty="0"/>
              <a:t>images and text into a shared embedding space</a:t>
            </a:r>
            <a:r>
              <a:rPr lang="en-US" dirty="0"/>
              <a:t>.</a:t>
            </a:r>
          </a:p>
          <a:p>
            <a:endParaRPr lang="en-US" dirty="0"/>
          </a:p>
        </p:txBody>
      </p:sp>
      <p:sp>
        <p:nvSpPr>
          <p:cNvPr id="4" name="Slide Number Placeholder 3"/>
          <p:cNvSpPr>
            <a:spLocks noGrp="1"/>
          </p:cNvSpPr>
          <p:nvPr>
            <p:ph type="sldNum" sz="quarter" idx="5"/>
          </p:nvPr>
        </p:nvSpPr>
        <p:spPr/>
        <p:txBody>
          <a:bodyPr/>
          <a:lstStyle/>
          <a:p>
            <a:fld id="{9978199A-2CA8-47D4-96B8-19D924289139}" type="slidenum">
              <a:rPr lang="en-US" smtClean="0"/>
              <a:t>36</a:t>
            </a:fld>
            <a:endParaRPr lang="en-US"/>
          </a:p>
        </p:txBody>
      </p:sp>
    </p:spTree>
    <p:extLst>
      <p:ext uri="{BB962C8B-B14F-4D97-AF65-F5344CB8AC3E}">
        <p14:creationId xmlns:p14="http://schemas.microsoft.com/office/powerpoint/2010/main" val="383023874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1049303" name="Subtitle 2"/>
          <p:cNvSpPr>
            <a:spLocks noGrp="1"/>
          </p:cNvSpPr>
          <p:nvPr>
            <p:ph type="subTitle" idx="1"/>
          </p:nvPr>
        </p:nvSpPr>
        <p:spPr>
          <a:xfrm>
            <a:off x="0" y="4939257"/>
            <a:ext cx="5898630" cy="480373"/>
          </a:xfrm>
        </p:spPr>
        <p:txBody>
          <a:bodyPr vert="horz" lIns="91440" tIns="45720" rIns="91440" bIns="45720" rtlCol="0" anchor="t">
            <a:normAutofit/>
          </a:bodyPr>
          <a:lstStyle>
            <a:lvl1pPr>
              <a:defRPr lang="en-US" dirty="0"/>
            </a:lvl1pPr>
          </a:lstStyle>
          <a:p>
            <a:pPr lvl="0"/>
            <a:r>
              <a:rPr lang="en-US"/>
              <a:t>Click to edit Master subtitle style</a:t>
            </a:r>
            <a:endParaRPr lang="en-US" dirty="0"/>
          </a:p>
        </p:txBody>
      </p:sp>
      <p:sp>
        <p:nvSpPr>
          <p:cNvPr id="1049304" name="Picture Placeholder 10"/>
          <p:cNvSpPr>
            <a:spLocks noGrp="1"/>
          </p:cNvSpPr>
          <p:nvPr>
            <p:ph type="pic" sz="quarter" idx="13" hasCustomPrompt="1"/>
          </p:nvPr>
        </p:nvSpPr>
        <p:spPr>
          <a:xfrm>
            <a:off x="0" y="-1"/>
            <a:ext cx="12192000" cy="4784036"/>
          </a:xfrm>
          <a:blipFill>
            <a:blip r:embed="rId2">
              <a:alphaModFix amt="70000"/>
            </a:blip>
            <a:stretch>
              <a:fillRect/>
            </a:stretch>
          </a:blipFill>
        </p:spPr>
        <p:txBody>
          <a:bodyPr/>
          <a:lstStyle/>
          <a:p>
            <a:r>
              <a:rPr lang="en-US" dirty="0"/>
              <a:t> </a:t>
            </a:r>
          </a:p>
        </p:txBody>
      </p:sp>
      <p:sp>
        <p:nvSpPr>
          <p:cNvPr id="1049305" name="Footer Placeholder 4"/>
          <p:cNvSpPr>
            <a:spLocks noGrp="1"/>
          </p:cNvSpPr>
          <p:nvPr>
            <p:ph type="ftr" sz="quarter" idx="15"/>
          </p:nvPr>
        </p:nvSpPr>
        <p:spPr>
          <a:xfrm>
            <a:off x="6205927" y="4939715"/>
            <a:ext cx="4420031" cy="479458"/>
          </a:xfrm>
        </p:spPr>
        <p:txBody>
          <a:bodyPr anchor="t"/>
          <a:lstStyle>
            <a:lvl1pPr>
              <a:defRPr sz="1400"/>
            </a:lvl1pPr>
          </a:lstStyle>
          <a:p>
            <a:endParaRPr lang="en-US"/>
          </a:p>
        </p:txBody>
      </p:sp>
      <p:sp>
        <p:nvSpPr>
          <p:cNvPr id="1049306" name="Slide Number Placeholder 7"/>
          <p:cNvSpPr>
            <a:spLocks noGrp="1"/>
          </p:cNvSpPr>
          <p:nvPr>
            <p:ph type="sldNum" sz="quarter" idx="16"/>
          </p:nvPr>
        </p:nvSpPr>
        <p:spPr>
          <a:xfrm>
            <a:off x="11762792" y="4939257"/>
            <a:ext cx="429207" cy="365125"/>
          </a:xfrm>
        </p:spPr>
        <p:txBody>
          <a:bodyPr/>
          <a:lstStyle/>
          <a:p>
            <a:pPr marL="164465">
              <a:lnSpc>
                <a:spcPct val="100000"/>
              </a:lnSpc>
              <a:spcBef>
                <a:spcPts val="50"/>
              </a:spcBef>
            </a:pPr>
            <a:fld id="{81D60167-4931-47E6-BA6A-407CBD079E47}" type="slidenum">
              <a:rPr lang="en-US" spc="-50" smtClean="0">
                <a:solidFill>
                  <a:srgbClr val="A6A6A6"/>
                </a:solidFill>
              </a:rPr>
              <a:t>‹#›</a:t>
            </a:fld>
            <a:endParaRPr lang="en-US" spc="-50" dirty="0">
              <a:solidFill>
                <a:srgbClr val="A6A6A6"/>
              </a:solidFill>
            </a:endParaRPr>
          </a:p>
        </p:txBody>
      </p:sp>
      <p:pic>
        <p:nvPicPr>
          <p:cNvPr id="2097221" name="Graphic 11"/>
          <p:cNvPicPr>
            <a:picLocks noChangeAspect="1"/>
          </p:cNvPicPr>
          <p:nvPr/>
        </p:nvPicPr>
        <p:blipFill>
          <a:blip/>
          <a:stretch>
            <a:fillRect/>
          </a:stretch>
        </p:blipFill>
        <p:spPr>
          <a:xfrm>
            <a:off x="11103035" y="5873424"/>
            <a:ext cx="1005840" cy="1005840"/>
          </a:xfrm>
          <a:prstGeom prst="rect">
            <a:avLst/>
          </a:prstGeom>
        </p:spPr>
      </p:pic>
      <p:sp>
        <p:nvSpPr>
          <p:cNvPr id="1049307" name="Title 3"/>
          <p:cNvSpPr>
            <a:spLocks noGrp="1"/>
          </p:cNvSpPr>
          <p:nvPr>
            <p:ph type="title"/>
          </p:nvPr>
        </p:nvSpPr>
        <p:spPr>
          <a:xfrm>
            <a:off x="-19847" y="5718869"/>
            <a:ext cx="5916168" cy="1143000"/>
          </a:xfrm>
        </p:spPr>
        <p:txBody>
          <a:bodyPr anchor="b">
            <a:normAutofit/>
          </a:bodyPr>
          <a:lstStyle>
            <a:lvl1pPr>
              <a:lnSpc>
                <a:spcPct val="60000"/>
              </a:lnSpc>
              <a:defRPr sz="5200"/>
            </a:lvl1pPr>
          </a:lstStyle>
          <a:p>
            <a:r>
              <a:rPr lang="en-US"/>
              <a:t>Click to edit Master title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1049281" name="Title 1"/>
          <p:cNvSpPr>
            <a:spLocks noGrp="1"/>
          </p:cNvSpPr>
          <p:nvPr>
            <p:ph type="title"/>
          </p:nvPr>
        </p:nvSpPr>
        <p:spPr>
          <a:xfrm>
            <a:off x="516249" y="1012175"/>
            <a:ext cx="11113008" cy="849793"/>
          </a:xfrm>
        </p:spPr>
        <p:txBody>
          <a:bodyPr/>
          <a:lstStyle/>
          <a:p>
            <a:r>
              <a:rPr lang="en-US"/>
              <a:t>Click to edit Master title style</a:t>
            </a:r>
            <a:endParaRPr lang="en-US" dirty="0"/>
          </a:p>
        </p:txBody>
      </p:sp>
      <p:sp>
        <p:nvSpPr>
          <p:cNvPr id="1049282" name="Footer Placeholder 6"/>
          <p:cNvSpPr>
            <a:spLocks noGrp="1"/>
          </p:cNvSpPr>
          <p:nvPr>
            <p:ph type="ftr" sz="quarter" idx="11"/>
          </p:nvPr>
        </p:nvSpPr>
        <p:spPr>
          <a:xfrm>
            <a:off x="542375" y="110364"/>
            <a:ext cx="5276852" cy="365125"/>
          </a:xfrm>
        </p:spPr>
        <p:txBody>
          <a:bodyPr/>
          <a:lstStyle/>
          <a:p>
            <a:endParaRPr lang="en-US"/>
          </a:p>
        </p:txBody>
      </p:sp>
      <p:sp>
        <p:nvSpPr>
          <p:cNvPr id="1049283" name="Date Placeholder 1"/>
          <p:cNvSpPr>
            <a:spLocks noGrp="1"/>
          </p:cNvSpPr>
          <p:nvPr>
            <p:ph type="dt" sz="half" idx="10"/>
          </p:nvPr>
        </p:nvSpPr>
        <p:spPr/>
        <p:txBody>
          <a:bodyPr/>
          <a:lstStyle/>
          <a:p>
            <a:fld id="{94D2376E-5592-4EA5-AAE5-FA0FBB0CD348}" type="datetime1">
              <a:rPr lang="en-US" smtClean="0"/>
              <a:t>9/17/2026</a:t>
            </a:fld>
            <a:endParaRPr lang="en-US"/>
          </a:p>
        </p:txBody>
      </p:sp>
      <p:sp>
        <p:nvSpPr>
          <p:cNvPr id="1049284" name="Slide Number Placeholder 8"/>
          <p:cNvSpPr>
            <a:spLocks noGrp="1"/>
          </p:cNvSpPr>
          <p:nvPr>
            <p:ph type="sldNum" sz="quarter" idx="12"/>
          </p:nvPr>
        </p:nvSpPr>
        <p:spPr>
          <a:xfrm>
            <a:off x="11123959" y="104649"/>
            <a:ext cx="429207" cy="365125"/>
          </a:xfrm>
        </p:spPr>
        <p:txBody>
          <a:bodyPr/>
          <a:lstStyle/>
          <a:p>
            <a:pPr marL="164465">
              <a:lnSpc>
                <a:spcPct val="100000"/>
              </a:lnSpc>
              <a:spcBef>
                <a:spcPts val="50"/>
              </a:spcBef>
            </a:pPr>
            <a:fld id="{81D60167-4931-47E6-BA6A-407CBD079E47}" type="slidenum">
              <a:rPr lang="en-US" spc="-50" smtClean="0">
                <a:solidFill>
                  <a:srgbClr val="A6A6A6"/>
                </a:solidFill>
              </a:rPr>
              <a:t>‹#›</a:t>
            </a:fld>
            <a:endParaRPr lang="en-US" spc="-50" dirty="0">
              <a:solidFill>
                <a:srgbClr val="A6A6A6"/>
              </a:solidFill>
            </a:endParaRPr>
          </a:p>
        </p:txBody>
      </p:sp>
      <p:sp>
        <p:nvSpPr>
          <p:cNvPr id="1049285" name="Content Placeholder 2"/>
          <p:cNvSpPr>
            <a:spLocks noGrp="1"/>
          </p:cNvSpPr>
          <p:nvPr>
            <p:ph idx="1"/>
          </p:nvPr>
        </p:nvSpPr>
        <p:spPr>
          <a:xfrm>
            <a:off x="539496" y="2115542"/>
            <a:ext cx="11013670" cy="44515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1049269" name="Subtitle 2"/>
          <p:cNvSpPr>
            <a:spLocks noGrp="1"/>
          </p:cNvSpPr>
          <p:nvPr>
            <p:ph type="subTitle" idx="1"/>
          </p:nvPr>
        </p:nvSpPr>
        <p:spPr>
          <a:xfrm>
            <a:off x="0" y="5457214"/>
            <a:ext cx="4206240" cy="1380744"/>
          </a:xfrm>
        </p:spPr>
        <p:txBody>
          <a:bodyPr vert="horz" lIns="91440" tIns="45720" rIns="91440" bIns="45720" rtlCol="0" anchor="b">
            <a:normAutofit/>
          </a:bodyPr>
          <a:lstStyle>
            <a:lvl1pPr>
              <a:defRPr lang="en-US" dirty="0"/>
            </a:lvl1pPr>
          </a:lstStyle>
          <a:p>
            <a:pPr lvl="0"/>
            <a:r>
              <a:rPr lang="en-US"/>
              <a:t>Click to edit Master subtitle style</a:t>
            </a:r>
            <a:endParaRPr lang="en-US" dirty="0"/>
          </a:p>
        </p:txBody>
      </p:sp>
      <p:sp>
        <p:nvSpPr>
          <p:cNvPr id="1049270" name="Picture Placeholder 10"/>
          <p:cNvSpPr>
            <a:spLocks noGrp="1"/>
          </p:cNvSpPr>
          <p:nvPr>
            <p:ph type="pic" sz="quarter" idx="13" hasCustomPrompt="1"/>
          </p:nvPr>
        </p:nvSpPr>
        <p:spPr>
          <a:xfrm>
            <a:off x="6096000" y="0"/>
            <a:ext cx="6096000" cy="6858000"/>
          </a:xfrm>
          <a:blipFill>
            <a:blip r:embed="rId2">
              <a:alphaModFix amt="70000"/>
            </a:blip>
            <a:stretch>
              <a:fillRect/>
            </a:stretch>
          </a:blipFill>
        </p:spPr>
        <p:txBody>
          <a:bodyPr/>
          <a:lstStyle/>
          <a:p>
            <a:r>
              <a:rPr lang="en-US" dirty="0"/>
              <a:t> </a:t>
            </a:r>
          </a:p>
        </p:txBody>
      </p:sp>
      <p:sp>
        <p:nvSpPr>
          <p:cNvPr id="1049271" name="Title 3"/>
          <p:cNvSpPr>
            <a:spLocks noGrp="1"/>
          </p:cNvSpPr>
          <p:nvPr>
            <p:ph type="title"/>
          </p:nvPr>
        </p:nvSpPr>
        <p:spPr>
          <a:xfrm>
            <a:off x="-18288" y="81290"/>
            <a:ext cx="4654296" cy="3739896"/>
          </a:xfrm>
        </p:spPr>
        <p:txBody>
          <a:bodyPr/>
          <a:lstStyle/>
          <a:p>
            <a:r>
              <a:rPr lang="en-US"/>
              <a:t>Click to edit Master title style</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1049365" name="Subtitle 2"/>
          <p:cNvSpPr>
            <a:spLocks noGrp="1"/>
          </p:cNvSpPr>
          <p:nvPr>
            <p:ph type="subTitle" idx="1"/>
          </p:nvPr>
        </p:nvSpPr>
        <p:spPr>
          <a:xfrm>
            <a:off x="1" y="6174463"/>
            <a:ext cx="5891134" cy="654839"/>
          </a:xfrm>
        </p:spPr>
        <p:txBody>
          <a:bodyPr vert="horz" lIns="91440" tIns="45720" rIns="91440" bIns="45720" rtlCol="0" anchor="b">
            <a:normAutofit/>
          </a:bodyPr>
          <a:lstStyle>
            <a:lvl1pPr>
              <a:defRPr lang="en-US" dirty="0"/>
            </a:lvl1pPr>
          </a:lstStyle>
          <a:p>
            <a:pPr lvl="0"/>
            <a:r>
              <a:rPr lang="en-US"/>
              <a:t>Click to edit Master subtitle style</a:t>
            </a:r>
            <a:endParaRPr lang="en-US" dirty="0"/>
          </a:p>
        </p:txBody>
      </p:sp>
      <p:pic>
        <p:nvPicPr>
          <p:cNvPr id="2097225" name="Graphic 6"/>
          <p:cNvPicPr>
            <a:picLocks noChangeAspect="1"/>
          </p:cNvPicPr>
          <p:nvPr/>
        </p:nvPicPr>
        <p:blipFill>
          <a:blip/>
          <a:stretch>
            <a:fillRect/>
          </a:stretch>
        </p:blipFill>
        <p:spPr>
          <a:xfrm>
            <a:off x="11103035" y="5873424"/>
            <a:ext cx="1005840" cy="1005840"/>
          </a:xfrm>
          <a:prstGeom prst="rect">
            <a:avLst/>
          </a:prstGeom>
        </p:spPr>
      </p:pic>
      <p:sp>
        <p:nvSpPr>
          <p:cNvPr id="1049366" name="Footer Placeholder 4"/>
          <p:cNvSpPr>
            <a:spLocks noGrp="1"/>
          </p:cNvSpPr>
          <p:nvPr>
            <p:ph type="ftr" sz="quarter" idx="11"/>
          </p:nvPr>
        </p:nvSpPr>
        <p:spPr/>
        <p:txBody>
          <a:bodyPr/>
          <a:lstStyle/>
          <a:p>
            <a:endParaRPr lang="en-US"/>
          </a:p>
        </p:txBody>
      </p:sp>
      <p:sp>
        <p:nvSpPr>
          <p:cNvPr id="1049367" name="Date Placeholder 3"/>
          <p:cNvSpPr>
            <a:spLocks noGrp="1"/>
          </p:cNvSpPr>
          <p:nvPr>
            <p:ph type="dt" sz="half" idx="10"/>
          </p:nvPr>
        </p:nvSpPr>
        <p:spPr/>
        <p:txBody>
          <a:bodyPr/>
          <a:lstStyle/>
          <a:p>
            <a:fld id="{F8659019-5F83-4D2F-8F66-CF58B614E158}" type="datetime1">
              <a:rPr lang="en-US" smtClean="0"/>
              <a:t>9/17/2026</a:t>
            </a:fld>
            <a:endParaRPr lang="en-US"/>
          </a:p>
        </p:txBody>
      </p:sp>
      <p:sp>
        <p:nvSpPr>
          <p:cNvPr id="1049368" name="Slide Number Placeholder 9"/>
          <p:cNvSpPr>
            <a:spLocks noGrp="1"/>
          </p:cNvSpPr>
          <p:nvPr>
            <p:ph type="sldNum" sz="quarter" idx="12"/>
          </p:nvPr>
        </p:nvSpPr>
        <p:spPr/>
        <p:txBody>
          <a:bodyPr/>
          <a:lstStyle/>
          <a:p>
            <a:pPr marL="164465">
              <a:lnSpc>
                <a:spcPct val="100000"/>
              </a:lnSpc>
              <a:spcBef>
                <a:spcPts val="50"/>
              </a:spcBef>
            </a:pPr>
            <a:fld id="{81D60167-4931-47E6-BA6A-407CBD079E47}" type="slidenum">
              <a:rPr lang="en-US" spc="-50" smtClean="0">
                <a:solidFill>
                  <a:srgbClr val="A6A6A6"/>
                </a:solidFill>
              </a:rPr>
              <a:t>‹#›</a:t>
            </a:fld>
            <a:endParaRPr lang="en-US" spc="-50" dirty="0">
              <a:solidFill>
                <a:srgbClr val="A6A6A6"/>
              </a:solidFill>
            </a:endParaRPr>
          </a:p>
        </p:txBody>
      </p:sp>
      <p:sp>
        <p:nvSpPr>
          <p:cNvPr id="1049369" name="Title 5"/>
          <p:cNvSpPr>
            <a:spLocks noGrp="1"/>
          </p:cNvSpPr>
          <p:nvPr>
            <p:ph type="title"/>
          </p:nvPr>
        </p:nvSpPr>
        <p:spPr>
          <a:xfrm>
            <a:off x="-18288" y="2159632"/>
            <a:ext cx="9683496" cy="3776472"/>
          </a:xfrm>
        </p:spPr>
        <p:txBody>
          <a:bodyPr anchor="b"/>
          <a:lstStyle/>
          <a:p>
            <a:r>
              <a:rPr lang="en-US"/>
              <a:t>Click to edit Master title style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1"/>
      </p:bgRef>
    </p:bg>
    <p:spTree>
      <p:nvGrpSpPr>
        <p:cNvPr id="1" name=""/>
        <p:cNvGrpSpPr/>
        <p:nvPr/>
      </p:nvGrpSpPr>
      <p:grpSpPr>
        <a:xfrm>
          <a:off x="0" y="0"/>
          <a:ext cx="0" cy="0"/>
          <a:chOff x="0" y="0"/>
          <a:chExt cx="0" cy="0"/>
        </a:xfrm>
      </p:grpSpPr>
      <p:pic>
        <p:nvPicPr>
          <p:cNvPr id="2097223" name="Graphic 6"/>
          <p:cNvPicPr>
            <a:picLocks noChangeAspect="1"/>
          </p:cNvPicPr>
          <p:nvPr/>
        </p:nvPicPr>
        <p:blipFill>
          <a:blip/>
          <a:stretch>
            <a:fillRect/>
          </a:stretch>
        </p:blipFill>
        <p:spPr>
          <a:xfrm>
            <a:off x="11377355" y="83125"/>
            <a:ext cx="731520" cy="731520"/>
          </a:xfrm>
          <a:prstGeom prst="rect">
            <a:avLst/>
          </a:prstGeom>
        </p:spPr>
      </p:pic>
      <p:sp>
        <p:nvSpPr>
          <p:cNvPr id="1049332" name="Title 2"/>
          <p:cNvSpPr>
            <a:spLocks noGrp="1"/>
          </p:cNvSpPr>
          <p:nvPr>
            <p:ph type="title"/>
          </p:nvPr>
        </p:nvSpPr>
        <p:spPr>
          <a:xfrm>
            <a:off x="-18288" y="2184032"/>
            <a:ext cx="8074152" cy="4718304"/>
          </a:xfrm>
        </p:spPr>
        <p:txBody>
          <a:bodyPr anchor="b"/>
          <a:lstStyle/>
          <a:p>
            <a:r>
              <a:rPr lang="en-US"/>
              <a:t>Click to edit Master title style</a:t>
            </a:r>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1049308" name="Title 1"/>
          <p:cNvSpPr>
            <a:spLocks noGrp="1"/>
          </p:cNvSpPr>
          <p:nvPr>
            <p:ph type="title"/>
          </p:nvPr>
        </p:nvSpPr>
        <p:spPr>
          <a:xfrm>
            <a:off x="-18288" y="82296"/>
            <a:ext cx="8139659" cy="1554480"/>
          </a:xfrm>
        </p:spPr>
        <p:txBody>
          <a:bodyPr anchor="t">
            <a:normAutofit/>
          </a:bodyPr>
          <a:lstStyle>
            <a:lvl1pPr>
              <a:defRPr sz="5600"/>
            </a:lvl1pPr>
          </a:lstStyle>
          <a:p>
            <a:r>
              <a:rPr lang="en-US"/>
              <a:t>Click to edit Master title style</a:t>
            </a:r>
            <a:endParaRPr lang="en-US" dirty="0"/>
          </a:p>
        </p:txBody>
      </p:sp>
      <p:sp>
        <p:nvSpPr>
          <p:cNvPr id="1049309" name="Content Placeholder 6"/>
          <p:cNvSpPr>
            <a:spLocks noGrp="1"/>
          </p:cNvSpPr>
          <p:nvPr>
            <p:ph sz="quarter" idx="13"/>
          </p:nvPr>
        </p:nvSpPr>
        <p:spPr>
          <a:xfrm>
            <a:off x="-1" y="1896472"/>
            <a:ext cx="8139660" cy="3557904"/>
          </a:xfrm>
        </p:spPr>
        <p:txBody>
          <a:bodyPr>
            <a:normAutofit/>
          </a:bodyPr>
          <a:lstStyle>
            <a:lvl1pPr marL="342900" indent="-342900">
              <a:buFont typeface="+mj-lt"/>
              <a:buAutoNum type="arabicPeriod"/>
              <a:defRPr sz="1400"/>
            </a:lvl1pPr>
            <a:lvl2pPr marL="571500" indent="-342900">
              <a:buFont typeface="+mj-lt"/>
              <a:buAutoNum type="arabicPeriod"/>
              <a:defRPr sz="1400"/>
            </a:lvl2pPr>
            <a:lvl3pPr marL="800100" indent="-342900">
              <a:buFont typeface="+mj-lt"/>
              <a:buAutoNum type="arabicPeriod"/>
              <a:defRPr sz="1400"/>
            </a:lvl3pPr>
            <a:lvl4pPr marL="1028700" indent="-342900">
              <a:buFont typeface="+mj-lt"/>
              <a:buAutoNum type="arabicPeriod"/>
              <a:defRPr sz="14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9310" name="Oval 7"/>
          <p:cNvSpPr/>
          <p:nvPr/>
        </p:nvSpPr>
        <p:spPr>
          <a:xfrm>
            <a:off x="8552512" y="3218512"/>
            <a:ext cx="3557904" cy="3557904"/>
          </a:xfrm>
          <a:prstGeom prst="ellipse">
            <a:avLst/>
          </a:prstGeom>
          <a:no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9311" name="Slide Number Placeholder 5"/>
          <p:cNvSpPr>
            <a:spLocks noGrp="1"/>
          </p:cNvSpPr>
          <p:nvPr>
            <p:ph type="sldNum" sz="quarter" idx="12"/>
          </p:nvPr>
        </p:nvSpPr>
        <p:spPr>
          <a:xfrm>
            <a:off x="11762793" y="100701"/>
            <a:ext cx="429207" cy="365125"/>
          </a:xfrm>
        </p:spPr>
        <p:txBody>
          <a:bodyPr/>
          <a:lstStyle/>
          <a:p>
            <a:pPr marL="164465">
              <a:lnSpc>
                <a:spcPct val="100000"/>
              </a:lnSpc>
              <a:spcBef>
                <a:spcPts val="50"/>
              </a:spcBef>
            </a:pPr>
            <a:fld id="{81D60167-4931-47E6-BA6A-407CBD079E47}" type="slidenum">
              <a:rPr lang="en-US" spc="-50" smtClean="0">
                <a:solidFill>
                  <a:srgbClr val="A6A6A6"/>
                </a:solidFill>
              </a:rPr>
              <a:t>‹#›</a:t>
            </a:fld>
            <a:endParaRPr lang="en-US" spc="-50" dirty="0">
              <a:solidFill>
                <a:srgbClr val="A6A6A6"/>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1049336" name="Title 1"/>
          <p:cNvSpPr>
            <a:spLocks noGrp="1"/>
          </p:cNvSpPr>
          <p:nvPr>
            <p:ph type="title"/>
          </p:nvPr>
        </p:nvSpPr>
        <p:spPr>
          <a:xfrm>
            <a:off x="6166396" y="621792"/>
            <a:ext cx="5386715" cy="1816898"/>
          </a:xfrm>
        </p:spPr>
        <p:txBody>
          <a:bodyPr anchor="t">
            <a:noAutofit/>
          </a:bodyPr>
          <a:lstStyle>
            <a:lvl1pPr>
              <a:defRPr sz="5600"/>
            </a:lvl1pPr>
          </a:lstStyle>
          <a:p>
            <a:r>
              <a:rPr lang="en-US"/>
              <a:t>Click to edit Master title style</a:t>
            </a:r>
            <a:endParaRPr lang="en-US" dirty="0"/>
          </a:p>
        </p:txBody>
      </p:sp>
      <p:sp>
        <p:nvSpPr>
          <p:cNvPr id="1049337" name="Picture Placeholder 7"/>
          <p:cNvSpPr>
            <a:spLocks noGrp="1"/>
          </p:cNvSpPr>
          <p:nvPr>
            <p:ph type="pic" sz="quarter" idx="14" hasCustomPrompt="1"/>
          </p:nvPr>
        </p:nvSpPr>
        <p:spPr>
          <a:xfrm>
            <a:off x="0" y="0"/>
            <a:ext cx="5906642" cy="6858000"/>
          </a:xfrm>
          <a:blipFill>
            <a:blip r:embed="rId2">
              <a:alphaModFix amt="70000"/>
            </a:blip>
            <a:stretch>
              <a:fillRect/>
            </a:stretch>
          </a:blipFill>
        </p:spPr>
        <p:txBody>
          <a:bodyPr/>
          <a:lstStyle/>
          <a:p>
            <a:r>
              <a:rPr lang="en-US" dirty="0"/>
              <a:t> </a:t>
            </a:r>
          </a:p>
        </p:txBody>
      </p:sp>
      <p:sp>
        <p:nvSpPr>
          <p:cNvPr id="1049338" name="Footer Placeholder 3"/>
          <p:cNvSpPr>
            <a:spLocks noGrp="1"/>
          </p:cNvSpPr>
          <p:nvPr>
            <p:ph type="ftr" sz="quarter" idx="11"/>
          </p:nvPr>
        </p:nvSpPr>
        <p:spPr>
          <a:xfrm>
            <a:off x="6190488" y="110364"/>
            <a:ext cx="5349239" cy="365125"/>
          </a:xfrm>
        </p:spPr>
        <p:txBody>
          <a:bodyPr/>
          <a:lstStyle/>
          <a:p>
            <a:endParaRPr lang="en-US"/>
          </a:p>
        </p:txBody>
      </p:sp>
      <p:sp>
        <p:nvSpPr>
          <p:cNvPr id="1049339" name="Slide Number Placeholder 4"/>
          <p:cNvSpPr>
            <a:spLocks noGrp="1"/>
          </p:cNvSpPr>
          <p:nvPr>
            <p:ph type="sldNum" sz="quarter" idx="12"/>
          </p:nvPr>
        </p:nvSpPr>
        <p:spPr>
          <a:xfrm>
            <a:off x="11762793" y="110364"/>
            <a:ext cx="429207" cy="365125"/>
          </a:xfrm>
        </p:spPr>
        <p:txBody>
          <a:bodyPr/>
          <a:lstStyle/>
          <a:p>
            <a:pPr marL="164465">
              <a:lnSpc>
                <a:spcPct val="100000"/>
              </a:lnSpc>
              <a:spcBef>
                <a:spcPts val="50"/>
              </a:spcBef>
            </a:pPr>
            <a:fld id="{81D60167-4931-47E6-BA6A-407CBD079E47}" type="slidenum">
              <a:rPr lang="en-US" spc="-50" smtClean="0">
                <a:solidFill>
                  <a:srgbClr val="A6A6A6"/>
                </a:solidFill>
              </a:rPr>
              <a:t>‹#›</a:t>
            </a:fld>
            <a:endParaRPr lang="en-US" spc="-50" dirty="0">
              <a:solidFill>
                <a:srgbClr val="A6A6A6"/>
              </a:solidFill>
            </a:endParaRPr>
          </a:p>
        </p:txBody>
      </p:sp>
      <p:sp>
        <p:nvSpPr>
          <p:cNvPr id="1049340" name="Content Placeholder 6"/>
          <p:cNvSpPr>
            <a:spLocks noGrp="1"/>
          </p:cNvSpPr>
          <p:nvPr>
            <p:ph sz="quarter" idx="13"/>
          </p:nvPr>
        </p:nvSpPr>
        <p:spPr>
          <a:xfrm>
            <a:off x="6190488" y="2740228"/>
            <a:ext cx="5906642" cy="4096512"/>
          </a:xfrm>
        </p:spPr>
        <p:txBody>
          <a:bodyPr anchor="b">
            <a:normAutofit/>
          </a:bodyPr>
          <a:lstStyle>
            <a:lvl1pPr marL="342900" indent="-342900">
              <a:buFont typeface="+mj-lt"/>
              <a:buAutoNum type="arabicPeriod"/>
              <a:defRPr sz="1400"/>
            </a:lvl1pPr>
            <a:lvl2pPr marL="571500" indent="-342900">
              <a:buFont typeface="+mj-lt"/>
              <a:buAutoNum type="arabicPeriod"/>
              <a:defRPr sz="1400"/>
            </a:lvl2pPr>
            <a:lvl3pPr marL="800100" indent="-342900">
              <a:buFont typeface="+mj-lt"/>
              <a:buAutoNum type="arabicPeriod"/>
              <a:defRPr sz="1400"/>
            </a:lvl3pPr>
            <a:lvl4pPr marL="1028700" indent="-342900">
              <a:buFont typeface="+mj-lt"/>
              <a:buAutoNum type="arabicPeriod"/>
              <a:defRPr sz="14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1049375" name="Title 1"/>
          <p:cNvSpPr>
            <a:spLocks noGrp="1"/>
          </p:cNvSpPr>
          <p:nvPr>
            <p:ph type="title"/>
          </p:nvPr>
        </p:nvSpPr>
        <p:spPr>
          <a:xfrm>
            <a:off x="539645" y="987552"/>
            <a:ext cx="5366480" cy="4044508"/>
          </a:xfrm>
        </p:spPr>
        <p:txBody>
          <a:bodyPr>
            <a:normAutofit/>
          </a:bodyPr>
          <a:lstStyle>
            <a:lvl1pPr>
              <a:defRPr sz="5600"/>
            </a:lvl1pPr>
          </a:lstStyle>
          <a:p>
            <a:r>
              <a:rPr lang="en-US"/>
              <a:t>Click to edit Master title style</a:t>
            </a:r>
            <a:endParaRPr lang="en-US" dirty="0"/>
          </a:p>
        </p:txBody>
      </p:sp>
      <p:sp>
        <p:nvSpPr>
          <p:cNvPr id="1049376" name="Footer Placeholder 4"/>
          <p:cNvSpPr>
            <a:spLocks noGrp="1"/>
          </p:cNvSpPr>
          <p:nvPr>
            <p:ph type="ftr" sz="quarter" idx="11"/>
          </p:nvPr>
        </p:nvSpPr>
        <p:spPr>
          <a:xfrm>
            <a:off x="532150" y="100701"/>
            <a:ext cx="5366480" cy="365125"/>
          </a:xfrm>
        </p:spPr>
        <p:txBody>
          <a:bodyPr/>
          <a:lstStyle/>
          <a:p>
            <a:endParaRPr lang="en-US"/>
          </a:p>
        </p:txBody>
      </p:sp>
      <p:sp>
        <p:nvSpPr>
          <p:cNvPr id="1049377" name="Date Placeholder 3"/>
          <p:cNvSpPr>
            <a:spLocks noGrp="1"/>
          </p:cNvSpPr>
          <p:nvPr>
            <p:ph type="dt" sz="half" idx="10"/>
          </p:nvPr>
        </p:nvSpPr>
        <p:spPr>
          <a:xfrm>
            <a:off x="6190488" y="100701"/>
            <a:ext cx="2940449" cy="365125"/>
          </a:xfrm>
        </p:spPr>
        <p:txBody>
          <a:bodyPr/>
          <a:lstStyle/>
          <a:p>
            <a:fld id="{B4988B18-B537-4466-B866-52107676BA06}" type="datetime1">
              <a:rPr lang="en-US" smtClean="0"/>
              <a:t>9/17/2026</a:t>
            </a:fld>
            <a:endParaRPr lang="en-US"/>
          </a:p>
        </p:txBody>
      </p:sp>
      <p:sp>
        <p:nvSpPr>
          <p:cNvPr id="1049378" name="Slide Number Placeholder 5"/>
          <p:cNvSpPr>
            <a:spLocks noGrp="1"/>
          </p:cNvSpPr>
          <p:nvPr>
            <p:ph type="sldNum" sz="quarter" idx="12"/>
          </p:nvPr>
        </p:nvSpPr>
        <p:spPr>
          <a:xfrm>
            <a:off x="11105731" y="100701"/>
            <a:ext cx="429207" cy="365125"/>
          </a:xfrm>
        </p:spPr>
        <p:txBody>
          <a:bodyPr/>
          <a:lstStyle/>
          <a:p>
            <a:pPr marL="164465">
              <a:lnSpc>
                <a:spcPct val="100000"/>
              </a:lnSpc>
              <a:spcBef>
                <a:spcPts val="50"/>
              </a:spcBef>
            </a:pPr>
            <a:fld id="{81D60167-4931-47E6-BA6A-407CBD079E47}" type="slidenum">
              <a:rPr lang="en-US" spc="-50" smtClean="0">
                <a:solidFill>
                  <a:srgbClr val="A6A6A6"/>
                </a:solidFill>
              </a:rPr>
              <a:t>‹#›</a:t>
            </a:fld>
            <a:endParaRPr lang="en-US" spc="-50" dirty="0">
              <a:solidFill>
                <a:srgbClr val="A6A6A6"/>
              </a:solidFill>
            </a:endParaRPr>
          </a:p>
        </p:txBody>
      </p:sp>
      <p:sp>
        <p:nvSpPr>
          <p:cNvPr id="1049379" name="Content Placeholder 7"/>
          <p:cNvSpPr>
            <a:spLocks noGrp="1"/>
          </p:cNvSpPr>
          <p:nvPr>
            <p:ph sz="quarter" idx="13"/>
          </p:nvPr>
        </p:nvSpPr>
        <p:spPr>
          <a:xfrm>
            <a:off x="6190488" y="969264"/>
            <a:ext cx="5336753" cy="4818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1049259" name="Title 1"/>
          <p:cNvSpPr>
            <a:spLocks noGrp="1"/>
          </p:cNvSpPr>
          <p:nvPr>
            <p:ph type="title"/>
          </p:nvPr>
        </p:nvSpPr>
        <p:spPr>
          <a:xfrm>
            <a:off x="539496" y="988979"/>
            <a:ext cx="3462878" cy="2942419"/>
          </a:xfrm>
        </p:spPr>
        <p:txBody>
          <a:bodyPr>
            <a:normAutofit/>
          </a:bodyPr>
          <a:lstStyle>
            <a:lvl1pPr>
              <a:defRPr sz="5600"/>
            </a:lvl1pPr>
          </a:lstStyle>
          <a:p>
            <a:r>
              <a:rPr lang="en-US"/>
              <a:t>Click to edit Master title style</a:t>
            </a:r>
            <a:endParaRPr lang="en-US" dirty="0"/>
          </a:p>
        </p:txBody>
      </p:sp>
      <p:sp>
        <p:nvSpPr>
          <p:cNvPr id="1049260" name="Footer Placeholder 4"/>
          <p:cNvSpPr>
            <a:spLocks noGrp="1"/>
          </p:cNvSpPr>
          <p:nvPr>
            <p:ph type="ftr" sz="quarter" idx="11"/>
          </p:nvPr>
        </p:nvSpPr>
        <p:spPr>
          <a:xfrm>
            <a:off x="532150" y="100701"/>
            <a:ext cx="3470224" cy="365125"/>
          </a:xfrm>
        </p:spPr>
        <p:txBody>
          <a:bodyPr/>
          <a:lstStyle/>
          <a:p>
            <a:endParaRPr lang="en-US"/>
          </a:p>
        </p:txBody>
      </p:sp>
      <p:sp>
        <p:nvSpPr>
          <p:cNvPr id="1049261" name="Date Placeholder 3"/>
          <p:cNvSpPr>
            <a:spLocks noGrp="1"/>
          </p:cNvSpPr>
          <p:nvPr>
            <p:ph type="dt" sz="half" idx="10"/>
          </p:nvPr>
        </p:nvSpPr>
        <p:spPr>
          <a:xfrm>
            <a:off x="4317167" y="100701"/>
            <a:ext cx="2940449" cy="365125"/>
          </a:xfrm>
        </p:spPr>
        <p:txBody>
          <a:bodyPr/>
          <a:lstStyle/>
          <a:p>
            <a:fld id="{A3B216C1-245C-4639-A08A-C89E06502E1F}" type="datetime1">
              <a:rPr lang="en-US" smtClean="0"/>
              <a:t>9/17/2026</a:t>
            </a:fld>
            <a:endParaRPr lang="en-US"/>
          </a:p>
        </p:txBody>
      </p:sp>
      <p:sp>
        <p:nvSpPr>
          <p:cNvPr id="1049262" name="Slide Number Placeholder 5"/>
          <p:cNvSpPr>
            <a:spLocks noGrp="1"/>
          </p:cNvSpPr>
          <p:nvPr>
            <p:ph type="sldNum" sz="quarter" idx="12"/>
          </p:nvPr>
        </p:nvSpPr>
        <p:spPr>
          <a:xfrm>
            <a:off x="11105731" y="100701"/>
            <a:ext cx="429207" cy="365125"/>
          </a:xfrm>
        </p:spPr>
        <p:txBody>
          <a:bodyPr/>
          <a:lstStyle/>
          <a:p>
            <a:pPr marL="164465">
              <a:lnSpc>
                <a:spcPct val="100000"/>
              </a:lnSpc>
              <a:spcBef>
                <a:spcPts val="50"/>
              </a:spcBef>
            </a:pPr>
            <a:fld id="{81D60167-4931-47E6-BA6A-407CBD079E47}" type="slidenum">
              <a:rPr lang="en-US" spc="-50" smtClean="0">
                <a:solidFill>
                  <a:srgbClr val="A6A6A6"/>
                </a:solidFill>
              </a:rPr>
              <a:t>‹#›</a:t>
            </a:fld>
            <a:endParaRPr lang="en-US" spc="-50" dirty="0">
              <a:solidFill>
                <a:srgbClr val="A6A6A6"/>
              </a:solidFill>
            </a:endParaRPr>
          </a:p>
        </p:txBody>
      </p:sp>
      <p:sp>
        <p:nvSpPr>
          <p:cNvPr id="1049263" name="Content Placeholder 7"/>
          <p:cNvSpPr>
            <a:spLocks noGrp="1"/>
          </p:cNvSpPr>
          <p:nvPr>
            <p:ph sz="quarter" idx="13"/>
          </p:nvPr>
        </p:nvSpPr>
        <p:spPr>
          <a:xfrm>
            <a:off x="4317167" y="967689"/>
            <a:ext cx="7217771" cy="52371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1049360" name="Title 1"/>
          <p:cNvSpPr>
            <a:spLocks noGrp="1"/>
          </p:cNvSpPr>
          <p:nvPr>
            <p:ph type="title"/>
          </p:nvPr>
        </p:nvSpPr>
        <p:spPr>
          <a:xfrm>
            <a:off x="5045804" y="612140"/>
            <a:ext cx="6499655" cy="1519612"/>
          </a:xfrm>
        </p:spPr>
        <p:txBody>
          <a:bodyPr anchor="t"/>
          <a:lstStyle/>
          <a:p>
            <a:r>
              <a:rPr lang="en-US"/>
              <a:t>Click to edit Master title style</a:t>
            </a:r>
            <a:endParaRPr lang="en-US" dirty="0"/>
          </a:p>
        </p:txBody>
      </p:sp>
      <p:sp>
        <p:nvSpPr>
          <p:cNvPr id="1049361" name="Picture Placeholder 10"/>
          <p:cNvSpPr>
            <a:spLocks noGrp="1"/>
          </p:cNvSpPr>
          <p:nvPr>
            <p:ph type="pic" sz="quarter" idx="13" hasCustomPrompt="1"/>
          </p:nvPr>
        </p:nvSpPr>
        <p:spPr>
          <a:xfrm>
            <a:off x="0" y="1"/>
            <a:ext cx="4804012" cy="6858000"/>
          </a:xfrm>
          <a:blipFill>
            <a:blip r:embed="rId2">
              <a:alphaModFix amt="70000"/>
            </a:blip>
            <a:stretch>
              <a:fillRect/>
            </a:stretch>
          </a:blipFill>
        </p:spPr>
        <p:txBody>
          <a:bodyPr/>
          <a:lstStyle>
            <a:lvl1pPr>
              <a:defRPr lang="en-US" dirty="0"/>
            </a:lvl1pPr>
          </a:lstStyle>
          <a:p>
            <a:r>
              <a:rPr lang="en-US" dirty="0"/>
              <a:t> </a:t>
            </a:r>
          </a:p>
        </p:txBody>
      </p:sp>
      <p:sp>
        <p:nvSpPr>
          <p:cNvPr id="1049362" name="Content Placeholder 7"/>
          <p:cNvSpPr>
            <a:spLocks noGrp="1"/>
          </p:cNvSpPr>
          <p:nvPr>
            <p:ph sz="quarter" idx="14"/>
          </p:nvPr>
        </p:nvSpPr>
        <p:spPr>
          <a:xfrm>
            <a:off x="5104122" y="2457406"/>
            <a:ext cx="6441338" cy="3778977"/>
          </a:xfrm>
        </p:spPr>
        <p:txBody>
          <a:bodyPr anchor="t"/>
          <a:lstStyle>
            <a:lvl1pPr marL="0" indent="0">
              <a:buNone/>
            </a:lvl1pPr>
            <a:lvl2pPr marL="228600" indent="0">
              <a:buNone/>
            </a:lvl2pPr>
            <a:lvl3pPr marL="457200" indent="0">
              <a:buNone/>
            </a:lvl3pPr>
            <a:lvl4pPr marL="685800" indent="0">
              <a:buNone/>
            </a:lvl4pPr>
            <a:lvl5pPr marL="914400" indent="0">
              <a:buNone/>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9363" name="Footer Placeholder 8"/>
          <p:cNvSpPr>
            <a:spLocks noGrp="1"/>
          </p:cNvSpPr>
          <p:nvPr>
            <p:ph type="ftr" sz="quarter" idx="16"/>
          </p:nvPr>
        </p:nvSpPr>
        <p:spPr>
          <a:xfrm>
            <a:off x="5104122" y="6452990"/>
            <a:ext cx="1968375" cy="365125"/>
          </a:xfrm>
        </p:spPr>
        <p:txBody>
          <a:bodyPr anchor="b"/>
          <a:lstStyle/>
          <a:p>
            <a:endParaRPr lang="en-US"/>
          </a:p>
        </p:txBody>
      </p:sp>
      <p:sp>
        <p:nvSpPr>
          <p:cNvPr id="1049364" name="Slide Number Placeholder 9"/>
          <p:cNvSpPr>
            <a:spLocks noGrp="1"/>
          </p:cNvSpPr>
          <p:nvPr>
            <p:ph type="sldNum" sz="quarter" idx="17"/>
          </p:nvPr>
        </p:nvSpPr>
        <p:spPr>
          <a:xfrm>
            <a:off x="11116252" y="6452989"/>
            <a:ext cx="429207" cy="365125"/>
          </a:xfrm>
        </p:spPr>
        <p:txBody>
          <a:bodyPr anchor="b"/>
          <a:lstStyle/>
          <a:p>
            <a:pPr marL="164465">
              <a:lnSpc>
                <a:spcPct val="100000"/>
              </a:lnSpc>
              <a:spcBef>
                <a:spcPts val="50"/>
              </a:spcBef>
            </a:pPr>
            <a:fld id="{81D60167-4931-47E6-BA6A-407CBD079E47}" type="slidenum">
              <a:rPr lang="en-US" spc="-50" smtClean="0">
                <a:solidFill>
                  <a:srgbClr val="A6A6A6"/>
                </a:solidFill>
              </a:rPr>
              <a:t>‹#›</a:t>
            </a:fld>
            <a:endParaRPr lang="en-US" spc="-50" dirty="0">
              <a:solidFill>
                <a:srgbClr val="A6A6A6"/>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1049253" name="Title 1"/>
          <p:cNvSpPr>
            <a:spLocks noGrp="1"/>
          </p:cNvSpPr>
          <p:nvPr>
            <p:ph type="title"/>
          </p:nvPr>
        </p:nvSpPr>
        <p:spPr>
          <a:xfrm>
            <a:off x="4281793" y="621792"/>
            <a:ext cx="7252710" cy="1138769"/>
          </a:xfrm>
        </p:spPr>
        <p:txBody>
          <a:bodyPr anchor="t"/>
          <a:lstStyle/>
          <a:p>
            <a:r>
              <a:rPr lang="en-US"/>
              <a:t>Click to edit Master title style</a:t>
            </a:r>
            <a:endParaRPr lang="en-US" dirty="0"/>
          </a:p>
        </p:txBody>
      </p:sp>
      <p:sp>
        <p:nvSpPr>
          <p:cNvPr id="1049254" name="Picture Placeholder 10"/>
          <p:cNvSpPr>
            <a:spLocks noGrp="1"/>
          </p:cNvSpPr>
          <p:nvPr>
            <p:ph type="pic" sz="quarter" idx="13" hasCustomPrompt="1"/>
          </p:nvPr>
        </p:nvSpPr>
        <p:spPr>
          <a:xfrm>
            <a:off x="0" y="1"/>
            <a:ext cx="4023360" cy="6858000"/>
          </a:xfrm>
          <a:blipFill>
            <a:blip r:embed="rId2">
              <a:alphaModFix amt="70000"/>
            </a:blip>
            <a:stretch>
              <a:fillRect/>
            </a:stretch>
          </a:blipFill>
        </p:spPr>
        <p:txBody>
          <a:bodyPr/>
          <a:lstStyle/>
          <a:p>
            <a:r>
              <a:rPr lang="en-US" dirty="0"/>
              <a:t> </a:t>
            </a:r>
          </a:p>
        </p:txBody>
      </p:sp>
      <p:sp>
        <p:nvSpPr>
          <p:cNvPr id="1049255" name="Content Placeholder 7"/>
          <p:cNvSpPr>
            <a:spLocks noGrp="1"/>
          </p:cNvSpPr>
          <p:nvPr>
            <p:ph sz="quarter" idx="14"/>
          </p:nvPr>
        </p:nvSpPr>
        <p:spPr>
          <a:xfrm>
            <a:off x="4309088" y="2115404"/>
            <a:ext cx="7225415" cy="4212926"/>
          </a:xfrm>
        </p:spPr>
        <p:txBody>
          <a:bodyPr anchor="t" anchorCtr="0"/>
          <a:lstStyle>
            <a:lvl1pPr marL="0" indent="0">
              <a:buNone/>
            </a:lvl1pPr>
            <a:lvl2pPr marL="228600" indent="0">
              <a:buNone/>
            </a:lvl2pPr>
            <a:lvl3pPr marL="457200" indent="0">
              <a:buNone/>
            </a:lvl3pPr>
            <a:lvl4pPr marL="685800" indent="0">
              <a:buNone/>
            </a:lvl4pPr>
            <a:lvl5pPr marL="914400" indent="0">
              <a:buNone/>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9256" name="Footer Placeholder 8"/>
          <p:cNvSpPr>
            <a:spLocks noGrp="1"/>
          </p:cNvSpPr>
          <p:nvPr>
            <p:ph type="ftr" sz="quarter" idx="16"/>
          </p:nvPr>
        </p:nvSpPr>
        <p:spPr>
          <a:xfrm>
            <a:off x="4281793" y="6492875"/>
            <a:ext cx="1968375" cy="365125"/>
          </a:xfrm>
        </p:spPr>
        <p:txBody>
          <a:bodyPr anchor="b"/>
          <a:lstStyle/>
          <a:p>
            <a:endParaRPr lang="en-US"/>
          </a:p>
        </p:txBody>
      </p:sp>
      <p:sp>
        <p:nvSpPr>
          <p:cNvPr id="1049257" name="Date Placeholder 2"/>
          <p:cNvSpPr>
            <a:spLocks noGrp="1"/>
          </p:cNvSpPr>
          <p:nvPr>
            <p:ph type="dt" sz="half" idx="18"/>
          </p:nvPr>
        </p:nvSpPr>
        <p:spPr>
          <a:xfrm>
            <a:off x="9023903" y="6492875"/>
            <a:ext cx="1596200" cy="365125"/>
          </a:xfrm>
        </p:spPr>
        <p:txBody>
          <a:bodyPr anchor="b"/>
          <a:lstStyle/>
          <a:p>
            <a:fld id="{DA504BDB-D933-4D0A-A8F7-3BF29EEC2D6F}" type="datetime1">
              <a:rPr lang="en-US" smtClean="0"/>
              <a:t>9/17/2026</a:t>
            </a:fld>
            <a:endParaRPr lang="en-US"/>
          </a:p>
        </p:txBody>
      </p:sp>
      <p:sp>
        <p:nvSpPr>
          <p:cNvPr id="1049258" name="Slide Number Placeholder 9"/>
          <p:cNvSpPr>
            <a:spLocks noGrp="1"/>
          </p:cNvSpPr>
          <p:nvPr>
            <p:ph type="sldNum" sz="quarter" idx="17"/>
          </p:nvPr>
        </p:nvSpPr>
        <p:spPr>
          <a:xfrm>
            <a:off x="11105296" y="6492875"/>
            <a:ext cx="429207" cy="365125"/>
          </a:xfrm>
        </p:spPr>
        <p:txBody>
          <a:bodyPr anchor="b"/>
          <a:lstStyle/>
          <a:p>
            <a:pPr marL="164465">
              <a:lnSpc>
                <a:spcPct val="100000"/>
              </a:lnSpc>
              <a:spcBef>
                <a:spcPts val="50"/>
              </a:spcBef>
            </a:pPr>
            <a:fld id="{81D60167-4931-47E6-BA6A-407CBD079E47}" type="slidenum">
              <a:rPr lang="en-US" spc="-50" smtClean="0">
                <a:solidFill>
                  <a:srgbClr val="A6A6A6"/>
                </a:solidFill>
              </a:rPr>
              <a:t>‹#›</a:t>
            </a:fld>
            <a:endParaRPr lang="en-US" spc="-50" dirty="0">
              <a:solidFill>
                <a:srgbClr val="A6A6A6"/>
              </a:solidFil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1049275" name="Title 5"/>
          <p:cNvSpPr>
            <a:spLocks noGrp="1"/>
          </p:cNvSpPr>
          <p:nvPr>
            <p:ph type="title"/>
          </p:nvPr>
        </p:nvSpPr>
        <p:spPr>
          <a:xfrm>
            <a:off x="542307" y="621792"/>
            <a:ext cx="7252710" cy="1138769"/>
          </a:xfrm>
        </p:spPr>
        <p:txBody>
          <a:bodyPr/>
          <a:lstStyle/>
          <a:p>
            <a:r>
              <a:rPr lang="en-US"/>
              <a:t>Click to edit Master title style</a:t>
            </a:r>
            <a:endParaRPr lang="en-US" dirty="0"/>
          </a:p>
        </p:txBody>
      </p:sp>
      <p:sp>
        <p:nvSpPr>
          <p:cNvPr id="1049276" name="Content Placeholder 7"/>
          <p:cNvSpPr>
            <a:spLocks noGrp="1"/>
          </p:cNvSpPr>
          <p:nvPr>
            <p:ph sz="quarter" idx="19"/>
          </p:nvPr>
        </p:nvSpPr>
        <p:spPr>
          <a:xfrm>
            <a:off x="569602" y="2115404"/>
            <a:ext cx="7225415" cy="4212926"/>
          </a:xfrm>
        </p:spPr>
        <p:txBody>
          <a:bodyPr anchor="t" anchorCtr="0"/>
          <a:lstStyle>
            <a:lvl1pPr marL="0" indent="0">
              <a:buNone/>
            </a:lvl1pPr>
            <a:lvl2pPr marL="228600" indent="0">
              <a:buNone/>
            </a:lvl2pPr>
            <a:lvl3pPr marL="457200" indent="0">
              <a:buNone/>
            </a:lvl3pPr>
            <a:lvl4pPr marL="685800" indent="0">
              <a:buNone/>
            </a:lvl4pPr>
            <a:lvl5pPr marL="914400" indent="0">
              <a:buNone/>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9277" name="Picture Placeholder 10"/>
          <p:cNvSpPr>
            <a:spLocks noGrp="1"/>
          </p:cNvSpPr>
          <p:nvPr>
            <p:ph type="pic" sz="quarter" idx="13" hasCustomPrompt="1"/>
          </p:nvPr>
        </p:nvSpPr>
        <p:spPr>
          <a:xfrm>
            <a:off x="8168640" y="1"/>
            <a:ext cx="4023360" cy="6858000"/>
          </a:xfrm>
          <a:blipFill>
            <a:blip r:embed="rId2">
              <a:alphaModFix amt="70000"/>
            </a:blip>
            <a:stretch>
              <a:fillRect/>
            </a:stretch>
          </a:blipFill>
        </p:spPr>
        <p:txBody>
          <a:bodyPr/>
          <a:lstStyle/>
          <a:p>
            <a:r>
              <a:rPr lang="en-US" dirty="0"/>
              <a:t> </a:t>
            </a:r>
          </a:p>
        </p:txBody>
      </p:sp>
      <p:sp>
        <p:nvSpPr>
          <p:cNvPr id="1049278" name="Footer Placeholder 2"/>
          <p:cNvSpPr>
            <a:spLocks noGrp="1"/>
          </p:cNvSpPr>
          <p:nvPr>
            <p:ph type="ftr" sz="quarter" idx="16"/>
          </p:nvPr>
        </p:nvSpPr>
        <p:spPr>
          <a:xfrm>
            <a:off x="542307" y="6492875"/>
            <a:ext cx="1968375" cy="365125"/>
          </a:xfrm>
        </p:spPr>
        <p:txBody>
          <a:bodyPr/>
          <a:lstStyle/>
          <a:p>
            <a:endParaRPr lang="en-US"/>
          </a:p>
        </p:txBody>
      </p:sp>
      <p:sp>
        <p:nvSpPr>
          <p:cNvPr id="1049279" name="Date Placeholder 1"/>
          <p:cNvSpPr>
            <a:spLocks noGrp="1"/>
          </p:cNvSpPr>
          <p:nvPr>
            <p:ph type="dt" sz="half" idx="18"/>
          </p:nvPr>
        </p:nvSpPr>
        <p:spPr>
          <a:xfrm>
            <a:off x="5284417" y="6492875"/>
            <a:ext cx="1596200" cy="365125"/>
          </a:xfrm>
        </p:spPr>
        <p:txBody>
          <a:bodyPr/>
          <a:lstStyle/>
          <a:p>
            <a:fld id="{21AAF8A5-B682-46E9-97DC-98C304796D2C}" type="datetime1">
              <a:rPr lang="en-US" smtClean="0"/>
              <a:t>9/17/2026</a:t>
            </a:fld>
            <a:endParaRPr lang="en-US"/>
          </a:p>
        </p:txBody>
      </p:sp>
      <p:sp>
        <p:nvSpPr>
          <p:cNvPr id="1049280" name="Slide Number Placeholder 3"/>
          <p:cNvSpPr>
            <a:spLocks noGrp="1"/>
          </p:cNvSpPr>
          <p:nvPr>
            <p:ph type="sldNum" sz="quarter" idx="17"/>
          </p:nvPr>
        </p:nvSpPr>
        <p:spPr>
          <a:xfrm>
            <a:off x="7365810" y="6492875"/>
            <a:ext cx="429207" cy="365125"/>
          </a:xfrm>
        </p:spPr>
        <p:txBody>
          <a:bodyPr/>
          <a:lstStyle/>
          <a:p>
            <a:pPr marL="164465">
              <a:lnSpc>
                <a:spcPct val="100000"/>
              </a:lnSpc>
              <a:spcBef>
                <a:spcPts val="50"/>
              </a:spcBef>
            </a:pPr>
            <a:fld id="{81D60167-4931-47E6-BA6A-407CBD079E47}" type="slidenum">
              <a:rPr lang="en-US" spc="-50" smtClean="0">
                <a:solidFill>
                  <a:srgbClr val="A6A6A6"/>
                </a:solidFill>
              </a:rPr>
              <a:t>‹#›</a:t>
            </a:fld>
            <a:endParaRPr lang="en-US" spc="-50" dirty="0">
              <a:solidFill>
                <a:srgbClr val="A6A6A6"/>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1049312" name="Title 1"/>
          <p:cNvSpPr>
            <a:spLocks noGrp="1"/>
          </p:cNvSpPr>
          <p:nvPr>
            <p:ph type="title"/>
          </p:nvPr>
        </p:nvSpPr>
        <p:spPr>
          <a:xfrm>
            <a:off x="518615" y="621793"/>
            <a:ext cx="5326684" cy="1507454"/>
          </a:xfrm>
        </p:spPr>
        <p:txBody>
          <a:bodyPr anchor="t" anchorCtr="0"/>
          <a:lstStyle/>
          <a:p>
            <a:r>
              <a:rPr lang="en-US"/>
              <a:t>Click to edit Master title style</a:t>
            </a:r>
            <a:endParaRPr lang="en-US" dirty="0"/>
          </a:p>
        </p:txBody>
      </p:sp>
      <p:sp>
        <p:nvSpPr>
          <p:cNvPr id="1049313" name="Content Placeholder 7"/>
          <p:cNvSpPr>
            <a:spLocks noGrp="1"/>
          </p:cNvSpPr>
          <p:nvPr>
            <p:ph sz="quarter" idx="19"/>
          </p:nvPr>
        </p:nvSpPr>
        <p:spPr>
          <a:xfrm>
            <a:off x="518616" y="2513110"/>
            <a:ext cx="5326683" cy="3568006"/>
          </a:xfrm>
        </p:spPr>
        <p:txBody>
          <a:bodyPr anchor="t" anchorCtr="0"/>
          <a:lstStyle>
            <a:lvl1pPr marL="0" indent="0">
              <a:buNone/>
            </a:lvl1pPr>
            <a:lvl2pPr marL="228600" indent="0">
              <a:buNone/>
            </a:lvl2pPr>
            <a:lvl3pPr marL="457200" indent="0">
              <a:buNone/>
            </a:lvl3pPr>
            <a:lvl4pPr marL="685800" indent="0">
              <a:buNone/>
            </a:lvl4pPr>
            <a:lvl5pPr marL="914400" indent="0">
              <a:buNone/>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9314" name="Picture Placeholder 7"/>
          <p:cNvSpPr>
            <a:spLocks noGrp="1"/>
          </p:cNvSpPr>
          <p:nvPr>
            <p:ph type="pic" sz="quarter" idx="18" hasCustomPrompt="1"/>
          </p:nvPr>
        </p:nvSpPr>
        <p:spPr>
          <a:xfrm>
            <a:off x="6308842" y="0"/>
            <a:ext cx="5883158" cy="6858000"/>
          </a:xfrm>
          <a:blipFill>
            <a:blip r:embed="rId2">
              <a:alphaModFix amt="70000"/>
            </a:blip>
            <a:stretch>
              <a:fillRect/>
            </a:stretch>
          </a:blipFill>
        </p:spPr>
        <p:txBody>
          <a:bodyPr/>
          <a:lstStyle/>
          <a:p>
            <a:r>
              <a:rPr lang="en-US" dirty="0"/>
              <a:t> </a:t>
            </a:r>
          </a:p>
        </p:txBody>
      </p:sp>
      <p:sp>
        <p:nvSpPr>
          <p:cNvPr id="1049315" name="Footer Placeholder 8"/>
          <p:cNvSpPr>
            <a:spLocks noGrp="1"/>
          </p:cNvSpPr>
          <p:nvPr>
            <p:ph type="ftr" sz="quarter" idx="16"/>
          </p:nvPr>
        </p:nvSpPr>
        <p:spPr>
          <a:xfrm>
            <a:off x="518615" y="6450237"/>
            <a:ext cx="1968375" cy="365125"/>
          </a:xfrm>
        </p:spPr>
        <p:txBody>
          <a:bodyPr anchor="b"/>
          <a:lstStyle/>
          <a:p>
            <a:endParaRPr lang="en-US"/>
          </a:p>
        </p:txBody>
      </p:sp>
      <p:sp>
        <p:nvSpPr>
          <p:cNvPr id="1049316" name="Slide Number Placeholder 9"/>
          <p:cNvSpPr>
            <a:spLocks noGrp="1"/>
          </p:cNvSpPr>
          <p:nvPr>
            <p:ph type="sldNum" sz="quarter" idx="17"/>
          </p:nvPr>
        </p:nvSpPr>
        <p:spPr>
          <a:xfrm>
            <a:off x="5453953" y="6464979"/>
            <a:ext cx="429207" cy="365125"/>
          </a:xfrm>
        </p:spPr>
        <p:txBody>
          <a:bodyPr anchor="b"/>
          <a:lstStyle/>
          <a:p>
            <a:pPr marL="164465">
              <a:lnSpc>
                <a:spcPct val="100000"/>
              </a:lnSpc>
              <a:spcBef>
                <a:spcPts val="50"/>
              </a:spcBef>
            </a:pPr>
            <a:fld id="{81D60167-4931-47E6-BA6A-407CBD079E47}" type="slidenum">
              <a:rPr lang="en-US" spc="-50" smtClean="0">
                <a:solidFill>
                  <a:srgbClr val="A6A6A6"/>
                </a:solidFill>
              </a:rPr>
              <a:t>‹#›</a:t>
            </a:fld>
            <a:endParaRPr lang="en-US" spc="-50" dirty="0">
              <a:solidFill>
                <a:srgbClr val="A6A6A6"/>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1049370" name="Title 1"/>
          <p:cNvSpPr>
            <a:spLocks noGrp="1"/>
          </p:cNvSpPr>
          <p:nvPr>
            <p:ph type="title"/>
          </p:nvPr>
        </p:nvSpPr>
        <p:spPr>
          <a:xfrm>
            <a:off x="518965" y="621792"/>
            <a:ext cx="4446871" cy="1867629"/>
          </a:xfrm>
        </p:spPr>
        <p:txBody>
          <a:bodyPr anchor="t">
            <a:noAutofit/>
          </a:bodyPr>
          <a:lstStyle>
            <a:lvl1pPr>
              <a:defRPr sz="5600"/>
            </a:lvl1pPr>
          </a:lstStyle>
          <a:p>
            <a:r>
              <a:rPr lang="en-US"/>
              <a:t>Click to edit Master title style</a:t>
            </a:r>
            <a:endParaRPr lang="en-US" dirty="0"/>
          </a:p>
        </p:txBody>
      </p:sp>
      <p:sp>
        <p:nvSpPr>
          <p:cNvPr id="1049371" name="Content Placeholder 7"/>
          <p:cNvSpPr>
            <a:spLocks noGrp="1"/>
          </p:cNvSpPr>
          <p:nvPr>
            <p:ph sz="quarter" idx="14"/>
          </p:nvPr>
        </p:nvSpPr>
        <p:spPr>
          <a:xfrm>
            <a:off x="543940" y="2890729"/>
            <a:ext cx="4449227" cy="3138438"/>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9372" name="Picture Placeholder 10"/>
          <p:cNvSpPr>
            <a:spLocks noGrp="1"/>
          </p:cNvSpPr>
          <p:nvPr>
            <p:ph type="pic" sz="quarter" idx="13" hasCustomPrompt="1"/>
          </p:nvPr>
        </p:nvSpPr>
        <p:spPr>
          <a:xfrm>
            <a:off x="5363570" y="0"/>
            <a:ext cx="6828430" cy="6858000"/>
          </a:xfrm>
          <a:blipFill>
            <a:blip r:embed="rId2">
              <a:alphaModFix amt="70000"/>
            </a:blip>
            <a:stretch>
              <a:fillRect/>
            </a:stretch>
          </a:blipFill>
        </p:spPr>
        <p:txBody>
          <a:bodyPr/>
          <a:lstStyle/>
          <a:p>
            <a:r>
              <a:rPr lang="en-US" dirty="0"/>
              <a:t> </a:t>
            </a:r>
          </a:p>
        </p:txBody>
      </p:sp>
      <p:sp>
        <p:nvSpPr>
          <p:cNvPr id="1049373" name="Footer Placeholder 8"/>
          <p:cNvSpPr>
            <a:spLocks noGrp="1"/>
          </p:cNvSpPr>
          <p:nvPr>
            <p:ph type="ftr" sz="quarter" idx="16"/>
          </p:nvPr>
        </p:nvSpPr>
        <p:spPr>
          <a:xfrm>
            <a:off x="515618" y="6430476"/>
            <a:ext cx="1968375" cy="379867"/>
          </a:xfrm>
        </p:spPr>
        <p:txBody>
          <a:bodyPr anchor="b"/>
          <a:lstStyle/>
          <a:p>
            <a:endParaRPr lang="en-US"/>
          </a:p>
        </p:txBody>
      </p:sp>
      <p:sp>
        <p:nvSpPr>
          <p:cNvPr id="1049374" name="Slide Number Placeholder 9"/>
          <p:cNvSpPr>
            <a:spLocks noGrp="1"/>
          </p:cNvSpPr>
          <p:nvPr>
            <p:ph type="sldNum" sz="quarter" idx="17"/>
          </p:nvPr>
        </p:nvSpPr>
        <p:spPr>
          <a:xfrm>
            <a:off x="4563960" y="6430476"/>
            <a:ext cx="429207" cy="379867"/>
          </a:xfrm>
        </p:spPr>
        <p:txBody>
          <a:bodyPr anchor="b"/>
          <a:lstStyle/>
          <a:p>
            <a:pPr marL="164465">
              <a:lnSpc>
                <a:spcPct val="100000"/>
              </a:lnSpc>
              <a:spcBef>
                <a:spcPts val="50"/>
              </a:spcBef>
            </a:pPr>
            <a:fld id="{81D60167-4931-47E6-BA6A-407CBD079E47}" type="slidenum">
              <a:rPr lang="en-US" spc="-50" smtClean="0">
                <a:solidFill>
                  <a:srgbClr val="A6A6A6"/>
                </a:solidFill>
              </a:rPr>
              <a:t>‹#›</a:t>
            </a:fld>
            <a:endParaRPr lang="en-US" spc="-50" dirty="0">
              <a:solidFill>
                <a:srgbClr val="A6A6A6"/>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1049264" name="Title 1"/>
          <p:cNvSpPr>
            <a:spLocks noGrp="1"/>
          </p:cNvSpPr>
          <p:nvPr>
            <p:ph type="title"/>
          </p:nvPr>
        </p:nvSpPr>
        <p:spPr>
          <a:xfrm>
            <a:off x="7649733" y="621792"/>
            <a:ext cx="3884546" cy="2280501"/>
          </a:xfrm>
        </p:spPr>
        <p:txBody>
          <a:bodyPr anchor="t">
            <a:noAutofit/>
          </a:bodyPr>
          <a:lstStyle>
            <a:lvl1pPr>
              <a:defRPr sz="5600"/>
            </a:lvl1pPr>
          </a:lstStyle>
          <a:p>
            <a:r>
              <a:rPr lang="en-US"/>
              <a:t>Click to edit Master title style</a:t>
            </a:r>
            <a:endParaRPr lang="en-US" dirty="0"/>
          </a:p>
        </p:txBody>
      </p:sp>
      <p:sp>
        <p:nvSpPr>
          <p:cNvPr id="1049265" name="Picture Placeholder 10"/>
          <p:cNvSpPr>
            <a:spLocks noGrp="1"/>
          </p:cNvSpPr>
          <p:nvPr>
            <p:ph type="pic" sz="quarter" idx="13" hasCustomPrompt="1"/>
          </p:nvPr>
        </p:nvSpPr>
        <p:spPr>
          <a:xfrm>
            <a:off x="-1" y="0"/>
            <a:ext cx="7260609" cy="6858000"/>
          </a:xfrm>
          <a:blipFill>
            <a:blip r:embed="rId2">
              <a:alphaModFix amt="70000"/>
            </a:blip>
            <a:stretch>
              <a:fillRect/>
            </a:stretch>
          </a:blipFill>
        </p:spPr>
        <p:txBody>
          <a:bodyPr/>
          <a:lstStyle/>
          <a:p>
            <a:r>
              <a:rPr lang="en-US" dirty="0"/>
              <a:t> </a:t>
            </a:r>
          </a:p>
        </p:txBody>
      </p:sp>
      <p:sp>
        <p:nvSpPr>
          <p:cNvPr id="1049266" name="Content Placeholder 7"/>
          <p:cNvSpPr>
            <a:spLocks noGrp="1"/>
          </p:cNvSpPr>
          <p:nvPr>
            <p:ph sz="quarter" idx="14"/>
          </p:nvPr>
        </p:nvSpPr>
        <p:spPr>
          <a:xfrm>
            <a:off x="7687521" y="3211512"/>
            <a:ext cx="3884547" cy="274320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9267" name="Footer Placeholder 8"/>
          <p:cNvSpPr>
            <a:spLocks noGrp="1"/>
          </p:cNvSpPr>
          <p:nvPr>
            <p:ph type="ftr" sz="quarter" idx="16"/>
          </p:nvPr>
        </p:nvSpPr>
        <p:spPr>
          <a:xfrm>
            <a:off x="7649733" y="6456384"/>
            <a:ext cx="1968375" cy="379867"/>
          </a:xfrm>
        </p:spPr>
        <p:txBody>
          <a:bodyPr anchor="b"/>
          <a:lstStyle/>
          <a:p>
            <a:endParaRPr lang="en-US"/>
          </a:p>
        </p:txBody>
      </p:sp>
      <p:sp>
        <p:nvSpPr>
          <p:cNvPr id="1049268" name="Slide Number Placeholder 9"/>
          <p:cNvSpPr>
            <a:spLocks noGrp="1"/>
          </p:cNvSpPr>
          <p:nvPr>
            <p:ph type="sldNum" sz="quarter" idx="17"/>
          </p:nvPr>
        </p:nvSpPr>
        <p:spPr>
          <a:xfrm>
            <a:off x="11134152" y="6456385"/>
            <a:ext cx="429207" cy="379867"/>
          </a:xfrm>
        </p:spPr>
        <p:txBody>
          <a:bodyPr anchor="b"/>
          <a:lstStyle/>
          <a:p>
            <a:pPr marL="164465">
              <a:lnSpc>
                <a:spcPct val="100000"/>
              </a:lnSpc>
              <a:spcBef>
                <a:spcPts val="50"/>
              </a:spcBef>
            </a:pPr>
            <a:fld id="{81D60167-4931-47E6-BA6A-407CBD079E47}" type="slidenum">
              <a:rPr lang="en-US" spc="-50" smtClean="0">
                <a:solidFill>
                  <a:srgbClr val="A6A6A6"/>
                </a:solidFill>
              </a:rPr>
              <a:t>‹#›</a:t>
            </a:fld>
            <a:endParaRPr lang="en-US" spc="-50" dirty="0">
              <a:solidFill>
                <a:srgbClr val="A6A6A6"/>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1049291" name="Title 1"/>
          <p:cNvSpPr>
            <a:spLocks noGrp="1"/>
          </p:cNvSpPr>
          <p:nvPr>
            <p:ph type="title"/>
          </p:nvPr>
        </p:nvSpPr>
        <p:spPr>
          <a:xfrm>
            <a:off x="512064" y="3608276"/>
            <a:ext cx="4428700" cy="2620587"/>
          </a:xfrm>
        </p:spPr>
        <p:txBody>
          <a:bodyPr anchor="t">
            <a:noAutofit/>
          </a:bodyPr>
          <a:lstStyle>
            <a:lvl1pPr>
              <a:defRPr sz="5600"/>
            </a:lvl1pPr>
          </a:lstStyle>
          <a:p>
            <a:r>
              <a:rPr lang="en-US"/>
              <a:t>Click to edit Master title style</a:t>
            </a:r>
            <a:endParaRPr lang="en-US" dirty="0"/>
          </a:p>
        </p:txBody>
      </p:sp>
      <p:sp>
        <p:nvSpPr>
          <p:cNvPr id="1049292" name="Picture Placeholder 10"/>
          <p:cNvSpPr>
            <a:spLocks noGrp="1"/>
          </p:cNvSpPr>
          <p:nvPr>
            <p:ph type="pic" sz="quarter" idx="13" hasCustomPrompt="1"/>
          </p:nvPr>
        </p:nvSpPr>
        <p:spPr>
          <a:xfrm>
            <a:off x="-1" y="0"/>
            <a:ext cx="12192000" cy="3429000"/>
          </a:xfrm>
          <a:blipFill>
            <a:blip r:embed="rId2">
              <a:alphaModFix amt="70000"/>
            </a:blip>
            <a:stretch>
              <a:fillRect/>
            </a:stretch>
          </a:blipFill>
        </p:spPr>
        <p:txBody>
          <a:bodyPr/>
          <a:lstStyle/>
          <a:p>
            <a:r>
              <a:rPr lang="en-US" dirty="0"/>
              <a:t> </a:t>
            </a:r>
          </a:p>
        </p:txBody>
      </p:sp>
      <p:sp>
        <p:nvSpPr>
          <p:cNvPr id="1049293" name="Content Placeholder 7"/>
          <p:cNvSpPr>
            <a:spLocks noGrp="1"/>
          </p:cNvSpPr>
          <p:nvPr>
            <p:ph sz="quarter" idx="14"/>
          </p:nvPr>
        </p:nvSpPr>
        <p:spPr>
          <a:xfrm>
            <a:off x="5268036" y="3579702"/>
            <a:ext cx="6298442" cy="2620587"/>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9294" name="Footer Placeholder 8"/>
          <p:cNvSpPr>
            <a:spLocks noGrp="1"/>
          </p:cNvSpPr>
          <p:nvPr>
            <p:ph type="ftr" sz="quarter" idx="16"/>
          </p:nvPr>
        </p:nvSpPr>
        <p:spPr>
          <a:xfrm>
            <a:off x="5262666" y="6442872"/>
            <a:ext cx="1968375" cy="379867"/>
          </a:xfrm>
        </p:spPr>
        <p:txBody>
          <a:bodyPr anchor="b"/>
          <a:lstStyle/>
          <a:p>
            <a:endParaRPr lang="en-US"/>
          </a:p>
        </p:txBody>
      </p:sp>
      <p:sp>
        <p:nvSpPr>
          <p:cNvPr id="1049295" name="Date Placeholder 2"/>
          <p:cNvSpPr>
            <a:spLocks noGrp="1"/>
          </p:cNvSpPr>
          <p:nvPr>
            <p:ph type="dt" sz="half" idx="18"/>
          </p:nvPr>
        </p:nvSpPr>
        <p:spPr>
          <a:xfrm>
            <a:off x="7697040" y="6442872"/>
            <a:ext cx="2295997" cy="379867"/>
          </a:xfrm>
        </p:spPr>
        <p:txBody>
          <a:bodyPr anchor="b"/>
          <a:lstStyle/>
          <a:p>
            <a:fld id="{F9F76D69-038A-4FE2-826A-3119DF2BB69A}" type="datetime1">
              <a:rPr lang="en-US" smtClean="0"/>
              <a:t>9/17/2026</a:t>
            </a:fld>
            <a:endParaRPr lang="en-US"/>
          </a:p>
        </p:txBody>
      </p:sp>
      <p:sp>
        <p:nvSpPr>
          <p:cNvPr id="1049296" name="Slide Number Placeholder 9"/>
          <p:cNvSpPr>
            <a:spLocks noGrp="1"/>
          </p:cNvSpPr>
          <p:nvPr>
            <p:ph type="sldNum" sz="quarter" idx="17"/>
          </p:nvPr>
        </p:nvSpPr>
        <p:spPr>
          <a:xfrm>
            <a:off x="11137271" y="6442873"/>
            <a:ext cx="429207" cy="379867"/>
          </a:xfrm>
        </p:spPr>
        <p:txBody>
          <a:bodyPr anchor="b"/>
          <a:lstStyle/>
          <a:p>
            <a:pPr marL="164465">
              <a:lnSpc>
                <a:spcPct val="100000"/>
              </a:lnSpc>
              <a:spcBef>
                <a:spcPts val="50"/>
              </a:spcBef>
            </a:pPr>
            <a:fld id="{81D60167-4931-47E6-BA6A-407CBD079E47}" type="slidenum">
              <a:rPr lang="en-US" spc="-50" smtClean="0">
                <a:solidFill>
                  <a:srgbClr val="A6A6A6"/>
                </a:solidFill>
              </a:rPr>
              <a:t>‹#›</a:t>
            </a:fld>
            <a:endParaRPr lang="en-US" spc="-50" dirty="0">
              <a:solidFill>
                <a:srgbClr val="A6A6A6"/>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1049341" name="Title 1"/>
          <p:cNvSpPr>
            <a:spLocks noGrp="1"/>
          </p:cNvSpPr>
          <p:nvPr>
            <p:ph type="title"/>
          </p:nvPr>
        </p:nvSpPr>
        <p:spPr>
          <a:xfrm>
            <a:off x="512064" y="631710"/>
            <a:ext cx="11032239" cy="1115203"/>
          </a:xfrm>
        </p:spPr>
        <p:txBody>
          <a:bodyPr anchor="t">
            <a:noAutofit/>
          </a:bodyPr>
          <a:lstStyle>
            <a:lvl1pPr>
              <a:defRPr sz="5600"/>
            </a:lvl1pPr>
          </a:lstStyle>
          <a:p>
            <a:r>
              <a:rPr lang="en-US"/>
              <a:t>Click to edit Master title style</a:t>
            </a:r>
            <a:endParaRPr lang="en-US" dirty="0"/>
          </a:p>
        </p:txBody>
      </p:sp>
      <p:sp>
        <p:nvSpPr>
          <p:cNvPr id="1049342" name="Picture Placeholder 10"/>
          <p:cNvSpPr>
            <a:spLocks noGrp="1"/>
          </p:cNvSpPr>
          <p:nvPr>
            <p:ph type="pic" sz="quarter" idx="18" hasCustomPrompt="1"/>
          </p:nvPr>
        </p:nvSpPr>
        <p:spPr>
          <a:xfrm>
            <a:off x="109181" y="2115403"/>
            <a:ext cx="5786651" cy="4671431"/>
          </a:xfrm>
          <a:blipFill>
            <a:blip r:embed="rId2">
              <a:alphaModFix amt="70000"/>
            </a:blip>
            <a:stretch>
              <a:fillRect/>
            </a:stretch>
          </a:blipFill>
        </p:spPr>
        <p:txBody>
          <a:bodyPr/>
          <a:lstStyle/>
          <a:p>
            <a:r>
              <a:rPr lang="en-US" dirty="0"/>
              <a:t> </a:t>
            </a:r>
          </a:p>
        </p:txBody>
      </p:sp>
      <p:sp>
        <p:nvSpPr>
          <p:cNvPr id="1049343" name="Content Placeholder 7"/>
          <p:cNvSpPr>
            <a:spLocks noGrp="1"/>
          </p:cNvSpPr>
          <p:nvPr>
            <p:ph sz="quarter" idx="14"/>
          </p:nvPr>
        </p:nvSpPr>
        <p:spPr>
          <a:xfrm>
            <a:off x="6190488" y="2115403"/>
            <a:ext cx="5353815" cy="4110888"/>
          </a:xfrm>
        </p:spPr>
        <p:txBody>
          <a:bodyPr anchor="t">
            <a:no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9344" name="Footer Placeholder 6"/>
          <p:cNvSpPr>
            <a:spLocks noGrp="1"/>
          </p:cNvSpPr>
          <p:nvPr>
            <p:ph type="ftr" sz="quarter" idx="20"/>
          </p:nvPr>
        </p:nvSpPr>
        <p:spPr>
          <a:xfrm>
            <a:off x="6177425" y="6428984"/>
            <a:ext cx="4467829" cy="365125"/>
          </a:xfrm>
        </p:spPr>
        <p:txBody>
          <a:bodyPr anchor="b"/>
          <a:lstStyle/>
          <a:p>
            <a:endParaRPr lang="en-US"/>
          </a:p>
        </p:txBody>
      </p:sp>
      <p:sp>
        <p:nvSpPr>
          <p:cNvPr id="1049345" name="Slide Number Placeholder 7"/>
          <p:cNvSpPr>
            <a:spLocks noGrp="1"/>
          </p:cNvSpPr>
          <p:nvPr>
            <p:ph type="sldNum" sz="quarter" idx="21"/>
          </p:nvPr>
        </p:nvSpPr>
        <p:spPr>
          <a:xfrm>
            <a:off x="10926847" y="6421709"/>
            <a:ext cx="617457" cy="365125"/>
          </a:xfrm>
        </p:spPr>
        <p:txBody>
          <a:bodyPr anchor="b"/>
          <a:lstStyle/>
          <a:p>
            <a:pPr marL="164465">
              <a:lnSpc>
                <a:spcPct val="100000"/>
              </a:lnSpc>
              <a:spcBef>
                <a:spcPts val="50"/>
              </a:spcBef>
            </a:pPr>
            <a:fld id="{81D60167-4931-47E6-BA6A-407CBD079E47}" type="slidenum">
              <a:rPr lang="en-US" spc="-50" smtClean="0">
                <a:solidFill>
                  <a:srgbClr val="A6A6A6"/>
                </a:solidFill>
              </a:rPr>
              <a:t>‹#›</a:t>
            </a:fld>
            <a:endParaRPr lang="en-US" spc="-50" dirty="0">
              <a:solidFill>
                <a:srgbClr val="A6A6A6"/>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1049297" name="Title 1"/>
          <p:cNvSpPr>
            <a:spLocks noGrp="1"/>
          </p:cNvSpPr>
          <p:nvPr>
            <p:ph type="title"/>
          </p:nvPr>
        </p:nvSpPr>
        <p:spPr>
          <a:xfrm>
            <a:off x="501348" y="644000"/>
            <a:ext cx="2594550" cy="1877132"/>
          </a:xfrm>
        </p:spPr>
        <p:txBody>
          <a:bodyPr anchor="t" anchorCtr="0">
            <a:noAutofit/>
          </a:bodyPr>
          <a:lstStyle>
            <a:lvl1pPr>
              <a:defRPr sz="5600"/>
            </a:lvl1pPr>
          </a:lstStyle>
          <a:p>
            <a:r>
              <a:rPr lang="en-US"/>
              <a:t>Click to edit Master title style</a:t>
            </a:r>
            <a:endParaRPr lang="en-US" dirty="0"/>
          </a:p>
        </p:txBody>
      </p:sp>
      <p:sp>
        <p:nvSpPr>
          <p:cNvPr id="1049298" name="Picture Placeholder 10"/>
          <p:cNvSpPr>
            <a:spLocks noGrp="1"/>
          </p:cNvSpPr>
          <p:nvPr>
            <p:ph type="pic" sz="quarter" idx="13" hasCustomPrompt="1"/>
          </p:nvPr>
        </p:nvSpPr>
        <p:spPr>
          <a:xfrm>
            <a:off x="606740" y="2899954"/>
            <a:ext cx="3610418" cy="3314046"/>
          </a:xfrm>
          <a:blipFill>
            <a:blip r:embed="rId2">
              <a:alphaModFix amt="70000"/>
            </a:blip>
            <a:stretch>
              <a:fillRect/>
            </a:stretch>
          </a:blipFill>
        </p:spPr>
        <p:txBody>
          <a:bodyPr/>
          <a:lstStyle>
            <a:lvl1pPr marL="0" indent="0">
              <a:buNone/>
            </a:lvl1pPr>
          </a:lstStyle>
          <a:p>
            <a:r>
              <a:rPr lang="en-US" dirty="0"/>
              <a:t> </a:t>
            </a:r>
          </a:p>
        </p:txBody>
      </p:sp>
      <p:sp>
        <p:nvSpPr>
          <p:cNvPr id="1049299" name="Content Placeholder 7"/>
          <p:cNvSpPr>
            <a:spLocks noGrp="1"/>
          </p:cNvSpPr>
          <p:nvPr>
            <p:ph sz="quarter" idx="14"/>
          </p:nvPr>
        </p:nvSpPr>
        <p:spPr>
          <a:xfrm>
            <a:off x="4402183" y="644000"/>
            <a:ext cx="7183078" cy="5570000"/>
          </a:xfrm>
        </p:spPr>
        <p:txBody>
          <a:bodyPr anchor="b"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9300" name="Footer Placeholder 6"/>
          <p:cNvSpPr>
            <a:spLocks noGrp="1"/>
          </p:cNvSpPr>
          <p:nvPr>
            <p:ph type="ftr" sz="quarter" idx="16"/>
          </p:nvPr>
        </p:nvSpPr>
        <p:spPr>
          <a:xfrm>
            <a:off x="545926" y="6438284"/>
            <a:ext cx="5276852" cy="365125"/>
          </a:xfrm>
        </p:spPr>
        <p:txBody>
          <a:bodyPr anchor="b"/>
          <a:lstStyle/>
          <a:p>
            <a:endParaRPr lang="en-US"/>
          </a:p>
        </p:txBody>
      </p:sp>
      <p:sp>
        <p:nvSpPr>
          <p:cNvPr id="1049301" name="Date Placeholder 5"/>
          <p:cNvSpPr>
            <a:spLocks noGrp="1"/>
          </p:cNvSpPr>
          <p:nvPr>
            <p:ph type="dt" sz="half" idx="15"/>
          </p:nvPr>
        </p:nvSpPr>
        <p:spPr>
          <a:xfrm>
            <a:off x="6190488" y="6432496"/>
            <a:ext cx="2544079" cy="365125"/>
          </a:xfrm>
        </p:spPr>
        <p:txBody>
          <a:bodyPr anchor="b"/>
          <a:lstStyle/>
          <a:p>
            <a:fld id="{D654C6B0-5C4A-4E50-9A1C-4C51A40C8BA7}" type="datetime1">
              <a:rPr lang="en-US" smtClean="0"/>
              <a:t>9/17/2026</a:t>
            </a:fld>
            <a:endParaRPr lang="en-US"/>
          </a:p>
        </p:txBody>
      </p:sp>
      <p:sp>
        <p:nvSpPr>
          <p:cNvPr id="1049302" name="Slide Number Placeholder 8"/>
          <p:cNvSpPr>
            <a:spLocks noGrp="1"/>
          </p:cNvSpPr>
          <p:nvPr>
            <p:ph type="sldNum" sz="quarter" idx="17"/>
          </p:nvPr>
        </p:nvSpPr>
        <p:spPr>
          <a:xfrm>
            <a:off x="11099128" y="6438284"/>
            <a:ext cx="429207" cy="365125"/>
          </a:xfrm>
        </p:spPr>
        <p:txBody>
          <a:bodyPr anchor="b"/>
          <a:lstStyle/>
          <a:p>
            <a:pPr marL="164465">
              <a:lnSpc>
                <a:spcPct val="100000"/>
              </a:lnSpc>
              <a:spcBef>
                <a:spcPts val="50"/>
              </a:spcBef>
            </a:pPr>
            <a:fld id="{81D60167-4931-47E6-BA6A-407CBD079E47}" type="slidenum">
              <a:rPr lang="en-US" spc="-50" smtClean="0">
                <a:solidFill>
                  <a:srgbClr val="A6A6A6"/>
                </a:solidFill>
              </a:rPr>
              <a:t>‹#›</a:t>
            </a:fld>
            <a:endParaRPr lang="en-US" spc="-50" dirty="0">
              <a:solidFill>
                <a:srgbClr val="A6A6A6"/>
              </a:solidFil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1049333" name="Title 1"/>
          <p:cNvSpPr>
            <a:spLocks noGrp="1"/>
          </p:cNvSpPr>
          <p:nvPr>
            <p:ph type="title"/>
          </p:nvPr>
        </p:nvSpPr>
        <p:spPr>
          <a:xfrm>
            <a:off x="0" y="5504688"/>
            <a:ext cx="5902657" cy="1353312"/>
          </a:xfrm>
        </p:spPr>
        <p:txBody>
          <a:bodyPr anchor="b">
            <a:normAutofit/>
          </a:bodyPr>
          <a:lstStyle>
            <a:lvl1pPr>
              <a:lnSpc>
                <a:spcPct val="120000"/>
              </a:lnSpc>
              <a:defRPr sz="2000" b="0" spc="0" baseline="0">
                <a:solidFill>
                  <a:schemeClr val="tx1"/>
                </a:solidFill>
                <a:latin typeface="+mn-lt"/>
              </a:defRPr>
            </a:lvl1pPr>
          </a:lstStyle>
          <a:p>
            <a:r>
              <a:rPr lang="en-US"/>
              <a:t>Click to edit Master title style</a:t>
            </a:r>
            <a:endParaRPr lang="en-US" dirty="0"/>
          </a:p>
        </p:txBody>
      </p:sp>
      <p:sp>
        <p:nvSpPr>
          <p:cNvPr id="1049334" name="Content Placeholder 6"/>
          <p:cNvSpPr>
            <a:spLocks noGrp="1"/>
          </p:cNvSpPr>
          <p:nvPr>
            <p:ph sz="quarter" idx="13" hasCustomPrompt="1"/>
          </p:nvPr>
        </p:nvSpPr>
        <p:spPr>
          <a:xfrm>
            <a:off x="-54591" y="-156950"/>
            <a:ext cx="5957248" cy="4510586"/>
          </a:xfrm>
        </p:spPr>
        <p:txBody>
          <a:bodyPr anchor="t">
            <a:normAutofit/>
          </a:bodyPr>
          <a:lstStyle>
            <a:lvl1pPr marL="0" indent="0">
              <a:lnSpc>
                <a:spcPct val="90000"/>
              </a:lnSpc>
              <a:spcBef>
                <a:spcPts val="0"/>
              </a:spcBef>
              <a:buNone/>
              <a:defRPr sz="15000" b="0" i="0">
                <a:solidFill>
                  <a:schemeClr val="tx1"/>
                </a:solidFill>
                <a:latin typeface="+mj-lt"/>
              </a:defRPr>
            </a:lvl1pPr>
          </a:lstStyle>
          <a:p>
            <a:pPr lvl="0"/>
            <a:r>
              <a:rPr lang="en-US" dirty="0"/>
              <a:t>##%</a:t>
            </a:r>
          </a:p>
        </p:txBody>
      </p:sp>
      <p:pic>
        <p:nvPicPr>
          <p:cNvPr id="2097224" name="Graphic 5"/>
          <p:cNvPicPr>
            <a:picLocks noChangeAspect="1"/>
          </p:cNvPicPr>
          <p:nvPr/>
        </p:nvPicPr>
        <p:blipFill>
          <a:blip/>
          <a:stretch>
            <a:fillRect/>
          </a:stretch>
        </p:blipFill>
        <p:spPr>
          <a:xfrm>
            <a:off x="11110101" y="5852160"/>
            <a:ext cx="1005840" cy="1005840"/>
          </a:xfrm>
          <a:prstGeom prst="rect">
            <a:avLst/>
          </a:prstGeom>
        </p:spPr>
      </p:pic>
      <p:sp>
        <p:nvSpPr>
          <p:cNvPr id="1049335" name="Slide Number Placeholder 4"/>
          <p:cNvSpPr>
            <a:spLocks noGrp="1"/>
          </p:cNvSpPr>
          <p:nvPr>
            <p:ph type="sldNum" sz="quarter" idx="12"/>
          </p:nvPr>
        </p:nvSpPr>
        <p:spPr>
          <a:xfrm>
            <a:off x="11762793" y="100701"/>
            <a:ext cx="429207" cy="365125"/>
          </a:xfrm>
        </p:spPr>
        <p:txBody>
          <a:bodyPr/>
          <a:lstStyle/>
          <a:p>
            <a:pPr marL="164465">
              <a:lnSpc>
                <a:spcPct val="100000"/>
              </a:lnSpc>
              <a:spcBef>
                <a:spcPts val="50"/>
              </a:spcBef>
            </a:pPr>
            <a:fld id="{81D60167-4931-47E6-BA6A-407CBD079E47}" type="slidenum">
              <a:rPr lang="en-US" spc="-50" smtClean="0">
                <a:solidFill>
                  <a:srgbClr val="A6A6A6"/>
                </a:solidFill>
              </a:rPr>
              <a:t>‹#›</a:t>
            </a:fld>
            <a:endParaRPr lang="en-US" spc="-50" dirty="0">
              <a:solidFill>
                <a:srgbClr val="A6A6A6"/>
              </a:solidFil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1049286" name="Title 1"/>
          <p:cNvSpPr>
            <a:spLocks noGrp="1"/>
          </p:cNvSpPr>
          <p:nvPr>
            <p:ph type="title"/>
          </p:nvPr>
        </p:nvSpPr>
        <p:spPr>
          <a:xfrm>
            <a:off x="612648" y="-1133856"/>
            <a:ext cx="10652760" cy="1005840"/>
          </a:xfrm>
        </p:spPr>
        <p:txBody>
          <a:bodyPr/>
          <a:lstStyle/>
          <a:p>
            <a:r>
              <a:rPr lang="en-US"/>
              <a:t>Click to edit Master title style</a:t>
            </a:r>
          </a:p>
        </p:txBody>
      </p:sp>
      <p:pic>
        <p:nvPicPr>
          <p:cNvPr id="2097220" name="Graphic 2"/>
          <p:cNvPicPr>
            <a:picLocks noChangeAspect="1"/>
          </p:cNvPicPr>
          <p:nvPr/>
        </p:nvPicPr>
        <p:blipFill>
          <a:blip/>
          <a:stretch>
            <a:fillRect/>
          </a:stretch>
        </p:blipFill>
        <p:spPr>
          <a:xfrm>
            <a:off x="11096453" y="5852160"/>
            <a:ext cx="1005840" cy="1005840"/>
          </a:xfrm>
          <a:prstGeom prst="rect">
            <a:avLst/>
          </a:prstGeom>
        </p:spPr>
      </p:pic>
      <p:sp>
        <p:nvSpPr>
          <p:cNvPr id="1049287" name="Footer Placeholder 11"/>
          <p:cNvSpPr>
            <a:spLocks noGrp="1"/>
          </p:cNvSpPr>
          <p:nvPr>
            <p:ph type="ftr" sz="quarter" idx="15"/>
          </p:nvPr>
        </p:nvSpPr>
        <p:spPr/>
        <p:txBody>
          <a:bodyPr/>
          <a:lstStyle/>
          <a:p>
            <a:endParaRPr lang="en-US"/>
          </a:p>
        </p:txBody>
      </p:sp>
      <p:sp>
        <p:nvSpPr>
          <p:cNvPr id="1049288" name="Date Placeholder 10"/>
          <p:cNvSpPr>
            <a:spLocks noGrp="1"/>
          </p:cNvSpPr>
          <p:nvPr>
            <p:ph type="dt" sz="half" idx="14"/>
          </p:nvPr>
        </p:nvSpPr>
        <p:spPr/>
        <p:txBody>
          <a:bodyPr/>
          <a:lstStyle/>
          <a:p>
            <a:fld id="{F998F117-46A7-45F2-8808-F63FAFD6A450}" type="datetime1">
              <a:rPr lang="en-US" smtClean="0"/>
              <a:t>9/17/2026</a:t>
            </a:fld>
            <a:endParaRPr lang="en-US"/>
          </a:p>
        </p:txBody>
      </p:sp>
      <p:sp>
        <p:nvSpPr>
          <p:cNvPr id="1049289" name="Slide Number Placeholder 12"/>
          <p:cNvSpPr>
            <a:spLocks noGrp="1"/>
          </p:cNvSpPr>
          <p:nvPr>
            <p:ph type="sldNum" sz="quarter" idx="16"/>
          </p:nvPr>
        </p:nvSpPr>
        <p:spPr/>
        <p:txBody>
          <a:bodyPr/>
          <a:lstStyle/>
          <a:p>
            <a:pPr marL="164465">
              <a:lnSpc>
                <a:spcPct val="100000"/>
              </a:lnSpc>
              <a:spcBef>
                <a:spcPts val="50"/>
              </a:spcBef>
            </a:pPr>
            <a:fld id="{81D60167-4931-47E6-BA6A-407CBD079E47}" type="slidenum">
              <a:rPr lang="en-US" spc="-50" smtClean="0">
                <a:solidFill>
                  <a:srgbClr val="A6A6A6"/>
                </a:solidFill>
              </a:rPr>
              <a:t>‹#›</a:t>
            </a:fld>
            <a:endParaRPr lang="en-US" spc="-50" dirty="0">
              <a:solidFill>
                <a:srgbClr val="A6A6A6"/>
              </a:solidFill>
            </a:endParaRPr>
          </a:p>
        </p:txBody>
      </p:sp>
      <p:sp>
        <p:nvSpPr>
          <p:cNvPr id="1049290" name="Content Placeholder 6"/>
          <p:cNvSpPr>
            <a:spLocks noGrp="1"/>
          </p:cNvSpPr>
          <p:nvPr>
            <p:ph sz="quarter" idx="13" hasCustomPrompt="1"/>
          </p:nvPr>
        </p:nvSpPr>
        <p:spPr>
          <a:xfrm>
            <a:off x="-17470" y="1016759"/>
            <a:ext cx="10082693" cy="5841242"/>
          </a:xfrm>
        </p:spPr>
        <p:txBody>
          <a:bodyPr anchor="b" anchorCtr="0">
            <a:noAutofit/>
          </a:bodyPr>
          <a:lstStyle>
            <a:lvl1pPr marL="0" indent="0">
              <a:lnSpc>
                <a:spcPct val="80000"/>
              </a:lnSpc>
              <a:buNone/>
              <a:defRPr sz="5600" b="0" spc="-200" baseline="0"/>
            </a:lvl1pPr>
            <a:lvl2pPr marL="228600" indent="0">
              <a:lnSpc>
                <a:spcPct val="80000"/>
              </a:lnSpc>
              <a:buNone/>
              <a:defRPr sz="5600" b="0" spc="-200" baseline="0"/>
            </a:lvl2pPr>
            <a:lvl3pPr marL="457200" indent="0">
              <a:lnSpc>
                <a:spcPct val="80000"/>
              </a:lnSpc>
              <a:buNone/>
              <a:defRPr sz="5600" b="0" spc="-200" baseline="0"/>
            </a:lvl3pPr>
            <a:lvl4pPr marL="685800" indent="0">
              <a:lnSpc>
                <a:spcPct val="80000"/>
              </a:lnSpc>
              <a:buNone/>
              <a:defRPr sz="5600" b="0" spc="-200" baseline="0"/>
            </a:lvl4pPr>
            <a:lvl5pPr marL="914400" indent="0">
              <a:lnSpc>
                <a:spcPct val="80000"/>
              </a:lnSpc>
              <a:buNone/>
              <a:defRPr sz="5600" b="0" spc="-200" baseline="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pic>
        <p:nvPicPr>
          <p:cNvPr id="2097222" name="Graphic 2"/>
          <p:cNvPicPr>
            <a:picLocks noChangeAspect="1"/>
          </p:cNvPicPr>
          <p:nvPr/>
        </p:nvPicPr>
        <p:blipFill>
          <a:blip/>
          <a:stretch>
            <a:fillRect/>
          </a:stretch>
        </p:blipFill>
        <p:spPr>
          <a:xfrm>
            <a:off x="11083347" y="5852160"/>
            <a:ext cx="1005840" cy="1005840"/>
          </a:xfrm>
          <a:prstGeom prst="rect">
            <a:avLst/>
          </a:prstGeom>
        </p:spPr>
      </p:pic>
      <p:sp>
        <p:nvSpPr>
          <p:cNvPr id="1049317" name="Title 1"/>
          <p:cNvSpPr>
            <a:spLocks noGrp="1"/>
          </p:cNvSpPr>
          <p:nvPr>
            <p:ph type="title" hasCustomPrompt="1"/>
          </p:nvPr>
        </p:nvSpPr>
        <p:spPr>
          <a:xfrm>
            <a:off x="-1" y="5899926"/>
            <a:ext cx="5902657" cy="958073"/>
          </a:xfrm>
        </p:spPr>
        <p:txBody>
          <a:bodyPr anchor="b">
            <a:normAutofit/>
          </a:bodyPr>
          <a:lstStyle>
            <a:lvl1pPr>
              <a:lnSpc>
                <a:spcPct val="80000"/>
              </a:lnSpc>
              <a:defRPr sz="2000" spc="0" baseline="0">
                <a:solidFill>
                  <a:schemeClr val="tx1"/>
                </a:solidFill>
                <a:latin typeface="+mn-lt"/>
              </a:defRPr>
            </a:lvl1pPr>
          </a:lstStyle>
          <a:p>
            <a:r>
              <a:rPr lang="en-US" dirty="0"/>
              <a:t>Quote Author</a:t>
            </a:r>
          </a:p>
        </p:txBody>
      </p:sp>
      <p:sp>
        <p:nvSpPr>
          <p:cNvPr id="1049318" name="Content Placeholder 6"/>
          <p:cNvSpPr>
            <a:spLocks noGrp="1"/>
          </p:cNvSpPr>
          <p:nvPr>
            <p:ph sz="quarter" idx="13" hasCustomPrompt="1"/>
          </p:nvPr>
        </p:nvSpPr>
        <p:spPr>
          <a:xfrm>
            <a:off x="-18288" y="95534"/>
            <a:ext cx="8961120" cy="4476466"/>
          </a:xfrm>
        </p:spPr>
        <p:txBody>
          <a:bodyPr anchor="t">
            <a:normAutofit/>
          </a:bodyPr>
          <a:lstStyle>
            <a:lvl1pPr marL="164592" indent="-164592">
              <a:lnSpc>
                <a:spcPct val="80000"/>
              </a:lnSpc>
              <a:spcBef>
                <a:spcPts val="0"/>
              </a:spcBef>
              <a:buNone/>
              <a:defRPr sz="5600" spc="-200" baseline="0">
                <a:solidFill>
                  <a:schemeClr val="tx1"/>
                </a:solidFill>
                <a:latin typeface="+mj-lt"/>
              </a:defRPr>
            </a:lvl1pPr>
          </a:lstStyle>
          <a:p>
            <a:pPr lvl="0"/>
            <a:r>
              <a:rPr lang="en-US" dirty="0"/>
              <a:t>Click to add Quote</a:t>
            </a:r>
          </a:p>
        </p:txBody>
      </p:sp>
      <p:sp>
        <p:nvSpPr>
          <p:cNvPr id="1049319" name="Slide Number Placeholder 9"/>
          <p:cNvSpPr>
            <a:spLocks noGrp="1"/>
          </p:cNvSpPr>
          <p:nvPr>
            <p:ph type="sldNum" sz="quarter" idx="16"/>
          </p:nvPr>
        </p:nvSpPr>
        <p:spPr>
          <a:xfrm>
            <a:off x="11762793" y="110364"/>
            <a:ext cx="429207" cy="365125"/>
          </a:xfrm>
        </p:spPr>
        <p:txBody>
          <a:bodyPr/>
          <a:lstStyle/>
          <a:p>
            <a:pPr marL="164465">
              <a:lnSpc>
                <a:spcPct val="100000"/>
              </a:lnSpc>
              <a:spcBef>
                <a:spcPts val="50"/>
              </a:spcBef>
            </a:pPr>
            <a:fld id="{81D60167-4931-47E6-BA6A-407CBD079E47}" type="slidenum">
              <a:rPr lang="en-US" spc="-50" smtClean="0">
                <a:solidFill>
                  <a:srgbClr val="A6A6A6"/>
                </a:solidFill>
              </a:rPr>
              <a:t>‹#›</a:t>
            </a:fld>
            <a:endParaRPr lang="en-US" spc="-50" dirty="0">
              <a:solidFill>
                <a:srgbClr val="A6A6A6"/>
              </a:solidFill>
            </a:endParaRPr>
          </a:p>
        </p:txBody>
      </p:sp>
      <p:sp>
        <p:nvSpPr>
          <p:cNvPr id="1049320" name="Footer Placeholder 3"/>
          <p:cNvSpPr>
            <a:spLocks noGrp="1"/>
          </p:cNvSpPr>
          <p:nvPr>
            <p:ph type="ftr" sz="quarter" idx="17"/>
          </p:nvPr>
        </p:nvSpPr>
        <p:spPr>
          <a:xfrm>
            <a:off x="6193030" y="6392564"/>
            <a:ext cx="3104866" cy="365125"/>
          </a:xfrm>
        </p:spPr>
        <p:txBody>
          <a:bodyPr anchor="b"/>
          <a:lstStyle/>
          <a:p>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1_Two Content">
    <p:spTree>
      <p:nvGrpSpPr>
        <p:cNvPr id="1" name=""/>
        <p:cNvGrpSpPr/>
        <p:nvPr/>
      </p:nvGrpSpPr>
      <p:grpSpPr>
        <a:xfrm>
          <a:off x="0" y="0"/>
          <a:ext cx="0" cy="0"/>
          <a:chOff x="0" y="0"/>
          <a:chExt cx="0" cy="0"/>
        </a:xfrm>
      </p:grpSpPr>
      <p:sp>
        <p:nvSpPr>
          <p:cNvPr id="1049321" name="Title 1"/>
          <p:cNvSpPr>
            <a:spLocks noGrp="1"/>
          </p:cNvSpPr>
          <p:nvPr>
            <p:ph type="title"/>
          </p:nvPr>
        </p:nvSpPr>
        <p:spPr>
          <a:xfrm>
            <a:off x="512064" y="987552"/>
            <a:ext cx="3465576" cy="2944368"/>
          </a:xfrm>
        </p:spPr>
        <p:txBody>
          <a:bodyPr/>
          <a:lstStyle/>
          <a:p>
            <a:r>
              <a:rPr lang="en-US"/>
              <a:t>Click to edit Master title style</a:t>
            </a:r>
            <a:endParaRPr lang="en-US" dirty="0"/>
          </a:p>
        </p:txBody>
      </p:sp>
      <p:sp>
        <p:nvSpPr>
          <p:cNvPr id="1049322" name="Footer Placeholder 3"/>
          <p:cNvSpPr>
            <a:spLocks noGrp="1"/>
          </p:cNvSpPr>
          <p:nvPr>
            <p:ph type="ftr" sz="quarter" idx="11"/>
          </p:nvPr>
        </p:nvSpPr>
        <p:spPr>
          <a:xfrm>
            <a:off x="530353" y="110364"/>
            <a:ext cx="3474720" cy="365125"/>
          </a:xfrm>
        </p:spPr>
        <p:txBody>
          <a:bodyPr/>
          <a:lstStyle/>
          <a:p>
            <a:endParaRPr lang="en-US"/>
          </a:p>
        </p:txBody>
      </p:sp>
      <p:sp>
        <p:nvSpPr>
          <p:cNvPr id="1049323" name="Date Placeholder 2"/>
          <p:cNvSpPr>
            <a:spLocks noGrp="1"/>
          </p:cNvSpPr>
          <p:nvPr>
            <p:ph type="dt" sz="half" idx="10"/>
          </p:nvPr>
        </p:nvSpPr>
        <p:spPr>
          <a:xfrm>
            <a:off x="4315968" y="104576"/>
            <a:ext cx="4836883" cy="365125"/>
          </a:xfrm>
        </p:spPr>
        <p:txBody>
          <a:bodyPr/>
          <a:lstStyle/>
          <a:p>
            <a:fld id="{9EFC0EB1-43B7-41D8-930B-6C9DFC34C3FD}" type="datetime1">
              <a:rPr lang="en-US" smtClean="0"/>
              <a:t>9/17/2026</a:t>
            </a:fld>
            <a:endParaRPr lang="en-US"/>
          </a:p>
        </p:txBody>
      </p:sp>
      <p:sp>
        <p:nvSpPr>
          <p:cNvPr id="1049324" name="Slide Number Placeholder 4"/>
          <p:cNvSpPr>
            <a:spLocks noGrp="1"/>
          </p:cNvSpPr>
          <p:nvPr>
            <p:ph type="sldNum" sz="quarter" idx="12"/>
          </p:nvPr>
        </p:nvSpPr>
        <p:spPr/>
        <p:txBody>
          <a:bodyPr/>
          <a:lstStyle/>
          <a:p>
            <a:pPr marL="164465">
              <a:lnSpc>
                <a:spcPct val="100000"/>
              </a:lnSpc>
              <a:spcBef>
                <a:spcPts val="50"/>
              </a:spcBef>
            </a:pPr>
            <a:fld id="{81D60167-4931-47E6-BA6A-407CBD079E47}" type="slidenum">
              <a:rPr lang="en-US" spc="-50" smtClean="0">
                <a:solidFill>
                  <a:srgbClr val="A6A6A6"/>
                </a:solidFill>
              </a:rPr>
              <a:t>‹#›</a:t>
            </a:fld>
            <a:endParaRPr lang="en-US" spc="-50" dirty="0">
              <a:solidFill>
                <a:srgbClr val="A6A6A6"/>
              </a:solidFill>
            </a:endParaRPr>
          </a:p>
        </p:txBody>
      </p:sp>
      <p:sp>
        <p:nvSpPr>
          <p:cNvPr id="1049325" name="Content Placeholder 3"/>
          <p:cNvSpPr>
            <a:spLocks noGrp="1"/>
          </p:cNvSpPr>
          <p:nvPr>
            <p:ph sz="quarter" idx="17"/>
          </p:nvPr>
        </p:nvSpPr>
        <p:spPr>
          <a:xfrm>
            <a:off x="4315966" y="987552"/>
            <a:ext cx="7446825" cy="25603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9326" name="Content Placeholder 9"/>
          <p:cNvSpPr>
            <a:spLocks noGrp="1"/>
          </p:cNvSpPr>
          <p:nvPr>
            <p:ph sz="quarter" idx="18"/>
          </p:nvPr>
        </p:nvSpPr>
        <p:spPr>
          <a:xfrm>
            <a:off x="4315967" y="3931920"/>
            <a:ext cx="7446824" cy="25603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1_Comparison">
    <p:spTree>
      <p:nvGrpSpPr>
        <p:cNvPr id="1" name=""/>
        <p:cNvGrpSpPr/>
        <p:nvPr/>
      </p:nvGrpSpPr>
      <p:grpSpPr>
        <a:xfrm>
          <a:off x="0" y="0"/>
          <a:ext cx="0" cy="0"/>
          <a:chOff x="0" y="0"/>
          <a:chExt cx="0" cy="0"/>
        </a:xfrm>
      </p:grpSpPr>
      <p:sp>
        <p:nvSpPr>
          <p:cNvPr id="1049346" name="Title 1"/>
          <p:cNvSpPr>
            <a:spLocks noGrp="1"/>
          </p:cNvSpPr>
          <p:nvPr>
            <p:ph type="title"/>
          </p:nvPr>
        </p:nvSpPr>
        <p:spPr>
          <a:xfrm>
            <a:off x="512064" y="630936"/>
            <a:ext cx="11018520" cy="1088358"/>
          </a:xfrm>
        </p:spPr>
        <p:txBody>
          <a:bodyPr/>
          <a:lstStyle/>
          <a:p>
            <a:r>
              <a:rPr lang="en-US"/>
              <a:t>Click to edit Master title style</a:t>
            </a:r>
            <a:endParaRPr lang="en-US" dirty="0"/>
          </a:p>
        </p:txBody>
      </p:sp>
      <p:sp>
        <p:nvSpPr>
          <p:cNvPr id="1049347" name="Footer Placeholder 3"/>
          <p:cNvSpPr>
            <a:spLocks noGrp="1"/>
          </p:cNvSpPr>
          <p:nvPr>
            <p:ph type="ftr" sz="quarter" idx="11"/>
          </p:nvPr>
        </p:nvSpPr>
        <p:spPr>
          <a:xfrm>
            <a:off x="530352" y="110364"/>
            <a:ext cx="5276852" cy="365125"/>
          </a:xfrm>
        </p:spPr>
        <p:txBody>
          <a:bodyPr/>
          <a:lstStyle/>
          <a:p>
            <a:endParaRPr lang="en-US"/>
          </a:p>
        </p:txBody>
      </p:sp>
      <p:sp>
        <p:nvSpPr>
          <p:cNvPr id="1049348" name="Date Placeholder 2"/>
          <p:cNvSpPr>
            <a:spLocks noGrp="1"/>
          </p:cNvSpPr>
          <p:nvPr>
            <p:ph type="dt" sz="half" idx="10"/>
          </p:nvPr>
        </p:nvSpPr>
        <p:spPr>
          <a:xfrm>
            <a:off x="6190488" y="104576"/>
            <a:ext cx="4836883" cy="365125"/>
          </a:xfrm>
        </p:spPr>
        <p:txBody>
          <a:bodyPr/>
          <a:lstStyle/>
          <a:p>
            <a:fld id="{1683EF19-9E30-4C6D-A1F5-160E4B41B0C2}" type="datetime1">
              <a:rPr lang="en-US" smtClean="0"/>
              <a:t>9/17/2026</a:t>
            </a:fld>
            <a:endParaRPr lang="en-US"/>
          </a:p>
        </p:txBody>
      </p:sp>
      <p:sp>
        <p:nvSpPr>
          <p:cNvPr id="1049349" name="Slide Number Placeholder 4"/>
          <p:cNvSpPr>
            <a:spLocks noGrp="1"/>
          </p:cNvSpPr>
          <p:nvPr>
            <p:ph type="sldNum" sz="quarter" idx="12"/>
          </p:nvPr>
        </p:nvSpPr>
        <p:spPr/>
        <p:txBody>
          <a:bodyPr/>
          <a:lstStyle/>
          <a:p>
            <a:pPr marL="164465">
              <a:lnSpc>
                <a:spcPct val="100000"/>
              </a:lnSpc>
              <a:spcBef>
                <a:spcPts val="50"/>
              </a:spcBef>
            </a:pPr>
            <a:fld id="{81D60167-4931-47E6-BA6A-407CBD079E47}" type="slidenum">
              <a:rPr lang="en-US" spc="-50" smtClean="0">
                <a:solidFill>
                  <a:srgbClr val="A6A6A6"/>
                </a:solidFill>
              </a:rPr>
              <a:t>‹#›</a:t>
            </a:fld>
            <a:endParaRPr lang="en-US" spc="-50" dirty="0">
              <a:solidFill>
                <a:srgbClr val="A6A6A6"/>
              </a:solidFill>
            </a:endParaRPr>
          </a:p>
        </p:txBody>
      </p:sp>
      <p:sp>
        <p:nvSpPr>
          <p:cNvPr id="1049350" name="Text Placeholder 2"/>
          <p:cNvSpPr>
            <a:spLocks noGrp="1"/>
          </p:cNvSpPr>
          <p:nvPr>
            <p:ph type="body" idx="1"/>
          </p:nvPr>
        </p:nvSpPr>
        <p:spPr>
          <a:xfrm>
            <a:off x="530352" y="2286000"/>
            <a:ext cx="5184648" cy="534033"/>
          </a:xfrm>
        </p:spPr>
        <p:txBody>
          <a:bodyPr/>
          <a:lstStyle/>
          <a:p>
            <a:pPr lvl="0"/>
            <a:r>
              <a:rPr lang="en-US"/>
              <a:t>Click to edit Master text styles</a:t>
            </a:r>
          </a:p>
        </p:txBody>
      </p:sp>
      <p:sp>
        <p:nvSpPr>
          <p:cNvPr id="1049351" name="Content Placeholder 5"/>
          <p:cNvSpPr>
            <a:spLocks noGrp="1"/>
          </p:cNvSpPr>
          <p:nvPr>
            <p:ph sz="quarter" idx="17"/>
          </p:nvPr>
        </p:nvSpPr>
        <p:spPr>
          <a:xfrm>
            <a:off x="530351" y="2980943"/>
            <a:ext cx="5183188" cy="35861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9352" name="Text Placeholder 4"/>
          <p:cNvSpPr>
            <a:spLocks noGrp="1"/>
          </p:cNvSpPr>
          <p:nvPr>
            <p:ph type="body" sz="quarter" idx="3"/>
          </p:nvPr>
        </p:nvSpPr>
        <p:spPr>
          <a:xfrm>
            <a:off x="6190488" y="2286000"/>
            <a:ext cx="5183188" cy="534033"/>
          </a:xfrm>
        </p:spPr>
        <p:txBody>
          <a:bodyPr/>
          <a:lstStyle/>
          <a:p>
            <a:pPr lvl="0"/>
            <a:r>
              <a:rPr lang="en-US"/>
              <a:t>Click to edit Master text styles</a:t>
            </a:r>
          </a:p>
        </p:txBody>
      </p:sp>
      <p:sp>
        <p:nvSpPr>
          <p:cNvPr id="1049353" name="Content Placeholder 11"/>
          <p:cNvSpPr>
            <a:spLocks noGrp="1"/>
          </p:cNvSpPr>
          <p:nvPr>
            <p:ph sz="quarter" idx="18"/>
          </p:nvPr>
        </p:nvSpPr>
        <p:spPr>
          <a:xfrm>
            <a:off x="6190488" y="2980944"/>
            <a:ext cx="5183188" cy="358611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1049249" name="Title 9"/>
          <p:cNvSpPr>
            <a:spLocks noGrp="1"/>
          </p:cNvSpPr>
          <p:nvPr>
            <p:ph type="title"/>
          </p:nvPr>
        </p:nvSpPr>
        <p:spPr>
          <a:xfrm>
            <a:off x="502920" y="644663"/>
            <a:ext cx="11045952" cy="1088358"/>
          </a:xfrm>
        </p:spPr>
        <p:txBody>
          <a:bodyPr/>
          <a:lstStyle/>
          <a:p>
            <a:r>
              <a:rPr lang="en-US"/>
              <a:t>Click to edit Master title style</a:t>
            </a:r>
            <a:endParaRPr lang="en-US" dirty="0"/>
          </a:p>
        </p:txBody>
      </p:sp>
      <p:sp>
        <p:nvSpPr>
          <p:cNvPr id="1049250" name="Footer Placeholder 3"/>
          <p:cNvSpPr>
            <a:spLocks noGrp="1"/>
          </p:cNvSpPr>
          <p:nvPr>
            <p:ph type="ftr" sz="quarter" idx="11"/>
          </p:nvPr>
        </p:nvSpPr>
        <p:spPr>
          <a:xfrm>
            <a:off x="530352" y="109728"/>
            <a:ext cx="5276852" cy="365125"/>
          </a:xfrm>
        </p:spPr>
        <p:txBody>
          <a:bodyPr/>
          <a:lstStyle/>
          <a:p>
            <a:endParaRPr lang="en-US"/>
          </a:p>
        </p:txBody>
      </p:sp>
      <p:sp>
        <p:nvSpPr>
          <p:cNvPr id="1049251" name="Date Placeholder 2"/>
          <p:cNvSpPr>
            <a:spLocks noGrp="1"/>
          </p:cNvSpPr>
          <p:nvPr>
            <p:ph type="dt" sz="half" idx="10"/>
          </p:nvPr>
        </p:nvSpPr>
        <p:spPr/>
        <p:txBody>
          <a:bodyPr/>
          <a:lstStyle/>
          <a:p>
            <a:fld id="{B9C6894B-1C33-4C26-9D08-7E96B78A5219}" type="datetime1">
              <a:rPr lang="en-US" smtClean="0"/>
              <a:t>9/17/2026</a:t>
            </a:fld>
            <a:endParaRPr lang="en-US"/>
          </a:p>
        </p:txBody>
      </p:sp>
      <p:sp>
        <p:nvSpPr>
          <p:cNvPr id="1049252" name="Slide Number Placeholder 4"/>
          <p:cNvSpPr>
            <a:spLocks noGrp="1"/>
          </p:cNvSpPr>
          <p:nvPr>
            <p:ph type="sldNum" sz="quarter" idx="12"/>
          </p:nvPr>
        </p:nvSpPr>
        <p:spPr>
          <a:xfrm>
            <a:off x="11231928" y="110364"/>
            <a:ext cx="429207" cy="365125"/>
          </a:xfrm>
        </p:spPr>
        <p:txBody>
          <a:bodyPr/>
          <a:lstStyle/>
          <a:p>
            <a:pPr marL="164465">
              <a:lnSpc>
                <a:spcPct val="100000"/>
              </a:lnSpc>
              <a:spcBef>
                <a:spcPts val="50"/>
              </a:spcBef>
            </a:pPr>
            <a:fld id="{81D60167-4931-47E6-BA6A-407CBD079E47}" type="slidenum">
              <a:rPr lang="en-US" spc="-50" smtClean="0">
                <a:solidFill>
                  <a:srgbClr val="A6A6A6"/>
                </a:solidFill>
              </a:rPr>
              <a:t>‹#›</a:t>
            </a:fld>
            <a:endParaRPr lang="en-US" spc="-50" dirty="0">
              <a:solidFill>
                <a:srgbClr val="A6A6A6"/>
              </a:solidFil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1049272" name="Footer Placeholder 4"/>
          <p:cNvSpPr>
            <a:spLocks noGrp="1"/>
          </p:cNvSpPr>
          <p:nvPr>
            <p:ph type="ftr" sz="quarter" idx="11"/>
          </p:nvPr>
        </p:nvSpPr>
        <p:spPr>
          <a:xfrm>
            <a:off x="0" y="100701"/>
            <a:ext cx="5898630" cy="365125"/>
          </a:xfrm>
        </p:spPr>
        <p:txBody>
          <a:bodyPr/>
          <a:lstStyle/>
          <a:p>
            <a:endParaRPr lang="en-US"/>
          </a:p>
        </p:txBody>
      </p:sp>
      <p:sp>
        <p:nvSpPr>
          <p:cNvPr id="1049273" name="Date Placeholder 3"/>
          <p:cNvSpPr>
            <a:spLocks noGrp="1"/>
          </p:cNvSpPr>
          <p:nvPr>
            <p:ph type="dt" sz="half" idx="10"/>
          </p:nvPr>
        </p:nvSpPr>
        <p:spPr>
          <a:xfrm>
            <a:off x="6217920" y="100701"/>
            <a:ext cx="5332001" cy="365125"/>
          </a:xfrm>
        </p:spPr>
        <p:txBody>
          <a:bodyPr/>
          <a:lstStyle/>
          <a:p>
            <a:fld id="{CA8A9128-D887-46D4-BE42-6E3F8DCA12FC}" type="datetime1">
              <a:rPr lang="en-US" smtClean="0"/>
              <a:t>9/17/2026</a:t>
            </a:fld>
            <a:endParaRPr lang="en-US"/>
          </a:p>
        </p:txBody>
      </p:sp>
      <p:sp>
        <p:nvSpPr>
          <p:cNvPr id="1049274" name="Slide Number Placeholder 5"/>
          <p:cNvSpPr>
            <a:spLocks noGrp="1"/>
          </p:cNvSpPr>
          <p:nvPr>
            <p:ph type="sldNum" sz="quarter" idx="12"/>
          </p:nvPr>
        </p:nvSpPr>
        <p:spPr>
          <a:xfrm>
            <a:off x="11762793" y="100701"/>
            <a:ext cx="429207" cy="365125"/>
          </a:xfrm>
        </p:spPr>
        <p:txBody>
          <a:bodyPr/>
          <a:lstStyle/>
          <a:p>
            <a:pPr marL="164465">
              <a:lnSpc>
                <a:spcPct val="100000"/>
              </a:lnSpc>
              <a:spcBef>
                <a:spcPts val="50"/>
              </a:spcBef>
            </a:pPr>
            <a:fld id="{81D60167-4931-47E6-BA6A-407CBD079E47}" type="slidenum">
              <a:rPr lang="en-US" spc="-50" smtClean="0">
                <a:solidFill>
                  <a:srgbClr val="A6A6A6"/>
                </a:solidFill>
              </a:rPr>
              <a:t>‹#›</a:t>
            </a:fld>
            <a:endParaRPr lang="en-US" spc="-50" dirty="0">
              <a:solidFill>
                <a:srgbClr val="A6A6A6"/>
              </a:solidFil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1049327" name="Title 1"/>
          <p:cNvSpPr>
            <a:spLocks noGrp="1"/>
          </p:cNvSpPr>
          <p:nvPr>
            <p:ph type="title"/>
          </p:nvPr>
        </p:nvSpPr>
        <p:spPr>
          <a:xfrm>
            <a:off x="545926" y="655093"/>
            <a:ext cx="10982409" cy="1528549"/>
          </a:xfrm>
        </p:spPr>
        <p:txBody>
          <a:bodyPr anchor="t">
            <a:noAutofit/>
          </a:bodyPr>
          <a:lstStyle>
            <a:lvl1pPr>
              <a:defRPr sz="5600"/>
            </a:lvl1pPr>
          </a:lstStyle>
          <a:p>
            <a:r>
              <a:rPr lang="en-US"/>
              <a:t>Click to edit Master title style</a:t>
            </a:r>
            <a:endParaRPr lang="en-US" dirty="0"/>
          </a:p>
        </p:txBody>
      </p:sp>
      <p:sp>
        <p:nvSpPr>
          <p:cNvPr id="1049328" name="Content Placeholder 7"/>
          <p:cNvSpPr>
            <a:spLocks noGrp="1"/>
          </p:cNvSpPr>
          <p:nvPr>
            <p:ph sz="quarter" idx="13"/>
          </p:nvPr>
        </p:nvSpPr>
        <p:spPr>
          <a:xfrm>
            <a:off x="545926" y="2497540"/>
            <a:ext cx="10982409" cy="3384645"/>
          </a:xfrm>
        </p:spPr>
        <p:txBody>
          <a:bodyPr/>
          <a:lstStyle>
            <a:lvl1pPr marL="0" indent="0">
              <a:buNone/>
            </a:lvl1pPr>
            <a:lvl2pPr marL="228600" indent="0">
              <a:buNone/>
            </a:lvl2pPr>
            <a:lvl3pPr marL="457200" indent="0">
              <a:buNone/>
            </a:lvl3pPr>
            <a:lvl4pPr marL="685800" indent="0">
              <a:buNone/>
            </a:lvl4pPr>
            <a:lvl5pPr marL="914400" indent="0">
              <a:buNone/>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9329" name="Footer Placeholder 5"/>
          <p:cNvSpPr>
            <a:spLocks noGrp="1"/>
          </p:cNvSpPr>
          <p:nvPr>
            <p:ph type="ftr" sz="quarter" idx="16"/>
          </p:nvPr>
        </p:nvSpPr>
        <p:spPr>
          <a:xfrm>
            <a:off x="545926" y="6438284"/>
            <a:ext cx="5276852" cy="365125"/>
          </a:xfrm>
        </p:spPr>
        <p:txBody>
          <a:bodyPr/>
          <a:lstStyle/>
          <a:p>
            <a:endParaRPr lang="en-US"/>
          </a:p>
        </p:txBody>
      </p:sp>
      <p:sp>
        <p:nvSpPr>
          <p:cNvPr id="1049330" name="Date Placeholder 4"/>
          <p:cNvSpPr>
            <a:spLocks noGrp="1"/>
          </p:cNvSpPr>
          <p:nvPr>
            <p:ph type="dt" sz="half" idx="15"/>
          </p:nvPr>
        </p:nvSpPr>
        <p:spPr>
          <a:xfrm>
            <a:off x="6190488" y="6432496"/>
            <a:ext cx="2544079" cy="365125"/>
          </a:xfrm>
        </p:spPr>
        <p:txBody>
          <a:bodyPr/>
          <a:lstStyle/>
          <a:p>
            <a:fld id="{FF75516E-E2BA-4750-BF23-641A7172F06F}" type="datetime1">
              <a:rPr lang="en-US" smtClean="0"/>
              <a:t>9/17/2026</a:t>
            </a:fld>
            <a:endParaRPr lang="en-US"/>
          </a:p>
        </p:txBody>
      </p:sp>
      <p:sp>
        <p:nvSpPr>
          <p:cNvPr id="1049331" name="Slide Number Placeholder 6"/>
          <p:cNvSpPr>
            <a:spLocks noGrp="1"/>
          </p:cNvSpPr>
          <p:nvPr>
            <p:ph type="sldNum" sz="quarter" idx="17"/>
          </p:nvPr>
        </p:nvSpPr>
        <p:spPr>
          <a:xfrm>
            <a:off x="11099128" y="6438284"/>
            <a:ext cx="429207" cy="365125"/>
          </a:xfrm>
        </p:spPr>
        <p:txBody>
          <a:bodyPr/>
          <a:lstStyle/>
          <a:p>
            <a:pPr marL="164465">
              <a:lnSpc>
                <a:spcPct val="100000"/>
              </a:lnSpc>
              <a:spcBef>
                <a:spcPts val="50"/>
              </a:spcBef>
            </a:pPr>
            <a:fld id="{81D60167-4931-47E6-BA6A-407CBD079E47}" type="slidenum">
              <a:rPr lang="en-US" spc="-50" smtClean="0">
                <a:solidFill>
                  <a:srgbClr val="A6A6A6"/>
                </a:solidFill>
              </a:rPr>
              <a:t>‹#›</a:t>
            </a:fld>
            <a:endParaRPr lang="en-US" spc="-50" dirty="0">
              <a:solidFill>
                <a:srgbClr val="A6A6A6"/>
              </a:solidFill>
            </a:endParaRPr>
          </a:p>
        </p:txBody>
      </p:sp>
    </p:spTree>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1049354" name="Title 1"/>
          <p:cNvSpPr>
            <a:spLocks noGrp="1"/>
          </p:cNvSpPr>
          <p:nvPr>
            <p:ph type="title"/>
          </p:nvPr>
        </p:nvSpPr>
        <p:spPr>
          <a:xfrm>
            <a:off x="518615" y="2883090"/>
            <a:ext cx="7741851" cy="1842020"/>
          </a:xfrm>
        </p:spPr>
        <p:txBody>
          <a:bodyPr anchor="b">
            <a:noAutofit/>
          </a:bodyPr>
          <a:lstStyle>
            <a:lvl1pPr>
              <a:defRPr sz="5600"/>
            </a:lvl1pPr>
          </a:lstStyle>
          <a:p>
            <a:r>
              <a:rPr lang="en-US"/>
              <a:t>Click to edit Master title style</a:t>
            </a:r>
            <a:endParaRPr lang="en-US" dirty="0"/>
          </a:p>
        </p:txBody>
      </p:sp>
      <p:sp>
        <p:nvSpPr>
          <p:cNvPr id="1049355" name="Footer Placeholder 4"/>
          <p:cNvSpPr>
            <a:spLocks noGrp="1"/>
          </p:cNvSpPr>
          <p:nvPr>
            <p:ph type="ftr" sz="quarter" idx="11"/>
          </p:nvPr>
        </p:nvSpPr>
        <p:spPr>
          <a:xfrm>
            <a:off x="536906" y="100701"/>
            <a:ext cx="5361724" cy="365125"/>
          </a:xfrm>
        </p:spPr>
        <p:txBody>
          <a:bodyPr/>
          <a:lstStyle/>
          <a:p>
            <a:endParaRPr lang="en-US"/>
          </a:p>
        </p:txBody>
      </p:sp>
      <p:sp>
        <p:nvSpPr>
          <p:cNvPr id="1049356" name="Date Placeholder 3"/>
          <p:cNvSpPr>
            <a:spLocks noGrp="1"/>
          </p:cNvSpPr>
          <p:nvPr>
            <p:ph type="dt" sz="half" idx="10"/>
          </p:nvPr>
        </p:nvSpPr>
        <p:spPr>
          <a:xfrm>
            <a:off x="6217921" y="100701"/>
            <a:ext cx="2526030" cy="365125"/>
          </a:xfrm>
        </p:spPr>
        <p:txBody>
          <a:bodyPr/>
          <a:lstStyle/>
          <a:p>
            <a:fld id="{1D5A4476-49D1-4751-A14E-4F9AFA9C41EF}" type="datetime1">
              <a:rPr lang="en-US" smtClean="0"/>
              <a:t>9/17/2026</a:t>
            </a:fld>
            <a:endParaRPr lang="en-US"/>
          </a:p>
        </p:txBody>
      </p:sp>
      <p:sp>
        <p:nvSpPr>
          <p:cNvPr id="1049357" name="Content Placeholder 6"/>
          <p:cNvSpPr>
            <a:spLocks noGrp="1"/>
          </p:cNvSpPr>
          <p:nvPr>
            <p:ph sz="quarter" idx="14"/>
          </p:nvPr>
        </p:nvSpPr>
        <p:spPr>
          <a:xfrm>
            <a:off x="536905" y="4922111"/>
            <a:ext cx="7741850" cy="1279615"/>
          </a:xfrm>
        </p:spPr>
        <p:txBody>
          <a:bodyPr anchor="t">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9358" name="Slide Number Placeholder 5"/>
          <p:cNvSpPr>
            <a:spLocks noGrp="1"/>
          </p:cNvSpPr>
          <p:nvPr>
            <p:ph type="sldNum" sz="quarter" idx="12"/>
          </p:nvPr>
        </p:nvSpPr>
        <p:spPr>
          <a:xfrm>
            <a:off x="11762793" y="6392174"/>
            <a:ext cx="429207" cy="365125"/>
          </a:xfrm>
        </p:spPr>
        <p:txBody>
          <a:bodyPr anchor="b"/>
          <a:lstStyle/>
          <a:p>
            <a:pPr marL="164465">
              <a:lnSpc>
                <a:spcPct val="100000"/>
              </a:lnSpc>
              <a:spcBef>
                <a:spcPts val="50"/>
              </a:spcBef>
            </a:pPr>
            <a:fld id="{81D60167-4931-47E6-BA6A-407CBD079E47}" type="slidenum">
              <a:rPr lang="en-US" spc="-50" smtClean="0">
                <a:solidFill>
                  <a:srgbClr val="A6A6A6"/>
                </a:solidFill>
              </a:rPr>
              <a:t>‹#›</a:t>
            </a:fld>
            <a:endParaRPr lang="en-US" spc="-50" dirty="0">
              <a:solidFill>
                <a:srgbClr val="A6A6A6"/>
              </a:solidFill>
            </a:endParaRPr>
          </a:p>
        </p:txBody>
      </p:sp>
      <p:sp>
        <p:nvSpPr>
          <p:cNvPr id="1049359" name="Oval 2"/>
          <p:cNvSpPr/>
          <p:nvPr/>
        </p:nvSpPr>
        <p:spPr>
          <a:xfrm>
            <a:off x="8454179" y="100701"/>
            <a:ext cx="3557904" cy="3557904"/>
          </a:xfrm>
          <a:prstGeom prst="ellipse">
            <a:avLst/>
          </a:prstGeom>
          <a:no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1048581" name="Holder 2"/>
          <p:cNvSpPr>
            <a:spLocks noGrp="1"/>
          </p:cNvSpPr>
          <p:nvPr>
            <p:ph type="title"/>
          </p:nvPr>
        </p:nvSpPr>
        <p:spPr/>
        <p:txBody>
          <a:bodyPr lIns="0" tIns="0" rIns="0" bIns="0"/>
          <a:lstStyle>
            <a:lvl1pPr>
              <a:defRPr sz="3200" b="1" i="0">
                <a:solidFill>
                  <a:schemeClr val="tx1"/>
                </a:solidFill>
                <a:latin typeface="Cambria"/>
                <a:cs typeface="Cambria"/>
              </a:defRPr>
            </a:lvl1pPr>
          </a:lstStyle>
          <a:p>
            <a:endParaRPr/>
          </a:p>
        </p:txBody>
      </p:sp>
      <p:sp>
        <p:nvSpPr>
          <p:cNvPr id="1048582"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1048583"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1048584" name="Holder 5"/>
          <p:cNvSpPr>
            <a:spLocks noGrp="1"/>
          </p:cNvSpPr>
          <p:nvPr>
            <p:ph type="dt" sz="half" idx="6"/>
          </p:nvPr>
        </p:nvSpPr>
        <p:spPr/>
        <p:txBody>
          <a:bodyPr lIns="0" tIns="0" rIns="0" bIns="0"/>
          <a:lstStyle>
            <a:lvl1pPr algn="l">
              <a:defRPr>
                <a:solidFill>
                  <a:schemeClr val="tx1">
                    <a:tint val="75000"/>
                  </a:schemeClr>
                </a:solidFill>
              </a:defRPr>
            </a:lvl1pPr>
          </a:lstStyle>
          <a:p>
            <a:fld id="{238DC5FC-2211-40B8-B6A4-859DF0BB8AE7}" type="datetime1">
              <a:rPr lang="en-US" smtClean="0"/>
              <a:t>9/17/2026</a:t>
            </a:fld>
            <a:endParaRPr lang="en-US"/>
          </a:p>
        </p:txBody>
      </p:sp>
      <p:sp>
        <p:nvSpPr>
          <p:cNvPr id="1048585" name="Holder 6"/>
          <p:cNvSpPr>
            <a:spLocks noGrp="1"/>
          </p:cNvSpPr>
          <p:nvPr>
            <p:ph type="sldNum" sz="quarter" idx="7"/>
          </p:nvPr>
        </p:nvSpPr>
        <p:spPr/>
        <p:txBody>
          <a:bodyPr lIns="0" tIns="0" rIns="0" bIns="0"/>
          <a:lstStyle>
            <a:lvl1pPr>
              <a:defRPr sz="3600" b="0" i="0">
                <a:solidFill>
                  <a:srgbClr val="8E8E93"/>
                </a:solidFill>
                <a:latin typeface="Cambria"/>
                <a:cs typeface="Cambria"/>
              </a:defRPr>
            </a:lvl1pPr>
          </a:lstStyle>
          <a:p>
            <a:pPr marL="164465">
              <a:lnSpc>
                <a:spcPct val="100000"/>
              </a:lnSpc>
              <a:spcBef>
                <a:spcPts val="50"/>
              </a:spcBef>
            </a:pPr>
            <a:fld id="{81D60167-4931-47E6-BA6A-407CBD079E47}" type="slidenum">
              <a:rPr spc="-50" dirty="0">
                <a:solidFill>
                  <a:srgbClr val="A6A6A6"/>
                </a:solidFill>
              </a:rPr>
              <a:t>‹#›</a:t>
            </a:fld>
            <a:endParaRPr spc="-50" dirty="0">
              <a:solidFill>
                <a:srgbClr val="A6A6A6"/>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99000"/>
          </a:schemeClr>
        </a:solidFill>
        <a:effectLst/>
      </p:bgPr>
    </p:bg>
    <p:spTree>
      <p:nvGrpSpPr>
        <p:cNvPr id="1" name=""/>
        <p:cNvGrpSpPr/>
        <p:nvPr/>
      </p:nvGrpSpPr>
      <p:grpSpPr>
        <a:xfrm>
          <a:off x="0" y="0"/>
          <a:ext cx="0" cy="0"/>
          <a:chOff x="0" y="0"/>
          <a:chExt cx="0" cy="0"/>
        </a:xfrm>
      </p:grpSpPr>
      <p:sp>
        <p:nvSpPr>
          <p:cNvPr id="1048576" name="Title Placeholder 1"/>
          <p:cNvSpPr>
            <a:spLocks noGrp="1"/>
          </p:cNvSpPr>
          <p:nvPr>
            <p:ph type="title"/>
          </p:nvPr>
        </p:nvSpPr>
        <p:spPr>
          <a:xfrm>
            <a:off x="-18288" y="644663"/>
            <a:ext cx="12001592" cy="10883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1048577" name="Date Placeholder 3"/>
          <p:cNvSpPr>
            <a:spLocks noGrp="1"/>
          </p:cNvSpPr>
          <p:nvPr>
            <p:ph type="dt" sz="half" idx="2"/>
          </p:nvPr>
        </p:nvSpPr>
        <p:spPr>
          <a:xfrm>
            <a:off x="6190488" y="104576"/>
            <a:ext cx="4836883" cy="365125"/>
          </a:xfrm>
          <a:prstGeom prst="rect">
            <a:avLst/>
          </a:prstGeom>
        </p:spPr>
        <p:txBody>
          <a:bodyPr vert="horz" lIns="91440" tIns="45720" rIns="91440" bIns="45720" rtlCol="0" anchor="t"/>
          <a:lstStyle>
            <a:lvl1pPr algn="l" rtl="0">
              <a:lnSpc>
                <a:spcPct val="80000"/>
              </a:lnSpc>
              <a:defRPr sz="1000">
                <a:solidFill>
                  <a:schemeClr val="tx1"/>
                </a:solidFill>
                <a:latin typeface="+mn-lt"/>
              </a:defRPr>
            </a:lvl1pPr>
          </a:lstStyle>
          <a:p>
            <a:fld id="{DE33575A-6EB1-44D7-A672-F0D32C7D57B8}" type="datetime1">
              <a:rPr lang="en-US" smtClean="0"/>
              <a:t>9/17/2026</a:t>
            </a:fld>
            <a:endParaRPr lang="en-US"/>
          </a:p>
        </p:txBody>
      </p:sp>
      <p:sp>
        <p:nvSpPr>
          <p:cNvPr id="1048578" name="Footer Placeholder 4"/>
          <p:cNvSpPr>
            <a:spLocks noGrp="1"/>
          </p:cNvSpPr>
          <p:nvPr>
            <p:ph type="ftr" sz="quarter" idx="3"/>
          </p:nvPr>
        </p:nvSpPr>
        <p:spPr>
          <a:xfrm>
            <a:off x="14501" y="110364"/>
            <a:ext cx="5276852" cy="365125"/>
          </a:xfrm>
          <a:prstGeom prst="rect">
            <a:avLst/>
          </a:prstGeom>
        </p:spPr>
        <p:txBody>
          <a:bodyPr vert="horz" lIns="91440" tIns="45720" rIns="91440" bIns="45720" rtlCol="0" anchor="t"/>
          <a:lstStyle>
            <a:lvl1pPr algn="l" rtl="0">
              <a:lnSpc>
                <a:spcPct val="80000"/>
              </a:lnSpc>
              <a:defRPr sz="1000">
                <a:solidFill>
                  <a:schemeClr val="tx1"/>
                </a:solidFill>
                <a:latin typeface="+mn-lt"/>
              </a:defRPr>
            </a:lvl1pPr>
          </a:lstStyle>
          <a:p>
            <a:endParaRPr lang="en-US"/>
          </a:p>
        </p:txBody>
      </p:sp>
      <p:sp>
        <p:nvSpPr>
          <p:cNvPr id="1048579" name="Slide Number Placeholder 5"/>
          <p:cNvSpPr>
            <a:spLocks noGrp="1"/>
          </p:cNvSpPr>
          <p:nvPr>
            <p:ph type="sldNum" sz="quarter" idx="4"/>
          </p:nvPr>
        </p:nvSpPr>
        <p:spPr>
          <a:xfrm>
            <a:off x="11762792" y="110364"/>
            <a:ext cx="429207" cy="365125"/>
          </a:xfrm>
          <a:prstGeom prst="rect">
            <a:avLst/>
          </a:prstGeom>
        </p:spPr>
        <p:txBody>
          <a:bodyPr vert="horz" lIns="91440" tIns="45720" rIns="91440" bIns="45720" rtlCol="0" anchor="t"/>
          <a:lstStyle>
            <a:lvl1pPr algn="r" rtl="0">
              <a:lnSpc>
                <a:spcPct val="80000"/>
              </a:lnSpc>
              <a:defRPr sz="1000">
                <a:solidFill>
                  <a:schemeClr val="tx1"/>
                </a:solidFill>
                <a:latin typeface="+mn-lt"/>
              </a:defRPr>
            </a:lvl1pPr>
          </a:lstStyle>
          <a:p>
            <a:pPr marL="164465">
              <a:lnSpc>
                <a:spcPct val="100000"/>
              </a:lnSpc>
              <a:spcBef>
                <a:spcPts val="50"/>
              </a:spcBef>
            </a:pPr>
            <a:fld id="{81D60167-4931-47E6-BA6A-407CBD079E47}" type="slidenum">
              <a:rPr lang="en-US" spc="-50" smtClean="0">
                <a:solidFill>
                  <a:srgbClr val="A6A6A6"/>
                </a:solidFill>
              </a:rPr>
              <a:t>‹#›</a:t>
            </a:fld>
            <a:endParaRPr lang="en-US" spc="-50" dirty="0">
              <a:solidFill>
                <a:srgbClr val="A6A6A6"/>
              </a:solidFill>
            </a:endParaRPr>
          </a:p>
        </p:txBody>
      </p:sp>
      <p:sp>
        <p:nvSpPr>
          <p:cNvPr id="1048580" name="Text Placeholder 2"/>
          <p:cNvSpPr>
            <a:spLocks noGrp="1"/>
          </p:cNvSpPr>
          <p:nvPr>
            <p:ph type="body" idx="1"/>
          </p:nvPr>
        </p:nvSpPr>
        <p:spPr>
          <a:xfrm>
            <a:off x="0" y="1907521"/>
            <a:ext cx="12001592" cy="48401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 id="2147483664" r:id="rId15"/>
    <p:sldLayoutId id="2147483665" r:id="rId16"/>
    <p:sldLayoutId id="2147483666" r:id="rId17"/>
    <p:sldLayoutId id="2147483667" r:id="rId18"/>
    <p:sldLayoutId id="2147483668" r:id="rId19"/>
    <p:sldLayoutId id="2147483669" r:id="rId20"/>
    <p:sldLayoutId id="2147483670" r:id="rId21"/>
    <p:sldLayoutId id="2147483671" r:id="rId22"/>
    <p:sldLayoutId id="2147483672" r:id="rId23"/>
    <p:sldLayoutId id="2147483673" r:id="rId24"/>
    <p:sldLayoutId id="2147483674" r:id="rId25"/>
    <p:sldLayoutId id="2147483675" r:id="rId26"/>
    <p:sldLayoutId id="2147483676" r:id="rId27"/>
    <p:sldLayoutId id="2147483677" r:id="rId28"/>
  </p:sldLayoutIdLst>
  <p:hf hdr="0" ftr="0" dt="0"/>
  <p:txStyles>
    <p:titleStyle>
      <a:lvl1pPr algn="l" defTabSz="914400" rtl="0" eaLnBrk="1" latinLnBrk="0" hangingPunct="1">
        <a:lnSpc>
          <a:spcPct val="80000"/>
        </a:lnSpc>
        <a:spcBef>
          <a:spcPct val="0"/>
        </a:spcBef>
        <a:buNone/>
        <a:defRPr sz="5600" b="0" i="0" kern="1200" spc="-200" baseline="0">
          <a:solidFill>
            <a:schemeClr val="tx1"/>
          </a:solidFill>
          <a:latin typeface="+mj-lt"/>
          <a:ea typeface="+mj-ea"/>
          <a:cs typeface="+mj-cs"/>
        </a:defRPr>
      </a:lvl1pPr>
    </p:titleStyle>
    <p:bodyStyle>
      <a:lvl1pPr marL="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1pPr>
      <a:lvl2pPr marL="2286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2pPr>
      <a:lvl3pPr marL="4572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3pPr>
      <a:lvl4pPr marL="6858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4pPr>
      <a:lvl5pPr marL="9144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8.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8.xml"/></Relationships>
</file>

<file path=ppt/slides/_rels/slide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8.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8.xml"/></Relationships>
</file>

<file path=ppt/slides/_rels/slide11.xml.rels><?xml version="1.0" encoding="UTF-8" standalone="yes"?>
<Relationships xmlns="http://schemas.openxmlformats.org/package/2006/relationships"><Relationship Id="rId3" Type="http://schemas.openxmlformats.org/officeDocument/2006/relationships/image" Target="../media/image15.gif"/><Relationship Id="rId2" Type="http://schemas.openxmlformats.org/officeDocument/2006/relationships/notesSlide" Target="../notesSlides/notesSlide2.xml"/><Relationship Id="rId1" Type="http://schemas.openxmlformats.org/officeDocument/2006/relationships/slideLayout" Target="../slideLayouts/slideLayout28.xml"/></Relationships>
</file>

<file path=ppt/slides/_rels/slide12.xml.rels><?xml version="1.0" encoding="UTF-8" standalone="yes"?>
<Relationships xmlns="http://schemas.openxmlformats.org/package/2006/relationships"><Relationship Id="rId3" Type="http://schemas.openxmlformats.org/officeDocument/2006/relationships/image" Target="../media/image17.gif"/><Relationship Id="rId2" Type="http://schemas.openxmlformats.org/officeDocument/2006/relationships/image" Target="../media/image16.jpeg"/><Relationship Id="rId1" Type="http://schemas.openxmlformats.org/officeDocument/2006/relationships/slideLayout" Target="../slideLayouts/slideLayout28.xml"/><Relationship Id="rId5" Type="http://schemas.openxmlformats.org/officeDocument/2006/relationships/hyperlink" Target="https://doi.org/10.1037/h0042519" TargetMode="Externa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8.xml"/><Relationship Id="rId5" Type="http://schemas.openxmlformats.org/officeDocument/2006/relationships/customXml" Target="../ink/ink2.xml"/><Relationship Id="rId4" Type="http://schemas.openxmlformats.org/officeDocument/2006/relationships/customXml" Target="../ink/ink1.xml"/></Relationships>
</file>

<file path=ppt/slides/_rels/slide14.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customXml" Target="../ink/ink3.xml"/><Relationship Id="rId7" Type="http://schemas.openxmlformats.org/officeDocument/2006/relationships/image" Target="../media/image22.png"/><Relationship Id="rId2" Type="http://schemas.openxmlformats.org/officeDocument/2006/relationships/notesSlide" Target="../notesSlides/notesSlide3.xml"/><Relationship Id="rId1" Type="http://schemas.openxmlformats.org/officeDocument/2006/relationships/slideLayout" Target="../slideLayouts/slideLayout28.xml"/><Relationship Id="rId6" Type="http://schemas.openxmlformats.org/officeDocument/2006/relationships/image" Target="../media/image21.png"/><Relationship Id="rId5" Type="http://schemas.openxmlformats.org/officeDocument/2006/relationships/hyperlink" Target="https://medium.com/the-theory-of-everything/understanding-activation-functions-in-neural-networks-9491262884e0" TargetMode="External"/><Relationship Id="rId4" Type="http://schemas.openxmlformats.org/officeDocument/2006/relationships/customXml" Target="../ink/ink4.xml"/><Relationship Id="rId9" Type="http://schemas.openxmlformats.org/officeDocument/2006/relationships/image" Target="../media/image24.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8.xml"/></Relationships>
</file>

<file path=ppt/slides/_rels/slide16.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image" Target="../media/image25.png"/><Relationship Id="rId1" Type="http://schemas.openxmlformats.org/officeDocument/2006/relationships/slideLayout" Target="../slideLayouts/slideLayout28.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40.png"/><Relationship Id="rId1" Type="http://schemas.openxmlformats.org/officeDocument/2006/relationships/slideLayout" Target="../slideLayouts/slideLayout28.xml"/><Relationship Id="rId5" Type="http://schemas.openxmlformats.org/officeDocument/2006/relationships/image" Target="../media/image27.png"/><Relationship Id="rId4" Type="http://schemas.openxmlformats.org/officeDocument/2006/relationships/image" Target="../media/image260.png"/></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0.png"/><Relationship Id="rId1" Type="http://schemas.openxmlformats.org/officeDocument/2006/relationships/slideLayout" Target="../slideLayouts/slideLayout28.xml"/><Relationship Id="rId5" Type="http://schemas.openxmlformats.org/officeDocument/2006/relationships/image" Target="../media/image30.png"/><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xml"/><Relationship Id="rId1" Type="http://schemas.openxmlformats.org/officeDocument/2006/relationships/slideLayout" Target="../slideLayouts/slideLayout28.xml"/><Relationship Id="rId4" Type="http://schemas.openxmlformats.org/officeDocument/2006/relationships/hyperlink" Target="https://youtu.be/SV2huMdNs9c"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png"/><Relationship Id="rId1" Type="http://schemas.openxmlformats.org/officeDocument/2006/relationships/slideLayout" Target="../slideLayouts/slideLayout28.xml"/></Relationships>
</file>

<file path=ppt/slides/_rels/slide22.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png"/><Relationship Id="rId1" Type="http://schemas.openxmlformats.org/officeDocument/2006/relationships/slideLayout" Target="../slideLayouts/slideLayout28.xml"/><Relationship Id="rId4" Type="http://schemas.openxmlformats.org/officeDocument/2006/relationships/image" Target="../media/image34.png"/></Relationships>
</file>

<file path=ppt/slides/_rels/slide23.xml.rels><?xml version="1.0" encoding="UTF-8" standalone="yes"?>
<Relationships xmlns="http://schemas.openxmlformats.org/package/2006/relationships"><Relationship Id="rId8" Type="http://schemas.openxmlformats.org/officeDocument/2006/relationships/customXml" Target="../ink/ink9.xml"/><Relationship Id="rId3" Type="http://schemas.openxmlformats.org/officeDocument/2006/relationships/slideLayout" Target="../slideLayouts/slideLayout28.xml"/><Relationship Id="rId7" Type="http://schemas.openxmlformats.org/officeDocument/2006/relationships/customXml" Target="../ink/ink8.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customXml" Target="../ink/ink7.xml"/><Relationship Id="rId5" Type="http://schemas.openxmlformats.org/officeDocument/2006/relationships/customXml" Target="../ink/ink6.xml"/><Relationship Id="rId10" Type="http://schemas.openxmlformats.org/officeDocument/2006/relationships/image" Target="../media/image36.svg"/><Relationship Id="rId4" Type="http://schemas.openxmlformats.org/officeDocument/2006/relationships/customXml" Target="../ink/ink5.xml"/><Relationship Id="rId9" Type="http://schemas.openxmlformats.org/officeDocument/2006/relationships/image" Target="../media/image35.png"/></Relationships>
</file>

<file path=ppt/slides/_rels/slide2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8.xml"/><Relationship Id="rId4" Type="http://schemas.openxmlformats.org/officeDocument/2006/relationships/customXml" Target="../ink/ink10.xml"/></Relationships>
</file>

<file path=ppt/slides/_rels/slide25.xml.rels><?xml version="1.0" encoding="UTF-8" standalone="yes"?>
<Relationships xmlns="http://schemas.openxmlformats.org/package/2006/relationships"><Relationship Id="rId3" Type="http://schemas.openxmlformats.org/officeDocument/2006/relationships/customXml" Target="../ink/ink11.xml"/><Relationship Id="rId2" Type="http://schemas.openxmlformats.org/officeDocument/2006/relationships/image" Target="../media/image39.png"/><Relationship Id="rId1" Type="http://schemas.openxmlformats.org/officeDocument/2006/relationships/slideLayout" Target="../slideLayouts/slideLayout28.xml"/></Relationships>
</file>

<file path=ppt/slides/_rels/slide2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28.xml"/></Relationships>
</file>

<file path=ppt/slides/_rels/slide27.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8.xml"/></Relationships>
</file>

<file path=ppt/slides/_rels/slide28.xml.rels><?xml version="1.0" encoding="UTF-8" standalone="yes"?>
<Relationships xmlns="http://schemas.openxmlformats.org/package/2006/relationships"><Relationship Id="rId3" Type="http://schemas.openxmlformats.org/officeDocument/2006/relationships/hyperlink" Target="https://www.geeksforgeeks.org/machine-learning/backpropagation-in-neural-network/" TargetMode="External"/><Relationship Id="rId2" Type="http://schemas.openxmlformats.org/officeDocument/2006/relationships/notesSlide" Target="../notesSlides/notesSlide7.xml"/><Relationship Id="rId1" Type="http://schemas.openxmlformats.org/officeDocument/2006/relationships/slideLayout" Target="../slideLayouts/slideLayout28.xml"/><Relationship Id="rId5" Type="http://schemas.openxmlformats.org/officeDocument/2006/relationships/hyperlink" Target="https://doi.org/10.1038/323533a0" TargetMode="External"/><Relationship Id="rId4" Type="http://schemas.openxmlformats.org/officeDocument/2006/relationships/image" Target="../media/image42.png"/></Relationships>
</file>

<file path=ppt/slides/_rels/slide29.xml.rels><?xml version="1.0" encoding="UTF-8" standalone="yes"?>
<Relationships xmlns="http://schemas.openxmlformats.org/package/2006/relationships"><Relationship Id="rId3" Type="http://schemas.openxmlformats.org/officeDocument/2006/relationships/hyperlink" Target="https://arxiv.org/abs/2602.23444" TargetMode="External"/><Relationship Id="rId2" Type="http://schemas.openxmlformats.org/officeDocument/2006/relationships/hyperlink" Target="https://scikit-learn.org/stable/modules/sgd.html" TargetMode="External"/><Relationship Id="rId1" Type="http://schemas.openxmlformats.org/officeDocument/2006/relationships/slideLayout" Target="../slideLayouts/slideLayout28.xml"/><Relationship Id="rId6" Type="http://schemas.openxmlformats.org/officeDocument/2006/relationships/hyperlink" Target="https://arxiv.org/abs/2602.13112" TargetMode="External"/><Relationship Id="rId5" Type="http://schemas.openxmlformats.org/officeDocument/2006/relationships/hyperlink" Target="https://www.geeksforgeeks.org/deep-learning/rmsprop-optimizer-in-deep-learning/" TargetMode="External"/><Relationship Id="rId4" Type="http://schemas.openxmlformats.org/officeDocument/2006/relationships/hyperlink" Target="https://arxiv.org/abs/1412.6980" TargetMode="External"/></Relationships>
</file>

<file path=ppt/slides/_rels/slide3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8.xml"/></Relationships>
</file>

<file path=ppt/slides/_rels/slide31.xml.rels><?xml version="1.0" encoding="UTF-8" standalone="yes"?>
<Relationships xmlns="http://schemas.openxmlformats.org/package/2006/relationships"><Relationship Id="rId3" Type="http://schemas.openxmlformats.org/officeDocument/2006/relationships/customXml" Target="../ink/ink12.xml"/><Relationship Id="rId2" Type="http://schemas.openxmlformats.org/officeDocument/2006/relationships/image" Target="../media/image44.jpeg"/><Relationship Id="rId1" Type="http://schemas.openxmlformats.org/officeDocument/2006/relationships/slideLayout" Target="../slideLayouts/slideLayout28.xml"/></Relationships>
</file>

<file path=ppt/slides/_rels/slide32.xml.rels><?xml version="1.0" encoding="UTF-8" standalone="yes"?>
<Relationships xmlns="http://schemas.openxmlformats.org/package/2006/relationships"><Relationship Id="rId3" Type="http://schemas.openxmlformats.org/officeDocument/2006/relationships/customXml" Target="../ink/ink13.xml"/><Relationship Id="rId2" Type="http://schemas.openxmlformats.org/officeDocument/2006/relationships/image" Target="../media/image44.jpeg"/><Relationship Id="rId1" Type="http://schemas.openxmlformats.org/officeDocument/2006/relationships/slideLayout" Target="../slideLayouts/slideLayout28.xml"/><Relationship Id="rId4" Type="http://schemas.openxmlformats.org/officeDocument/2006/relationships/image" Target="../media/image4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8.xml"/></Relationships>
</file>

<file path=ppt/slides/_rels/slide3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8.xml"/></Relationships>
</file>

<file path=ppt/slides/_rels/slide36.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8.xml"/><Relationship Id="rId1" Type="http://schemas.openxmlformats.org/officeDocument/2006/relationships/slideLayout" Target="../slideLayouts/slideLayout28.xml"/><Relationship Id="rId4" Type="http://schemas.openxmlformats.org/officeDocument/2006/relationships/image" Target="../media/image48.png"/></Relationships>
</file>

<file path=ppt/slides/_rels/slide3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8.xml"/></Relationships>
</file>

<file path=ppt/slides/_rels/slide3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 name="object 2"/>
          <p:cNvGrpSpPr/>
          <p:nvPr/>
        </p:nvGrpSpPr>
        <p:grpSpPr>
          <a:xfrm>
            <a:off x="0" y="0"/>
            <a:ext cx="12192000" cy="6858000"/>
            <a:chOff x="0" y="0"/>
            <a:chExt cx="12192000" cy="6858000"/>
          </a:xfrm>
        </p:grpSpPr>
        <p:sp>
          <p:nvSpPr>
            <p:cNvPr id="1048586" name="object 3"/>
            <p:cNvSpPr/>
            <p:nvPr/>
          </p:nvSpPr>
          <p:spPr>
            <a:xfrm>
              <a:off x="457200" y="0"/>
              <a:ext cx="11734800" cy="6858000"/>
            </a:xfrm>
            <a:custGeom>
              <a:avLst/>
              <a:gdLst/>
              <a:ahLst/>
              <a:cxnLst/>
              <a:rect l="l" t="t" r="r" b="b"/>
              <a:pathLst>
                <a:path w="11734800" h="6858000">
                  <a:moveTo>
                    <a:pt x="0" y="6858000"/>
                  </a:moveTo>
                  <a:lnTo>
                    <a:pt x="11734800" y="6858000"/>
                  </a:lnTo>
                  <a:lnTo>
                    <a:pt x="11734800" y="0"/>
                  </a:lnTo>
                  <a:lnTo>
                    <a:pt x="0" y="0"/>
                  </a:lnTo>
                  <a:lnTo>
                    <a:pt x="0" y="6858000"/>
                  </a:lnTo>
                  <a:close/>
                </a:path>
              </a:pathLst>
            </a:custGeom>
            <a:solidFill>
              <a:srgbClr val="353537"/>
            </a:solidFill>
          </p:spPr>
          <p:txBody>
            <a:bodyPr wrap="square" lIns="0" tIns="0" rIns="0" bIns="0" rtlCol="0"/>
            <a:lstStyle/>
            <a:p>
              <a:pPr rtl="0"/>
              <a:endParaRPr dirty="0">
                <a:latin typeface="Calibri" panose="020F0502020204030204" pitchFamily="34" charset="0"/>
                <a:cs typeface="Calibri" panose="020F0502020204030204" pitchFamily="34" charset="0"/>
              </a:endParaRPr>
            </a:p>
          </p:txBody>
        </p:sp>
        <p:sp>
          <p:nvSpPr>
            <p:cNvPr id="1048587" name="object 4"/>
            <p:cNvSpPr/>
            <p:nvPr/>
          </p:nvSpPr>
          <p:spPr>
            <a:xfrm>
              <a:off x="0" y="0"/>
              <a:ext cx="457200" cy="6858000"/>
            </a:xfrm>
            <a:custGeom>
              <a:avLst/>
              <a:gdLst/>
              <a:ahLst/>
              <a:cxnLst/>
              <a:rect l="l" t="t" r="r" b="b"/>
              <a:pathLst>
                <a:path w="457200" h="6858000">
                  <a:moveTo>
                    <a:pt x="457200" y="0"/>
                  </a:moveTo>
                  <a:lnTo>
                    <a:pt x="0" y="0"/>
                  </a:lnTo>
                  <a:lnTo>
                    <a:pt x="0" y="6858000"/>
                  </a:lnTo>
                  <a:lnTo>
                    <a:pt x="457200" y="6858000"/>
                  </a:lnTo>
                  <a:lnTo>
                    <a:pt x="457200" y="0"/>
                  </a:lnTo>
                  <a:close/>
                </a:path>
              </a:pathLst>
            </a:custGeom>
            <a:solidFill>
              <a:srgbClr val="6E6E74"/>
            </a:solidFill>
          </p:spPr>
          <p:txBody>
            <a:bodyPr wrap="square" lIns="0" tIns="0" rIns="0" bIns="0" rtlCol="0"/>
            <a:lstStyle/>
            <a:p>
              <a:pPr rtl="0"/>
              <a:endParaRPr>
                <a:latin typeface="Calibri" panose="020F0502020204030204" pitchFamily="34" charset="0"/>
                <a:cs typeface="Calibri" panose="020F0502020204030204" pitchFamily="34" charset="0"/>
              </a:endParaRPr>
            </a:p>
          </p:txBody>
        </p:sp>
      </p:grpSp>
      <p:sp>
        <p:nvSpPr>
          <p:cNvPr id="1048588" name="object 9"/>
          <p:cNvSpPr/>
          <p:nvPr/>
        </p:nvSpPr>
        <p:spPr>
          <a:xfrm>
            <a:off x="1918017" y="2787290"/>
            <a:ext cx="8508365" cy="635"/>
          </a:xfrm>
          <a:custGeom>
            <a:avLst/>
            <a:gdLst/>
            <a:ahLst/>
            <a:cxnLst/>
            <a:rect l="l" t="t" r="r" b="b"/>
            <a:pathLst>
              <a:path w="8508365" h="635">
                <a:moveTo>
                  <a:pt x="0" y="0"/>
                </a:moveTo>
                <a:lnTo>
                  <a:pt x="8507984" y="507"/>
                </a:lnTo>
              </a:path>
            </a:pathLst>
          </a:custGeom>
          <a:ln w="13970">
            <a:solidFill>
              <a:srgbClr val="6E6E74"/>
            </a:solidFill>
          </a:ln>
        </p:spPr>
        <p:txBody>
          <a:bodyPr wrap="square" lIns="0" tIns="0" rIns="0" bIns="0" rtlCol="0"/>
          <a:lstStyle/>
          <a:p>
            <a:pPr rtl="0"/>
            <a:endParaRPr>
              <a:latin typeface="Calibri" panose="020F0502020204030204" pitchFamily="34" charset="0"/>
              <a:cs typeface="Calibri" panose="020F0502020204030204" pitchFamily="34" charset="0"/>
            </a:endParaRPr>
          </a:p>
        </p:txBody>
      </p:sp>
      <p:pic>
        <p:nvPicPr>
          <p:cNvPr id="2097152" name="object 10"/>
          <p:cNvPicPr>
            <a:picLocks/>
          </p:cNvPicPr>
          <p:nvPr/>
        </p:nvPicPr>
        <p:blipFill>
          <a:blip r:embed="rId2" cstate="print">
            <a:alphaModFix amt="14000"/>
          </a:blip>
          <a:stretch>
            <a:fillRect/>
          </a:stretch>
        </p:blipFill>
        <p:spPr>
          <a:xfrm>
            <a:off x="4114800" y="1293859"/>
            <a:ext cx="4419600" cy="4406828"/>
          </a:xfrm>
          <a:prstGeom prst="rect">
            <a:avLst/>
          </a:prstGeom>
        </p:spPr>
      </p:pic>
      <p:sp>
        <p:nvSpPr>
          <p:cNvPr id="1048589" name="object 11"/>
          <p:cNvSpPr txBox="1"/>
          <p:nvPr/>
        </p:nvSpPr>
        <p:spPr>
          <a:xfrm>
            <a:off x="2438400" y="2400161"/>
            <a:ext cx="9626471" cy="289823"/>
          </a:xfrm>
          <a:prstGeom prst="rect">
            <a:avLst/>
          </a:prstGeom>
        </p:spPr>
        <p:txBody>
          <a:bodyPr vert="horz" wrap="square" lIns="0" tIns="12700" rIns="0" bIns="0" rtlCol="0">
            <a:spAutoFit/>
          </a:bodyPr>
          <a:lstStyle/>
          <a:p>
            <a:pPr marL="12700">
              <a:spcBef>
                <a:spcPts val="100"/>
              </a:spcBef>
            </a:pPr>
            <a:r>
              <a:rPr lang="en-US" spc="85" dirty="0">
                <a:solidFill>
                  <a:srgbClr val="FFFFFF"/>
                </a:solidFill>
                <a:latin typeface="Calibri" panose="020F0502020204030204" pitchFamily="34" charset="0"/>
                <a:cs typeface="Calibri" panose="020F0502020204030204" pitchFamily="34" charset="0"/>
              </a:rPr>
              <a:t>Neural Networks • Representation Learning • </a:t>
            </a:r>
            <a:r>
              <a:rPr lang="en-US" spc="85" dirty="0">
                <a:solidFill>
                  <a:srgbClr val="FF0000"/>
                </a:solidFill>
                <a:highlight>
                  <a:srgbClr val="FFFF00"/>
                </a:highlight>
                <a:latin typeface="Calibri" panose="020F0502020204030204" pitchFamily="34" charset="0"/>
                <a:cs typeface="Calibri" panose="020F0502020204030204" pitchFamily="34" charset="0"/>
              </a:rPr>
              <a:t>Multimodal Embeddings </a:t>
            </a:r>
          </a:p>
        </p:txBody>
      </p:sp>
      <p:sp>
        <p:nvSpPr>
          <p:cNvPr id="1048590" name="Subtitle 2"/>
          <p:cNvSpPr txBox="1"/>
          <p:nvPr/>
        </p:nvSpPr>
        <p:spPr>
          <a:xfrm>
            <a:off x="4114800" y="4495800"/>
            <a:ext cx="4419600" cy="457200"/>
          </a:xfrm>
          <a:prstGeom prst="rect">
            <a:avLst/>
          </a:prstGeom>
        </p:spPr>
        <p:txBody>
          <a:bodyPr wrap="square" lIns="0" tIns="0" rIns="0" bIns="0">
            <a:noAutofit/>
          </a:bodyPr>
          <a:lstStyle>
            <a:lvl1pPr marL="0">
              <a:defRPr b="0" i="0">
                <a:solidFill>
                  <a:schemeClr val="tx1"/>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rtl="0"/>
            <a:r>
              <a:rPr lang="en-US" sz="2000" dirty="0">
                <a:solidFill>
                  <a:schemeClr val="bg1"/>
                </a:solidFill>
                <a:latin typeface="Calibri" panose="020F0502020204030204" pitchFamily="34" charset="0"/>
                <a:cs typeface="Calibri" panose="020F0502020204030204" pitchFamily="34" charset="0"/>
              </a:rPr>
              <a:t>Dr. Khan Muhammad (</a:t>
            </a:r>
            <a:r>
              <a:rPr lang="ko-KR" altLang="en-US" sz="2000" dirty="0">
                <a:solidFill>
                  <a:schemeClr val="bg1"/>
                </a:solidFill>
                <a:latin typeface="Calibri" panose="020F0502020204030204" pitchFamily="34" charset="0"/>
                <a:cs typeface="Calibri" panose="020F0502020204030204" pitchFamily="34" charset="0"/>
              </a:rPr>
              <a:t>칸무하마드</a:t>
            </a:r>
            <a:r>
              <a:rPr lang="en-US" altLang="ko-KR" sz="2000" dirty="0">
                <a:solidFill>
                  <a:schemeClr val="bg1"/>
                </a:solidFill>
                <a:latin typeface="Calibri" panose="020F0502020204030204" pitchFamily="34" charset="0"/>
                <a:cs typeface="Calibri" panose="020F0502020204030204" pitchFamily="34" charset="0"/>
              </a:rPr>
              <a:t>)</a:t>
            </a:r>
            <a:endParaRPr lang="en-US" sz="2000" dirty="0">
              <a:solidFill>
                <a:schemeClr val="bg1"/>
              </a:solidFill>
              <a:latin typeface="Calibri" panose="020F0502020204030204" pitchFamily="34" charset="0"/>
              <a:cs typeface="Calibri" panose="020F0502020204030204" pitchFamily="34" charset="0"/>
            </a:endParaRPr>
          </a:p>
        </p:txBody>
      </p:sp>
      <p:sp>
        <p:nvSpPr>
          <p:cNvPr id="1048591" name="Subtitle 2"/>
          <p:cNvSpPr txBox="1"/>
          <p:nvPr/>
        </p:nvSpPr>
        <p:spPr>
          <a:xfrm>
            <a:off x="4243104" y="5230570"/>
            <a:ext cx="3952873" cy="457199"/>
          </a:xfrm>
          <a:prstGeom prst="rect">
            <a:avLst/>
          </a:prstGeom>
        </p:spPr>
        <p:txBody>
          <a:bodyPr>
            <a:normAutofit fontScale="77500" lnSpcReduction="20000"/>
          </a:bodyPr>
          <a:lstStyle>
            <a:lvl1pPr marL="0" indent="0" algn="ctr" rtl="0" eaLnBrk="1" latinLnBrk="0" hangingPunct="1">
              <a:spcBef>
                <a:spcPts val="580"/>
              </a:spcBef>
              <a:buClr>
                <a:schemeClr val="accent1"/>
              </a:buClr>
              <a:buSzPct val="85000"/>
              <a:buFont typeface="Wingdings 2"/>
              <a:buNone/>
              <a:defRPr kumimoji="0" sz="2600" kern="1200">
                <a:solidFill>
                  <a:schemeClr val="tx2"/>
                </a:solidFill>
                <a:latin typeface="+mn-lt"/>
                <a:ea typeface="+mn-ea"/>
                <a:cs typeface="+mn-cs"/>
              </a:defRPr>
            </a:lvl1pPr>
            <a:lvl2pPr marL="457200" indent="0" algn="ctr" rtl="0" eaLnBrk="1" latinLnBrk="0" hangingPunct="1">
              <a:spcBef>
                <a:spcPts val="370"/>
              </a:spcBef>
              <a:buClr>
                <a:schemeClr val="accent2"/>
              </a:buClr>
              <a:buSzPct val="85000"/>
              <a:buFont typeface="Wingdings 2"/>
              <a:buNone/>
              <a:defRPr kumimoji="0" sz="2400" kern="1200">
                <a:solidFill>
                  <a:schemeClr val="tx1"/>
                </a:solidFill>
                <a:latin typeface="+mn-lt"/>
                <a:ea typeface="+mn-ea"/>
                <a:cs typeface="+mn-cs"/>
              </a:defRPr>
            </a:lvl2pPr>
            <a:lvl3pPr marL="914400" indent="0" algn="ctr" rtl="0" eaLnBrk="1" latinLnBrk="0" hangingPunct="1">
              <a:spcBef>
                <a:spcPts val="370"/>
              </a:spcBef>
              <a:buClr>
                <a:schemeClr val="accent1">
                  <a:tint val="60000"/>
                </a:schemeClr>
              </a:buClr>
              <a:buSzPct val="85000"/>
              <a:buFont typeface="Wingdings 2"/>
              <a:buNone/>
              <a:defRPr kumimoji="0" sz="2000" kern="1200">
                <a:solidFill>
                  <a:schemeClr val="tx1"/>
                </a:solidFill>
                <a:latin typeface="+mn-lt"/>
                <a:ea typeface="+mn-ea"/>
                <a:cs typeface="+mn-cs"/>
              </a:defRPr>
            </a:lvl3pPr>
            <a:lvl4pPr marL="1371600" indent="0" algn="ctr" rtl="0" eaLnBrk="1" latinLnBrk="0" hangingPunct="1">
              <a:spcBef>
                <a:spcPts val="370"/>
              </a:spcBef>
              <a:buClr>
                <a:schemeClr val="accent3"/>
              </a:buClr>
              <a:buSzPct val="80000"/>
              <a:buFont typeface="Wingdings 2"/>
              <a:buNone/>
              <a:defRPr kumimoji="0" sz="2000" kern="1200">
                <a:solidFill>
                  <a:schemeClr val="tx1"/>
                </a:solidFill>
                <a:latin typeface="+mn-lt"/>
                <a:ea typeface="+mn-ea"/>
                <a:cs typeface="+mn-cs"/>
              </a:defRPr>
            </a:lvl4pPr>
            <a:lvl5pPr marL="1828800" indent="0" algn="ctr" rtl="0" eaLnBrk="1" latinLnBrk="0" hangingPunct="1">
              <a:spcBef>
                <a:spcPts val="370"/>
              </a:spcBef>
              <a:buClr>
                <a:schemeClr val="accent3"/>
              </a:buClr>
              <a:buFontTx/>
              <a:buNone/>
              <a:defRPr kumimoji="0" sz="2000" kern="1200">
                <a:solidFill>
                  <a:schemeClr val="tx1"/>
                </a:solidFill>
                <a:latin typeface="+mn-lt"/>
                <a:ea typeface="+mn-ea"/>
                <a:cs typeface="+mn-cs"/>
              </a:defRPr>
            </a:lvl5pPr>
            <a:lvl6pPr marL="2286000" indent="0" algn="ctr" rtl="0" eaLnBrk="1" latinLnBrk="0" hangingPunct="1">
              <a:spcBef>
                <a:spcPts val="370"/>
              </a:spcBef>
              <a:buClr>
                <a:schemeClr val="accent3"/>
              </a:buClr>
              <a:buNone/>
              <a:defRPr kumimoji="0" sz="1800" kern="1200" baseline="0">
                <a:solidFill>
                  <a:schemeClr val="tx1"/>
                </a:solidFill>
                <a:latin typeface="+mn-lt"/>
                <a:ea typeface="+mn-ea"/>
                <a:cs typeface="+mn-cs"/>
              </a:defRPr>
            </a:lvl6pPr>
            <a:lvl7pPr marL="2743200" indent="0" algn="ctr" rtl="0" eaLnBrk="1" latinLnBrk="0" hangingPunct="1">
              <a:spcBef>
                <a:spcPts val="370"/>
              </a:spcBef>
              <a:buClr>
                <a:schemeClr val="accent2"/>
              </a:buClr>
              <a:buNone/>
              <a:defRPr kumimoji="0" sz="1800" kern="1200">
                <a:solidFill>
                  <a:schemeClr val="tx1"/>
                </a:solidFill>
                <a:latin typeface="+mn-lt"/>
                <a:ea typeface="+mn-ea"/>
                <a:cs typeface="+mn-cs"/>
              </a:defRPr>
            </a:lvl7pPr>
            <a:lvl8pPr marL="3200400" indent="0" algn="ctr" rtl="0" eaLnBrk="1" latinLnBrk="0" hangingPunct="1">
              <a:spcBef>
                <a:spcPts val="370"/>
              </a:spcBef>
              <a:buClr>
                <a:schemeClr val="accent1">
                  <a:tint val="60000"/>
                </a:schemeClr>
              </a:buClr>
              <a:buNone/>
              <a:defRPr kumimoji="0" sz="1800" kern="1200">
                <a:solidFill>
                  <a:schemeClr val="tx1"/>
                </a:solidFill>
                <a:latin typeface="+mn-lt"/>
                <a:ea typeface="+mn-ea"/>
                <a:cs typeface="+mn-cs"/>
              </a:defRPr>
            </a:lvl8pPr>
            <a:lvl9pPr marL="3657600" indent="0" algn="ctr" rtl="0" eaLnBrk="1" latinLnBrk="0" hangingPunct="1">
              <a:spcBef>
                <a:spcPts val="370"/>
              </a:spcBef>
              <a:buClr>
                <a:schemeClr val="accent2">
                  <a:tint val="60000"/>
                </a:schemeClr>
              </a:buClr>
              <a:buNone/>
              <a:defRPr kumimoji="0" sz="1800" kern="1200">
                <a:solidFill>
                  <a:schemeClr val="tx1"/>
                </a:solidFill>
                <a:latin typeface="+mn-lt"/>
                <a:ea typeface="+mn-ea"/>
                <a:cs typeface="+mn-cs"/>
              </a:defRPr>
            </a:lvl9pPr>
          </a:lstStyle>
          <a:p>
            <a:pPr>
              <a:buClr>
                <a:srgbClr val="D34817"/>
              </a:buClr>
            </a:pPr>
            <a:r>
              <a:rPr lang="en-US" sz="2000" dirty="0">
                <a:solidFill>
                  <a:schemeClr val="bg1"/>
                </a:solidFill>
                <a:latin typeface="Calibri" panose="020F0502020204030204" pitchFamily="34" charset="0"/>
                <a:cs typeface="Calibri" panose="020F0502020204030204" pitchFamily="34" charset="0"/>
              </a:rPr>
              <a:t>Department of Applied Artificial Intelligence</a:t>
            </a:r>
          </a:p>
        </p:txBody>
      </p:sp>
      <p:sp>
        <p:nvSpPr>
          <p:cNvPr id="1048592" name="Rectangle 15"/>
          <p:cNvSpPr/>
          <p:nvPr/>
        </p:nvSpPr>
        <p:spPr>
          <a:xfrm>
            <a:off x="4761512" y="5444789"/>
            <a:ext cx="3391888" cy="369332"/>
          </a:xfrm>
          <a:prstGeom prst="rect">
            <a:avLst/>
          </a:prstGeom>
        </p:spPr>
        <p:txBody>
          <a:bodyPr wrap="square">
            <a:spAutoFit/>
          </a:bodyPr>
          <a:lstStyle/>
          <a:p>
            <a:pPr rtl="0" latinLnBrk="0"/>
            <a:r>
              <a:rPr lang="en-US" dirty="0">
                <a:solidFill>
                  <a:schemeClr val="bg1"/>
                </a:solidFill>
                <a:latin typeface="Calibri" panose="020F0502020204030204" pitchFamily="34" charset="0"/>
                <a:cs typeface="Calibri" panose="020F0502020204030204" pitchFamily="34" charset="0"/>
              </a:rPr>
              <a:t>Sungkyunkwan University, Seoul. </a:t>
            </a:r>
          </a:p>
        </p:txBody>
      </p:sp>
      <p:sp>
        <p:nvSpPr>
          <p:cNvPr id="1048593" name="Subtitle 2"/>
          <p:cNvSpPr txBox="1"/>
          <p:nvPr/>
        </p:nvSpPr>
        <p:spPr>
          <a:xfrm>
            <a:off x="4951850" y="4842970"/>
            <a:ext cx="2286000" cy="503878"/>
          </a:xfrm>
          <a:prstGeom prst="rect">
            <a:avLst/>
          </a:prstGeom>
        </p:spPr>
        <p:txBody>
          <a:bodyPr>
            <a:normAutofit fontScale="97500"/>
          </a:bodyPr>
          <a:lstStyle>
            <a:lvl1pPr marL="0" indent="0" algn="ctr" rtl="0" eaLnBrk="1" latinLnBrk="0" hangingPunct="1">
              <a:spcBef>
                <a:spcPts val="580"/>
              </a:spcBef>
              <a:buClr>
                <a:schemeClr val="accent1"/>
              </a:buClr>
              <a:buSzPct val="85000"/>
              <a:buFont typeface="Wingdings 2"/>
              <a:buNone/>
              <a:defRPr kumimoji="0" sz="2600" kern="1200">
                <a:solidFill>
                  <a:schemeClr val="tx2"/>
                </a:solidFill>
                <a:latin typeface="+mn-lt"/>
                <a:ea typeface="+mn-ea"/>
                <a:cs typeface="+mn-cs"/>
              </a:defRPr>
            </a:lvl1pPr>
            <a:lvl2pPr marL="457200" indent="0" algn="ctr" rtl="0" eaLnBrk="1" latinLnBrk="0" hangingPunct="1">
              <a:spcBef>
                <a:spcPts val="370"/>
              </a:spcBef>
              <a:buClr>
                <a:schemeClr val="accent2"/>
              </a:buClr>
              <a:buSzPct val="85000"/>
              <a:buFont typeface="Wingdings 2"/>
              <a:buNone/>
              <a:defRPr kumimoji="0" sz="2400" kern="1200">
                <a:solidFill>
                  <a:schemeClr val="tx1"/>
                </a:solidFill>
                <a:latin typeface="+mn-lt"/>
                <a:ea typeface="+mn-ea"/>
                <a:cs typeface="+mn-cs"/>
              </a:defRPr>
            </a:lvl2pPr>
            <a:lvl3pPr marL="914400" indent="0" algn="ctr" rtl="0" eaLnBrk="1" latinLnBrk="0" hangingPunct="1">
              <a:spcBef>
                <a:spcPts val="370"/>
              </a:spcBef>
              <a:buClr>
                <a:schemeClr val="accent1">
                  <a:tint val="60000"/>
                </a:schemeClr>
              </a:buClr>
              <a:buSzPct val="85000"/>
              <a:buFont typeface="Wingdings 2"/>
              <a:buNone/>
              <a:defRPr kumimoji="0" sz="2000" kern="1200">
                <a:solidFill>
                  <a:schemeClr val="tx1"/>
                </a:solidFill>
                <a:latin typeface="+mn-lt"/>
                <a:ea typeface="+mn-ea"/>
                <a:cs typeface="+mn-cs"/>
              </a:defRPr>
            </a:lvl3pPr>
            <a:lvl4pPr marL="1371600" indent="0" algn="ctr" rtl="0" eaLnBrk="1" latinLnBrk="0" hangingPunct="1">
              <a:spcBef>
                <a:spcPts val="370"/>
              </a:spcBef>
              <a:buClr>
                <a:schemeClr val="accent3"/>
              </a:buClr>
              <a:buSzPct val="80000"/>
              <a:buFont typeface="Wingdings 2"/>
              <a:buNone/>
              <a:defRPr kumimoji="0" sz="2000" kern="1200">
                <a:solidFill>
                  <a:schemeClr val="tx1"/>
                </a:solidFill>
                <a:latin typeface="+mn-lt"/>
                <a:ea typeface="+mn-ea"/>
                <a:cs typeface="+mn-cs"/>
              </a:defRPr>
            </a:lvl4pPr>
            <a:lvl5pPr marL="1828800" indent="0" algn="ctr" rtl="0" eaLnBrk="1" latinLnBrk="0" hangingPunct="1">
              <a:spcBef>
                <a:spcPts val="370"/>
              </a:spcBef>
              <a:buClr>
                <a:schemeClr val="accent3"/>
              </a:buClr>
              <a:buFontTx/>
              <a:buNone/>
              <a:defRPr kumimoji="0" sz="2000" kern="1200">
                <a:solidFill>
                  <a:schemeClr val="tx1"/>
                </a:solidFill>
                <a:latin typeface="+mn-lt"/>
                <a:ea typeface="+mn-ea"/>
                <a:cs typeface="+mn-cs"/>
              </a:defRPr>
            </a:lvl5pPr>
            <a:lvl6pPr marL="2286000" indent="0" algn="ctr" rtl="0" eaLnBrk="1" latinLnBrk="0" hangingPunct="1">
              <a:spcBef>
                <a:spcPts val="370"/>
              </a:spcBef>
              <a:buClr>
                <a:schemeClr val="accent3"/>
              </a:buClr>
              <a:buNone/>
              <a:defRPr kumimoji="0" sz="1800" kern="1200" baseline="0">
                <a:solidFill>
                  <a:schemeClr val="tx1"/>
                </a:solidFill>
                <a:latin typeface="+mn-lt"/>
                <a:ea typeface="+mn-ea"/>
                <a:cs typeface="+mn-cs"/>
              </a:defRPr>
            </a:lvl6pPr>
            <a:lvl7pPr marL="2743200" indent="0" algn="ctr" rtl="0" eaLnBrk="1" latinLnBrk="0" hangingPunct="1">
              <a:spcBef>
                <a:spcPts val="370"/>
              </a:spcBef>
              <a:buClr>
                <a:schemeClr val="accent2"/>
              </a:buClr>
              <a:buNone/>
              <a:defRPr kumimoji="0" sz="1800" kern="1200">
                <a:solidFill>
                  <a:schemeClr val="tx1"/>
                </a:solidFill>
                <a:latin typeface="+mn-lt"/>
                <a:ea typeface="+mn-ea"/>
                <a:cs typeface="+mn-cs"/>
              </a:defRPr>
            </a:lvl7pPr>
            <a:lvl8pPr marL="3200400" indent="0" algn="ctr" rtl="0" eaLnBrk="1" latinLnBrk="0" hangingPunct="1">
              <a:spcBef>
                <a:spcPts val="370"/>
              </a:spcBef>
              <a:buClr>
                <a:schemeClr val="accent1">
                  <a:tint val="60000"/>
                </a:schemeClr>
              </a:buClr>
              <a:buNone/>
              <a:defRPr kumimoji="0" sz="1800" kern="1200">
                <a:solidFill>
                  <a:schemeClr val="tx1"/>
                </a:solidFill>
                <a:latin typeface="+mn-lt"/>
                <a:ea typeface="+mn-ea"/>
                <a:cs typeface="+mn-cs"/>
              </a:defRPr>
            </a:lvl8pPr>
            <a:lvl9pPr marL="3657600" indent="0" algn="ctr" rtl="0" eaLnBrk="1" latinLnBrk="0" hangingPunct="1">
              <a:spcBef>
                <a:spcPts val="370"/>
              </a:spcBef>
              <a:buClr>
                <a:schemeClr val="accent2">
                  <a:tint val="60000"/>
                </a:schemeClr>
              </a:buClr>
              <a:buNone/>
              <a:defRPr kumimoji="0" sz="1800" kern="1200">
                <a:solidFill>
                  <a:schemeClr val="tx1"/>
                </a:solidFill>
                <a:latin typeface="+mn-lt"/>
                <a:ea typeface="+mn-ea"/>
                <a:cs typeface="+mn-cs"/>
              </a:defRPr>
            </a:lvl9pPr>
          </a:lstStyle>
          <a:p>
            <a:pPr>
              <a:buClr>
                <a:srgbClr val="D34817"/>
              </a:buClr>
            </a:pPr>
            <a:r>
              <a:rPr lang="en-US" sz="2000" dirty="0">
                <a:solidFill>
                  <a:schemeClr val="bg1"/>
                </a:solidFill>
                <a:latin typeface="Calibri" panose="020F0502020204030204" pitchFamily="34" charset="0"/>
                <a:cs typeface="Calibri" panose="020F0502020204030204" pitchFamily="34" charset="0"/>
              </a:rPr>
              <a:t>Associate Professor</a:t>
            </a:r>
          </a:p>
        </p:txBody>
      </p:sp>
      <p:sp>
        <p:nvSpPr>
          <p:cNvPr id="1048594" name="object 5" descr="$PPTXTitle"/>
          <p:cNvSpPr txBox="1">
            <a:spLocks noGrp="1"/>
          </p:cNvSpPr>
          <p:nvPr>
            <p:ph type="title"/>
          </p:nvPr>
        </p:nvSpPr>
        <p:spPr>
          <a:xfrm>
            <a:off x="1676401" y="1447800"/>
            <a:ext cx="9811068" cy="812800"/>
          </a:xfrm>
          <a:prstGeom prst="rect">
            <a:avLst/>
          </a:prstGeom>
        </p:spPr>
        <p:txBody>
          <a:bodyPr vert="horz" wrap="square" lIns="0" tIns="12700" rIns="0" bIns="0" rtlCol="0">
            <a:spAutoFit/>
          </a:bodyPr>
          <a:lstStyle/>
          <a:p>
            <a:pPr marL="12700" rtl="0">
              <a:lnSpc>
                <a:spcPct val="100000"/>
              </a:lnSpc>
              <a:spcBef>
                <a:spcPts val="100"/>
              </a:spcBef>
            </a:pPr>
            <a:r>
              <a:rPr sz="5400" b="0" spc="160" dirty="0">
                <a:solidFill>
                  <a:srgbClr val="FFFFFF"/>
                </a:solidFill>
                <a:latin typeface="Calibri" panose="020F0502020204030204" pitchFamily="34" charset="0"/>
                <a:cs typeface="Calibri" panose="020F0502020204030204" pitchFamily="34" charset="0"/>
              </a:rPr>
              <a:t>Deep</a:t>
            </a:r>
            <a:r>
              <a:rPr sz="5400" b="0" spc="225" dirty="0">
                <a:solidFill>
                  <a:srgbClr val="FFFFFF"/>
                </a:solidFill>
                <a:latin typeface="Calibri" panose="020F0502020204030204" pitchFamily="34" charset="0"/>
                <a:cs typeface="Calibri" panose="020F0502020204030204" pitchFamily="34" charset="0"/>
              </a:rPr>
              <a:t> </a:t>
            </a:r>
            <a:r>
              <a:rPr sz="5400" b="0" spc="220" dirty="0">
                <a:solidFill>
                  <a:srgbClr val="FFFFFF"/>
                </a:solidFill>
                <a:latin typeface="Calibri" panose="020F0502020204030204" pitchFamily="34" charset="0"/>
                <a:cs typeface="Calibri" panose="020F0502020204030204" pitchFamily="34" charset="0"/>
              </a:rPr>
              <a:t>Learning</a:t>
            </a:r>
            <a:r>
              <a:rPr lang="en-US" sz="5400" b="0" spc="220" dirty="0">
                <a:solidFill>
                  <a:srgbClr val="FFFFFF"/>
                </a:solidFill>
                <a:latin typeface="Calibri" panose="020F0502020204030204" pitchFamily="34" charset="0"/>
                <a:cs typeface="Calibri" panose="020F0502020204030204" pitchFamily="34" charset="0"/>
              </a:rPr>
              <a:t> Foundations</a:t>
            </a:r>
            <a:endParaRPr sz="5400" dirty="0">
              <a:latin typeface="Calibri" panose="020F0502020204030204" pitchFamily="34" charset="0"/>
              <a:cs typeface="Calibri" panose="020F050202020403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6" name="TextBox 4"/>
          <p:cNvSpPr txBox="1"/>
          <p:nvPr/>
        </p:nvSpPr>
        <p:spPr>
          <a:xfrm>
            <a:off x="3235424" y="1231642"/>
            <a:ext cx="5715002" cy="5016758"/>
          </a:xfrm>
          <a:prstGeom prst="rect">
            <a:avLst/>
          </a:prstGeom>
          <a:solidFill>
            <a:schemeClr val="accent1">
              <a:lumMod val="20000"/>
              <a:lumOff val="80000"/>
            </a:schemeClr>
          </a:solidFill>
        </p:spPr>
        <p:style>
          <a:lnRef idx="1">
            <a:schemeClr val="accent5"/>
          </a:lnRef>
          <a:fillRef idx="2">
            <a:schemeClr val="accent5"/>
          </a:fillRef>
          <a:effectRef idx="1">
            <a:schemeClr val="accent5"/>
          </a:effectRef>
          <a:fontRef idx="minor">
            <a:schemeClr val="dk1"/>
          </a:fontRef>
        </p:style>
        <p:txBody>
          <a:bodyPr wrap="square">
            <a:spAutoFit/>
          </a:bodyPr>
          <a:lstStyle/>
          <a:p>
            <a:pPr marL="457200" lvl="0" indent="-457200">
              <a:buFont typeface="+mj-lt"/>
              <a:buAutoNum type="arabicPeriod"/>
            </a:pPr>
            <a:r>
              <a:rPr lang="en-US" sz="2000" b="1" dirty="0">
                <a:latin typeface="Calibri" panose="020F0502020204030204" pitchFamily="34" charset="0"/>
                <a:cs typeface="Calibri" panose="020F0502020204030204" pitchFamily="34" charset="0"/>
              </a:rPr>
              <a:t>From Multimodal AI to Deep Learning</a:t>
            </a:r>
            <a:r>
              <a:rPr lang="en-US" sz="2000" dirty="0">
                <a:latin typeface="Calibri" panose="020F0502020204030204" pitchFamily="34" charset="0"/>
                <a:cs typeface="Calibri" panose="020F0502020204030204" pitchFamily="34" charset="0"/>
              </a:rPr>
              <a:t> </a:t>
            </a:r>
          </a:p>
          <a:p>
            <a:pPr marL="457200" lvl="0" indent="-457200">
              <a:buFont typeface="+mj-lt"/>
              <a:buAutoNum type="arabicPeriod"/>
            </a:pPr>
            <a:r>
              <a:rPr lang="en-US" sz="2000" b="1" dirty="0">
                <a:latin typeface="Calibri" panose="020F0502020204030204" pitchFamily="34" charset="0"/>
                <a:cs typeface="Calibri" panose="020F0502020204030204" pitchFamily="34" charset="0"/>
              </a:rPr>
              <a:t>Deep Learning Foundations</a:t>
            </a:r>
            <a:r>
              <a:rPr lang="en-US" sz="2000" dirty="0">
                <a:latin typeface="Calibri" panose="020F0502020204030204" pitchFamily="34" charset="0"/>
                <a:cs typeface="Calibri" panose="020F0502020204030204" pitchFamily="34" charset="0"/>
              </a:rPr>
              <a:t> </a:t>
            </a:r>
          </a:p>
          <a:p>
            <a:pPr marL="971550" lvl="1" indent="-514350">
              <a:buFont typeface="+mj-lt"/>
              <a:buAutoNum type="romanLcPeriod"/>
            </a:pPr>
            <a:r>
              <a:rPr lang="en-US" sz="2000" dirty="0">
                <a:latin typeface="Calibri" panose="020F0502020204030204" pitchFamily="34" charset="0"/>
                <a:cs typeface="Calibri" panose="020F0502020204030204" pitchFamily="34" charset="0"/>
              </a:rPr>
              <a:t>Neural Networks </a:t>
            </a:r>
          </a:p>
          <a:p>
            <a:pPr marL="971550" lvl="1" indent="-514350">
              <a:buFont typeface="+mj-lt"/>
              <a:buAutoNum type="romanLcPeriod"/>
            </a:pPr>
            <a:r>
              <a:rPr lang="en-US" sz="2000" dirty="0">
                <a:latin typeface="Calibri" panose="020F0502020204030204" pitchFamily="34" charset="0"/>
                <a:cs typeface="Calibri" panose="020F0502020204030204" pitchFamily="34" charset="0"/>
              </a:rPr>
              <a:t>The Artificial Neurons</a:t>
            </a:r>
          </a:p>
          <a:p>
            <a:pPr marL="971550" lvl="1" indent="-514350">
              <a:buFont typeface="+mj-lt"/>
              <a:buAutoNum type="romanLcPeriod"/>
            </a:pPr>
            <a:r>
              <a:rPr lang="en-US" sz="2000" dirty="0">
                <a:latin typeface="Calibri" panose="020F0502020204030204" pitchFamily="34" charset="0"/>
                <a:cs typeface="Calibri" panose="020F0502020204030204" pitchFamily="34" charset="0"/>
              </a:rPr>
              <a:t>Activation Functions </a:t>
            </a:r>
          </a:p>
          <a:p>
            <a:pPr marL="457200" lvl="0" indent="-457200">
              <a:buFont typeface="+mj-lt"/>
              <a:buAutoNum type="arabicPeriod"/>
            </a:pPr>
            <a:r>
              <a:rPr lang="en-US" sz="2000" b="1" dirty="0">
                <a:latin typeface="Calibri" panose="020F0502020204030204" pitchFamily="34" charset="0"/>
                <a:cs typeface="Calibri" panose="020F0502020204030204" pitchFamily="34" charset="0"/>
              </a:rPr>
              <a:t>How Neural Networks Learn</a:t>
            </a:r>
            <a:r>
              <a:rPr lang="en-US" sz="2000" dirty="0">
                <a:latin typeface="Calibri" panose="020F0502020204030204" pitchFamily="34" charset="0"/>
                <a:cs typeface="Calibri" panose="020F0502020204030204" pitchFamily="34" charset="0"/>
              </a:rPr>
              <a:t> </a:t>
            </a:r>
          </a:p>
          <a:p>
            <a:pPr marL="971550" lvl="1" indent="-514350">
              <a:buFont typeface="+mj-lt"/>
              <a:buAutoNum type="romanLcPeriod"/>
            </a:pPr>
            <a:r>
              <a:rPr lang="en-US" sz="2000" dirty="0">
                <a:latin typeface="Calibri" panose="020F0502020204030204" pitchFamily="34" charset="0"/>
                <a:cs typeface="Calibri" panose="020F0502020204030204" pitchFamily="34" charset="0"/>
              </a:rPr>
              <a:t>Forward Propagation </a:t>
            </a:r>
          </a:p>
          <a:p>
            <a:pPr marL="971550" lvl="1" indent="-514350">
              <a:buFont typeface="+mj-lt"/>
              <a:buAutoNum type="romanLcPeriod"/>
            </a:pPr>
            <a:r>
              <a:rPr lang="en-US" sz="2000" dirty="0">
                <a:latin typeface="Calibri" panose="020F0502020204030204" pitchFamily="34" charset="0"/>
                <a:cs typeface="Calibri" panose="020F0502020204030204" pitchFamily="34" charset="0"/>
              </a:rPr>
              <a:t>Loss &amp; Cost Functions </a:t>
            </a:r>
          </a:p>
          <a:p>
            <a:pPr marL="971550" lvl="1" indent="-514350">
              <a:buFont typeface="+mj-lt"/>
              <a:buAutoNum type="romanLcPeriod"/>
            </a:pPr>
            <a:r>
              <a:rPr lang="en-US" sz="2000" dirty="0">
                <a:latin typeface="Calibri" panose="020F0502020204030204" pitchFamily="34" charset="0"/>
                <a:cs typeface="Calibri" panose="020F0502020204030204" pitchFamily="34" charset="0"/>
              </a:rPr>
              <a:t>Backpropagation </a:t>
            </a:r>
          </a:p>
          <a:p>
            <a:pPr marL="971550" lvl="1" indent="-514350">
              <a:buFont typeface="+mj-lt"/>
              <a:buAutoNum type="romanLcPeriod"/>
            </a:pPr>
            <a:r>
              <a:rPr lang="en-US" sz="2000" dirty="0">
                <a:latin typeface="Calibri" panose="020F0502020204030204" pitchFamily="34" charset="0"/>
                <a:cs typeface="Calibri" panose="020F0502020204030204" pitchFamily="34" charset="0"/>
              </a:rPr>
              <a:t>Optimization Algorithms </a:t>
            </a:r>
          </a:p>
          <a:p>
            <a:pPr marL="971550" lvl="1" indent="-514350">
              <a:buFont typeface="+mj-lt"/>
              <a:buAutoNum type="romanLcPeriod"/>
            </a:pPr>
            <a:r>
              <a:rPr lang="en-US" sz="2000" dirty="0">
                <a:latin typeface="Calibri" panose="020F0502020204030204" pitchFamily="34" charset="0"/>
                <a:cs typeface="Calibri" panose="020F0502020204030204" pitchFamily="34" charset="0"/>
              </a:rPr>
              <a:t>Training Process </a:t>
            </a:r>
          </a:p>
          <a:p>
            <a:pPr marL="457200" lvl="0" indent="-457200">
              <a:buFont typeface="+mj-lt"/>
              <a:buAutoNum type="arabicPeriod"/>
            </a:pPr>
            <a:r>
              <a:rPr lang="en-US" sz="2000" b="1" dirty="0">
                <a:latin typeface="Calibri" panose="020F0502020204030204" pitchFamily="34" charset="0"/>
                <a:cs typeface="Calibri" panose="020F0502020204030204" pitchFamily="34" charset="0"/>
              </a:rPr>
              <a:t>Representation Learning</a:t>
            </a:r>
            <a:r>
              <a:rPr lang="en-US" sz="2000" dirty="0">
                <a:latin typeface="Calibri" panose="020F0502020204030204" pitchFamily="34" charset="0"/>
                <a:cs typeface="Calibri" panose="020F0502020204030204" pitchFamily="34" charset="0"/>
              </a:rPr>
              <a:t> </a:t>
            </a:r>
          </a:p>
          <a:p>
            <a:pPr marL="971550" lvl="1" indent="-514350">
              <a:buFont typeface="+mj-lt"/>
              <a:buAutoNum type="romanLcPeriod"/>
            </a:pPr>
            <a:r>
              <a:rPr lang="en-US" sz="2000" dirty="0">
                <a:latin typeface="Calibri" panose="020F0502020204030204" pitchFamily="34" charset="0"/>
                <a:cs typeface="Calibri" panose="020F0502020204030204" pitchFamily="34" charset="0"/>
              </a:rPr>
              <a:t>Learned Features </a:t>
            </a:r>
          </a:p>
          <a:p>
            <a:pPr marL="971550" lvl="1" indent="-514350">
              <a:buFont typeface="+mj-lt"/>
              <a:buAutoNum type="romanLcPeriod"/>
            </a:pPr>
            <a:r>
              <a:rPr lang="en-US" sz="2000" dirty="0">
                <a:latin typeface="Calibri" panose="020F0502020204030204" pitchFamily="34" charset="0"/>
                <a:cs typeface="Calibri" panose="020F0502020204030204" pitchFamily="34" charset="0"/>
              </a:rPr>
              <a:t>Embeddings </a:t>
            </a:r>
          </a:p>
          <a:p>
            <a:pPr marL="971550" lvl="1" indent="-514350">
              <a:buFont typeface="+mj-lt"/>
              <a:buAutoNum type="romanLcPeriod"/>
            </a:pPr>
            <a:r>
              <a:rPr lang="en-US" sz="2000" dirty="0">
                <a:latin typeface="Calibri" panose="020F0502020204030204" pitchFamily="34" charset="0"/>
                <a:cs typeface="Calibri" panose="020F0502020204030204" pitchFamily="34" charset="0"/>
              </a:rPr>
              <a:t>Latent Space</a:t>
            </a:r>
          </a:p>
          <a:p>
            <a:pPr marL="971550" lvl="1" indent="-514350">
              <a:buFont typeface="+mj-lt"/>
              <a:buAutoNum type="romanLcPeriod"/>
            </a:pPr>
            <a:r>
              <a:rPr lang="en-US" sz="2000" dirty="0">
                <a:latin typeface="Calibri" panose="020F0502020204030204" pitchFamily="34" charset="0"/>
                <a:cs typeface="Calibri" panose="020F0502020204030204" pitchFamily="34" charset="0"/>
              </a:rPr>
              <a:t>Embeddings &amp; Latent Space (both)</a:t>
            </a:r>
          </a:p>
        </p:txBody>
      </p:sp>
      <p:sp>
        <p:nvSpPr>
          <p:cNvPr id="1048598" name="Rectangle 8"/>
          <p:cNvSpPr/>
          <p:nvPr/>
        </p:nvSpPr>
        <p:spPr>
          <a:xfrm>
            <a:off x="-1" y="0"/>
            <a:ext cx="12192001" cy="873760"/>
          </a:xfrm>
          <a:prstGeom prst="rect">
            <a:avLst/>
          </a:prstGeom>
          <a:solidFill>
            <a:srgbClr val="0E2841"/>
          </a:solidFill>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ctr"/>
            <a:r>
              <a:rPr lang="en-US" sz="4400" b="1" dirty="0">
                <a:latin typeface="Calibri" panose="020F0502020204030204" pitchFamily="34" charset="0"/>
                <a:cs typeface="Calibri" panose="020F0502020204030204" pitchFamily="34" charset="0"/>
              </a:rPr>
              <a:t>Main contents</a:t>
            </a:r>
            <a:endParaRPr lang="en-PK" sz="4400" b="1" dirty="0">
              <a:latin typeface="Calibri" panose="020F0502020204030204" pitchFamily="34" charset="0"/>
              <a:cs typeface="Calibri" panose="020F0502020204030204" pitchFamily="34" charset="0"/>
            </a:endParaRPr>
          </a:p>
        </p:txBody>
      </p:sp>
      <p:sp>
        <p:nvSpPr>
          <p:cNvPr id="1048599" name="Rectangle 4"/>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r>
              <a:rPr lang="en-US" sz="2400" dirty="0">
                <a:latin typeface="Calibri" panose="020F0502020204030204" pitchFamily="34" charset="0"/>
                <a:cs typeface="Calibri" panose="020F0502020204030204" pitchFamily="34" charset="0"/>
              </a:rPr>
              <a:t>2</a:t>
            </a:r>
            <a:endParaRPr lang="en-PK" sz="2400" dirty="0">
              <a:latin typeface="Calibri" panose="020F0502020204030204" pitchFamily="34" charset="0"/>
              <a:cs typeface="Calibri" panose="020F050202020403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0" name="Rectangle 4"/>
          <p:cNvSpPr/>
          <p:nvPr/>
        </p:nvSpPr>
        <p:spPr>
          <a:xfrm>
            <a:off x="0" y="0"/>
            <a:ext cx="12192000" cy="873760"/>
          </a:xfrm>
          <a:prstGeom prst="rect">
            <a:avLst/>
          </a:prstGeom>
          <a:solidFill>
            <a:srgbClr val="0E2841"/>
          </a:solidFill>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r>
              <a:rPr lang="en-US" sz="3200" b="1" dirty="0">
                <a:latin typeface="Calibri" panose="020F0502020204030204" pitchFamily="34" charset="0"/>
                <a:cs typeface="Calibri" panose="020F0502020204030204" pitchFamily="34" charset="0"/>
              </a:rPr>
              <a:t>1. From Multimodal AI to Deep Learning</a:t>
            </a:r>
            <a:endParaRPr lang="en-PK" sz="3200" b="1" dirty="0">
              <a:latin typeface="Calibri" panose="020F0502020204030204" pitchFamily="34" charset="0"/>
              <a:cs typeface="Calibri" panose="020F0502020204030204" pitchFamily="34" charset="0"/>
            </a:endParaRPr>
          </a:p>
        </p:txBody>
      </p:sp>
      <p:pic>
        <p:nvPicPr>
          <p:cNvPr id="2097153" name="Picture 3" descr="The Rise of Multi-Modal AI: How Text, Images, and Audio Come Together |  Medium"/>
          <p:cNvPicPr>
            <a:picLocks noChangeAspect="1"/>
          </p:cNvPicPr>
          <p:nvPr/>
        </p:nvPicPr>
        <p:blipFill>
          <a:blip r:embed="rId2"/>
          <a:srcRect l="6362" t="20124"/>
          <a:stretch>
            <a:fillRect/>
          </a:stretch>
        </p:blipFill>
        <p:spPr>
          <a:xfrm>
            <a:off x="7010400" y="3581400"/>
            <a:ext cx="5102942" cy="3041369"/>
          </a:xfrm>
          <a:prstGeom prst="rect">
            <a:avLst/>
          </a:prstGeom>
        </p:spPr>
      </p:pic>
      <p:pic>
        <p:nvPicPr>
          <p:cNvPr id="2097154" name="Picture 12" descr="What changes when an AI model can inspect more than text? Multimodal models  work across multiple data types, such as text, images, audio, and video.  Instead of treating every input identically, they"/>
          <p:cNvPicPr>
            <a:picLocks noChangeAspect="1"/>
          </p:cNvPicPr>
          <p:nvPr/>
        </p:nvPicPr>
        <p:blipFill>
          <a:blip r:embed="rId3"/>
          <a:srcRect l="5462" t="28314" r="4124" b="40019"/>
          <a:stretch>
            <a:fillRect/>
          </a:stretch>
        </p:blipFill>
        <p:spPr>
          <a:xfrm>
            <a:off x="7239000" y="1219200"/>
            <a:ext cx="4678182" cy="2057400"/>
          </a:xfrm>
          <a:prstGeom prst="rect">
            <a:avLst/>
          </a:prstGeom>
        </p:spPr>
      </p:pic>
      <p:sp>
        <p:nvSpPr>
          <p:cNvPr id="1048601" name="TextBox 14"/>
          <p:cNvSpPr txBox="1"/>
          <p:nvPr/>
        </p:nvSpPr>
        <p:spPr>
          <a:xfrm>
            <a:off x="274818" y="1015742"/>
            <a:ext cx="6506982" cy="2616101"/>
          </a:xfrm>
          <a:prstGeom prst="rect">
            <a:avLst/>
          </a:prstGeom>
          <a:noFill/>
        </p:spPr>
        <p:txBody>
          <a:bodyPr wrap="square">
            <a:spAutoFit/>
          </a:bodyPr>
          <a:lstStyle/>
          <a:p>
            <a:pPr>
              <a:buNone/>
            </a:pPr>
            <a:r>
              <a:rPr lang="en-US" sz="2400" b="1" dirty="0">
                <a:latin typeface="Calibri" panose="020F0502020204030204" pitchFamily="34" charset="0"/>
                <a:cs typeface="Calibri" panose="020F0502020204030204" pitchFamily="34" charset="0"/>
              </a:rPr>
              <a:t>What Did We Learn in Previous lecture (s)?</a:t>
            </a:r>
            <a:endParaRPr lang="en-US" sz="2000" b="1" dirty="0">
              <a:latin typeface="Calibri" panose="020F0502020204030204" pitchFamily="34" charset="0"/>
              <a:cs typeface="Calibri" panose="020F0502020204030204" pitchFamily="34" charset="0"/>
            </a:endParaRPr>
          </a:p>
          <a:p>
            <a:pPr marL="342900" lvl="0" indent="-342900">
              <a:buFont typeface="Arial" panose="020B0604020202020204" pitchFamily="34" charset="0"/>
              <a:buChar char="•"/>
            </a:pPr>
            <a:r>
              <a:rPr lang="en-US" sz="2000" dirty="0">
                <a:latin typeface="Calibri" panose="020F0502020204030204" pitchFamily="34" charset="0"/>
                <a:cs typeface="Calibri" panose="020F0502020204030204" pitchFamily="34" charset="0"/>
              </a:rPr>
              <a:t>Multimodal AI works with different types of information: </a:t>
            </a:r>
          </a:p>
          <a:p>
            <a:pPr marL="742950" lvl="1" indent="-285750">
              <a:buFont typeface="Arial" panose="020B0604020202020204" pitchFamily="34" charset="0"/>
              <a:buChar char="•"/>
            </a:pPr>
            <a:r>
              <a:rPr lang="en-US" sz="2000" dirty="0">
                <a:latin typeface="Calibri" panose="020F0502020204030204" pitchFamily="34" charset="0"/>
                <a:cs typeface="Calibri" panose="020F0502020204030204" pitchFamily="34" charset="0"/>
              </a:rPr>
              <a:t>Images </a:t>
            </a:r>
          </a:p>
          <a:p>
            <a:pPr marL="742950" lvl="1" indent="-285750">
              <a:buFont typeface="Arial" panose="020B0604020202020204" pitchFamily="34" charset="0"/>
              <a:buChar char="•"/>
            </a:pPr>
            <a:r>
              <a:rPr lang="en-US" sz="2000" dirty="0">
                <a:latin typeface="Calibri" panose="020F0502020204030204" pitchFamily="34" charset="0"/>
                <a:cs typeface="Calibri" panose="020F0502020204030204" pitchFamily="34" charset="0"/>
              </a:rPr>
              <a:t>Text </a:t>
            </a:r>
          </a:p>
          <a:p>
            <a:pPr marL="742950" lvl="1" indent="-285750">
              <a:buFont typeface="Arial" panose="020B0604020202020204" pitchFamily="34" charset="0"/>
              <a:buChar char="•"/>
            </a:pPr>
            <a:r>
              <a:rPr lang="en-US" sz="2000" dirty="0">
                <a:latin typeface="Calibri" panose="020F0502020204030204" pitchFamily="34" charset="0"/>
                <a:cs typeface="Calibri" panose="020F0502020204030204" pitchFamily="34" charset="0"/>
              </a:rPr>
              <a:t> Audio </a:t>
            </a:r>
          </a:p>
          <a:p>
            <a:pPr marL="742950" lvl="1" indent="-285750">
              <a:buFont typeface="Arial" panose="020B0604020202020204" pitchFamily="34" charset="0"/>
              <a:buChar char="•"/>
            </a:pPr>
            <a:r>
              <a:rPr lang="en-US" sz="2000" dirty="0">
                <a:latin typeface="Calibri" panose="020F0502020204030204" pitchFamily="34" charset="0"/>
                <a:cs typeface="Calibri" panose="020F0502020204030204" pitchFamily="34" charset="0"/>
              </a:rPr>
              <a:t>Video </a:t>
            </a:r>
          </a:p>
          <a:p>
            <a:pPr marL="342900" lvl="0" indent="-342900">
              <a:buFont typeface="Arial" panose="020B0604020202020204" pitchFamily="34" charset="0"/>
              <a:buChar char="•"/>
            </a:pPr>
            <a:r>
              <a:rPr lang="en-US" sz="2000" dirty="0">
                <a:latin typeface="Calibri" panose="020F0502020204030204" pitchFamily="34" charset="0"/>
                <a:cs typeface="Calibri" panose="020F0502020204030204" pitchFamily="34" charset="0"/>
              </a:rPr>
              <a:t>It learns to understand, connect, and use information across modalities</a:t>
            </a:r>
          </a:p>
        </p:txBody>
      </p:sp>
      <p:sp>
        <p:nvSpPr>
          <p:cNvPr id="1048602" name="TextBox 16"/>
          <p:cNvSpPr txBox="1"/>
          <p:nvPr/>
        </p:nvSpPr>
        <p:spPr>
          <a:xfrm>
            <a:off x="274818" y="3962400"/>
            <a:ext cx="6735582" cy="2275841"/>
          </a:xfrm>
          <a:prstGeom prst="rect">
            <a:avLst/>
          </a:prstGeom>
          <a:noFill/>
        </p:spPr>
        <p:txBody>
          <a:bodyPr wrap="square">
            <a:spAutoFit/>
          </a:bodyPr>
          <a:lstStyle/>
          <a:p>
            <a:pPr>
              <a:buNone/>
            </a:pPr>
            <a:r>
              <a:rPr lang="en-US" sz="2400" b="1" dirty="0">
                <a:latin typeface="Calibri" panose="020F0502020204030204" pitchFamily="34" charset="0"/>
                <a:cs typeface="Calibri" panose="020F0502020204030204" pitchFamily="34" charset="0"/>
              </a:rPr>
              <a:t>What Do We Need Next?</a:t>
            </a:r>
            <a:endParaRPr lang="en-US" sz="2000" b="1" dirty="0">
              <a:latin typeface="Calibri" panose="020F0502020204030204" pitchFamily="34" charset="0"/>
              <a:cs typeface="Calibri" panose="020F0502020204030204" pitchFamily="34" charset="0"/>
            </a:endParaRPr>
          </a:p>
          <a:p>
            <a:pPr marL="342900" lvl="0" indent="-342900">
              <a:buFont typeface="Arial" panose="020B0604020202020204" pitchFamily="34" charset="0"/>
              <a:buChar char="•"/>
            </a:pPr>
            <a:r>
              <a:rPr lang="en-US" sz="2000" dirty="0">
                <a:latin typeface="Calibri" panose="020F0502020204030204" pitchFamily="34" charset="0"/>
                <a:cs typeface="Calibri" panose="020F0502020204030204" pitchFamily="34" charset="0"/>
              </a:rPr>
              <a:t>How can machines learn useful information from data? </a:t>
            </a:r>
          </a:p>
          <a:p>
            <a:pPr marL="342900" lvl="0" indent="-342900">
              <a:buFont typeface="Arial" panose="020B0604020202020204" pitchFamily="34" charset="0"/>
              <a:buChar char="•"/>
            </a:pPr>
            <a:r>
              <a:rPr lang="en-US" sz="2000" dirty="0">
                <a:latin typeface="Calibri" panose="020F0502020204030204" pitchFamily="34" charset="0"/>
                <a:cs typeface="Calibri" panose="020F0502020204030204" pitchFamily="34" charset="0"/>
              </a:rPr>
              <a:t>How can data become useful representations? </a:t>
            </a:r>
          </a:p>
          <a:p>
            <a:pPr marL="342900" lvl="0" indent="-342900">
              <a:buFont typeface="Arial" panose="020B0604020202020204" pitchFamily="34" charset="0"/>
              <a:buChar char="•"/>
            </a:pPr>
            <a:r>
              <a:rPr lang="en-US" sz="2000" dirty="0">
                <a:latin typeface="Calibri" panose="020F0502020204030204" pitchFamily="34" charset="0"/>
                <a:cs typeface="Calibri" panose="020F0502020204030204" pitchFamily="34" charset="0"/>
              </a:rPr>
              <a:t>How can these representations be connected and compared? </a:t>
            </a:r>
          </a:p>
          <a:p>
            <a:pPr>
              <a:buNone/>
            </a:pPr>
            <a:r>
              <a:rPr lang="en-US" sz="2000" b="1" dirty="0">
                <a:latin typeface="Calibri" panose="020F0502020204030204" pitchFamily="34" charset="0"/>
                <a:cs typeface="Calibri" panose="020F0502020204030204" pitchFamily="34" charset="0"/>
              </a:rPr>
              <a:t>Answer:</a:t>
            </a:r>
            <a:r>
              <a:rPr lang="en-US" sz="2000" dirty="0">
                <a:latin typeface="Calibri" panose="020F0502020204030204" pitchFamily="34" charset="0"/>
                <a:cs typeface="Calibri" panose="020F0502020204030204" pitchFamily="34" charset="0"/>
              </a:rPr>
              <a:t> Deep Learning</a:t>
            </a:r>
          </a:p>
          <a:p>
            <a:pPr>
              <a:buNone/>
            </a:pPr>
            <a:r>
              <a:rPr lang="en-US" sz="2000" dirty="0">
                <a:latin typeface="Calibri" panose="020F0502020204030204" pitchFamily="34" charset="0"/>
                <a:cs typeface="Calibri" panose="020F0502020204030204" pitchFamily="34" charset="0"/>
              </a:rPr>
              <a:t>Deep learning learns useful representations from data.</a:t>
            </a:r>
          </a:p>
        </p:txBody>
      </p:sp>
      <p:sp>
        <p:nvSpPr>
          <p:cNvPr id="1048603" name="Rectangle 4"/>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r>
              <a:rPr lang="en-US" sz="2400" dirty="0">
                <a:latin typeface="Calibri" panose="020F0502020204030204" pitchFamily="34" charset="0"/>
                <a:cs typeface="Calibri" panose="020F0502020204030204" pitchFamily="34" charset="0"/>
              </a:rPr>
              <a:t>3</a:t>
            </a:r>
            <a:endParaRPr lang="en-PK" sz="2400" dirty="0">
              <a:latin typeface="Calibri" panose="020F0502020204030204" pitchFamily="34" charset="0"/>
              <a:cs typeface="Calibri" panose="020F050202020403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5" name="Rectangle 4"/>
          <p:cNvSpPr/>
          <p:nvPr/>
        </p:nvSpPr>
        <p:spPr>
          <a:xfrm>
            <a:off x="0" y="0"/>
            <a:ext cx="12192000" cy="873760"/>
          </a:xfrm>
          <a:prstGeom prst="rect">
            <a:avLst/>
          </a:prstGeom>
          <a:solidFill>
            <a:srgbClr val="0E2841"/>
          </a:solidFill>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r>
              <a:rPr lang="en-US" sz="3200" b="1" dirty="0">
                <a:latin typeface="Calibri" panose="020F0502020204030204" pitchFamily="34" charset="0"/>
                <a:cs typeface="Calibri" panose="020F0502020204030204" pitchFamily="34" charset="0"/>
              </a:rPr>
              <a:t>1. From Multimodal AI to Deep Learning </a:t>
            </a:r>
            <a:r>
              <a:rPr lang="en-US" sz="2000" b="1" dirty="0">
                <a:latin typeface="Calibri" panose="020F0502020204030204" pitchFamily="34" charset="0"/>
                <a:cs typeface="Calibri" panose="020F0502020204030204" pitchFamily="34" charset="0"/>
              </a:rPr>
              <a:t>(Con…)</a:t>
            </a:r>
            <a:endParaRPr lang="en-PK" sz="3200" b="1" dirty="0">
              <a:latin typeface="Calibri" panose="020F0502020204030204" pitchFamily="34" charset="0"/>
              <a:cs typeface="Calibri" panose="020F0502020204030204" pitchFamily="34" charset="0"/>
            </a:endParaRPr>
          </a:p>
        </p:txBody>
      </p:sp>
      <p:sp>
        <p:nvSpPr>
          <p:cNvPr id="1048676" name="TextBox 17"/>
          <p:cNvSpPr txBox="1"/>
          <p:nvPr/>
        </p:nvSpPr>
        <p:spPr>
          <a:xfrm>
            <a:off x="1676400" y="5814291"/>
            <a:ext cx="8305800" cy="707886"/>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lgn="ctr"/>
            <a:r>
              <a:rPr lang="en-US" sz="2000" dirty="0">
                <a:latin typeface="Calibri" panose="020F0502020204030204" pitchFamily="34" charset="0"/>
                <a:cs typeface="Calibri" panose="020F0502020204030204" pitchFamily="34" charset="0"/>
              </a:rPr>
              <a:t>Multimodal AI tells us WHAT information we want to combine; deep learning helps us learn HOW to represent that information.</a:t>
            </a:r>
          </a:p>
        </p:txBody>
      </p:sp>
      <p:pic>
        <p:nvPicPr>
          <p:cNvPr id="2097155" name="Picture 2"/>
          <p:cNvPicPr>
            <a:picLocks noChangeAspect="1"/>
          </p:cNvPicPr>
          <p:nvPr/>
        </p:nvPicPr>
        <p:blipFill>
          <a:blip r:embed="rId2"/>
          <a:stretch>
            <a:fillRect/>
          </a:stretch>
        </p:blipFill>
        <p:spPr>
          <a:xfrm>
            <a:off x="1143000" y="1023496"/>
            <a:ext cx="9753600" cy="4843904"/>
          </a:xfrm>
          <a:prstGeom prst="rect">
            <a:avLst/>
          </a:prstGeom>
        </p:spPr>
      </p:pic>
      <p:sp>
        <p:nvSpPr>
          <p:cNvPr id="1048677" name="Rectangle 4"/>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r>
              <a:rPr lang="en-US" sz="2400" dirty="0">
                <a:latin typeface="Calibri" panose="020F0502020204030204" pitchFamily="34" charset="0"/>
                <a:cs typeface="Calibri" panose="020F0502020204030204" pitchFamily="34" charset="0"/>
              </a:rPr>
              <a:t>4</a:t>
            </a:r>
            <a:endParaRPr lang="en-PK" sz="2400" dirty="0">
              <a:latin typeface="Calibri" panose="020F0502020204030204" pitchFamily="34" charset="0"/>
              <a:cs typeface="Calibri" panose="020F0502020204030204" pitchFamily="34" charset="0"/>
            </a:endParaRPr>
          </a:p>
        </p:txBody>
      </p:sp>
      <p:sp>
        <p:nvSpPr>
          <p:cNvPr id="2" name="Rectangle 1">
            <a:extLst>
              <a:ext uri="{FF2B5EF4-FFF2-40B4-BE49-F238E27FC236}">
                <a16:creationId xmlns:a16="http://schemas.microsoft.com/office/drawing/2014/main" id="{FAE2434A-2B9A-B31A-1CDC-14A1E2310669}"/>
              </a:ext>
            </a:extLst>
          </p:cNvPr>
          <p:cNvSpPr/>
          <p:nvPr/>
        </p:nvSpPr>
        <p:spPr>
          <a:xfrm>
            <a:off x="1169020" y="960136"/>
            <a:ext cx="2743200" cy="56386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Previously Covered</a:t>
            </a:r>
          </a:p>
        </p:txBody>
      </p:sp>
      <p:sp>
        <p:nvSpPr>
          <p:cNvPr id="4" name="Rectangle 3">
            <a:extLst>
              <a:ext uri="{FF2B5EF4-FFF2-40B4-BE49-F238E27FC236}">
                <a16:creationId xmlns:a16="http://schemas.microsoft.com/office/drawing/2014/main" id="{937711B0-5273-D090-D90C-FFA245E3CECF}"/>
              </a:ext>
            </a:extLst>
          </p:cNvPr>
          <p:cNvSpPr/>
          <p:nvPr/>
        </p:nvSpPr>
        <p:spPr>
          <a:xfrm>
            <a:off x="7924800" y="960136"/>
            <a:ext cx="2743200" cy="56386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Today’s/Next Focus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D395B">
            <a:alpha val="98824"/>
          </a:srgbClr>
        </a:solidFill>
        <a:effectLst/>
      </p:bgPr>
    </p:bg>
    <p:spTree>
      <p:nvGrpSpPr>
        <p:cNvPr id="1" name=""/>
        <p:cNvGrpSpPr/>
        <p:nvPr/>
      </p:nvGrpSpPr>
      <p:grpSpPr>
        <a:xfrm>
          <a:off x="0" y="0"/>
          <a:ext cx="0" cy="0"/>
          <a:chOff x="0" y="0"/>
          <a:chExt cx="0" cy="0"/>
        </a:xfrm>
      </p:grpSpPr>
      <p:sp>
        <p:nvSpPr>
          <p:cNvPr id="1048679" name="TextBox 3"/>
          <p:cNvSpPr txBox="1"/>
          <p:nvPr/>
        </p:nvSpPr>
        <p:spPr>
          <a:xfrm>
            <a:off x="992587" y="2849460"/>
            <a:ext cx="10006250" cy="2250441"/>
          </a:xfrm>
          <a:prstGeom prst="rect">
            <a:avLst/>
          </a:prstGeom>
          <a:noFill/>
        </p:spPr>
        <p:txBody>
          <a:bodyPr wrap="square" rtlCol="0">
            <a:spAutoFit/>
          </a:bodyPr>
          <a:lstStyle/>
          <a:p>
            <a:pPr algn="ctr"/>
            <a:r>
              <a:rPr lang="en-GB" sz="7200" dirty="0">
                <a:solidFill>
                  <a:schemeClr val="bg1"/>
                </a:solidFill>
                <a:effectLst>
                  <a:glow rad="139700">
                    <a:schemeClr val="accent1">
                      <a:satMod val="175000"/>
                      <a:alpha val="40000"/>
                    </a:schemeClr>
                  </a:glow>
                </a:effectLst>
                <a:latin typeface="Calibri" panose="020F0502020204030204" pitchFamily="34" charset="0"/>
                <a:cs typeface="Calibri" panose="020F0502020204030204" pitchFamily="34" charset="0"/>
              </a:rPr>
              <a:t>2. Deep Learning Foundations</a:t>
            </a:r>
          </a:p>
        </p:txBody>
      </p:sp>
      <p:sp>
        <p:nvSpPr>
          <p:cNvPr id="1048680" name="Rectangle 4"/>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r>
              <a:rPr lang="en-GB" sz="2000" dirty="0">
                <a:latin typeface="Calibri" panose="020F0502020204030204" pitchFamily="34" charset="0"/>
                <a:cs typeface="Calibri" panose="020F0502020204030204" pitchFamily="34" charset="0"/>
              </a:rPr>
              <a:t>5</a:t>
            </a:r>
            <a:endParaRPr lang="en-PK" sz="4400" dirty="0">
              <a:latin typeface="Calibri" panose="020F0502020204030204" pitchFamily="34" charset="0"/>
              <a:cs typeface="Calibri" panose="020F0502020204030204" pitchFamily="34" charset="0"/>
            </a:endParaRPr>
          </a:p>
        </p:txBody>
      </p:sp>
      <p:sp>
        <p:nvSpPr>
          <p:cNvPr id="1048681" name="Rectangle 4"/>
          <p:cNvSpPr/>
          <p:nvPr/>
        </p:nvSpPr>
        <p:spPr>
          <a:xfrm>
            <a:off x="0" y="0"/>
            <a:ext cx="12192000" cy="631371"/>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endParaRPr lang="en-PK" sz="4000" b="1" dirty="0">
              <a:latin typeface="Calibri" panose="020F0502020204030204" pitchFamily="34" charset="0"/>
              <a:cs typeface="Calibri" panose="020F050202020403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2" name="Rectangle 4"/>
          <p:cNvSpPr/>
          <p:nvPr/>
        </p:nvSpPr>
        <p:spPr>
          <a:xfrm>
            <a:off x="0" y="0"/>
            <a:ext cx="12192000" cy="873760"/>
          </a:xfrm>
          <a:prstGeom prst="rect">
            <a:avLst/>
          </a:prstGeom>
          <a:solidFill>
            <a:srgbClr val="0E2841"/>
          </a:solidFill>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r>
              <a:rPr lang="en-US" sz="3200" b="1" dirty="0">
                <a:latin typeface="Calibri" panose="020F0502020204030204" pitchFamily="34" charset="0"/>
                <a:cs typeface="Calibri" panose="020F0502020204030204" pitchFamily="34" charset="0"/>
              </a:rPr>
              <a:t>2. Deep Learning Foundations</a:t>
            </a:r>
            <a:endParaRPr lang="en-PK" sz="3200" b="1" dirty="0">
              <a:latin typeface="Calibri" panose="020F0502020204030204" pitchFamily="34" charset="0"/>
              <a:cs typeface="Calibri" panose="020F0502020204030204" pitchFamily="34" charset="0"/>
            </a:endParaRPr>
          </a:p>
        </p:txBody>
      </p:sp>
      <p:sp>
        <p:nvSpPr>
          <p:cNvPr id="1048683" name="TextBox 2"/>
          <p:cNvSpPr txBox="1"/>
          <p:nvPr/>
        </p:nvSpPr>
        <p:spPr>
          <a:xfrm>
            <a:off x="381000" y="1346061"/>
            <a:ext cx="6243484" cy="4460240"/>
          </a:xfrm>
          <a:prstGeom prst="rect">
            <a:avLst/>
          </a:prstGeom>
          <a:noFill/>
        </p:spPr>
        <p:txBody>
          <a:bodyPr wrap="square">
            <a:spAutoFit/>
          </a:bodyPr>
          <a:lstStyle/>
          <a:p>
            <a:pPr>
              <a:buNone/>
            </a:pPr>
            <a:r>
              <a:rPr lang="en-US" sz="2000" b="1" dirty="0">
                <a:latin typeface="Calibri" panose="020F0502020204030204" pitchFamily="34" charset="0"/>
                <a:cs typeface="Calibri" panose="020F0502020204030204" pitchFamily="34" charset="0"/>
              </a:rPr>
              <a:t>Deep Learning</a:t>
            </a:r>
            <a:r>
              <a:rPr lang="en-US" sz="2000" dirty="0">
                <a:latin typeface="Calibri" panose="020F0502020204030204" pitchFamily="34" charset="0"/>
                <a:cs typeface="Calibri" panose="020F0502020204030204" pitchFamily="34" charset="0"/>
              </a:rPr>
              <a:t> is a way for computers to learn patterns from data using neural networks with multiple layers.</a:t>
            </a:r>
          </a:p>
          <a:p>
            <a:pPr>
              <a:buNone/>
            </a:pPr>
            <a:endParaRPr lang="en-US" sz="2000" dirty="0">
              <a:latin typeface="Calibri" panose="020F0502020204030204" pitchFamily="34" charset="0"/>
              <a:cs typeface="Calibri" panose="020F0502020204030204" pitchFamily="34" charset="0"/>
            </a:endParaRPr>
          </a:p>
          <a:p>
            <a:pPr>
              <a:buNone/>
            </a:pPr>
            <a:r>
              <a:rPr lang="en-US" sz="2400" b="1" dirty="0">
                <a:latin typeface="Calibri" panose="020F0502020204030204" pitchFamily="34" charset="0"/>
                <a:cs typeface="Calibri" panose="020F0502020204030204" pitchFamily="34" charset="0"/>
              </a:rPr>
              <a:t>In simple words:</a:t>
            </a:r>
            <a:endParaRPr lang="en-US" sz="2000" dirty="0">
              <a:latin typeface="Calibri" panose="020F0502020204030204" pitchFamily="34" charset="0"/>
              <a:cs typeface="Calibri" panose="020F0502020204030204" pitchFamily="34" charset="0"/>
            </a:endParaRPr>
          </a:p>
          <a:p>
            <a:pPr>
              <a:buNone/>
            </a:pPr>
            <a:r>
              <a:rPr lang="en-US" sz="2000" dirty="0">
                <a:latin typeface="Calibri" panose="020F0502020204030204" pitchFamily="34" charset="0"/>
                <a:cs typeface="Calibri" panose="020F0502020204030204" pitchFamily="34" charset="0"/>
              </a:rPr>
              <a:t>Data → Learn Patterns → Make Predictions</a:t>
            </a:r>
          </a:p>
          <a:p>
            <a:pPr>
              <a:buNone/>
            </a:pPr>
            <a:endParaRPr lang="en-US" sz="2000" b="1" dirty="0">
              <a:latin typeface="Calibri" panose="020F0502020204030204" pitchFamily="34" charset="0"/>
              <a:cs typeface="Calibri" panose="020F0502020204030204" pitchFamily="34" charset="0"/>
            </a:endParaRPr>
          </a:p>
          <a:p>
            <a:pPr>
              <a:buNone/>
            </a:pPr>
            <a:r>
              <a:rPr lang="en-US" sz="2400" b="1" dirty="0">
                <a:latin typeface="Calibri" panose="020F0502020204030204" pitchFamily="34" charset="0"/>
                <a:cs typeface="Calibri" panose="020F0502020204030204" pitchFamily="34" charset="0"/>
              </a:rPr>
              <a:t>Three Basic Ideas</a:t>
            </a:r>
          </a:p>
          <a:p>
            <a:pPr marL="342900" lvl="0" indent="-342900">
              <a:buFont typeface="Arial" panose="020B0604020202020204" pitchFamily="34" charset="0"/>
              <a:buChar char="•"/>
            </a:pPr>
            <a:r>
              <a:rPr lang="en-US" sz="2000" dirty="0">
                <a:latin typeface="Calibri" panose="020F0502020204030204" pitchFamily="34" charset="0"/>
                <a:cs typeface="Calibri" panose="020F0502020204030204" pitchFamily="34" charset="0"/>
              </a:rPr>
              <a:t>Learns from data instead of relying only on manually designed rules. </a:t>
            </a:r>
          </a:p>
          <a:p>
            <a:pPr marL="342900" lvl="0" indent="-342900">
              <a:buFont typeface="Arial" panose="020B0604020202020204" pitchFamily="34" charset="0"/>
              <a:buChar char="•"/>
            </a:pPr>
            <a:r>
              <a:rPr lang="en-US" sz="2000" dirty="0">
                <a:latin typeface="Calibri" panose="020F0502020204030204" pitchFamily="34" charset="0"/>
                <a:cs typeface="Calibri" panose="020F0502020204030204" pitchFamily="34" charset="0"/>
              </a:rPr>
              <a:t>Learns useful representations from simple to complex patterns. </a:t>
            </a:r>
          </a:p>
          <a:p>
            <a:pPr marL="342900" lvl="0" indent="-342900">
              <a:buFont typeface="Arial" panose="020B0604020202020204" pitchFamily="34" charset="0"/>
              <a:buChar char="•"/>
            </a:pPr>
            <a:r>
              <a:rPr lang="en-US" sz="2000" dirty="0">
                <a:latin typeface="Calibri" panose="020F0502020204030204" pitchFamily="34" charset="0"/>
                <a:cs typeface="Calibri" panose="020F0502020204030204" pitchFamily="34" charset="0"/>
              </a:rPr>
              <a:t>Uses multiple layers to gradually transform the input into a useful output.</a:t>
            </a:r>
          </a:p>
        </p:txBody>
      </p:sp>
      <p:sp>
        <p:nvSpPr>
          <p:cNvPr id="1048684" name="TextBox 8"/>
          <p:cNvSpPr txBox="1"/>
          <p:nvPr/>
        </p:nvSpPr>
        <p:spPr>
          <a:xfrm>
            <a:off x="231989" y="5845314"/>
            <a:ext cx="6397113" cy="707886"/>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lgn="ctr"/>
            <a:r>
              <a:rPr lang="en-US" sz="2000" dirty="0">
                <a:latin typeface="Calibri" panose="020F0502020204030204" pitchFamily="34" charset="0"/>
                <a:cs typeface="Calibri" panose="020F0502020204030204" pitchFamily="34" charset="0"/>
              </a:rPr>
              <a:t>Deep learning learns useful patterns and representations from data.</a:t>
            </a:r>
          </a:p>
        </p:txBody>
      </p:sp>
      <p:pic>
        <p:nvPicPr>
          <p:cNvPr id="2097156" name="Picture 13"/>
          <p:cNvPicPr>
            <a:picLocks noChangeAspect="1"/>
          </p:cNvPicPr>
          <p:nvPr/>
        </p:nvPicPr>
        <p:blipFill>
          <a:blip r:embed="rId3"/>
          <a:srcRect l="1835" t="5020" r="61111" b="17871"/>
          <a:stretch>
            <a:fillRect/>
          </a:stretch>
        </p:blipFill>
        <p:spPr>
          <a:xfrm>
            <a:off x="7721600" y="968828"/>
            <a:ext cx="3581400" cy="2307772"/>
          </a:xfrm>
          <a:prstGeom prst="rect">
            <a:avLst/>
          </a:prstGeom>
        </p:spPr>
      </p:pic>
      <p:pic>
        <p:nvPicPr>
          <p:cNvPr id="2097157" name="Picture 17"/>
          <p:cNvPicPr>
            <a:picLocks noChangeAspect="1"/>
          </p:cNvPicPr>
          <p:nvPr/>
        </p:nvPicPr>
        <p:blipFill>
          <a:blip r:embed="rId3"/>
          <a:srcRect l="40278" t="5020" r="1389" b="14659"/>
          <a:stretch>
            <a:fillRect/>
          </a:stretch>
        </p:blipFill>
        <p:spPr>
          <a:xfrm>
            <a:off x="7467600" y="3599542"/>
            <a:ext cx="4267200" cy="2267858"/>
          </a:xfrm>
          <a:prstGeom prst="rect">
            <a:avLst/>
          </a:prstGeom>
        </p:spPr>
      </p:pic>
      <p:pic>
        <p:nvPicPr>
          <p:cNvPr id="2097158" name="Picture 19"/>
          <p:cNvPicPr>
            <a:picLocks noChangeAspect="1"/>
          </p:cNvPicPr>
          <p:nvPr/>
        </p:nvPicPr>
        <p:blipFill>
          <a:blip r:embed="rId3"/>
          <a:srcRect l="18056" t="82129" r="16666" b="5020"/>
          <a:stretch>
            <a:fillRect/>
          </a:stretch>
        </p:blipFill>
        <p:spPr>
          <a:xfrm>
            <a:off x="7721600" y="6190342"/>
            <a:ext cx="3581400" cy="304800"/>
          </a:xfrm>
          <a:prstGeom prst="rect">
            <a:avLst/>
          </a:prstGeom>
        </p:spPr>
      </p:pic>
      <p:sp>
        <p:nvSpPr>
          <p:cNvPr id="1048685" name="Rectangle 4"/>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r>
              <a:rPr lang="en-US" sz="2400" dirty="0">
                <a:latin typeface="Calibri" panose="020F0502020204030204" pitchFamily="34" charset="0"/>
                <a:cs typeface="Calibri" panose="020F0502020204030204" pitchFamily="34" charset="0"/>
              </a:rPr>
              <a:t>6</a:t>
            </a:r>
            <a:endParaRPr lang="en-PK" sz="2400" dirty="0">
              <a:latin typeface="Calibri" panose="020F0502020204030204" pitchFamily="34" charset="0"/>
              <a:cs typeface="Calibri" panose="020F050202020403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7" name="Rectangle 4"/>
          <p:cNvSpPr/>
          <p:nvPr/>
        </p:nvSpPr>
        <p:spPr>
          <a:xfrm>
            <a:off x="0" y="0"/>
            <a:ext cx="12192000" cy="873760"/>
          </a:xfrm>
          <a:prstGeom prst="rect">
            <a:avLst/>
          </a:prstGeom>
          <a:solidFill>
            <a:srgbClr val="0E2841"/>
          </a:solidFill>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r>
              <a:rPr lang="en-US" sz="3200" b="1" dirty="0">
                <a:latin typeface="Calibri" panose="020F0502020204030204" pitchFamily="34" charset="0"/>
                <a:cs typeface="Calibri" panose="020F0502020204030204" pitchFamily="34" charset="0"/>
              </a:rPr>
              <a:t>2. Deep Learning Foundations </a:t>
            </a:r>
            <a:r>
              <a:rPr lang="en-US" sz="2000" b="1" dirty="0">
                <a:latin typeface="Calibri" panose="020F0502020204030204" pitchFamily="34" charset="0"/>
                <a:cs typeface="Calibri" panose="020F0502020204030204" pitchFamily="34" charset="0"/>
              </a:rPr>
              <a:t>(Con…)</a:t>
            </a:r>
            <a:endParaRPr lang="en-PK" sz="3200" b="1" dirty="0">
              <a:latin typeface="Calibri" panose="020F0502020204030204" pitchFamily="34" charset="0"/>
              <a:cs typeface="Calibri" panose="020F0502020204030204" pitchFamily="34" charset="0"/>
            </a:endParaRPr>
          </a:p>
        </p:txBody>
      </p:sp>
      <p:sp>
        <p:nvSpPr>
          <p:cNvPr id="1048688" name="object 4"/>
          <p:cNvSpPr txBox="1"/>
          <p:nvPr/>
        </p:nvSpPr>
        <p:spPr>
          <a:xfrm>
            <a:off x="2354523" y="1043618"/>
            <a:ext cx="7476803" cy="330130"/>
          </a:xfrm>
          <a:prstGeom prst="rect">
            <a:avLst/>
          </a:prstGeom>
        </p:spPr>
        <p:txBody>
          <a:bodyPr vert="horz" wrap="square" lIns="0" tIns="12700" rIns="0" bIns="0" rtlCol="0">
            <a:spAutoFit/>
          </a:bodyPr>
          <a:lstStyle/>
          <a:p>
            <a:pPr marL="12700">
              <a:lnSpc>
                <a:spcPct val="100000"/>
              </a:lnSpc>
              <a:spcBef>
                <a:spcPts val="100"/>
              </a:spcBef>
            </a:pPr>
            <a:r>
              <a:rPr sz="2000" spc="90" dirty="0">
                <a:latin typeface="Calibri" panose="020F0502020204030204" pitchFamily="34" charset="0"/>
                <a:cs typeface="Calibri" panose="020F0502020204030204" pitchFamily="34" charset="0"/>
              </a:rPr>
              <a:t>Teaching</a:t>
            </a:r>
            <a:r>
              <a:rPr sz="2000" spc="204" dirty="0">
                <a:latin typeface="Calibri" panose="020F0502020204030204" pitchFamily="34" charset="0"/>
                <a:cs typeface="Calibri" panose="020F0502020204030204" pitchFamily="34" charset="0"/>
              </a:rPr>
              <a:t> </a:t>
            </a:r>
            <a:r>
              <a:rPr sz="2000" dirty="0">
                <a:latin typeface="Calibri" panose="020F0502020204030204" pitchFamily="34" charset="0"/>
                <a:cs typeface="Calibri" panose="020F0502020204030204" pitchFamily="34" charset="0"/>
              </a:rPr>
              <a:t>computers</a:t>
            </a:r>
            <a:r>
              <a:rPr sz="2000" spc="195" dirty="0">
                <a:latin typeface="Calibri" panose="020F0502020204030204" pitchFamily="34" charset="0"/>
                <a:cs typeface="Calibri" panose="020F0502020204030204" pitchFamily="34" charset="0"/>
              </a:rPr>
              <a:t> </a:t>
            </a:r>
            <a:r>
              <a:rPr sz="2000" dirty="0">
                <a:latin typeface="Calibri" panose="020F0502020204030204" pitchFamily="34" charset="0"/>
                <a:cs typeface="Calibri" panose="020F0502020204030204" pitchFamily="34" charset="0"/>
              </a:rPr>
              <a:t>how</a:t>
            </a:r>
            <a:r>
              <a:rPr sz="2000" spc="195" dirty="0">
                <a:latin typeface="Calibri" panose="020F0502020204030204" pitchFamily="34" charset="0"/>
                <a:cs typeface="Calibri" panose="020F0502020204030204" pitchFamily="34" charset="0"/>
              </a:rPr>
              <a:t> </a:t>
            </a:r>
            <a:r>
              <a:rPr sz="2000" dirty="0">
                <a:latin typeface="Calibri" panose="020F0502020204030204" pitchFamily="34" charset="0"/>
                <a:cs typeface="Calibri" panose="020F0502020204030204" pitchFamily="34" charset="0"/>
              </a:rPr>
              <a:t>to</a:t>
            </a:r>
            <a:r>
              <a:rPr sz="2000" spc="215" dirty="0">
                <a:latin typeface="Calibri" panose="020F0502020204030204" pitchFamily="34" charset="0"/>
                <a:cs typeface="Calibri" panose="020F0502020204030204" pitchFamily="34" charset="0"/>
              </a:rPr>
              <a:t> </a:t>
            </a:r>
            <a:r>
              <a:rPr sz="2000" b="1" spc="135" dirty="0">
                <a:latin typeface="Calibri" panose="020F0502020204030204" pitchFamily="34" charset="0"/>
                <a:cs typeface="Calibri" panose="020F0502020204030204" pitchFamily="34" charset="0"/>
              </a:rPr>
              <a:t>learn</a:t>
            </a:r>
            <a:r>
              <a:rPr sz="2000" b="1" spc="250" dirty="0">
                <a:latin typeface="Calibri" panose="020F0502020204030204" pitchFamily="34" charset="0"/>
                <a:cs typeface="Calibri" panose="020F0502020204030204" pitchFamily="34" charset="0"/>
              </a:rPr>
              <a:t> </a:t>
            </a:r>
            <a:r>
              <a:rPr sz="2000" b="1" spc="165" dirty="0">
                <a:latin typeface="Calibri" panose="020F0502020204030204" pitchFamily="34" charset="0"/>
                <a:cs typeface="Calibri" panose="020F0502020204030204" pitchFamily="34" charset="0"/>
              </a:rPr>
              <a:t>a</a:t>
            </a:r>
            <a:r>
              <a:rPr sz="2000" b="1" spc="229" dirty="0">
                <a:latin typeface="Calibri" panose="020F0502020204030204" pitchFamily="34" charset="0"/>
                <a:cs typeface="Calibri" panose="020F0502020204030204" pitchFamily="34" charset="0"/>
              </a:rPr>
              <a:t> </a:t>
            </a:r>
            <a:r>
              <a:rPr sz="2000" b="1" spc="140" dirty="0">
                <a:latin typeface="Calibri" panose="020F0502020204030204" pitchFamily="34" charset="0"/>
                <a:cs typeface="Calibri" panose="020F0502020204030204" pitchFamily="34" charset="0"/>
              </a:rPr>
              <a:t>task</a:t>
            </a:r>
            <a:r>
              <a:rPr sz="2000" b="1" spc="240" dirty="0">
                <a:latin typeface="Calibri" panose="020F0502020204030204" pitchFamily="34" charset="0"/>
                <a:cs typeface="Calibri" panose="020F0502020204030204" pitchFamily="34" charset="0"/>
              </a:rPr>
              <a:t> </a:t>
            </a:r>
            <a:r>
              <a:rPr sz="2000" spc="60" dirty="0">
                <a:latin typeface="Calibri" panose="020F0502020204030204" pitchFamily="34" charset="0"/>
                <a:cs typeface="Calibri" panose="020F0502020204030204" pitchFamily="34" charset="0"/>
              </a:rPr>
              <a:t>directly</a:t>
            </a:r>
            <a:r>
              <a:rPr sz="2000" spc="170" dirty="0">
                <a:latin typeface="Calibri" panose="020F0502020204030204" pitchFamily="34" charset="0"/>
                <a:cs typeface="Calibri" panose="020F0502020204030204" pitchFamily="34" charset="0"/>
              </a:rPr>
              <a:t> </a:t>
            </a:r>
            <a:r>
              <a:rPr sz="2000" dirty="0">
                <a:latin typeface="Calibri" panose="020F0502020204030204" pitchFamily="34" charset="0"/>
                <a:cs typeface="Calibri" panose="020F0502020204030204" pitchFamily="34" charset="0"/>
              </a:rPr>
              <a:t>from</a:t>
            </a:r>
            <a:r>
              <a:rPr sz="2000" spc="215" dirty="0">
                <a:latin typeface="Calibri" panose="020F0502020204030204" pitchFamily="34" charset="0"/>
                <a:cs typeface="Calibri" panose="020F0502020204030204" pitchFamily="34" charset="0"/>
              </a:rPr>
              <a:t> </a:t>
            </a:r>
            <a:r>
              <a:rPr sz="2000" b="1" spc="165" dirty="0">
                <a:latin typeface="Calibri" panose="020F0502020204030204" pitchFamily="34" charset="0"/>
                <a:cs typeface="Calibri" panose="020F0502020204030204" pitchFamily="34" charset="0"/>
              </a:rPr>
              <a:t>raw</a:t>
            </a:r>
            <a:r>
              <a:rPr sz="2000" b="1" spc="235" dirty="0">
                <a:latin typeface="Calibri" panose="020F0502020204030204" pitchFamily="34" charset="0"/>
                <a:cs typeface="Calibri" panose="020F0502020204030204" pitchFamily="34" charset="0"/>
              </a:rPr>
              <a:t> </a:t>
            </a:r>
            <a:r>
              <a:rPr sz="2000" b="1" spc="135" dirty="0">
                <a:latin typeface="Calibri" panose="020F0502020204030204" pitchFamily="34" charset="0"/>
                <a:cs typeface="Calibri" panose="020F0502020204030204" pitchFamily="34" charset="0"/>
              </a:rPr>
              <a:t>data</a:t>
            </a:r>
            <a:endParaRPr sz="2000" dirty="0">
              <a:latin typeface="Calibri" panose="020F0502020204030204" pitchFamily="34" charset="0"/>
              <a:cs typeface="Calibri" panose="020F0502020204030204" pitchFamily="34" charset="0"/>
            </a:endParaRPr>
          </a:p>
        </p:txBody>
      </p:sp>
      <p:sp>
        <p:nvSpPr>
          <p:cNvPr id="1048689" name="Rectangle 4"/>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r>
              <a:rPr lang="en-US" sz="2400" dirty="0">
                <a:latin typeface="Calibri" panose="020F0502020204030204" pitchFamily="34" charset="0"/>
                <a:cs typeface="Calibri" panose="020F0502020204030204" pitchFamily="34" charset="0"/>
              </a:rPr>
              <a:t>7</a:t>
            </a:r>
            <a:endParaRPr lang="en-PK" sz="2400" dirty="0">
              <a:latin typeface="Calibri" panose="020F0502020204030204" pitchFamily="34" charset="0"/>
              <a:cs typeface="Calibri" panose="020F0502020204030204" pitchFamily="34" charset="0"/>
            </a:endParaRPr>
          </a:p>
        </p:txBody>
      </p:sp>
      <p:sp>
        <p:nvSpPr>
          <p:cNvPr id="1048690" name="TextBox 1"/>
          <p:cNvSpPr txBox="1"/>
          <p:nvPr/>
        </p:nvSpPr>
        <p:spPr>
          <a:xfrm>
            <a:off x="5307360" y="3993760"/>
            <a:ext cx="7012597" cy="276999"/>
          </a:xfrm>
          <a:prstGeom prst="rect">
            <a:avLst/>
          </a:prstGeom>
          <a:noFill/>
        </p:spPr>
        <p:txBody>
          <a:bodyPr wrap="square" rtlCol="0">
            <a:spAutoFit/>
          </a:bodyPr>
          <a:lstStyle/>
          <a:p>
            <a:r>
              <a:rPr lang="en-US" sz="1200" b="1" dirty="0">
                <a:latin typeface="Calibri" panose="020F0502020204030204" pitchFamily="34" charset="0"/>
                <a:cs typeface="Calibri" panose="020F0502020204030204" pitchFamily="34" charset="0"/>
              </a:rPr>
              <a:t>Figure</a:t>
            </a:r>
            <a:r>
              <a:rPr lang="en-US" sz="1200" dirty="0">
                <a:latin typeface="Calibri" panose="020F0502020204030204" pitchFamily="34" charset="0"/>
                <a:cs typeface="Calibri" panose="020F0502020204030204" pitchFamily="34" charset="0"/>
              </a:rPr>
              <a:t>: Relationship between Artificial Intelligence, Machine Learning, and Deep Learning.</a:t>
            </a:r>
          </a:p>
        </p:txBody>
      </p:sp>
      <p:pic>
        <p:nvPicPr>
          <p:cNvPr id="15" name="Picture 14">
            <a:extLst>
              <a:ext uri="{FF2B5EF4-FFF2-40B4-BE49-F238E27FC236}">
                <a16:creationId xmlns:a16="http://schemas.microsoft.com/office/drawing/2014/main" id="{5218BE4F-2405-1B62-FEAF-32BB9D8C0F3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07360" y="1543607"/>
            <a:ext cx="6376640" cy="2418794"/>
          </a:xfrm>
          <a:prstGeom prst="rect">
            <a:avLst/>
          </a:prstGeom>
        </p:spPr>
      </p:pic>
      <p:sp>
        <p:nvSpPr>
          <p:cNvPr id="20" name="TextBox 19">
            <a:extLst>
              <a:ext uri="{FF2B5EF4-FFF2-40B4-BE49-F238E27FC236}">
                <a16:creationId xmlns:a16="http://schemas.microsoft.com/office/drawing/2014/main" id="{897C1EE5-A749-9878-6623-0C4A7EF16CBD}"/>
              </a:ext>
            </a:extLst>
          </p:cNvPr>
          <p:cNvSpPr txBox="1"/>
          <p:nvPr/>
        </p:nvSpPr>
        <p:spPr>
          <a:xfrm>
            <a:off x="701709" y="1574411"/>
            <a:ext cx="2422491" cy="923330"/>
          </a:xfrm>
          <a:prstGeom prst="rect">
            <a:avLst/>
          </a:prstGeom>
          <a:noFill/>
          <a:ln>
            <a:noFill/>
          </a:ln>
        </p:spPr>
        <p:style>
          <a:lnRef idx="0">
            <a:scrgbClr r="0" g="0" b="0"/>
          </a:lnRef>
          <a:fillRef idx="0">
            <a:scrgbClr r="0" g="0" b="0"/>
          </a:fillRef>
          <a:effectRef idx="0">
            <a:scrgbClr r="0" g="0" b="0"/>
          </a:effectRef>
          <a:fontRef idx="minor">
            <a:schemeClr val="accent6"/>
          </a:fontRef>
        </p:style>
        <p:txBody>
          <a:bodyPr wrap="square">
            <a:spAutoFit/>
          </a:bodyPr>
          <a:lstStyle/>
          <a:p>
            <a:pPr>
              <a:buNone/>
            </a:pPr>
            <a:r>
              <a:rPr lang="en-US" b="1" dirty="0">
                <a:solidFill>
                  <a:srgbClr val="0070C0"/>
                </a:solidFill>
                <a:latin typeface="Calibri" panose="020F0502020204030204" pitchFamily="34" charset="0"/>
                <a:cs typeface="Calibri" panose="020F0502020204030204" pitchFamily="34" charset="0"/>
              </a:rPr>
              <a:t>AI </a:t>
            </a:r>
            <a:r>
              <a:rPr lang="en-US" dirty="0">
                <a:solidFill>
                  <a:srgbClr val="0070C0"/>
                </a:solidFill>
                <a:latin typeface="Calibri" panose="020F0502020204030204" pitchFamily="34" charset="0"/>
                <a:cs typeface="Calibri" panose="020F0502020204030204" pitchFamily="34" charset="0"/>
              </a:rPr>
              <a:t>is the big umbrella.</a:t>
            </a:r>
          </a:p>
          <a:p>
            <a:pPr>
              <a:buNone/>
            </a:pPr>
            <a:r>
              <a:rPr lang="en-US" b="1" dirty="0">
                <a:solidFill>
                  <a:srgbClr val="0070C0"/>
                </a:solidFill>
                <a:latin typeface="Calibri" panose="020F0502020204030204" pitchFamily="34" charset="0"/>
                <a:cs typeface="Calibri" panose="020F0502020204030204" pitchFamily="34" charset="0"/>
              </a:rPr>
              <a:t>ML</a:t>
            </a:r>
            <a:r>
              <a:rPr lang="en-US" dirty="0">
                <a:solidFill>
                  <a:srgbClr val="0070C0"/>
                </a:solidFill>
                <a:latin typeface="Calibri" panose="020F0502020204030204" pitchFamily="34" charset="0"/>
                <a:cs typeface="Calibri" panose="020F0502020204030204" pitchFamily="34" charset="0"/>
              </a:rPr>
              <a:t> is the branch of AI</a:t>
            </a:r>
          </a:p>
          <a:p>
            <a:pPr>
              <a:buNone/>
            </a:pPr>
            <a:r>
              <a:rPr lang="en-US" b="1" dirty="0">
                <a:solidFill>
                  <a:srgbClr val="0070C0"/>
                </a:solidFill>
                <a:latin typeface="Calibri" panose="020F0502020204030204" pitchFamily="34" charset="0"/>
                <a:cs typeface="Calibri" panose="020F0502020204030204" pitchFamily="34" charset="0"/>
              </a:rPr>
              <a:t>DL</a:t>
            </a:r>
            <a:r>
              <a:rPr lang="en-US" dirty="0">
                <a:solidFill>
                  <a:srgbClr val="0070C0"/>
                </a:solidFill>
                <a:latin typeface="Calibri" panose="020F0502020204030204" pitchFamily="34" charset="0"/>
                <a:cs typeface="Calibri" panose="020F0502020204030204" pitchFamily="34" charset="0"/>
              </a:rPr>
              <a:t> is the branch of ML</a:t>
            </a:r>
          </a:p>
        </p:txBody>
      </p:sp>
      <p:sp>
        <p:nvSpPr>
          <p:cNvPr id="24" name="TextBox 23">
            <a:extLst>
              <a:ext uri="{FF2B5EF4-FFF2-40B4-BE49-F238E27FC236}">
                <a16:creationId xmlns:a16="http://schemas.microsoft.com/office/drawing/2014/main" id="{A389757A-B09D-A490-8C96-FD26FF21D52C}"/>
              </a:ext>
            </a:extLst>
          </p:cNvPr>
          <p:cNvSpPr txBox="1"/>
          <p:nvPr/>
        </p:nvSpPr>
        <p:spPr>
          <a:xfrm>
            <a:off x="658586" y="2803694"/>
            <a:ext cx="3913414" cy="1569660"/>
          </a:xfrm>
          <a:prstGeom prst="rect">
            <a:avLst/>
          </a:prstGeom>
          <a:noFill/>
          <a:ln>
            <a:noFill/>
          </a:ln>
        </p:spPr>
        <p:txBody>
          <a:bodyPr wrap="square">
            <a:spAutoFit/>
          </a:bodyPr>
          <a:lstStyle/>
          <a:p>
            <a:r>
              <a:rPr lang="en-US" sz="1600" b="1" dirty="0">
                <a:latin typeface="Calibri" panose="020F0502020204030204" pitchFamily="34" charset="0"/>
                <a:cs typeface="Calibri" panose="020F0502020204030204" pitchFamily="34" charset="0"/>
              </a:rPr>
              <a:t>Artificial Intelligence (AI)</a:t>
            </a:r>
          </a:p>
          <a:p>
            <a:r>
              <a:rPr lang="en-US" sz="1600" dirty="0">
                <a:latin typeface="Calibri" panose="020F0502020204030204" pitchFamily="34" charset="0"/>
                <a:cs typeface="Calibri" panose="020F0502020204030204" pitchFamily="34" charset="0"/>
              </a:rPr>
              <a:t>Making computers perform tasks that normally need human intelligence.</a:t>
            </a:r>
          </a:p>
          <a:p>
            <a:r>
              <a:rPr lang="en-US" sz="1600" b="1" dirty="0">
                <a:latin typeface="Calibri" panose="020F0502020204030204" pitchFamily="34" charset="0"/>
                <a:cs typeface="Calibri" panose="020F0502020204030204" pitchFamily="34" charset="0"/>
              </a:rPr>
              <a:t>Examples:</a:t>
            </a:r>
            <a:br>
              <a:rPr lang="en-US" sz="1600" dirty="0">
                <a:latin typeface="Calibri" panose="020F0502020204030204" pitchFamily="34" charset="0"/>
                <a:cs typeface="Calibri" panose="020F0502020204030204" pitchFamily="34" charset="0"/>
              </a:rPr>
            </a:br>
            <a:r>
              <a:rPr lang="en-US" sz="1600" dirty="0">
                <a:latin typeface="Calibri" panose="020F0502020204030204" pitchFamily="34" charset="0"/>
                <a:cs typeface="Calibri" panose="020F0502020204030204" pitchFamily="34" charset="0"/>
              </a:rPr>
              <a:t>Face recognition • Voice assistants • Chess-playing computers</a:t>
            </a:r>
          </a:p>
        </p:txBody>
      </p:sp>
      <p:sp>
        <p:nvSpPr>
          <p:cNvPr id="30" name="TextBox 29">
            <a:extLst>
              <a:ext uri="{FF2B5EF4-FFF2-40B4-BE49-F238E27FC236}">
                <a16:creationId xmlns:a16="http://schemas.microsoft.com/office/drawing/2014/main" id="{BA048358-09B8-E462-CBF9-FD64240F9B4B}"/>
              </a:ext>
            </a:extLst>
          </p:cNvPr>
          <p:cNvSpPr txBox="1"/>
          <p:nvPr/>
        </p:nvSpPr>
        <p:spPr>
          <a:xfrm>
            <a:off x="1896478" y="4521495"/>
            <a:ext cx="3946071" cy="1815882"/>
          </a:xfrm>
          <a:prstGeom prst="rect">
            <a:avLst/>
          </a:prstGeom>
          <a:noFill/>
          <a:ln>
            <a:noFill/>
          </a:ln>
        </p:spPr>
        <p:txBody>
          <a:bodyPr wrap="square">
            <a:spAutoFit/>
          </a:bodyPr>
          <a:lstStyle/>
          <a:p>
            <a:r>
              <a:rPr lang="en-US" sz="1600" b="1" dirty="0">
                <a:latin typeface="Calibri" panose="020F0502020204030204" pitchFamily="34" charset="0"/>
                <a:cs typeface="Calibri" panose="020F0502020204030204" pitchFamily="34" charset="0"/>
              </a:rPr>
              <a:t>Machine Learning (ML)</a:t>
            </a:r>
          </a:p>
          <a:p>
            <a:r>
              <a:rPr lang="en-US" sz="1600" dirty="0">
                <a:latin typeface="Calibri" panose="020F0502020204030204" pitchFamily="34" charset="0"/>
                <a:cs typeface="Calibri" panose="020F0502020204030204" pitchFamily="34" charset="0"/>
              </a:rPr>
              <a:t>Teaching computers to learn from examples and make decisions.</a:t>
            </a:r>
          </a:p>
          <a:p>
            <a:r>
              <a:rPr lang="en-US" sz="1600" b="1" dirty="0">
                <a:latin typeface="Calibri" panose="020F0502020204030204" pitchFamily="34" charset="0"/>
                <a:cs typeface="Calibri" panose="020F0502020204030204" pitchFamily="34" charset="0"/>
              </a:rPr>
              <a:t>Example:</a:t>
            </a:r>
            <a:br>
              <a:rPr lang="en-US" sz="1600" dirty="0">
                <a:latin typeface="Calibri" panose="020F0502020204030204" pitchFamily="34" charset="0"/>
                <a:cs typeface="Calibri" panose="020F0502020204030204" pitchFamily="34" charset="0"/>
              </a:rPr>
            </a:br>
            <a:r>
              <a:rPr lang="en-US" sz="1600" dirty="0">
                <a:latin typeface="Calibri" panose="020F0502020204030204" pitchFamily="34" charset="0"/>
                <a:cs typeface="Calibri" panose="020F0502020204030204" pitchFamily="34" charset="0"/>
              </a:rPr>
              <a:t>Give a computer pre-defined features (e.g., word count, keywords) from emails → it learns to identify new spam emails.</a:t>
            </a:r>
          </a:p>
        </p:txBody>
      </p:sp>
      <p:sp>
        <p:nvSpPr>
          <p:cNvPr id="32" name="TextBox 31">
            <a:extLst>
              <a:ext uri="{FF2B5EF4-FFF2-40B4-BE49-F238E27FC236}">
                <a16:creationId xmlns:a16="http://schemas.microsoft.com/office/drawing/2014/main" id="{2214CC72-1B51-E237-6836-F969C3937854}"/>
              </a:ext>
            </a:extLst>
          </p:cNvPr>
          <p:cNvSpPr txBox="1"/>
          <p:nvPr/>
        </p:nvSpPr>
        <p:spPr>
          <a:xfrm>
            <a:off x="6448855" y="4373354"/>
            <a:ext cx="5257799" cy="2000548"/>
          </a:xfrm>
          <a:prstGeom prst="rect">
            <a:avLst/>
          </a:prstGeom>
          <a:noFill/>
          <a:ln>
            <a:noFill/>
          </a:ln>
        </p:spPr>
        <p:txBody>
          <a:bodyPr wrap="square">
            <a:spAutoFit/>
          </a:bodyPr>
          <a:lstStyle/>
          <a:p>
            <a:r>
              <a:rPr lang="en-US" sz="1600" b="1" dirty="0">
                <a:latin typeface="Calibri" panose="020F0502020204030204" pitchFamily="34" charset="0"/>
                <a:cs typeface="Calibri" panose="020F0502020204030204" pitchFamily="34" charset="0"/>
              </a:rPr>
              <a:t>Deep Learning (DL)</a:t>
            </a:r>
          </a:p>
          <a:p>
            <a:r>
              <a:rPr lang="en-US" sz="1600" dirty="0">
                <a:latin typeface="Calibri" panose="020F0502020204030204" pitchFamily="34" charset="0"/>
                <a:cs typeface="Calibri" panose="020F0502020204030204" pitchFamily="34" charset="0"/>
              </a:rPr>
              <a:t>A type of ML that uses neural networks to learn complex patterns automatically.</a:t>
            </a:r>
          </a:p>
          <a:p>
            <a:r>
              <a:rPr lang="en-US" sz="1600" b="1" dirty="0">
                <a:latin typeface="Calibri" panose="020F0502020204030204" pitchFamily="34" charset="0"/>
                <a:cs typeface="Calibri" panose="020F0502020204030204" pitchFamily="34" charset="0"/>
              </a:rPr>
              <a:t>Examples:</a:t>
            </a:r>
          </a:p>
          <a:p>
            <a:pPr marL="285750" indent="-285750">
              <a:buFont typeface="Arial" panose="020B0604020202020204" pitchFamily="34" charset="0"/>
              <a:buChar char="•"/>
            </a:pPr>
            <a:r>
              <a:rPr lang="en-US" sz="1500" dirty="0">
                <a:latin typeface="Calibri" panose="020F0502020204030204" pitchFamily="34" charset="0"/>
                <a:cs typeface="Calibri" panose="020F0502020204030204" pitchFamily="34" charset="0"/>
              </a:rPr>
              <a:t>Feed raw email text directly into a neural network → it automatically extracts complex word patterns and context to identify spam.</a:t>
            </a:r>
          </a:p>
          <a:p>
            <a:pPr marL="285750" indent="-285750">
              <a:buFont typeface="Arial" panose="020B0604020202020204" pitchFamily="34" charset="0"/>
              <a:buChar char="•"/>
            </a:pPr>
            <a:r>
              <a:rPr lang="en-US" sz="1500" dirty="0">
                <a:latin typeface="Calibri" panose="020F0502020204030204" pitchFamily="34" charset="0"/>
                <a:cs typeface="Calibri" panose="020F0502020204030204" pitchFamily="34" charset="0"/>
              </a:rPr>
              <a:t>Recognizing faces, handwritten numbers, or objects in images</a:t>
            </a:r>
          </a:p>
        </p:txBody>
      </p:sp>
      <p:cxnSp>
        <p:nvCxnSpPr>
          <p:cNvPr id="36" name="Connector: Elbow 35">
            <a:extLst>
              <a:ext uri="{FF2B5EF4-FFF2-40B4-BE49-F238E27FC236}">
                <a16:creationId xmlns:a16="http://schemas.microsoft.com/office/drawing/2014/main" id="{E1C0840D-3F7E-A085-5995-E7684250FB83}"/>
              </a:ext>
            </a:extLst>
          </p:cNvPr>
          <p:cNvCxnSpPr>
            <a:cxnSpLocks/>
          </p:cNvCxnSpPr>
          <p:nvPr/>
        </p:nvCxnSpPr>
        <p:spPr>
          <a:xfrm rot="16200000" flipH="1">
            <a:off x="1173840" y="4764706"/>
            <a:ext cx="830818" cy="484414"/>
          </a:xfrm>
          <a:prstGeom prst="bentConnector3">
            <a:avLst>
              <a:gd name="adj1" fmla="val 100663"/>
            </a:avLst>
          </a:prstGeom>
          <a:ln>
            <a:tailEnd type="triangle"/>
          </a:ln>
        </p:spPr>
        <p:style>
          <a:lnRef idx="1">
            <a:schemeClr val="dk1"/>
          </a:lnRef>
          <a:fillRef idx="0">
            <a:schemeClr val="dk1"/>
          </a:fillRef>
          <a:effectRef idx="0">
            <a:schemeClr val="dk1"/>
          </a:effectRef>
          <a:fontRef idx="minor">
            <a:schemeClr val="tx1"/>
          </a:fontRef>
        </p:style>
      </p:cxnSp>
      <p:cxnSp>
        <p:nvCxnSpPr>
          <p:cNvPr id="43" name="Straight Arrow Connector 42">
            <a:extLst>
              <a:ext uri="{FF2B5EF4-FFF2-40B4-BE49-F238E27FC236}">
                <a16:creationId xmlns:a16="http://schemas.microsoft.com/office/drawing/2014/main" id="{A010CBBC-850D-B9FC-4B40-E5729646199B}"/>
              </a:ext>
            </a:extLst>
          </p:cNvPr>
          <p:cNvCxnSpPr>
            <a:cxnSpLocks/>
          </p:cNvCxnSpPr>
          <p:nvPr/>
        </p:nvCxnSpPr>
        <p:spPr>
          <a:xfrm>
            <a:off x="5861222" y="5420028"/>
            <a:ext cx="38717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1" name="Rectangle 5"/>
          <p:cNvSpPr/>
          <p:nvPr/>
        </p:nvSpPr>
        <p:spPr>
          <a:xfrm>
            <a:off x="0" y="0"/>
            <a:ext cx="12192000" cy="873760"/>
          </a:xfrm>
          <a:prstGeom prst="rect">
            <a:avLst/>
          </a:prstGeom>
          <a:solidFill>
            <a:srgbClr val="0E2841"/>
          </a:solidFill>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r>
              <a:rPr lang="en-US" sz="3200" b="1" dirty="0">
                <a:latin typeface="Calibri" panose="020F0502020204030204" pitchFamily="34" charset="0"/>
                <a:cs typeface="Calibri" panose="020F0502020204030204" pitchFamily="34" charset="0"/>
              </a:rPr>
              <a:t>2. </a:t>
            </a:r>
            <a:r>
              <a:rPr lang="en-US" sz="3200" b="1" dirty="0">
                <a:solidFill>
                  <a:schemeClr val="bg1"/>
                </a:solidFill>
                <a:latin typeface="Calibri" panose="020F0502020204030204" pitchFamily="34" charset="0"/>
                <a:cs typeface="Calibri" panose="020F0502020204030204" pitchFamily="34" charset="0"/>
              </a:rPr>
              <a:t>Deep Learning Foundations </a:t>
            </a:r>
            <a:r>
              <a:rPr lang="en-US" sz="2000" b="1" dirty="0">
                <a:latin typeface="Calibri" panose="020F0502020204030204" pitchFamily="34" charset="0"/>
                <a:cs typeface="Calibri" panose="020F0502020204030204" pitchFamily="34" charset="0"/>
              </a:rPr>
              <a:t>(Con…)</a:t>
            </a:r>
            <a:endParaRPr lang="en-PK" sz="3200" b="1" dirty="0">
              <a:latin typeface="Calibri" panose="020F0502020204030204" pitchFamily="34" charset="0"/>
              <a:cs typeface="Calibri" panose="020F0502020204030204" pitchFamily="34" charset="0"/>
            </a:endParaRPr>
          </a:p>
        </p:txBody>
      </p:sp>
      <p:sp>
        <p:nvSpPr>
          <p:cNvPr id="1048712" name="Rectangle 4"/>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r>
              <a:rPr lang="en-US" sz="2400" dirty="0">
                <a:latin typeface="Calibri" panose="020F0502020204030204" pitchFamily="34" charset="0"/>
                <a:cs typeface="Calibri" panose="020F0502020204030204" pitchFamily="34" charset="0"/>
              </a:rPr>
              <a:t>8</a:t>
            </a:r>
            <a:endParaRPr lang="en-PK" sz="2400" dirty="0">
              <a:latin typeface="Calibri" panose="020F0502020204030204" pitchFamily="34" charset="0"/>
              <a:cs typeface="Calibri" panose="020F0502020204030204" pitchFamily="34" charset="0"/>
            </a:endParaRPr>
          </a:p>
        </p:txBody>
      </p:sp>
      <p:sp>
        <p:nvSpPr>
          <p:cNvPr id="1048713" name="TextBox 2"/>
          <p:cNvSpPr txBox="1"/>
          <p:nvPr/>
        </p:nvSpPr>
        <p:spPr>
          <a:xfrm>
            <a:off x="7315200" y="2613392"/>
            <a:ext cx="3809999" cy="1631216"/>
          </a:xfrm>
          <a:prstGeom prst="rect">
            <a:avLst/>
          </a:prstGeom>
          <a:noFill/>
        </p:spPr>
        <p:txBody>
          <a:bodyPr wrap="square" rtlCol="0">
            <a:spAutoFit/>
          </a:bodyPr>
          <a:lstStyle/>
          <a:p>
            <a:pPr algn="just"/>
            <a:r>
              <a:rPr lang="en-US" sz="2000" b="1" dirty="0">
                <a:latin typeface="Calibri" panose="020F0502020204030204" pitchFamily="34" charset="0"/>
                <a:cs typeface="Calibri" panose="020F0502020204030204" pitchFamily="34" charset="0"/>
              </a:rPr>
              <a:t>Figure:</a:t>
            </a:r>
            <a:r>
              <a:rPr lang="en-US" sz="2000" dirty="0">
                <a:latin typeface="Calibri" panose="020F0502020204030204" pitchFamily="34" charset="0"/>
                <a:cs typeface="Calibri" panose="020F0502020204030204" pitchFamily="34" charset="0"/>
              </a:rPr>
              <a:t> A clear mind map showing practical applications of deep learning across computer vision, text processing, healthcare, and financial analysis.</a:t>
            </a:r>
          </a:p>
        </p:txBody>
      </p:sp>
      <p:pic>
        <p:nvPicPr>
          <p:cNvPr id="3" name="Picture 2">
            <a:extLst>
              <a:ext uri="{FF2B5EF4-FFF2-40B4-BE49-F238E27FC236}">
                <a16:creationId xmlns:a16="http://schemas.microsoft.com/office/drawing/2014/main" id="{13CDDF83-8AF5-3991-DB6C-68867FE0899B}"/>
              </a:ext>
            </a:extLst>
          </p:cNvPr>
          <p:cNvPicPr>
            <a:picLocks noChangeAspect="1"/>
          </p:cNvPicPr>
          <p:nvPr/>
        </p:nvPicPr>
        <p:blipFill>
          <a:blip r:embed="rId2"/>
          <a:stretch>
            <a:fillRect/>
          </a:stretch>
        </p:blipFill>
        <p:spPr>
          <a:xfrm>
            <a:off x="609601" y="1660433"/>
            <a:ext cx="5715000" cy="4715991"/>
          </a:xfrm>
          <a:prstGeom prst="rect">
            <a:avLst/>
          </a:prstGeom>
        </p:spPr>
      </p:pic>
      <p:sp>
        <p:nvSpPr>
          <p:cNvPr id="4" name="TextBox 3">
            <a:extLst>
              <a:ext uri="{FF2B5EF4-FFF2-40B4-BE49-F238E27FC236}">
                <a16:creationId xmlns:a16="http://schemas.microsoft.com/office/drawing/2014/main" id="{1A43E071-7158-2439-12B7-1654AF94A299}"/>
              </a:ext>
            </a:extLst>
          </p:cNvPr>
          <p:cNvSpPr txBox="1"/>
          <p:nvPr/>
        </p:nvSpPr>
        <p:spPr>
          <a:xfrm>
            <a:off x="2683744" y="974709"/>
            <a:ext cx="6818362" cy="584775"/>
          </a:xfrm>
          <a:prstGeom prst="rect">
            <a:avLst/>
          </a:prstGeom>
          <a:noFill/>
        </p:spPr>
        <p:txBody>
          <a:bodyPr wrap="square" rtlCol="0">
            <a:spAutoFit/>
          </a:bodyPr>
          <a:lstStyle/>
          <a:p>
            <a:pPr algn="ctr"/>
            <a:r>
              <a:rPr lang="en-US" sz="3200" b="1" spc="300" dirty="0">
                <a:latin typeface="Calibri" panose="020F0502020204030204" pitchFamily="34" charset="0"/>
                <a:cs typeface="Calibri" panose="020F0502020204030204" pitchFamily="34" charset="0"/>
              </a:rPr>
              <a:t>Deep Learning Applications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34" name="Rectangle 4"/>
          <p:cNvSpPr/>
          <p:nvPr/>
        </p:nvSpPr>
        <p:spPr>
          <a:xfrm>
            <a:off x="0" y="0"/>
            <a:ext cx="12192000" cy="873760"/>
          </a:xfrm>
          <a:prstGeom prst="rect">
            <a:avLst/>
          </a:prstGeom>
          <a:solidFill>
            <a:srgbClr val="0E2841"/>
          </a:solidFill>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r>
              <a:rPr lang="en-US" sz="3200" b="1" dirty="0">
                <a:latin typeface="Calibri" panose="020F0502020204030204" pitchFamily="34" charset="0"/>
                <a:cs typeface="Calibri" panose="020F0502020204030204" pitchFamily="34" charset="0"/>
              </a:rPr>
              <a:t>2. Deep Learning Foundations </a:t>
            </a:r>
            <a:r>
              <a:rPr lang="en-US" sz="2000" b="1" dirty="0">
                <a:latin typeface="Calibri" panose="020F0502020204030204" pitchFamily="34" charset="0"/>
                <a:cs typeface="Calibri" panose="020F0502020204030204" pitchFamily="34" charset="0"/>
              </a:rPr>
              <a:t>(Con…)</a:t>
            </a:r>
            <a:endParaRPr lang="en-US" sz="3200" b="1" dirty="0">
              <a:latin typeface="Calibri" panose="020F0502020204030204" pitchFamily="34" charset="0"/>
              <a:cs typeface="Calibri" panose="020F0502020204030204" pitchFamily="34" charset="0"/>
            </a:endParaRPr>
          </a:p>
        </p:txBody>
      </p:sp>
      <p:sp>
        <p:nvSpPr>
          <p:cNvPr id="1048735" name="TextBox 6"/>
          <p:cNvSpPr txBox="1"/>
          <p:nvPr/>
        </p:nvSpPr>
        <p:spPr>
          <a:xfrm>
            <a:off x="78658" y="1600200"/>
            <a:ext cx="6245942" cy="3469641"/>
          </a:xfrm>
          <a:prstGeom prst="rect">
            <a:avLst/>
          </a:prstGeom>
          <a:noFill/>
        </p:spPr>
        <p:txBody>
          <a:bodyPr wrap="square">
            <a:spAutoFit/>
          </a:bodyPr>
          <a:lstStyle/>
          <a:p>
            <a:pPr>
              <a:buNone/>
            </a:pPr>
            <a:r>
              <a:rPr lang="en-US" sz="2400" b="1" dirty="0">
                <a:latin typeface="Calibri" panose="020F0502020204030204" pitchFamily="34" charset="0"/>
                <a:cs typeface="Calibri" panose="020F0502020204030204" pitchFamily="34" charset="0"/>
              </a:rPr>
              <a:t>Traditional Approach: Handcrafted Features</a:t>
            </a:r>
            <a:endParaRPr lang="en-US" dirty="0">
              <a:latin typeface="Calibri" panose="020F0502020204030204" pitchFamily="34" charset="0"/>
              <a:cs typeface="Calibri" panose="020F0502020204030204" pitchFamily="34" charset="0"/>
            </a:endParaRPr>
          </a:p>
          <a:p>
            <a:pPr marL="342900" lvl="0" indent="-342900">
              <a:buFont typeface="Arial" panose="020B0604020202020204" pitchFamily="34" charset="0"/>
              <a:buChar char="•"/>
            </a:pPr>
            <a:r>
              <a:rPr lang="en-US" dirty="0">
                <a:latin typeface="Calibri" panose="020F0502020204030204" pitchFamily="34" charset="0"/>
                <a:cs typeface="Calibri" panose="020F0502020204030204" pitchFamily="34" charset="0"/>
              </a:rPr>
              <a:t>Humans manually choose useful features. </a:t>
            </a:r>
          </a:p>
          <a:p>
            <a:pPr marL="342900" lvl="0" indent="-342900">
              <a:buFont typeface="Arial" panose="020B0604020202020204" pitchFamily="34" charset="0"/>
              <a:buChar char="•"/>
            </a:pPr>
            <a:r>
              <a:rPr lang="en-US" dirty="0">
                <a:latin typeface="Calibri" panose="020F0502020204030204" pitchFamily="34" charset="0"/>
                <a:cs typeface="Calibri" panose="020F0502020204030204" pitchFamily="34" charset="0"/>
              </a:rPr>
              <a:t>Features may work well for simple problems. </a:t>
            </a:r>
          </a:p>
          <a:p>
            <a:pPr marL="342900" lvl="0" indent="-342900">
              <a:buFont typeface="Arial" panose="020B0604020202020204" pitchFamily="34" charset="0"/>
              <a:buChar char="•"/>
            </a:pPr>
            <a:r>
              <a:rPr lang="en-US" dirty="0">
                <a:latin typeface="Calibri" panose="020F0502020204030204" pitchFamily="34" charset="0"/>
                <a:cs typeface="Calibri" panose="020F0502020204030204" pitchFamily="34" charset="0"/>
              </a:rPr>
              <a:t>Complex data can contain patterns that are difficult to define manually. </a:t>
            </a:r>
          </a:p>
          <a:p>
            <a:pPr marL="342900" lvl="0" indent="-342900">
              <a:buFont typeface="Arial" panose="020B0604020202020204" pitchFamily="34" charset="0"/>
              <a:buChar char="•"/>
            </a:pPr>
            <a:r>
              <a:rPr lang="en-US" dirty="0">
                <a:latin typeface="Calibri" panose="020F0502020204030204" pitchFamily="34" charset="0"/>
                <a:cs typeface="Calibri" panose="020F0502020204030204" pitchFamily="34" charset="0"/>
              </a:rPr>
              <a:t>Designing features becomes difficult as data becomes more complex. </a:t>
            </a:r>
          </a:p>
          <a:p>
            <a:pPr lvl="0"/>
            <a:endParaRPr lang="en-US" dirty="0">
              <a:latin typeface="Calibri" panose="020F0502020204030204" pitchFamily="34" charset="0"/>
              <a:cs typeface="Calibri" panose="020F0502020204030204" pitchFamily="34" charset="0"/>
            </a:endParaRPr>
          </a:p>
          <a:p>
            <a:pPr>
              <a:buNone/>
            </a:pPr>
            <a:r>
              <a:rPr lang="en-US" sz="2400" b="1" dirty="0">
                <a:latin typeface="Calibri" panose="020F0502020204030204" pitchFamily="34" charset="0"/>
                <a:cs typeface="Calibri" panose="020F0502020204030204" pitchFamily="34" charset="0"/>
              </a:rPr>
              <a:t>Deep Learning</a:t>
            </a:r>
            <a:endParaRPr lang="en-US" sz="2400" dirty="0">
              <a:latin typeface="Calibri" panose="020F0502020204030204" pitchFamily="34" charset="0"/>
              <a:cs typeface="Calibri" panose="020F0502020204030204" pitchFamily="34" charset="0"/>
            </a:endParaRPr>
          </a:p>
          <a:p>
            <a:pPr marL="342900" lvl="0" indent="-342900">
              <a:buFont typeface="Arial" panose="020B0604020202020204" pitchFamily="34" charset="0"/>
              <a:buChar char="•"/>
            </a:pPr>
            <a:r>
              <a:rPr lang="en-US" dirty="0">
                <a:latin typeface="Calibri" panose="020F0502020204030204" pitchFamily="34" charset="0"/>
                <a:cs typeface="Calibri" panose="020F0502020204030204" pitchFamily="34" charset="0"/>
              </a:rPr>
              <a:t>Learns useful features automatically from data. </a:t>
            </a:r>
          </a:p>
          <a:p>
            <a:pPr marL="342900" lvl="0" indent="-342900">
              <a:buFont typeface="Arial" panose="020B0604020202020204" pitchFamily="34" charset="0"/>
              <a:buChar char="•"/>
            </a:pPr>
            <a:r>
              <a:rPr lang="en-US" dirty="0">
                <a:latin typeface="Calibri" panose="020F0502020204030204" pitchFamily="34" charset="0"/>
                <a:cs typeface="Calibri" panose="020F0502020204030204" pitchFamily="34" charset="0"/>
              </a:rPr>
              <a:t>Can learn simple → complex patterns through multiple layers.</a:t>
            </a:r>
          </a:p>
        </p:txBody>
      </p:sp>
      <p:sp>
        <p:nvSpPr>
          <p:cNvPr id="1048736" name="TextBox 9"/>
          <p:cNvSpPr txBox="1"/>
          <p:nvPr/>
        </p:nvSpPr>
        <p:spPr>
          <a:xfrm>
            <a:off x="2057399" y="5638800"/>
            <a:ext cx="7237157" cy="707886"/>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lgn="ctr"/>
            <a:r>
              <a:rPr lang="en-US" sz="2000" dirty="0">
                <a:latin typeface="Calibri" panose="020F0502020204030204" pitchFamily="34" charset="0"/>
                <a:cs typeface="Calibri" panose="020F0502020204030204" pitchFamily="34" charset="0"/>
              </a:rPr>
              <a:t>Traditional ML (manual): Humans design the features.</a:t>
            </a:r>
            <a:br>
              <a:rPr lang="en-US" sz="2000" dirty="0">
                <a:latin typeface="Calibri" panose="020F0502020204030204" pitchFamily="34" charset="0"/>
                <a:cs typeface="Calibri" panose="020F0502020204030204" pitchFamily="34" charset="0"/>
              </a:rPr>
            </a:br>
            <a:r>
              <a:rPr lang="en-US" sz="2000" dirty="0">
                <a:latin typeface="Calibri" panose="020F0502020204030204" pitchFamily="34" charset="0"/>
                <a:cs typeface="Calibri" panose="020F0502020204030204" pitchFamily="34" charset="0"/>
              </a:rPr>
              <a:t>Deep Learning (automatic): The model learns the features.</a:t>
            </a:r>
          </a:p>
        </p:txBody>
      </p:sp>
      <p:pic>
        <p:nvPicPr>
          <p:cNvPr id="2097161" name="Picture 13" descr="Deep Learning vs. Machine Learning – What's The Difference? | atomcamp"/>
          <p:cNvPicPr>
            <a:picLocks noChangeAspect="1"/>
          </p:cNvPicPr>
          <p:nvPr/>
        </p:nvPicPr>
        <p:blipFill>
          <a:blip r:embed="rId2"/>
          <a:srcRect l="1157" t="2122" r="1772" b="2387"/>
          <a:stretch>
            <a:fillRect/>
          </a:stretch>
        </p:blipFill>
        <p:spPr>
          <a:xfrm>
            <a:off x="6553199" y="1794459"/>
            <a:ext cx="5482713" cy="3061395"/>
          </a:xfrm>
          <a:prstGeom prst="rect">
            <a:avLst/>
          </a:prstGeom>
        </p:spPr>
      </p:pic>
      <p:sp>
        <p:nvSpPr>
          <p:cNvPr id="1048737" name="Rectangle 4"/>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r>
              <a:rPr lang="en-US" sz="2400" dirty="0">
                <a:latin typeface="Calibri" panose="020F0502020204030204" pitchFamily="34" charset="0"/>
                <a:cs typeface="Calibri" panose="020F0502020204030204" pitchFamily="34" charset="0"/>
              </a:rPr>
              <a:t>9</a:t>
            </a:r>
            <a:endParaRPr lang="en-PK" sz="2400" dirty="0">
              <a:latin typeface="Calibri" panose="020F0502020204030204" pitchFamily="34" charset="0"/>
              <a:cs typeface="Calibri" panose="020F0502020204030204" pitchFamily="34" charset="0"/>
            </a:endParaRPr>
          </a:p>
        </p:txBody>
      </p:sp>
      <p:sp>
        <p:nvSpPr>
          <p:cNvPr id="1048738" name="TextBox 2"/>
          <p:cNvSpPr txBox="1"/>
          <p:nvPr/>
        </p:nvSpPr>
        <p:spPr>
          <a:xfrm>
            <a:off x="17206" y="975370"/>
            <a:ext cx="7678994" cy="584775"/>
          </a:xfrm>
          <a:prstGeom prst="rect">
            <a:avLst/>
          </a:prstGeom>
          <a:noFill/>
        </p:spPr>
        <p:txBody>
          <a:bodyPr wrap="square">
            <a:spAutoFit/>
          </a:bodyPr>
          <a:lstStyle/>
          <a:p>
            <a:r>
              <a:rPr lang="en-US" sz="3200" b="1" dirty="0">
                <a:latin typeface="Calibri" panose="020F0502020204030204" pitchFamily="34" charset="0"/>
                <a:cs typeface="Calibri" panose="020F0502020204030204" pitchFamily="34" charset="0"/>
              </a:rPr>
              <a:t>Why Do We Need Deep Learning?</a:t>
            </a:r>
            <a:endParaRPr lang="en-PK" sz="3200" b="1" dirty="0">
              <a:latin typeface="Calibri" panose="020F0502020204030204" pitchFamily="34" charset="0"/>
              <a:cs typeface="Calibri" panose="020F050202020403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62" name="Picture 2" descr="What is Deep Learning | Getting Started With Deep Learning | Edureka"/>
          <p:cNvPicPr>
            <a:picLocks noChangeAspect="1" noChangeArrowheads="1"/>
          </p:cNvPicPr>
          <p:nvPr/>
        </p:nvPicPr>
        <p:blipFill rotWithShape="1">
          <a:blip r:embed="rId2"/>
          <a:srcRect l="1023" t="3226" b="9678"/>
          <a:stretch>
            <a:fillRect/>
          </a:stretch>
        </p:blipFill>
        <p:spPr bwMode="auto">
          <a:xfrm>
            <a:off x="1371600" y="2743200"/>
            <a:ext cx="10058400" cy="3779368"/>
          </a:xfrm>
          <a:prstGeom prst="rect">
            <a:avLst/>
          </a:prstGeom>
          <a:noFill/>
        </p:spPr>
      </p:pic>
      <p:sp>
        <p:nvSpPr>
          <p:cNvPr id="1048742" name="TextBox 2"/>
          <p:cNvSpPr txBox="1"/>
          <p:nvPr/>
        </p:nvSpPr>
        <p:spPr>
          <a:xfrm>
            <a:off x="300277" y="1447800"/>
            <a:ext cx="11582400" cy="1200329"/>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Deep learning automatically learns features from raw data through multiple hidden layers, gradually transforming them into meaningful representations for prediction.</a:t>
            </a:r>
          </a:p>
          <a:p>
            <a:pPr marL="285750" indent="-285750">
              <a:buFont typeface="Arial" panose="020B0604020202020204" pitchFamily="34" charset="0"/>
              <a:buChar char="•"/>
            </a:pPr>
            <a:endParaRPr lang="en-US"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At the core of deep learning are neural networks, which learn these patterns through interconnected layers.</a:t>
            </a:r>
          </a:p>
        </p:txBody>
      </p:sp>
      <p:sp>
        <p:nvSpPr>
          <p:cNvPr id="1048743" name="Rectangle 4"/>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r>
              <a:rPr lang="en-US" sz="2400" dirty="0">
                <a:latin typeface="Calibri" panose="020F0502020204030204" pitchFamily="34" charset="0"/>
                <a:cs typeface="Calibri" panose="020F0502020204030204" pitchFamily="34" charset="0"/>
              </a:rPr>
              <a:t>10</a:t>
            </a:r>
            <a:endParaRPr lang="en-PK" sz="2400" dirty="0">
              <a:latin typeface="Calibri" panose="020F0502020204030204" pitchFamily="34" charset="0"/>
              <a:cs typeface="Calibri" panose="020F0502020204030204" pitchFamily="34" charset="0"/>
            </a:endParaRPr>
          </a:p>
        </p:txBody>
      </p:sp>
      <p:sp>
        <p:nvSpPr>
          <p:cNvPr id="1048744" name="TextBox 3"/>
          <p:cNvSpPr txBox="1"/>
          <p:nvPr/>
        </p:nvSpPr>
        <p:spPr>
          <a:xfrm>
            <a:off x="181898" y="968831"/>
            <a:ext cx="6218902" cy="523220"/>
          </a:xfrm>
          <a:prstGeom prst="rect">
            <a:avLst/>
          </a:prstGeom>
          <a:noFill/>
        </p:spPr>
        <p:txBody>
          <a:bodyPr wrap="square">
            <a:spAutoFit/>
          </a:bodyPr>
          <a:lstStyle/>
          <a:p>
            <a:r>
              <a:rPr lang="en-US" sz="2800" b="1" dirty="0">
                <a:latin typeface="Calibri" panose="020F0502020204030204" pitchFamily="34" charset="0"/>
                <a:cs typeface="Calibri" panose="020F0502020204030204" pitchFamily="34" charset="0"/>
              </a:rPr>
              <a:t>How does Deep Learning works?</a:t>
            </a:r>
            <a:endParaRPr lang="en-PK" sz="2800" b="1" dirty="0">
              <a:latin typeface="Calibri" panose="020F0502020204030204" pitchFamily="34" charset="0"/>
              <a:cs typeface="Calibri" panose="020F0502020204030204" pitchFamily="34" charset="0"/>
            </a:endParaRPr>
          </a:p>
        </p:txBody>
      </p:sp>
      <p:sp>
        <p:nvSpPr>
          <p:cNvPr id="1048745" name="Rectangle 5"/>
          <p:cNvSpPr/>
          <p:nvPr/>
        </p:nvSpPr>
        <p:spPr>
          <a:xfrm>
            <a:off x="0" y="0"/>
            <a:ext cx="12192000" cy="873760"/>
          </a:xfrm>
          <a:prstGeom prst="rect">
            <a:avLst/>
          </a:prstGeom>
          <a:solidFill>
            <a:srgbClr val="0E2841"/>
          </a:solidFill>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r>
              <a:rPr lang="en-US" sz="3200" b="1" dirty="0">
                <a:latin typeface="Calibri" panose="020F0502020204030204" pitchFamily="34" charset="0"/>
                <a:cs typeface="Calibri" panose="020F0502020204030204" pitchFamily="34" charset="0"/>
              </a:rPr>
              <a:t>2. Deep Learning Foundations </a:t>
            </a:r>
            <a:r>
              <a:rPr lang="en-US" sz="2000" b="1" dirty="0">
                <a:latin typeface="Calibri" panose="020F0502020204030204" pitchFamily="34" charset="0"/>
                <a:cs typeface="Calibri" panose="020F0502020204030204" pitchFamily="34" charset="0"/>
              </a:rPr>
              <a:t>(Con…)</a:t>
            </a:r>
            <a:endParaRPr lang="en-US" sz="3200" b="1" dirty="0">
              <a:latin typeface="Calibri" panose="020F0502020204030204" pitchFamily="34" charset="0"/>
              <a:cs typeface="Calibri" panose="020F050202020403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46" name="Rectangle 4"/>
          <p:cNvSpPr/>
          <p:nvPr/>
        </p:nvSpPr>
        <p:spPr>
          <a:xfrm>
            <a:off x="0" y="0"/>
            <a:ext cx="12192000" cy="873760"/>
          </a:xfrm>
          <a:prstGeom prst="rect">
            <a:avLst/>
          </a:prstGeom>
          <a:solidFill>
            <a:srgbClr val="0E2841"/>
          </a:solidFill>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r>
              <a:rPr lang="en-US" sz="3200" b="1" dirty="0">
                <a:latin typeface="Calibri" panose="020F0502020204030204" pitchFamily="34" charset="0"/>
                <a:cs typeface="Calibri" panose="020F0502020204030204" pitchFamily="34" charset="0"/>
              </a:rPr>
              <a:t>2 (i). Neural Network</a:t>
            </a:r>
            <a:endParaRPr lang="en-PK" sz="3200" b="1" dirty="0">
              <a:latin typeface="Calibri" panose="020F0502020204030204" pitchFamily="34" charset="0"/>
              <a:cs typeface="Calibri" panose="020F0502020204030204" pitchFamily="34" charset="0"/>
            </a:endParaRPr>
          </a:p>
        </p:txBody>
      </p:sp>
      <p:sp>
        <p:nvSpPr>
          <p:cNvPr id="1048747" name="TextBox 5"/>
          <p:cNvSpPr txBox="1"/>
          <p:nvPr/>
        </p:nvSpPr>
        <p:spPr>
          <a:xfrm>
            <a:off x="468261" y="1180784"/>
            <a:ext cx="4941939" cy="3964941"/>
          </a:xfrm>
          <a:prstGeom prst="rect">
            <a:avLst/>
          </a:prstGeom>
          <a:noFill/>
        </p:spPr>
        <p:txBody>
          <a:bodyPr wrap="square">
            <a:spAutoFit/>
          </a:bodyPr>
          <a:lstStyle/>
          <a:p>
            <a:pPr>
              <a:buNone/>
            </a:pPr>
            <a:r>
              <a:rPr lang="en-US" sz="2400" b="1" dirty="0">
                <a:latin typeface="Calibri" panose="020F0502020204030204" pitchFamily="34" charset="0"/>
                <a:cs typeface="Calibri" panose="020F0502020204030204" pitchFamily="34" charset="0"/>
              </a:rPr>
              <a:t>A neural network is a model that learns patterns from data.</a:t>
            </a:r>
            <a:endParaRPr lang="en-US" sz="2400" dirty="0">
              <a:latin typeface="Calibri" panose="020F0502020204030204" pitchFamily="34" charset="0"/>
              <a:cs typeface="Calibri" panose="020F0502020204030204" pitchFamily="34" charset="0"/>
            </a:endParaRPr>
          </a:p>
          <a:p>
            <a:pPr marL="342900" lvl="0" indent="-342900">
              <a:buFont typeface="Arial" panose="020B0604020202020204" pitchFamily="34" charset="0"/>
              <a:buChar char="•"/>
            </a:pPr>
            <a:r>
              <a:rPr lang="en-US" sz="2000" dirty="0">
                <a:latin typeface="Calibri" panose="020F0502020204030204" pitchFamily="34" charset="0"/>
                <a:cs typeface="Calibri" panose="020F0502020204030204" pitchFamily="34" charset="0"/>
              </a:rPr>
              <a:t>It is made of connected neurons arranged in layers. </a:t>
            </a:r>
          </a:p>
          <a:p>
            <a:pPr marL="342900" lvl="0" indent="-342900">
              <a:buFont typeface="Arial" panose="020B0604020202020204" pitchFamily="34" charset="0"/>
              <a:buChar char="•"/>
            </a:pPr>
            <a:r>
              <a:rPr lang="en-US" sz="2000" dirty="0">
                <a:latin typeface="Calibri" panose="020F0502020204030204" pitchFamily="34" charset="0"/>
                <a:cs typeface="Calibri" panose="020F0502020204030204" pitchFamily="34" charset="0"/>
              </a:rPr>
              <a:t>Each layer processes information and passes it to the next layer. </a:t>
            </a:r>
          </a:p>
          <a:p>
            <a:pPr marL="342900" lvl="0" indent="-342900">
              <a:buFont typeface="Arial" panose="020B0604020202020204" pitchFamily="34" charset="0"/>
              <a:buChar char="•"/>
            </a:pPr>
            <a:r>
              <a:rPr lang="en-US" sz="2000" dirty="0">
                <a:latin typeface="Calibri" panose="020F0502020204030204" pitchFamily="34" charset="0"/>
                <a:cs typeface="Calibri" panose="020F0502020204030204" pitchFamily="34" charset="0"/>
              </a:rPr>
              <a:t>During training, the network learns how strongly neurons should be connected. </a:t>
            </a:r>
          </a:p>
          <a:p>
            <a:pPr>
              <a:buNone/>
            </a:pPr>
            <a:r>
              <a:rPr lang="en-US" sz="2800" b="1" dirty="0">
                <a:latin typeface="Calibri" panose="020F0502020204030204" pitchFamily="34" charset="0"/>
                <a:cs typeface="Calibri" panose="020F0502020204030204" pitchFamily="34" charset="0"/>
              </a:rPr>
              <a:t>Three Main Parts</a:t>
            </a:r>
            <a:endParaRPr lang="en-US" sz="2000" b="1" dirty="0">
              <a:latin typeface="Calibri" panose="020F0502020204030204" pitchFamily="34" charset="0"/>
              <a:cs typeface="Calibri" panose="020F0502020204030204" pitchFamily="34" charset="0"/>
            </a:endParaRPr>
          </a:p>
          <a:p>
            <a:pPr marL="342900" lvl="0" indent="-342900">
              <a:buFont typeface="Arial" panose="020B0604020202020204" pitchFamily="34" charset="0"/>
              <a:buChar char="•"/>
            </a:pPr>
            <a:r>
              <a:rPr lang="en-US" sz="2000" dirty="0">
                <a:latin typeface="Calibri" panose="020F0502020204030204" pitchFamily="34" charset="0"/>
                <a:cs typeface="Calibri" panose="020F0502020204030204" pitchFamily="34" charset="0"/>
              </a:rPr>
              <a:t>Input Layer → receives the data </a:t>
            </a:r>
          </a:p>
          <a:p>
            <a:pPr marL="342900" lvl="0" indent="-342900">
              <a:buFont typeface="Arial" panose="020B0604020202020204" pitchFamily="34" charset="0"/>
              <a:buChar char="•"/>
            </a:pPr>
            <a:r>
              <a:rPr lang="en-US" sz="2000" dirty="0">
                <a:latin typeface="Calibri" panose="020F0502020204030204" pitchFamily="34" charset="0"/>
                <a:cs typeface="Calibri" panose="020F0502020204030204" pitchFamily="34" charset="0"/>
              </a:rPr>
              <a:t>Hidden Layers → learn patterns </a:t>
            </a:r>
          </a:p>
          <a:p>
            <a:pPr marL="342900" lvl="0" indent="-342900">
              <a:buFont typeface="Arial" panose="020B0604020202020204" pitchFamily="34" charset="0"/>
              <a:buChar char="•"/>
            </a:pPr>
            <a:r>
              <a:rPr lang="en-US" sz="2000" dirty="0">
                <a:latin typeface="Calibri" panose="020F0502020204030204" pitchFamily="34" charset="0"/>
                <a:cs typeface="Calibri" panose="020F0502020204030204" pitchFamily="34" charset="0"/>
              </a:rPr>
              <a:t>Output Layer → produces the result</a:t>
            </a:r>
          </a:p>
        </p:txBody>
      </p:sp>
      <p:sp>
        <p:nvSpPr>
          <p:cNvPr id="1048748" name="TextBox 14"/>
          <p:cNvSpPr txBox="1"/>
          <p:nvPr/>
        </p:nvSpPr>
        <p:spPr>
          <a:xfrm>
            <a:off x="914400" y="5845314"/>
            <a:ext cx="4626077" cy="707886"/>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lgn="ctr"/>
            <a:r>
              <a:rPr lang="en-US" sz="2000" dirty="0">
                <a:latin typeface="Calibri" panose="020F0502020204030204" pitchFamily="34" charset="0"/>
                <a:cs typeface="Calibri" panose="020F0502020204030204" pitchFamily="34" charset="0"/>
              </a:rPr>
              <a:t>A neural network learns to turn input data into useful predictions.</a:t>
            </a:r>
          </a:p>
        </p:txBody>
      </p:sp>
      <p:pic>
        <p:nvPicPr>
          <p:cNvPr id="2097163" name="Picture 2" descr="Artificial Neural Networks (ANNs)"/>
          <p:cNvPicPr>
            <a:picLocks noChangeAspect="1"/>
          </p:cNvPicPr>
          <p:nvPr/>
        </p:nvPicPr>
        <p:blipFill>
          <a:blip r:embed="rId3"/>
          <a:srcRect l="18477" t="17371" r="14836" b="5643"/>
          <a:stretch>
            <a:fillRect/>
          </a:stretch>
        </p:blipFill>
        <p:spPr>
          <a:xfrm>
            <a:off x="5867400" y="1881227"/>
            <a:ext cx="6096000" cy="3958517"/>
          </a:xfrm>
          <a:prstGeom prst="rect">
            <a:avLst/>
          </a:prstGeom>
        </p:spPr>
      </p:pic>
      <p:sp>
        <p:nvSpPr>
          <p:cNvPr id="1048749" name="Rectangle 4"/>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r>
              <a:rPr lang="en-US" sz="2400" dirty="0">
                <a:latin typeface="Calibri" panose="020F0502020204030204" pitchFamily="34" charset="0"/>
                <a:cs typeface="Calibri" panose="020F0502020204030204" pitchFamily="34" charset="0"/>
              </a:rPr>
              <a:t>11</a:t>
            </a:r>
            <a:endParaRPr lang="en-PK" sz="2400" dirty="0">
              <a:latin typeface="Calibri" panose="020F0502020204030204" pitchFamily="34" charset="0"/>
              <a:cs typeface="Calibri" panose="020F050202020403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1" name="Rectangle 4"/>
          <p:cNvSpPr/>
          <p:nvPr/>
        </p:nvSpPr>
        <p:spPr>
          <a:xfrm>
            <a:off x="0" y="0"/>
            <a:ext cx="12192000" cy="873760"/>
          </a:xfrm>
          <a:prstGeom prst="rect">
            <a:avLst/>
          </a:prstGeom>
          <a:solidFill>
            <a:srgbClr val="0E2841"/>
          </a:solidFill>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r>
              <a:rPr lang="en-US" sz="3200" b="1" dirty="0">
                <a:latin typeface="Calibri" panose="020F0502020204030204" pitchFamily="34" charset="0"/>
                <a:cs typeface="Calibri" panose="020F0502020204030204" pitchFamily="34" charset="0"/>
              </a:rPr>
              <a:t>2 (ii). The Artificial Neuron</a:t>
            </a:r>
            <a:endParaRPr lang="en-PK" sz="3200" b="1" dirty="0">
              <a:latin typeface="Calibri" panose="020F0502020204030204" pitchFamily="34" charset="0"/>
              <a:cs typeface="Calibri" panose="020F0502020204030204" pitchFamily="34" charset="0"/>
            </a:endParaRPr>
          </a:p>
        </p:txBody>
      </p:sp>
      <p:pic>
        <p:nvPicPr>
          <p:cNvPr id="2097164" name="Picture 1" descr="20 Deep Learning Applications in 2026 Across Industries"/>
          <p:cNvPicPr>
            <a:picLocks noChangeAspect="1"/>
          </p:cNvPicPr>
          <p:nvPr/>
        </p:nvPicPr>
        <p:blipFill>
          <a:blip r:embed="rId2"/>
          <a:stretch>
            <a:fillRect/>
          </a:stretch>
        </p:blipFill>
        <p:spPr>
          <a:xfrm>
            <a:off x="8069266" y="899492"/>
            <a:ext cx="3589334" cy="2236432"/>
          </a:xfrm>
          <a:prstGeom prst="rect">
            <a:avLst/>
          </a:prstGeom>
        </p:spPr>
      </p:pic>
      <p:pic>
        <p:nvPicPr>
          <p:cNvPr id="2097165" name="Picture 5" descr="🔅Neural-Nets. In the above gif, we can see an image… | by Priyal | Medium"/>
          <p:cNvPicPr>
            <a:picLocks noChangeAspect="1"/>
          </p:cNvPicPr>
          <p:nvPr/>
        </p:nvPicPr>
        <p:blipFill>
          <a:blip r:embed="rId3"/>
          <a:stretch>
            <a:fillRect/>
          </a:stretch>
        </p:blipFill>
        <p:spPr>
          <a:xfrm>
            <a:off x="8069266" y="3200400"/>
            <a:ext cx="3589334" cy="2153600"/>
          </a:xfrm>
          <a:prstGeom prst="rect">
            <a:avLst/>
          </a:prstGeom>
        </p:spPr>
      </p:pic>
      <p:sp>
        <p:nvSpPr>
          <p:cNvPr id="1048752" name="TextBox 2"/>
          <p:cNvSpPr txBox="1"/>
          <p:nvPr/>
        </p:nvSpPr>
        <p:spPr>
          <a:xfrm>
            <a:off x="533400" y="1024899"/>
            <a:ext cx="6776884" cy="4269740"/>
          </a:xfrm>
          <a:prstGeom prst="rect">
            <a:avLst/>
          </a:prstGeom>
          <a:noFill/>
        </p:spPr>
        <p:txBody>
          <a:bodyPr wrap="square">
            <a:spAutoFit/>
          </a:bodyPr>
          <a:lstStyle/>
          <a:p>
            <a:pPr>
              <a:buNone/>
            </a:pPr>
            <a:r>
              <a:rPr lang="en-US" b="1" dirty="0">
                <a:latin typeface="Calibri" panose="020F0502020204030204" pitchFamily="34" charset="0"/>
                <a:cs typeface="Calibri" panose="020F0502020204030204" pitchFamily="34" charset="0"/>
              </a:rPr>
              <a:t>A neuron is the basic building block of a neural network.</a:t>
            </a:r>
            <a:endParaRPr lang="en-US" dirty="0">
              <a:latin typeface="Calibri" panose="020F0502020204030204" pitchFamily="34" charset="0"/>
              <a:cs typeface="Calibri" panose="020F0502020204030204" pitchFamily="34" charset="0"/>
            </a:endParaRPr>
          </a:p>
          <a:p>
            <a:pPr>
              <a:buNone/>
            </a:pPr>
            <a:r>
              <a:rPr lang="en-US" dirty="0">
                <a:latin typeface="Calibri" panose="020F0502020204030204" pitchFamily="34" charset="0"/>
                <a:cs typeface="Calibri" panose="020F0502020204030204" pitchFamily="34" charset="0"/>
              </a:rPr>
              <a:t>It receives inputs, gives each input a </a:t>
            </a:r>
            <a:r>
              <a:rPr lang="en-US" b="1" dirty="0">
                <a:latin typeface="Calibri" panose="020F0502020204030204" pitchFamily="34" charset="0"/>
                <a:cs typeface="Calibri" panose="020F0502020204030204" pitchFamily="34" charset="0"/>
              </a:rPr>
              <a:t>weight</a:t>
            </a:r>
            <a:r>
              <a:rPr lang="en-US" dirty="0">
                <a:latin typeface="Calibri" panose="020F0502020204030204" pitchFamily="34" charset="0"/>
                <a:cs typeface="Calibri" panose="020F0502020204030204" pitchFamily="34" charset="0"/>
              </a:rPr>
              <a:t>, adds a </a:t>
            </a:r>
            <a:r>
              <a:rPr lang="en-US" b="1" dirty="0">
                <a:latin typeface="Calibri" panose="020F0502020204030204" pitchFamily="34" charset="0"/>
                <a:cs typeface="Calibri" panose="020F0502020204030204" pitchFamily="34" charset="0"/>
              </a:rPr>
              <a:t>bias</a:t>
            </a:r>
            <a:r>
              <a:rPr lang="en-US" dirty="0">
                <a:latin typeface="Calibri" panose="020F0502020204030204" pitchFamily="34" charset="0"/>
                <a:cs typeface="Calibri" panose="020F0502020204030204" pitchFamily="34" charset="0"/>
              </a:rPr>
              <a:t>, and produces an output.</a:t>
            </a:r>
          </a:p>
          <a:p>
            <a:pPr>
              <a:buNone/>
            </a:pPr>
            <a:r>
              <a:rPr lang="en-US" dirty="0">
                <a:latin typeface="Calibri" panose="020F0502020204030204" pitchFamily="34" charset="0"/>
                <a:cs typeface="Calibri" panose="020F0502020204030204" pitchFamily="34" charset="0"/>
              </a:rPr>
              <a:t>Artificial Neuron is also called a Perceptron.</a:t>
            </a:r>
          </a:p>
          <a:p>
            <a:pPr>
              <a:buNone/>
            </a:pPr>
            <a:endParaRPr lang="en-US" dirty="0">
              <a:latin typeface="Calibri" panose="020F0502020204030204" pitchFamily="34" charset="0"/>
              <a:cs typeface="Calibri" panose="020F0502020204030204" pitchFamily="34" charset="0"/>
            </a:endParaRPr>
          </a:p>
          <a:p>
            <a:pPr>
              <a:buNone/>
            </a:pPr>
            <a:r>
              <a:rPr lang="en-US" sz="2400" b="1" dirty="0">
                <a:latin typeface="Calibri" panose="020F0502020204030204" pitchFamily="34" charset="0"/>
                <a:cs typeface="Calibri" panose="020F0502020204030204" pitchFamily="34" charset="0"/>
              </a:rPr>
              <a:t>Main Components</a:t>
            </a:r>
            <a:endParaRPr lang="en-US" b="1" dirty="0">
              <a:latin typeface="Calibri" panose="020F0502020204030204" pitchFamily="34" charset="0"/>
              <a:cs typeface="Calibri" panose="020F0502020204030204" pitchFamily="34" charset="0"/>
            </a:endParaRPr>
          </a:p>
          <a:p>
            <a:pPr marL="342900" lvl="0" indent="-342900">
              <a:buFont typeface="Arial" panose="020B0604020202020204" pitchFamily="34" charset="0"/>
              <a:buChar char="•"/>
            </a:pPr>
            <a:r>
              <a:rPr lang="en-US" b="1" dirty="0">
                <a:latin typeface="Calibri" panose="020F0502020204030204" pitchFamily="34" charset="0"/>
                <a:cs typeface="Calibri" panose="020F0502020204030204" pitchFamily="34" charset="0"/>
              </a:rPr>
              <a:t>Inputs (x)</a:t>
            </a:r>
            <a:r>
              <a:rPr lang="en-US" dirty="0">
                <a:latin typeface="Calibri" panose="020F0502020204030204" pitchFamily="34" charset="0"/>
                <a:cs typeface="Calibri" panose="020F0502020204030204" pitchFamily="34" charset="0"/>
              </a:rPr>
              <a:t> → information coming in </a:t>
            </a:r>
          </a:p>
          <a:p>
            <a:pPr marL="342900" lvl="0" indent="-342900">
              <a:buFont typeface="Arial" panose="020B0604020202020204" pitchFamily="34" charset="0"/>
              <a:buChar char="•"/>
            </a:pPr>
            <a:r>
              <a:rPr lang="en-US" b="1" dirty="0">
                <a:latin typeface="Calibri" panose="020F0502020204030204" pitchFamily="34" charset="0"/>
                <a:cs typeface="Calibri" panose="020F0502020204030204" pitchFamily="34" charset="0"/>
              </a:rPr>
              <a:t>Weights (w)</a:t>
            </a:r>
            <a:r>
              <a:rPr lang="en-US" dirty="0">
                <a:latin typeface="Calibri" panose="020F0502020204030204" pitchFamily="34" charset="0"/>
                <a:cs typeface="Calibri" panose="020F0502020204030204" pitchFamily="34" charset="0"/>
              </a:rPr>
              <a:t> → importance given to each input </a:t>
            </a:r>
          </a:p>
          <a:p>
            <a:pPr marL="342900" lvl="0" indent="-342900">
              <a:buFont typeface="Arial" panose="020B0604020202020204" pitchFamily="34" charset="0"/>
              <a:buChar char="•"/>
            </a:pPr>
            <a:r>
              <a:rPr lang="en-US" b="1" dirty="0">
                <a:latin typeface="Calibri" panose="020F0502020204030204" pitchFamily="34" charset="0"/>
                <a:cs typeface="Calibri" panose="020F0502020204030204" pitchFamily="34" charset="0"/>
              </a:rPr>
              <a:t>Bias (b)</a:t>
            </a:r>
            <a:r>
              <a:rPr lang="en-US" dirty="0">
                <a:latin typeface="Calibri" panose="020F0502020204030204" pitchFamily="34" charset="0"/>
                <a:cs typeface="Calibri" panose="020F0502020204030204" pitchFamily="34" charset="0"/>
              </a:rPr>
              <a:t> → helps adjust the result </a:t>
            </a:r>
          </a:p>
          <a:p>
            <a:pPr marL="342900" lvl="0" indent="-342900">
              <a:buFont typeface="Arial" panose="020B0604020202020204" pitchFamily="34" charset="0"/>
              <a:buChar char="•"/>
            </a:pPr>
            <a:r>
              <a:rPr lang="en-US" b="1" dirty="0">
                <a:latin typeface="Calibri" panose="020F0502020204030204" pitchFamily="34" charset="0"/>
                <a:cs typeface="Calibri" panose="020F0502020204030204" pitchFamily="34" charset="0"/>
              </a:rPr>
              <a:t>Weighted Sum</a:t>
            </a:r>
            <a:r>
              <a:rPr lang="en-US" dirty="0">
                <a:latin typeface="Calibri" panose="020F0502020204030204" pitchFamily="34" charset="0"/>
                <a:cs typeface="Calibri" panose="020F0502020204030204" pitchFamily="34" charset="0"/>
              </a:rPr>
              <a:t> → combines the inputs </a:t>
            </a:r>
          </a:p>
          <a:p>
            <a:pPr marL="342900" lvl="0" indent="-342900">
              <a:buFont typeface="Arial" panose="020B0604020202020204" pitchFamily="34" charset="0"/>
              <a:buChar char="•"/>
            </a:pPr>
            <a:r>
              <a:rPr lang="en-US" b="1" dirty="0">
                <a:latin typeface="Calibri" panose="020F0502020204030204" pitchFamily="34" charset="0"/>
                <a:cs typeface="Calibri" panose="020F0502020204030204" pitchFamily="34" charset="0"/>
              </a:rPr>
              <a:t>Output</a:t>
            </a:r>
            <a:r>
              <a:rPr lang="en-US" dirty="0">
                <a:latin typeface="Calibri" panose="020F0502020204030204" pitchFamily="34" charset="0"/>
                <a:cs typeface="Calibri" panose="020F0502020204030204" pitchFamily="34" charset="0"/>
              </a:rPr>
              <a:t> </a:t>
            </a:r>
            <a:r>
              <a:rPr lang="en-US" b="1" dirty="0">
                <a:latin typeface="Calibri" panose="020F0502020204030204" pitchFamily="34" charset="0"/>
                <a:cs typeface="Calibri" panose="020F0502020204030204" pitchFamily="34" charset="0"/>
              </a:rPr>
              <a:t>(z) </a:t>
            </a:r>
            <a:r>
              <a:rPr lang="en-US" dirty="0">
                <a:latin typeface="Calibri" panose="020F0502020204030204" pitchFamily="34" charset="0"/>
                <a:cs typeface="Calibri" panose="020F0502020204030204" pitchFamily="34" charset="0"/>
              </a:rPr>
              <a:t>→ result passed to the next layer</a:t>
            </a:r>
          </a:p>
          <a:p>
            <a:pPr marL="342900" lvl="0" indent="-342900">
              <a:buFont typeface="Arial" panose="020B0604020202020204" pitchFamily="34" charset="0"/>
              <a:buChar char="•"/>
            </a:pPr>
            <a:endParaRPr lang="en-US" dirty="0">
              <a:latin typeface="Calibri" panose="020F0502020204030204" pitchFamily="34" charset="0"/>
              <a:cs typeface="Calibri" panose="020F0502020204030204" pitchFamily="34" charset="0"/>
            </a:endParaRPr>
          </a:p>
          <a:p>
            <a:pPr>
              <a:buNone/>
            </a:pPr>
            <a:r>
              <a:rPr lang="en-US" sz="2400" b="1" dirty="0">
                <a:latin typeface="Calibri" panose="020F0502020204030204" pitchFamily="34" charset="0"/>
                <a:cs typeface="Calibri" panose="020F0502020204030204" pitchFamily="34" charset="0"/>
              </a:rPr>
              <a:t>Equation</a:t>
            </a:r>
            <a:endParaRPr lang="en-US" dirty="0">
              <a:latin typeface="Calibri" panose="020F0502020204030204" pitchFamily="34" charset="0"/>
              <a:cs typeface="Calibri" panose="020F0502020204030204" pitchFamily="34" charset="0"/>
            </a:endParaRPr>
          </a:p>
          <a:p>
            <a:pPr>
              <a:buNone/>
            </a:pPr>
            <a:r>
              <a:rPr lang="en-US" dirty="0">
                <a:latin typeface="Calibri" panose="020F0502020204030204" pitchFamily="34" charset="0"/>
                <a:cs typeface="Calibri" panose="020F0502020204030204" pitchFamily="34" charset="0"/>
              </a:rPr>
              <a:t>A neuron combines information from its inputs to produce an output.</a:t>
            </a:r>
          </a:p>
        </p:txBody>
      </p:sp>
      <p:sp>
        <p:nvSpPr>
          <p:cNvPr id="1048753" name="TextBox 3"/>
          <p:cNvSpPr txBox="1">
            <a:spLocks noRot="1" noChangeAspect="1" noMove="1" noResize="1" noEditPoints="1" noAdjustHandles="1" noChangeArrowheads="1" noChangeShapeType="1" noTextEdit="1"/>
          </p:cNvSpPr>
          <p:nvPr/>
        </p:nvSpPr>
        <p:spPr>
          <a:xfrm>
            <a:off x="1143000" y="5418776"/>
            <a:ext cx="2607637" cy="307777"/>
          </a:xfrm>
          <a:prstGeom prst="rect">
            <a:avLst/>
          </a:prstGeom>
          <a:blipFill>
            <a:blip r:embed="rId4"/>
            <a:stretch>
              <a:fillRect l="-703" r="-1639" b="-16000"/>
            </a:stretch>
          </a:blipFill>
        </p:spPr>
        <p:txBody>
          <a:bodyPr/>
          <a:lstStyle/>
          <a:p>
            <a:r>
              <a:rPr lang="en-US">
                <a:noFill/>
              </a:rPr>
              <a:t> </a:t>
            </a:r>
          </a:p>
        </p:txBody>
      </p:sp>
      <p:sp>
        <p:nvSpPr>
          <p:cNvPr id="1048754" name="Rectangle 4"/>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r>
              <a:rPr lang="en-US" sz="2400" dirty="0">
                <a:latin typeface="Calibri" panose="020F0502020204030204" pitchFamily="34" charset="0"/>
                <a:cs typeface="Calibri" panose="020F0502020204030204" pitchFamily="34" charset="0"/>
              </a:rPr>
              <a:t>12</a:t>
            </a:r>
            <a:endParaRPr lang="en-PK" sz="2400" dirty="0">
              <a:latin typeface="Calibri" panose="020F0502020204030204" pitchFamily="34" charset="0"/>
              <a:cs typeface="Calibri" panose="020F0502020204030204" pitchFamily="34" charset="0"/>
            </a:endParaRPr>
          </a:p>
        </p:txBody>
      </p:sp>
      <p:sp>
        <p:nvSpPr>
          <p:cNvPr id="1048755" name="TextBox 7"/>
          <p:cNvSpPr txBox="1"/>
          <p:nvPr/>
        </p:nvSpPr>
        <p:spPr>
          <a:xfrm>
            <a:off x="7467600" y="5606831"/>
            <a:ext cx="4301333" cy="584775"/>
          </a:xfrm>
          <a:prstGeom prst="rect">
            <a:avLst/>
          </a:prstGeom>
          <a:noFill/>
        </p:spPr>
        <p:txBody>
          <a:bodyPr wrap="square">
            <a:spAutoFit/>
          </a:bodyPr>
          <a:lstStyle/>
          <a:p>
            <a:pPr lvl="1" algn="ctr"/>
            <a:r>
              <a:rPr lang="en-US" sz="1600" i="1" dirty="0">
                <a:latin typeface="Calibri" panose="020F0502020204030204" pitchFamily="34" charset="0"/>
                <a:cs typeface="Calibri" panose="020F0502020204030204" pitchFamily="34" charset="0"/>
                <a:hlinkClick r:id="rId5"/>
              </a:rPr>
              <a:t>Rosenblatt, F. (1958), The Perceptron</a:t>
            </a:r>
            <a:br>
              <a:rPr lang="en-US" sz="1600" i="1" dirty="0">
                <a:latin typeface="Calibri" panose="020F0502020204030204" pitchFamily="34" charset="0"/>
                <a:cs typeface="Calibri" panose="020F0502020204030204" pitchFamily="34" charset="0"/>
                <a:hlinkClick r:id="rId5"/>
              </a:rPr>
            </a:br>
            <a:r>
              <a:rPr lang="en-US" sz="1600" b="1" i="1" dirty="0">
                <a:latin typeface="Calibri" panose="020F0502020204030204" pitchFamily="34" charset="0"/>
                <a:cs typeface="Calibri" panose="020F0502020204030204" pitchFamily="34" charset="0"/>
                <a:hlinkClick r:id="rId5"/>
              </a:rPr>
              <a:t>[Paper]</a:t>
            </a:r>
            <a:endParaRPr lang="en-US" sz="1600" i="1" dirty="0">
              <a:latin typeface="Calibri" panose="020F0502020204030204" pitchFamily="34" charset="0"/>
              <a:cs typeface="Calibri" panose="020F050202020403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95" name="Rectangle 4"/>
          <p:cNvSpPr/>
          <p:nvPr/>
        </p:nvSpPr>
        <p:spPr>
          <a:xfrm>
            <a:off x="0" y="0"/>
            <a:ext cx="12192000" cy="873760"/>
          </a:xfrm>
          <a:prstGeom prst="rect">
            <a:avLst/>
          </a:prstGeom>
          <a:solidFill>
            <a:srgbClr val="0E2841"/>
          </a:solidFill>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r>
              <a:rPr lang="en-US" sz="3200" b="1" dirty="0">
                <a:latin typeface="Calibri" panose="020F0502020204030204" pitchFamily="34" charset="0"/>
                <a:cs typeface="Calibri" panose="020F0502020204030204" pitchFamily="34" charset="0"/>
              </a:rPr>
              <a:t>2 (ii). The Artificial Neuron </a:t>
            </a:r>
            <a:r>
              <a:rPr lang="en-US" sz="2000" b="1" dirty="0">
                <a:latin typeface="Calibri" panose="020F0502020204030204" pitchFamily="34" charset="0"/>
                <a:cs typeface="Calibri" panose="020F0502020204030204" pitchFamily="34" charset="0"/>
              </a:rPr>
              <a:t>(Con…)</a:t>
            </a:r>
            <a:endParaRPr lang="en-PK" sz="3200" b="1" dirty="0">
              <a:latin typeface="Calibri" panose="020F0502020204030204" pitchFamily="34" charset="0"/>
              <a:cs typeface="Calibri" panose="020F0502020204030204" pitchFamily="34" charset="0"/>
            </a:endParaRPr>
          </a:p>
        </p:txBody>
      </p:sp>
      <p:pic>
        <p:nvPicPr>
          <p:cNvPr id="2097166" name="Picture 2"/>
          <p:cNvPicPr>
            <a:picLocks noChangeAspect="1"/>
          </p:cNvPicPr>
          <p:nvPr/>
        </p:nvPicPr>
        <p:blipFill>
          <a:blip r:embed="rId2"/>
          <a:stretch>
            <a:fillRect/>
          </a:stretch>
        </p:blipFill>
        <p:spPr>
          <a:xfrm>
            <a:off x="152400" y="1524000"/>
            <a:ext cx="8077200" cy="4711700"/>
          </a:xfrm>
          <a:prstGeom prst="rect">
            <a:avLst/>
          </a:prstGeom>
        </p:spPr>
      </p:pic>
      <p:pic>
        <p:nvPicPr>
          <p:cNvPr id="2097167" name="Picture 6"/>
          <p:cNvPicPr>
            <a:picLocks noChangeAspect="1"/>
          </p:cNvPicPr>
          <p:nvPr/>
        </p:nvPicPr>
        <p:blipFill>
          <a:blip r:embed="rId3"/>
          <a:srcRect t="2518" b="2518"/>
          <a:stretch>
            <a:fillRect/>
          </a:stretch>
        </p:blipFill>
        <p:spPr>
          <a:xfrm>
            <a:off x="8534400" y="990599"/>
            <a:ext cx="2924583" cy="5486401"/>
          </a:xfrm>
          <a:prstGeom prst="rect">
            <a:avLst/>
          </a:prstGeom>
        </p:spPr>
      </p:pic>
      <p:sp>
        <p:nvSpPr>
          <p:cNvPr id="1048796" name="Rectangle 4"/>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r>
              <a:rPr lang="en-US" sz="2400" dirty="0">
                <a:latin typeface="Calibri" panose="020F0502020204030204" pitchFamily="34" charset="0"/>
                <a:cs typeface="Calibri" panose="020F0502020204030204" pitchFamily="34" charset="0"/>
              </a:rPr>
              <a:t>13</a:t>
            </a:r>
            <a:endParaRPr lang="en-PK" sz="2400" dirty="0">
              <a:latin typeface="Calibri" panose="020F0502020204030204" pitchFamily="34" charset="0"/>
              <a:cs typeface="Calibri" panose="020F0502020204030204" pitchFamily="34" charset="0"/>
            </a:endParaRPr>
          </a:p>
        </p:txBody>
      </p:sp>
      <mc:AlternateContent xmlns:mc="http://schemas.openxmlformats.org/markup-compatibility/2006" xmlns:p14="http://schemas.microsoft.com/office/powerpoint/2010/main">
        <mc:Choice Requires="p14">
          <p:contentPart p14:bwMode="auto" r:id="rId4">
            <p14:nvContentPartPr>
              <p14:cNvPr id="1048812" name="Ink 1048811"/>
              <p14:cNvContentPartPr/>
              <p14:nvPr/>
            </p14:nvContentPartPr>
            <p14:xfrm>
              <a:off x="6757107" y="5753302"/>
              <a:ext cx="14803" cy="21954"/>
            </p14:xfrm>
          </p:contentPart>
        </mc:Choice>
        <mc:Fallback xmlns="">
          <p:sp>
            <p:nvSpPr>
              <p:cNvPr id="1048812" name=""/>
              <p:cNvSpPr/>
              <p:nvPr/>
            </p:nvSpPr>
            <p:spPr>
              <a:xfrm>
                <a:off x="6757107" y="5753302"/>
                <a:ext cx="14803" cy="21954"/>
              </a:xfrm>
            </p:spPr>
          </p:sp>
        </mc:Fallback>
      </mc:AlternateContent>
      <mc:AlternateContent xmlns:mc="http://schemas.openxmlformats.org/markup-compatibility/2006" xmlns:p14="http://schemas.microsoft.com/office/powerpoint/2010/main">
        <mc:Choice Requires="p14">
          <p:contentPart p14:bwMode="auto" r:id="rId5">
            <p14:nvContentPartPr>
              <p14:cNvPr id="1048815" name="Ink 1048814"/>
              <p14:cNvContentPartPr/>
              <p14:nvPr/>
            </p14:nvContentPartPr>
            <p14:xfrm>
              <a:off x="7117745" y="5757334"/>
              <a:ext cx="5254" cy="40359"/>
            </p14:xfrm>
          </p:contentPart>
        </mc:Choice>
        <mc:Fallback xmlns="">
          <p:sp>
            <p:nvSpPr>
              <p:cNvPr id="1048815" name=""/>
              <p:cNvSpPr/>
              <p:nvPr/>
            </p:nvSpPr>
            <p:spPr>
              <a:xfrm>
                <a:off x="7117745" y="5757334"/>
                <a:ext cx="5254" cy="40359"/>
              </a:xfrm>
            </p:spPr>
          </p:sp>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0701EF-ED09-022D-33AD-6E80E948AF86}"/>
            </a:ext>
          </a:extLst>
        </p:cNvPr>
        <p:cNvGrpSpPr/>
        <p:nvPr/>
      </p:nvGrpSpPr>
      <p:grpSpPr>
        <a:xfrm>
          <a:off x="0" y="0"/>
          <a:ext cx="0" cy="0"/>
          <a:chOff x="0" y="0"/>
          <a:chExt cx="0" cy="0"/>
        </a:xfrm>
      </p:grpSpPr>
      <p:sp>
        <p:nvSpPr>
          <p:cNvPr id="1048795" name="Rectangle 4">
            <a:extLst>
              <a:ext uri="{FF2B5EF4-FFF2-40B4-BE49-F238E27FC236}">
                <a16:creationId xmlns:a16="http://schemas.microsoft.com/office/drawing/2014/main" id="{D21A0B6C-A6C5-049C-A6D8-929A5463EAEC}"/>
              </a:ext>
            </a:extLst>
          </p:cNvPr>
          <p:cNvSpPr/>
          <p:nvPr/>
        </p:nvSpPr>
        <p:spPr>
          <a:xfrm>
            <a:off x="0" y="0"/>
            <a:ext cx="12192000" cy="873760"/>
          </a:xfrm>
          <a:prstGeom prst="rect">
            <a:avLst/>
          </a:prstGeom>
          <a:solidFill>
            <a:srgbClr val="0E2841"/>
          </a:solidFill>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r>
              <a:rPr lang="en-US" sz="3200" b="1" dirty="0">
                <a:latin typeface="Calibri" panose="020F0502020204030204" pitchFamily="34" charset="0"/>
                <a:cs typeface="Calibri" panose="020F0502020204030204" pitchFamily="34" charset="0"/>
              </a:rPr>
              <a:t>2 (ii). The Artificial Neuron </a:t>
            </a:r>
            <a:r>
              <a:rPr lang="en-US" sz="2000" b="1" dirty="0">
                <a:latin typeface="Calibri" panose="020F0502020204030204" pitchFamily="34" charset="0"/>
                <a:cs typeface="Calibri" panose="020F0502020204030204" pitchFamily="34" charset="0"/>
              </a:rPr>
              <a:t>(Con…)</a:t>
            </a:r>
            <a:endParaRPr lang="en-PK" sz="3200" b="1" dirty="0">
              <a:latin typeface="Calibri" panose="020F0502020204030204" pitchFamily="34" charset="0"/>
              <a:cs typeface="Calibri" panose="020F0502020204030204" pitchFamily="34" charset="0"/>
            </a:endParaRPr>
          </a:p>
        </p:txBody>
      </p:sp>
      <p:sp>
        <p:nvSpPr>
          <p:cNvPr id="1048796" name="Rectangle 4">
            <a:extLst>
              <a:ext uri="{FF2B5EF4-FFF2-40B4-BE49-F238E27FC236}">
                <a16:creationId xmlns:a16="http://schemas.microsoft.com/office/drawing/2014/main" id="{41271550-5A3D-65C2-FFBF-13E6A89DA89D}"/>
              </a:ext>
            </a:extLst>
          </p:cNvPr>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r>
              <a:rPr lang="en-US" sz="2400" dirty="0">
                <a:latin typeface="Calibri" panose="020F0502020204030204" pitchFamily="34" charset="0"/>
                <a:cs typeface="Calibri" panose="020F0502020204030204" pitchFamily="34" charset="0"/>
              </a:rPr>
              <a:t>14</a:t>
            </a:r>
            <a:endParaRPr lang="en-PK" sz="2400" dirty="0">
              <a:latin typeface="Calibri" panose="020F0502020204030204" pitchFamily="34" charset="0"/>
              <a:cs typeface="Calibri" panose="020F0502020204030204" pitchFamily="34" charset="0"/>
            </a:endParaRPr>
          </a:p>
        </p:txBody>
      </p:sp>
      <mc:AlternateContent xmlns:mc="http://schemas.openxmlformats.org/markup-compatibility/2006" xmlns:p14="http://schemas.microsoft.com/office/powerpoint/2010/main">
        <mc:Choice Requires="p14">
          <p:contentPart p14:bwMode="auto" r:id="rId3">
            <p14:nvContentPartPr>
              <p14:cNvPr id="1048812" name="Ink 1048811">
                <a:extLst>
                  <a:ext uri="{FF2B5EF4-FFF2-40B4-BE49-F238E27FC236}">
                    <a16:creationId xmlns:a16="http://schemas.microsoft.com/office/drawing/2014/main" id="{BA6AF8D4-2431-44A4-7CB4-A22454A47722}"/>
                  </a:ext>
                </a:extLst>
              </p14:cNvPr>
              <p14:cNvContentPartPr/>
              <p14:nvPr/>
            </p14:nvContentPartPr>
            <p14:xfrm>
              <a:off x="6757107" y="5753302"/>
              <a:ext cx="14803" cy="21954"/>
            </p14:xfrm>
          </p:contentPart>
        </mc:Choice>
        <mc:Fallback xmlns="">
          <p:sp>
            <p:nvSpPr>
              <p:cNvPr id="1048812" name=""/>
              <p:cNvSpPr/>
              <p:nvPr/>
            </p:nvSpPr>
            <p:spPr>
              <a:xfrm>
                <a:off x="6757107" y="5753302"/>
                <a:ext cx="14803" cy="21954"/>
              </a:xfrm>
            </p:spPr>
          </p:sp>
        </mc:Fallback>
      </mc:AlternateContent>
      <mc:AlternateContent xmlns:mc="http://schemas.openxmlformats.org/markup-compatibility/2006" xmlns:p14="http://schemas.microsoft.com/office/powerpoint/2010/main">
        <mc:Choice Requires="p14">
          <p:contentPart p14:bwMode="auto" r:id="rId4">
            <p14:nvContentPartPr>
              <p14:cNvPr id="1048815" name="Ink 1048814">
                <a:extLst>
                  <a:ext uri="{FF2B5EF4-FFF2-40B4-BE49-F238E27FC236}">
                    <a16:creationId xmlns:a16="http://schemas.microsoft.com/office/drawing/2014/main" id="{B9042AC7-CC71-637F-D254-3D571490BC2A}"/>
                  </a:ext>
                </a:extLst>
              </p14:cNvPr>
              <p14:cNvContentPartPr/>
              <p14:nvPr/>
            </p14:nvContentPartPr>
            <p14:xfrm>
              <a:off x="7117745" y="5757334"/>
              <a:ext cx="5254" cy="40359"/>
            </p14:xfrm>
          </p:contentPart>
        </mc:Choice>
        <mc:Fallback xmlns="">
          <p:sp>
            <p:nvSpPr>
              <p:cNvPr id="1048815" name=""/>
              <p:cNvSpPr/>
              <p:nvPr/>
            </p:nvSpPr>
            <p:spPr>
              <a:xfrm>
                <a:off x="7117745" y="5757334"/>
                <a:ext cx="5254" cy="40359"/>
              </a:xfrm>
            </p:spPr>
          </p:sp>
        </mc:Fallback>
      </mc:AlternateContent>
      <p:sp>
        <p:nvSpPr>
          <p:cNvPr id="3" name="TextBox 2">
            <a:extLst>
              <a:ext uri="{FF2B5EF4-FFF2-40B4-BE49-F238E27FC236}">
                <a16:creationId xmlns:a16="http://schemas.microsoft.com/office/drawing/2014/main" id="{995D11BC-68BE-1A15-F6CF-984EDCA2DDAC}"/>
              </a:ext>
            </a:extLst>
          </p:cNvPr>
          <p:cNvSpPr txBox="1"/>
          <p:nvPr/>
        </p:nvSpPr>
        <p:spPr>
          <a:xfrm>
            <a:off x="472422" y="1166020"/>
            <a:ext cx="5130092" cy="2654573"/>
          </a:xfrm>
          <a:prstGeom prst="rect">
            <a:avLst/>
          </a:prstGeom>
          <a:noFill/>
        </p:spPr>
        <p:txBody>
          <a:bodyPr wrap="square">
            <a:spAutoFit/>
          </a:bodyPr>
          <a:lstStyle/>
          <a:p>
            <a:pPr marL="190500" marR="0" indent="0" algn="l">
              <a:lnSpc>
                <a:spcPct val="100000"/>
              </a:lnSpc>
              <a:spcAft>
                <a:spcPts val="900"/>
              </a:spcAft>
              <a:buNone/>
            </a:pPr>
            <a:r>
              <a:rPr lang="en-US" b="1" i="0" dirty="0">
                <a:solidFill>
                  <a:schemeClr val="tx1"/>
                </a:solidFill>
                <a:effectLst/>
                <a:latin typeface="Calibri" panose="020F0502020204030204" pitchFamily="34" charset="0"/>
                <a:cs typeface="Calibri" panose="020F0502020204030204" pitchFamily="34" charset="0"/>
              </a:rPr>
              <a:t>Activation Functions in Artificial Neural Networks:</a:t>
            </a:r>
          </a:p>
          <a:p>
            <a:pPr marL="190500">
              <a:spcAft>
                <a:spcPts val="900"/>
              </a:spcAft>
            </a:pPr>
            <a:r>
              <a:rPr lang="en-US" dirty="0">
                <a:latin typeface="Calibri" panose="020F0502020204030204" pitchFamily="34" charset="0"/>
                <a:cs typeface="Calibri" panose="020F0502020204030204" pitchFamily="34" charset="0"/>
              </a:rPr>
              <a:t>An </a:t>
            </a:r>
            <a:r>
              <a:rPr lang="en-US" i="1" dirty="0">
                <a:latin typeface="Calibri" panose="020F0502020204030204" pitchFamily="34" charset="0"/>
                <a:cs typeface="Calibri" panose="020F0502020204030204" pitchFamily="34" charset="0"/>
                <a:hlinkClick r:id="rId5"/>
              </a:rPr>
              <a:t>Activation function</a:t>
            </a:r>
            <a:r>
              <a:rPr lang="en-US" i="1"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is</a:t>
            </a:r>
            <a:r>
              <a:rPr lang="en-US" i="1"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a mathematical formula that</a:t>
            </a:r>
          </a:p>
          <a:p>
            <a:pPr marL="476250" indent="-285750">
              <a:spcAft>
                <a:spcPts val="900"/>
              </a:spcAft>
              <a:buFont typeface="Arial" panose="020B0604020202020204" pitchFamily="34" charset="0"/>
              <a:buChar char="•"/>
            </a:pPr>
            <a:r>
              <a:rPr lang="en-US" dirty="0">
                <a:latin typeface="Calibri" panose="020F0502020204030204" pitchFamily="34" charset="0"/>
                <a:cs typeface="Calibri" panose="020F0502020204030204" pitchFamily="34" charset="0"/>
              </a:rPr>
              <a:t>Takes the neuron's calculated value and produces its output.</a:t>
            </a:r>
          </a:p>
          <a:p>
            <a:pPr marL="476250" indent="-285750">
              <a:spcAft>
                <a:spcPts val="900"/>
              </a:spcAft>
              <a:buFont typeface="Arial" panose="020B0604020202020204" pitchFamily="34" charset="0"/>
              <a:buChar char="•"/>
            </a:pPr>
            <a:r>
              <a:rPr lang="en-US" dirty="0">
                <a:latin typeface="Calibri" panose="020F0502020204030204" pitchFamily="34" charset="0"/>
                <a:cs typeface="Calibri" panose="020F0502020204030204" pitchFamily="34" charset="0"/>
              </a:rPr>
              <a:t>Determines how strongly a neuron should respond to its inputs and passes the resulting signal to the next layer.</a:t>
            </a:r>
            <a:endParaRPr lang="en-US" i="0" dirty="0">
              <a:solidFill>
                <a:schemeClr val="tx1"/>
              </a:solidFill>
              <a:effectLst/>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8E30A2A4-7E07-8E85-FFD3-EE2CD01E8648}"/>
              </a:ext>
            </a:extLst>
          </p:cNvPr>
          <p:cNvSpPr txBox="1"/>
          <p:nvPr/>
        </p:nvSpPr>
        <p:spPr>
          <a:xfrm>
            <a:off x="685800" y="3835854"/>
            <a:ext cx="4953000" cy="1323439"/>
          </a:xfrm>
          <a:prstGeom prst="rect">
            <a:avLst/>
          </a:prstGeom>
          <a:noFill/>
        </p:spPr>
        <p:txBody>
          <a:bodyPr wrap="square">
            <a:spAutoFit/>
          </a:bodyPr>
          <a:lstStyle/>
          <a:p>
            <a:r>
              <a:rPr lang="en-US" sz="2000" dirty="0">
                <a:latin typeface="Calibri" panose="020F0502020204030204" pitchFamily="34" charset="0"/>
                <a:cs typeface="Calibri" panose="020F0502020204030204" pitchFamily="34" charset="0"/>
              </a:rPr>
              <a:t>An activation function can transform the value computed by a neuron in different ways. This transformation can be either</a:t>
            </a:r>
            <a:r>
              <a:rPr lang="en-US" sz="2000" b="1" dirty="0">
                <a:latin typeface="Calibri" panose="020F0502020204030204" pitchFamily="34" charset="0"/>
                <a:cs typeface="Calibri" panose="020F0502020204030204" pitchFamily="34" charset="0"/>
              </a:rPr>
              <a:t> linear </a:t>
            </a:r>
            <a:r>
              <a:rPr lang="en-US" sz="2000" dirty="0">
                <a:latin typeface="Calibri" panose="020F0502020204030204" pitchFamily="34" charset="0"/>
                <a:cs typeface="Calibri" panose="020F0502020204030204" pitchFamily="34" charset="0"/>
              </a:rPr>
              <a:t>or </a:t>
            </a:r>
            <a:r>
              <a:rPr lang="en-US" sz="2000" b="1" dirty="0">
                <a:latin typeface="Calibri" panose="020F0502020204030204" pitchFamily="34" charset="0"/>
                <a:cs typeface="Calibri" panose="020F0502020204030204" pitchFamily="34" charset="0"/>
              </a:rPr>
              <a:t>non-linear</a:t>
            </a:r>
            <a:r>
              <a:rPr lang="en-US" sz="2000" dirty="0">
                <a:latin typeface="Calibri" panose="020F0502020204030204" pitchFamily="34" charset="0"/>
                <a:cs typeface="Calibri" panose="020F0502020204030204" pitchFamily="34" charset="0"/>
              </a:rPr>
              <a:t>.</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B0B0F64-981A-B8AD-A567-BF892B83EE3C}"/>
                  </a:ext>
                </a:extLst>
              </p:cNvPr>
              <p:cNvSpPr txBox="1"/>
              <p:nvPr/>
            </p:nvSpPr>
            <p:spPr>
              <a:xfrm>
                <a:off x="6764508" y="1149449"/>
                <a:ext cx="4820039" cy="5708550"/>
              </a:xfrm>
              <a:prstGeom prst="rect">
                <a:avLst/>
              </a:prstGeom>
              <a:noFill/>
            </p:spPr>
            <p:txBody>
              <a:bodyPr wrap="square">
                <a:spAutoFit/>
              </a:bodyPr>
              <a:lstStyle/>
              <a:p>
                <a:pPr>
                  <a:buNone/>
                </a:pPr>
                <a:r>
                  <a:rPr lang="en-US" b="1" dirty="0">
                    <a:latin typeface="Calibri" panose="020F0502020204030204" pitchFamily="34" charset="0"/>
                    <a:cs typeface="Calibri" panose="020F0502020204030204" pitchFamily="34" charset="0"/>
                  </a:rPr>
                  <a:t>Linearity in Deep Learning: </a:t>
                </a:r>
                <a:r>
                  <a:rPr lang="en-US" dirty="0">
                    <a:latin typeface="Calibri" panose="020F0502020204030204" pitchFamily="34" charset="0"/>
                    <a:cs typeface="Calibri" panose="020F0502020204030204" pitchFamily="34" charset="0"/>
                  </a:rPr>
                  <a:t>A linear neuron computes its output as a simple weighted sum of inputs and bias.</a:t>
                </a:r>
              </a:p>
              <a:p>
                <a:endParaRPr lang="en-US" b="1" dirty="0">
                  <a:latin typeface="Calibri" panose="020F0502020204030204" pitchFamily="34" charset="0"/>
                  <a:cs typeface="Calibri" panose="020F0502020204030204" pitchFamily="34" charset="0"/>
                </a:endParaRPr>
              </a:p>
              <a:p>
                <a:r>
                  <a:rPr lang="en-US" b="1" dirty="0">
                    <a:latin typeface="Calibri" panose="020F0502020204030204" pitchFamily="34" charset="0"/>
                    <a:cs typeface="Calibri" panose="020F0502020204030204" pitchFamily="34" charset="0"/>
                  </a:rPr>
                  <a:t>The Limitations of Linearity:</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Cannot learn complex relationships</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Cannot capture non-linear patterns</a:t>
                </a:r>
              </a:p>
              <a:p>
                <a:endParaRPr lang="en-US" dirty="0">
                  <a:latin typeface="Calibri" panose="020F0502020204030204" pitchFamily="34" charset="0"/>
                  <a:cs typeface="Calibri" panose="020F0502020204030204" pitchFamily="34" charset="0"/>
                </a:endParaRPr>
              </a:p>
              <a:p>
                <a:r>
                  <a:rPr lang="en-US" b="1" dirty="0">
                    <a:latin typeface="Calibri" panose="020F0502020204030204" pitchFamily="34" charset="0"/>
                    <a:cs typeface="Calibri" panose="020F0502020204030204" pitchFamily="34" charset="0"/>
                  </a:rPr>
                  <a:t>Non-Linearity in Deep Learning: </a:t>
                </a:r>
                <a:r>
                  <a:rPr lang="en-US" dirty="0">
                    <a:latin typeface="Calibri" panose="020F0502020204030204" pitchFamily="34" charset="0"/>
                    <a:cs typeface="Calibri" panose="020F0502020204030204" pitchFamily="34" charset="0"/>
                  </a:rPr>
                  <a:t>To overcome these limitations, we introduce non-linearity using activation functions. Common activation functions are:</a:t>
                </a:r>
              </a:p>
              <a:p>
                <a:endParaRPr lang="en-US" sz="2400" b="1" dirty="0">
                  <a:latin typeface="Calibri" panose="020F0502020204030204" pitchFamily="34" charset="0"/>
                  <a:cs typeface="Calibri" panose="020F0502020204030204" pitchFamily="34" charset="0"/>
                </a:endParaRPr>
              </a:p>
              <a:p>
                <a:pPr marL="342900" lvl="0" indent="-342900">
                  <a:buFont typeface="Arial" panose="020B0604020202020204" pitchFamily="34" charset="0"/>
                  <a:buChar char="•"/>
                </a:pPr>
                <a:r>
                  <a:rPr lang="en-US" sz="2400" b="1" dirty="0">
                    <a:latin typeface="Calibri" panose="020F0502020204030204" pitchFamily="34" charset="0"/>
                    <a:cs typeface="Calibri" panose="020F0502020204030204" pitchFamily="34" charset="0"/>
                  </a:rPr>
                  <a:t>ReLU:</a:t>
                </a:r>
                <a:r>
                  <a:rPr lang="en-US" sz="2400" dirty="0">
                    <a:latin typeface="Calibri" panose="020F0502020204030204" pitchFamily="34" charset="0"/>
                    <a:cs typeface="Calibri" panose="020F0502020204030204" pitchFamily="34" charset="0"/>
                  </a:rPr>
                  <a:t> </a:t>
                </a:r>
                <a14:m>
                  <m:oMath xmlns:m="http://schemas.openxmlformats.org/officeDocument/2006/math">
                    <m:r>
                      <a:rPr lang="en-US" sz="2400" i="1">
                        <a:latin typeface="Cambria Math" panose="02040503050406030204" pitchFamily="18" charset="0"/>
                      </a:rPr>
                      <m:t>𝑓</m:t>
                    </m:r>
                    <m:d>
                      <m:dPr>
                        <m:ctrlPr>
                          <a:rPr lang="en-US" sz="2400" i="1">
                            <a:latin typeface="Cambria Math" panose="02040503050406030204" pitchFamily="18" charset="0"/>
                          </a:rPr>
                        </m:ctrlPr>
                      </m:dPr>
                      <m:e>
                        <m:r>
                          <a:rPr lang="en-US" sz="2400" i="1">
                            <a:latin typeface="Cambria Math" panose="02040503050406030204" pitchFamily="18" charset="0"/>
                          </a:rPr>
                          <m:t>𝑥</m:t>
                        </m:r>
                      </m:e>
                    </m:d>
                    <m:r>
                      <a:rPr lang="en-US" sz="2400">
                        <a:latin typeface="Cambria Math" panose="02040503050406030204" pitchFamily="18" charset="0"/>
                      </a:rPr>
                      <m:t>=</m:t>
                    </m:r>
                    <m:func>
                      <m:funcPr>
                        <m:ctrlPr>
                          <a:rPr lang="en-US" sz="2400" i="1">
                            <a:latin typeface="Cambria Math" panose="02040503050406030204" pitchFamily="18" charset="0"/>
                          </a:rPr>
                        </m:ctrlPr>
                      </m:funcPr>
                      <m:fName>
                        <m:r>
                          <m:rPr>
                            <m:sty m:val="p"/>
                          </m:rPr>
                          <a:rPr lang="en-US" sz="2400">
                            <a:latin typeface="Cambria Math" panose="02040503050406030204" pitchFamily="18" charset="0"/>
                          </a:rPr>
                          <m:t>max</m:t>
                        </m:r>
                      </m:fName>
                      <m:e>
                        <m:d>
                          <m:dPr>
                            <m:sepChr m:val=","/>
                            <m:ctrlPr>
                              <a:rPr lang="en-US" sz="2400" i="1">
                                <a:latin typeface="Cambria Math" panose="02040503050406030204" pitchFamily="18" charset="0"/>
                              </a:rPr>
                            </m:ctrlPr>
                          </m:dPr>
                          <m:e>
                            <m:r>
                              <a:rPr lang="en-US" sz="2400">
                                <a:latin typeface="Cambria Math" panose="02040503050406030204" pitchFamily="18" charset="0"/>
                              </a:rPr>
                              <m:t>0</m:t>
                            </m:r>
                          </m:e>
                          <m:e>
                            <m:r>
                              <a:rPr lang="en-US" sz="2400" i="1">
                                <a:latin typeface="Cambria Math" panose="02040503050406030204" pitchFamily="18" charset="0"/>
                              </a:rPr>
                              <m:t>𝑥</m:t>
                            </m:r>
                          </m:e>
                        </m:d>
                      </m:e>
                    </m:func>
                  </m:oMath>
                </a14:m>
                <a:endParaRPr lang="en-US" sz="2400" dirty="0">
                  <a:latin typeface="Calibri" panose="020F0502020204030204" pitchFamily="34" charset="0"/>
                </a:endParaRPr>
              </a:p>
              <a:p>
                <a:pPr marL="342900" lvl="0" indent="-342900">
                  <a:buFont typeface="Arial" panose="020B0604020202020204" pitchFamily="34" charset="0"/>
                  <a:buChar char="•"/>
                </a:pPr>
                <a:r>
                  <a:rPr lang="en-US" sz="2400" b="1" dirty="0">
                    <a:latin typeface="Calibri" panose="020F0502020204030204" pitchFamily="34" charset="0"/>
                    <a:cs typeface="Calibri" panose="020F0502020204030204" pitchFamily="34" charset="0"/>
                  </a:rPr>
                  <a:t>Sigmoid:</a:t>
                </a:r>
                <a:r>
                  <a:rPr lang="en-US" sz="2400" dirty="0">
                    <a:latin typeface="Calibri" panose="020F0502020204030204" pitchFamily="34" charset="0"/>
                    <a:cs typeface="Calibri" panose="020F0502020204030204" pitchFamily="34" charset="0"/>
                  </a:rPr>
                  <a:t> </a:t>
                </a:r>
                <a14:m>
                  <m:oMath xmlns:m="http://schemas.openxmlformats.org/officeDocument/2006/math">
                    <m:r>
                      <a:rPr lang="en-US" sz="2800" i="1">
                        <a:latin typeface="Cambria Math" panose="02040503050406030204" pitchFamily="18" charset="0"/>
                      </a:rPr>
                      <m:t>𝑓</m:t>
                    </m:r>
                    <m:d>
                      <m:dPr>
                        <m:ctrlPr>
                          <a:rPr lang="en-US" sz="2800" i="1">
                            <a:latin typeface="Cambria Math" panose="02040503050406030204" pitchFamily="18" charset="0"/>
                          </a:rPr>
                        </m:ctrlPr>
                      </m:dPr>
                      <m:e>
                        <m:r>
                          <a:rPr lang="en-US" sz="2800" i="1">
                            <a:latin typeface="Cambria Math" panose="02040503050406030204" pitchFamily="18" charset="0"/>
                          </a:rPr>
                          <m:t>𝑥</m:t>
                        </m:r>
                      </m:e>
                    </m:d>
                    <m:r>
                      <a:rPr lang="en-US" sz="2800">
                        <a:latin typeface="Cambria Math" panose="02040503050406030204" pitchFamily="18" charset="0"/>
                      </a:rPr>
                      <m:t>=</m:t>
                    </m:r>
                    <m:f>
                      <m:fPr>
                        <m:ctrlPr>
                          <a:rPr lang="en-US" sz="2800" i="1">
                            <a:latin typeface="Cambria Math" panose="02040503050406030204" pitchFamily="18" charset="0"/>
                          </a:rPr>
                        </m:ctrlPr>
                      </m:fPr>
                      <m:num>
                        <m:r>
                          <a:rPr lang="en-US" sz="2800">
                            <a:latin typeface="Cambria Math" panose="02040503050406030204" pitchFamily="18" charset="0"/>
                          </a:rPr>
                          <m:t>1</m:t>
                        </m:r>
                      </m:num>
                      <m:den>
                        <m:r>
                          <a:rPr lang="en-US" sz="2800">
                            <a:latin typeface="Cambria Math" panose="02040503050406030204" pitchFamily="18" charset="0"/>
                          </a:rPr>
                          <m:t>1+</m:t>
                        </m:r>
                        <m:sSup>
                          <m:sSupPr>
                            <m:ctrlPr>
                              <a:rPr lang="en-US" sz="2800" i="1">
                                <a:latin typeface="Cambria Math" panose="02040503050406030204" pitchFamily="18" charset="0"/>
                              </a:rPr>
                            </m:ctrlPr>
                          </m:sSupPr>
                          <m:e>
                            <m:r>
                              <a:rPr lang="en-US" sz="2800" i="1">
                                <a:latin typeface="Cambria Math" panose="02040503050406030204" pitchFamily="18" charset="0"/>
                              </a:rPr>
                              <m:t>𝑒</m:t>
                            </m:r>
                          </m:e>
                          <m:sup>
                            <m:r>
                              <a:rPr lang="en-US" sz="2800">
                                <a:latin typeface="Cambria Math" panose="02040503050406030204" pitchFamily="18" charset="0"/>
                              </a:rPr>
                              <m:t>−</m:t>
                            </m:r>
                            <m:r>
                              <a:rPr lang="en-US" sz="2800" i="1">
                                <a:latin typeface="Cambria Math" panose="02040503050406030204" pitchFamily="18" charset="0"/>
                              </a:rPr>
                              <m:t>𝑥</m:t>
                            </m:r>
                          </m:sup>
                        </m:sSup>
                      </m:den>
                    </m:f>
                  </m:oMath>
                </a14:m>
                <a:endParaRPr lang="en-US" sz="2800" dirty="0">
                  <a:latin typeface="Calibri" panose="020F0502020204030204" pitchFamily="34" charset="0"/>
                </a:endParaRPr>
              </a:p>
              <a:p>
                <a:pPr marL="342900" lvl="0" indent="-342900">
                  <a:buFont typeface="Arial" panose="020B0604020202020204" pitchFamily="34" charset="0"/>
                  <a:buChar char="•"/>
                </a:pPr>
                <a:r>
                  <a:rPr lang="en-US" sz="2400" b="1" dirty="0">
                    <a:latin typeface="Calibri" panose="020F0502020204030204" pitchFamily="34" charset="0"/>
                    <a:cs typeface="Calibri" panose="020F0502020204030204" pitchFamily="34" charset="0"/>
                  </a:rPr>
                  <a:t>Tanh:</a:t>
                </a:r>
                <a:r>
                  <a:rPr lang="en-US" sz="2400" dirty="0">
                    <a:latin typeface="Calibri" panose="020F0502020204030204" pitchFamily="34" charset="0"/>
                    <a:cs typeface="Calibri" panose="020F0502020204030204" pitchFamily="34" charset="0"/>
                  </a:rPr>
                  <a:t> </a:t>
                </a:r>
                <a14:m>
                  <m:oMath xmlns:m="http://schemas.openxmlformats.org/officeDocument/2006/math">
                    <m:r>
                      <a:rPr lang="en-US" sz="2800" i="1">
                        <a:latin typeface="Cambria Math" panose="02040503050406030204" pitchFamily="18" charset="0"/>
                      </a:rPr>
                      <m:t>𝑓</m:t>
                    </m:r>
                    <m:d>
                      <m:dPr>
                        <m:ctrlPr>
                          <a:rPr lang="en-US" sz="2800" i="1">
                            <a:latin typeface="Cambria Math" panose="02040503050406030204" pitchFamily="18" charset="0"/>
                          </a:rPr>
                        </m:ctrlPr>
                      </m:dPr>
                      <m:e>
                        <m:r>
                          <a:rPr lang="en-US" sz="2800" i="1">
                            <a:latin typeface="Cambria Math" panose="02040503050406030204" pitchFamily="18" charset="0"/>
                          </a:rPr>
                          <m:t>𝑥</m:t>
                        </m:r>
                      </m:e>
                    </m:d>
                    <m:r>
                      <a:rPr lang="en-US" sz="2800">
                        <a:latin typeface="Cambria Math" panose="02040503050406030204" pitchFamily="18" charset="0"/>
                      </a:rPr>
                      <m:t>=</m:t>
                    </m:r>
                    <m:f>
                      <m:fPr>
                        <m:ctrlPr>
                          <a:rPr lang="en-US" sz="2800" i="1">
                            <a:latin typeface="Cambria Math" panose="02040503050406030204" pitchFamily="18" charset="0"/>
                          </a:rPr>
                        </m:ctrlPr>
                      </m:fPr>
                      <m:num>
                        <m:sSup>
                          <m:sSupPr>
                            <m:ctrlPr>
                              <a:rPr lang="en-US" sz="2800" i="1">
                                <a:latin typeface="Cambria Math" panose="02040503050406030204" pitchFamily="18" charset="0"/>
                              </a:rPr>
                            </m:ctrlPr>
                          </m:sSupPr>
                          <m:e>
                            <m:r>
                              <a:rPr lang="en-US" sz="2800" i="1">
                                <a:latin typeface="Cambria Math" panose="02040503050406030204" pitchFamily="18" charset="0"/>
                              </a:rPr>
                              <m:t>𝑒</m:t>
                            </m:r>
                          </m:e>
                          <m:sup>
                            <m:r>
                              <a:rPr lang="en-US" sz="2800" i="1">
                                <a:latin typeface="Cambria Math" panose="02040503050406030204" pitchFamily="18" charset="0"/>
                              </a:rPr>
                              <m:t>𝑥</m:t>
                            </m:r>
                          </m:sup>
                        </m:sSup>
                        <m:r>
                          <a:rPr lang="en-US" sz="2800">
                            <a:latin typeface="Cambria Math" panose="02040503050406030204" pitchFamily="18" charset="0"/>
                          </a:rPr>
                          <m:t>−</m:t>
                        </m:r>
                        <m:sSup>
                          <m:sSupPr>
                            <m:ctrlPr>
                              <a:rPr lang="en-US" sz="2800" i="1">
                                <a:latin typeface="Cambria Math" panose="02040503050406030204" pitchFamily="18" charset="0"/>
                              </a:rPr>
                            </m:ctrlPr>
                          </m:sSupPr>
                          <m:e>
                            <m:r>
                              <a:rPr lang="en-US" sz="2800" i="1">
                                <a:latin typeface="Cambria Math" panose="02040503050406030204" pitchFamily="18" charset="0"/>
                              </a:rPr>
                              <m:t>𝑒</m:t>
                            </m:r>
                          </m:e>
                          <m:sup>
                            <m:r>
                              <a:rPr lang="en-US" sz="2800">
                                <a:latin typeface="Cambria Math" panose="02040503050406030204" pitchFamily="18" charset="0"/>
                              </a:rPr>
                              <m:t>−</m:t>
                            </m:r>
                            <m:r>
                              <a:rPr lang="en-US" sz="2800" i="1">
                                <a:latin typeface="Cambria Math" panose="02040503050406030204" pitchFamily="18" charset="0"/>
                              </a:rPr>
                              <m:t>𝑥</m:t>
                            </m:r>
                          </m:sup>
                        </m:sSup>
                      </m:num>
                      <m:den>
                        <m:sSup>
                          <m:sSupPr>
                            <m:ctrlPr>
                              <a:rPr lang="en-US" sz="2800" i="1">
                                <a:latin typeface="Cambria Math" panose="02040503050406030204" pitchFamily="18" charset="0"/>
                              </a:rPr>
                            </m:ctrlPr>
                          </m:sSupPr>
                          <m:e>
                            <m:r>
                              <a:rPr lang="en-US" sz="2800" i="1">
                                <a:latin typeface="Cambria Math" panose="02040503050406030204" pitchFamily="18" charset="0"/>
                              </a:rPr>
                              <m:t>𝑒</m:t>
                            </m:r>
                          </m:e>
                          <m:sup>
                            <m:r>
                              <a:rPr lang="en-US" sz="2800" i="1">
                                <a:latin typeface="Cambria Math" panose="02040503050406030204" pitchFamily="18" charset="0"/>
                              </a:rPr>
                              <m:t>𝑥</m:t>
                            </m:r>
                          </m:sup>
                        </m:sSup>
                        <m:r>
                          <a:rPr lang="en-US" sz="2800">
                            <a:latin typeface="Cambria Math" panose="02040503050406030204" pitchFamily="18" charset="0"/>
                          </a:rPr>
                          <m:t>+</m:t>
                        </m:r>
                        <m:sSup>
                          <m:sSupPr>
                            <m:ctrlPr>
                              <a:rPr lang="en-US" sz="2800" i="1">
                                <a:latin typeface="Cambria Math" panose="02040503050406030204" pitchFamily="18" charset="0"/>
                              </a:rPr>
                            </m:ctrlPr>
                          </m:sSupPr>
                          <m:e>
                            <m:r>
                              <a:rPr lang="en-US" sz="2800" i="1">
                                <a:latin typeface="Cambria Math" panose="02040503050406030204" pitchFamily="18" charset="0"/>
                              </a:rPr>
                              <m:t>𝑒</m:t>
                            </m:r>
                          </m:e>
                          <m:sup>
                            <m:r>
                              <a:rPr lang="en-US" sz="2800">
                                <a:latin typeface="Cambria Math" panose="02040503050406030204" pitchFamily="18" charset="0"/>
                              </a:rPr>
                              <m:t>−</m:t>
                            </m:r>
                            <m:r>
                              <a:rPr lang="en-US" sz="2800" i="1">
                                <a:latin typeface="Cambria Math" panose="02040503050406030204" pitchFamily="18" charset="0"/>
                              </a:rPr>
                              <m:t>𝑥</m:t>
                            </m:r>
                          </m:sup>
                        </m:sSup>
                      </m:den>
                    </m:f>
                  </m:oMath>
                </a14:m>
                <a:br>
                  <a:rPr lang="en-US" sz="2400" dirty="0">
                    <a:latin typeface="Calibri" panose="020F0502020204030204" pitchFamily="34" charset="0"/>
                    <a:cs typeface="Calibri" panose="020F0502020204030204" pitchFamily="34" charset="0"/>
                  </a:rPr>
                </a:br>
                <a:endParaRPr lang="en-US" dirty="0">
                  <a:latin typeface="Calibri" panose="020F0502020204030204" pitchFamily="34" charset="0"/>
                  <a:cs typeface="Calibri" panose="020F0502020204030204" pitchFamily="34" charset="0"/>
                </a:endParaRPr>
              </a:p>
            </p:txBody>
          </p:sp>
        </mc:Choice>
        <mc:Fallback xmlns="">
          <p:sp>
            <p:nvSpPr>
              <p:cNvPr id="8" name="TextBox 7">
                <a:extLst>
                  <a:ext uri="{FF2B5EF4-FFF2-40B4-BE49-F238E27FC236}">
                    <a16:creationId xmlns:a16="http://schemas.microsoft.com/office/drawing/2014/main" id="{5B0B0F64-981A-B8AD-A567-BF892B83EE3C}"/>
                  </a:ext>
                </a:extLst>
              </p:cNvPr>
              <p:cNvSpPr txBox="1">
                <a:spLocks noRot="1" noChangeAspect="1" noMove="1" noResize="1" noEditPoints="1" noAdjustHandles="1" noChangeArrowheads="1" noChangeShapeType="1" noTextEdit="1"/>
              </p:cNvSpPr>
              <p:nvPr/>
            </p:nvSpPr>
            <p:spPr>
              <a:xfrm>
                <a:off x="6764508" y="1149449"/>
                <a:ext cx="4820039" cy="5708550"/>
              </a:xfrm>
              <a:prstGeom prst="rect">
                <a:avLst/>
              </a:prstGeom>
              <a:blipFill>
                <a:blip r:embed="rId6"/>
                <a:stretch>
                  <a:fillRect l="-1772" t="-641" r="-380"/>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0B01E0B8-9A2C-14A1-0362-72EB8C63E221}"/>
              </a:ext>
            </a:extLst>
          </p:cNvPr>
          <p:cNvPicPr>
            <a:picLocks noChangeAspect="1"/>
          </p:cNvPicPr>
          <p:nvPr/>
        </p:nvPicPr>
        <p:blipFill>
          <a:blip r:embed="rId7"/>
          <a:stretch>
            <a:fillRect/>
          </a:stretch>
        </p:blipFill>
        <p:spPr>
          <a:xfrm>
            <a:off x="685800" y="5279868"/>
            <a:ext cx="1504056" cy="1035650"/>
          </a:xfrm>
          <a:prstGeom prst="rect">
            <a:avLst/>
          </a:prstGeom>
        </p:spPr>
      </p:pic>
      <p:pic>
        <p:nvPicPr>
          <p:cNvPr id="6" name="Picture 5">
            <a:extLst>
              <a:ext uri="{FF2B5EF4-FFF2-40B4-BE49-F238E27FC236}">
                <a16:creationId xmlns:a16="http://schemas.microsoft.com/office/drawing/2014/main" id="{6E6DDBAF-FDC1-A76E-0633-04E7B0C7AD8E}"/>
              </a:ext>
            </a:extLst>
          </p:cNvPr>
          <p:cNvPicPr>
            <a:picLocks noChangeAspect="1"/>
          </p:cNvPicPr>
          <p:nvPr/>
        </p:nvPicPr>
        <p:blipFill>
          <a:blip r:embed="rId8"/>
          <a:stretch>
            <a:fillRect/>
          </a:stretch>
        </p:blipFill>
        <p:spPr>
          <a:xfrm>
            <a:off x="2408566" y="5307669"/>
            <a:ext cx="1507467" cy="1007849"/>
          </a:xfrm>
          <a:prstGeom prst="rect">
            <a:avLst/>
          </a:prstGeom>
        </p:spPr>
      </p:pic>
      <p:pic>
        <p:nvPicPr>
          <p:cNvPr id="7" name="Picture 6">
            <a:extLst>
              <a:ext uri="{FF2B5EF4-FFF2-40B4-BE49-F238E27FC236}">
                <a16:creationId xmlns:a16="http://schemas.microsoft.com/office/drawing/2014/main" id="{28BC1CDA-07DA-3A9A-3172-D699F69003B9}"/>
              </a:ext>
            </a:extLst>
          </p:cNvPr>
          <p:cNvPicPr>
            <a:picLocks noChangeAspect="1"/>
          </p:cNvPicPr>
          <p:nvPr/>
        </p:nvPicPr>
        <p:blipFill>
          <a:blip r:embed="rId9"/>
          <a:stretch>
            <a:fillRect/>
          </a:stretch>
        </p:blipFill>
        <p:spPr>
          <a:xfrm>
            <a:off x="4457956" y="5366737"/>
            <a:ext cx="1123963" cy="1035651"/>
          </a:xfrm>
          <a:prstGeom prst="rect">
            <a:avLst/>
          </a:prstGeom>
        </p:spPr>
      </p:pic>
      <p:sp>
        <p:nvSpPr>
          <p:cNvPr id="2" name="TextBox 1">
            <a:extLst>
              <a:ext uri="{FF2B5EF4-FFF2-40B4-BE49-F238E27FC236}">
                <a16:creationId xmlns:a16="http://schemas.microsoft.com/office/drawing/2014/main" id="{D71694A9-9911-7523-9D6D-9FC962A3D3CF}"/>
              </a:ext>
            </a:extLst>
          </p:cNvPr>
          <p:cNvSpPr txBox="1"/>
          <p:nvPr/>
        </p:nvSpPr>
        <p:spPr>
          <a:xfrm>
            <a:off x="10819639" y="6338878"/>
            <a:ext cx="1369286" cy="215444"/>
          </a:xfrm>
          <a:prstGeom prst="rect">
            <a:avLst/>
          </a:prstGeom>
          <a:noFill/>
        </p:spPr>
        <p:txBody>
          <a:bodyPr wrap="none" rtlCol="0">
            <a:spAutoFit/>
          </a:bodyPr>
          <a:lstStyle/>
          <a:p>
            <a:r>
              <a:rPr lang="en-US" sz="800" dirty="0"/>
              <a:t>Tanh: hyperbolic tangent</a:t>
            </a:r>
          </a:p>
        </p:txBody>
      </p:sp>
    </p:spTree>
    <p:extLst>
      <p:ext uri="{BB962C8B-B14F-4D97-AF65-F5344CB8AC3E}">
        <p14:creationId xmlns:p14="http://schemas.microsoft.com/office/powerpoint/2010/main" val="8112857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38" name="Rectangle 4"/>
          <p:cNvSpPr/>
          <p:nvPr/>
        </p:nvSpPr>
        <p:spPr>
          <a:xfrm>
            <a:off x="0" y="0"/>
            <a:ext cx="12192000" cy="873760"/>
          </a:xfrm>
          <a:prstGeom prst="rect">
            <a:avLst/>
          </a:prstGeom>
          <a:solidFill>
            <a:srgbClr val="0E2841"/>
          </a:solidFill>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r>
              <a:rPr lang="en-US" sz="3200" b="1" dirty="0">
                <a:latin typeface="Calibri" panose="020F0502020204030204" pitchFamily="34" charset="0"/>
                <a:cs typeface="Calibri" panose="020F0502020204030204" pitchFamily="34" charset="0"/>
              </a:rPr>
              <a:t>2 (iii). Activation Functions</a:t>
            </a:r>
            <a:endParaRPr lang="en-PK" sz="3200" b="1" dirty="0">
              <a:latin typeface="Calibri" panose="020F0502020204030204" pitchFamily="34" charset="0"/>
              <a:cs typeface="Calibri" panose="020F0502020204030204" pitchFamily="34" charset="0"/>
            </a:endParaRPr>
          </a:p>
        </p:txBody>
      </p:sp>
      <p:sp>
        <p:nvSpPr>
          <p:cNvPr id="1048839" name="TextBox 5"/>
          <p:cNvSpPr txBox="1"/>
          <p:nvPr/>
        </p:nvSpPr>
        <p:spPr>
          <a:xfrm>
            <a:off x="381000" y="1279282"/>
            <a:ext cx="9067800" cy="1361440"/>
          </a:xfrm>
          <a:prstGeom prst="rect">
            <a:avLst/>
          </a:prstGeom>
          <a:noFill/>
        </p:spPr>
        <p:txBody>
          <a:bodyPr wrap="square">
            <a:spAutoFit/>
          </a:bodyPr>
          <a:lstStyle/>
          <a:p>
            <a:pPr>
              <a:buNone/>
            </a:pPr>
            <a:r>
              <a:rPr lang="en-US" sz="2400" b="1" dirty="0">
                <a:latin typeface="Calibri" panose="020F0502020204030204" pitchFamily="34" charset="0"/>
                <a:cs typeface="Calibri" panose="020F0502020204030204" pitchFamily="34" charset="0"/>
              </a:rPr>
              <a:t>Why do we need an activation function?</a:t>
            </a:r>
            <a:endParaRPr lang="en-US" dirty="0">
              <a:latin typeface="Calibri" panose="020F0502020204030204" pitchFamily="34" charset="0"/>
              <a:cs typeface="Calibri" panose="020F0502020204030204" pitchFamily="34" charset="0"/>
            </a:endParaRPr>
          </a:p>
          <a:p>
            <a:pPr>
              <a:buNone/>
            </a:pPr>
            <a:r>
              <a:rPr lang="en-US" sz="2000" dirty="0">
                <a:latin typeface="Calibri" panose="020F0502020204030204" pitchFamily="34" charset="0"/>
                <a:cs typeface="Calibri" panose="020F0502020204030204" pitchFamily="34" charset="0"/>
              </a:rPr>
              <a:t>A neuron first calculates a value, then the activation function controls the output.</a:t>
            </a:r>
          </a:p>
          <a:p>
            <a:pPr>
              <a:buNone/>
            </a:pPr>
            <a:r>
              <a:rPr lang="en-US" sz="2000" dirty="0">
                <a:latin typeface="Calibri" panose="020F0502020204030204" pitchFamily="34" charset="0"/>
                <a:cs typeface="Calibri" panose="020F0502020204030204" pitchFamily="34" charset="0"/>
              </a:rPr>
              <a:t>Activation functions help neural networks learn complex patterns.</a:t>
            </a:r>
          </a:p>
        </p:txBody>
      </p:sp>
      <p:sp>
        <p:nvSpPr>
          <p:cNvPr id="1048840" name="TextBox 7"/>
          <p:cNvSpPr txBox="1"/>
          <p:nvPr/>
        </p:nvSpPr>
        <p:spPr>
          <a:xfrm>
            <a:off x="2936158" y="3257411"/>
            <a:ext cx="7122242" cy="461665"/>
          </a:xfrm>
          <a:prstGeom prst="rect">
            <a:avLst/>
          </a:prstGeom>
          <a:noFill/>
        </p:spPr>
        <p:txBody>
          <a:bodyPr wrap="square">
            <a:spAutoFit/>
          </a:bodyPr>
          <a:lstStyle/>
          <a:p>
            <a:r>
              <a:rPr lang="en-US" sz="2400" b="1" dirty="0">
                <a:latin typeface="Calibri" panose="020F0502020204030204" pitchFamily="34" charset="0"/>
                <a:cs typeface="Calibri" panose="020F0502020204030204" pitchFamily="34" charset="0"/>
              </a:rPr>
              <a:t>Three Important Activation Functions</a:t>
            </a:r>
          </a:p>
        </p:txBody>
      </p:sp>
      <p:graphicFrame>
        <p:nvGraphicFramePr>
          <p:cNvPr id="4194304" name="Table 8"/>
          <p:cNvGraphicFramePr>
            <a:graphicFrameLocks noGrp="1"/>
          </p:cNvGraphicFramePr>
          <p:nvPr/>
        </p:nvGraphicFramePr>
        <p:xfrm>
          <a:off x="609600" y="3783349"/>
          <a:ext cx="10896600" cy="2073046"/>
        </p:xfrm>
        <a:graphic>
          <a:graphicData uri="http://schemas.openxmlformats.org/drawingml/2006/table">
            <a:tbl>
              <a:tblPr>
                <a:tableStyleId>{D7AC3CCA-C797-4891-BE02-D94E43425B78}</a:tableStyleId>
              </a:tblPr>
              <a:tblGrid>
                <a:gridCol w="3632200">
                  <a:extLst>
                    <a:ext uri="{9D8B030D-6E8A-4147-A177-3AD203B41FA5}">
                      <a16:colId xmlns:a16="http://schemas.microsoft.com/office/drawing/2014/main" val="20000"/>
                    </a:ext>
                  </a:extLst>
                </a:gridCol>
                <a:gridCol w="3632200">
                  <a:extLst>
                    <a:ext uri="{9D8B030D-6E8A-4147-A177-3AD203B41FA5}">
                      <a16:colId xmlns:a16="http://schemas.microsoft.com/office/drawing/2014/main" val="20001"/>
                    </a:ext>
                  </a:extLst>
                </a:gridCol>
                <a:gridCol w="3632200">
                  <a:extLst>
                    <a:ext uri="{9D8B030D-6E8A-4147-A177-3AD203B41FA5}">
                      <a16:colId xmlns:a16="http://schemas.microsoft.com/office/drawing/2014/main" val="20002"/>
                    </a:ext>
                  </a:extLst>
                </a:gridCol>
              </a:tblGrid>
              <a:tr h="365875">
                <a:tc>
                  <a:txBody>
                    <a:bodyPr/>
                    <a:lstStyle/>
                    <a:p>
                      <a:pPr algn="ctr">
                        <a:buNone/>
                      </a:pPr>
                      <a:r>
                        <a:rPr lang="en-US" sz="2000" b="1" dirty="0">
                          <a:solidFill>
                            <a:schemeClr val="bg1"/>
                          </a:solidFill>
                          <a:latin typeface="Calibri" panose="020F0502020204030204" pitchFamily="34" charset="0"/>
                          <a:cs typeface="Calibri" panose="020F0502020204030204" pitchFamily="34" charset="0"/>
                        </a:rPr>
                        <a:t>Function</a:t>
                      </a:r>
                      <a:endParaRPr lang="en-US" sz="2400" b="1" dirty="0">
                        <a:solidFill>
                          <a:schemeClr val="bg1"/>
                        </a:solidFill>
                        <a:latin typeface="Calibri" panose="020F0502020204030204" pitchFamily="34" charset="0"/>
                        <a:cs typeface="Calibri" panose="020F0502020204030204" pitchFamily="34" charset="0"/>
                      </a:endParaRPr>
                    </a:p>
                  </a:txBody>
                  <a:tcPr anchor="ctr">
                    <a:solidFill>
                      <a:srgbClr val="0E2841"/>
                    </a:solidFill>
                  </a:tcPr>
                </a:tc>
                <a:tc>
                  <a:txBody>
                    <a:bodyPr/>
                    <a:lstStyle/>
                    <a:p>
                      <a:pPr algn="ctr">
                        <a:buNone/>
                      </a:pPr>
                      <a:r>
                        <a:rPr lang="en-US" sz="2000" b="1" dirty="0">
                          <a:solidFill>
                            <a:schemeClr val="bg1"/>
                          </a:solidFill>
                          <a:latin typeface="Calibri" panose="020F0502020204030204" pitchFamily="34" charset="0"/>
                          <a:cs typeface="Calibri" panose="020F0502020204030204" pitchFamily="34" charset="0"/>
                        </a:rPr>
                        <a:t>Main Idea</a:t>
                      </a:r>
                    </a:p>
                  </a:txBody>
                  <a:tcPr anchor="ctr">
                    <a:solidFill>
                      <a:srgbClr val="0E2841"/>
                    </a:solidFill>
                  </a:tcPr>
                </a:tc>
                <a:tc>
                  <a:txBody>
                    <a:bodyPr/>
                    <a:lstStyle/>
                    <a:p>
                      <a:pPr algn="ctr">
                        <a:buNone/>
                      </a:pPr>
                      <a:r>
                        <a:rPr lang="en-US" sz="2000" b="1" dirty="0">
                          <a:solidFill>
                            <a:schemeClr val="bg1"/>
                          </a:solidFill>
                          <a:latin typeface="Calibri" panose="020F0502020204030204" pitchFamily="34" charset="0"/>
                          <a:cs typeface="Calibri" panose="020F0502020204030204" pitchFamily="34" charset="0"/>
                        </a:rPr>
                        <a:t>Common Use</a:t>
                      </a:r>
                    </a:p>
                  </a:txBody>
                  <a:tcPr anchor="ctr">
                    <a:solidFill>
                      <a:srgbClr val="0E2841"/>
                    </a:solidFill>
                  </a:tcPr>
                </a:tc>
                <a:extLst>
                  <a:ext uri="{0D108BD9-81ED-4DB2-BD59-A6C34878D82A}">
                    <a16:rowId xmlns:a16="http://schemas.microsoft.com/office/drawing/2014/main" val="10000"/>
                  </a:ext>
                </a:extLst>
              </a:tr>
              <a:tr h="640283">
                <a:tc>
                  <a:txBody>
                    <a:bodyPr/>
                    <a:lstStyle/>
                    <a:p>
                      <a:pPr>
                        <a:buNone/>
                      </a:pPr>
                      <a:r>
                        <a:rPr lang="en-US" sz="2000" b="1" dirty="0">
                          <a:solidFill>
                            <a:schemeClr val="tx1"/>
                          </a:solidFill>
                          <a:latin typeface="Calibri" panose="020F0502020204030204" pitchFamily="34" charset="0"/>
                          <a:cs typeface="Calibri" panose="020F0502020204030204" pitchFamily="34" charset="0"/>
                        </a:rPr>
                        <a:t>ReLU</a:t>
                      </a:r>
                    </a:p>
                  </a:txBody>
                  <a:tcPr anchor="ctr">
                    <a:solidFill>
                      <a:schemeClr val="bg1"/>
                    </a:solidFill>
                  </a:tcPr>
                </a:tc>
                <a:tc>
                  <a:txBody>
                    <a:bodyPr/>
                    <a:lstStyle/>
                    <a:p>
                      <a:pPr rtl="0">
                        <a:buNone/>
                      </a:pPr>
                      <a:r>
                        <a:rPr lang="en-US" sz="1800" b="0" dirty="0">
                          <a:solidFill>
                            <a:schemeClr val="tx1"/>
                          </a:solidFill>
                          <a:latin typeface="Calibri" panose="020F0502020204030204" pitchFamily="34" charset="0"/>
                          <a:cs typeface="Calibri" panose="020F0502020204030204" pitchFamily="34" charset="0"/>
                        </a:rPr>
                        <a:t>Keeps positive values, changes negative values to 0</a:t>
                      </a:r>
                    </a:p>
                  </a:txBody>
                  <a:tcPr anchor="ctr">
                    <a:solidFill>
                      <a:schemeClr val="bg1"/>
                    </a:solidFill>
                  </a:tcPr>
                </a:tc>
                <a:tc>
                  <a:txBody>
                    <a:bodyPr/>
                    <a:lstStyle/>
                    <a:p>
                      <a:pPr rtl="0">
                        <a:buNone/>
                      </a:pPr>
                      <a:r>
                        <a:rPr lang="en-US" sz="1800" b="0" dirty="0">
                          <a:solidFill>
                            <a:schemeClr val="tx1"/>
                          </a:solidFill>
                          <a:latin typeface="Calibri" panose="020F0502020204030204" pitchFamily="34" charset="0"/>
                          <a:cs typeface="Calibri" panose="020F0502020204030204" pitchFamily="34" charset="0"/>
                        </a:rPr>
                        <a:t>Hidden layers</a:t>
                      </a:r>
                    </a:p>
                  </a:txBody>
                  <a:tcPr anchor="ctr">
                    <a:solidFill>
                      <a:schemeClr val="bg1"/>
                    </a:solidFill>
                  </a:tcPr>
                </a:tc>
                <a:extLst>
                  <a:ext uri="{0D108BD9-81ED-4DB2-BD59-A6C34878D82A}">
                    <a16:rowId xmlns:a16="http://schemas.microsoft.com/office/drawing/2014/main" val="10001"/>
                  </a:ext>
                </a:extLst>
              </a:tr>
              <a:tr h="365875">
                <a:tc>
                  <a:txBody>
                    <a:bodyPr/>
                    <a:lstStyle/>
                    <a:p>
                      <a:pPr>
                        <a:buNone/>
                      </a:pPr>
                      <a:r>
                        <a:rPr lang="en-US" sz="2000" b="1">
                          <a:solidFill>
                            <a:schemeClr val="tx1"/>
                          </a:solidFill>
                          <a:latin typeface="Calibri" panose="020F0502020204030204" pitchFamily="34" charset="0"/>
                          <a:cs typeface="Calibri" panose="020F0502020204030204" pitchFamily="34" charset="0"/>
                        </a:rPr>
                        <a:t>Sigmoid</a:t>
                      </a:r>
                    </a:p>
                  </a:txBody>
                  <a:tcPr anchor="ctr">
                    <a:solidFill>
                      <a:schemeClr val="bg1"/>
                    </a:solidFill>
                  </a:tcPr>
                </a:tc>
                <a:tc>
                  <a:txBody>
                    <a:bodyPr/>
                    <a:lstStyle/>
                    <a:p>
                      <a:pPr rtl="0">
                        <a:buNone/>
                      </a:pPr>
                      <a:r>
                        <a:rPr lang="en-US" sz="1800" b="0" dirty="0">
                          <a:solidFill>
                            <a:schemeClr val="tx1"/>
                          </a:solidFill>
                          <a:latin typeface="Calibri" panose="020F0502020204030204" pitchFamily="34" charset="0"/>
                          <a:cs typeface="Calibri" panose="020F0502020204030204" pitchFamily="34" charset="0"/>
                        </a:rPr>
                        <a:t>Converts a value to 0–1</a:t>
                      </a:r>
                    </a:p>
                  </a:txBody>
                  <a:tcPr anchor="ctr">
                    <a:solidFill>
                      <a:schemeClr val="bg1"/>
                    </a:solidFill>
                  </a:tcPr>
                </a:tc>
                <a:tc>
                  <a:txBody>
                    <a:bodyPr/>
                    <a:lstStyle/>
                    <a:p>
                      <a:pPr rtl="0">
                        <a:buNone/>
                      </a:pPr>
                      <a:r>
                        <a:rPr lang="en-US" sz="1800" b="0" dirty="0">
                          <a:solidFill>
                            <a:schemeClr val="tx1"/>
                          </a:solidFill>
                          <a:latin typeface="Calibri" panose="020F0502020204030204" pitchFamily="34" charset="0"/>
                          <a:cs typeface="Calibri" panose="020F0502020204030204" pitchFamily="34" charset="0"/>
                        </a:rPr>
                        <a:t>Binary classification</a:t>
                      </a:r>
                    </a:p>
                  </a:txBody>
                  <a:tcPr anchor="ctr">
                    <a:solidFill>
                      <a:schemeClr val="bg1"/>
                    </a:solidFill>
                  </a:tcPr>
                </a:tc>
                <a:extLst>
                  <a:ext uri="{0D108BD9-81ED-4DB2-BD59-A6C34878D82A}">
                    <a16:rowId xmlns:a16="http://schemas.microsoft.com/office/drawing/2014/main" val="10002"/>
                  </a:ext>
                </a:extLst>
              </a:tr>
              <a:tr h="640283">
                <a:tc>
                  <a:txBody>
                    <a:bodyPr/>
                    <a:lstStyle/>
                    <a:p>
                      <a:pPr>
                        <a:buNone/>
                      </a:pPr>
                      <a:r>
                        <a:rPr lang="en-US" sz="2000" b="1" dirty="0" err="1">
                          <a:solidFill>
                            <a:schemeClr val="tx1"/>
                          </a:solidFill>
                          <a:latin typeface="Calibri" panose="020F0502020204030204" pitchFamily="34" charset="0"/>
                          <a:cs typeface="Calibri" panose="020F0502020204030204" pitchFamily="34" charset="0"/>
                        </a:rPr>
                        <a:t>Softmax</a:t>
                      </a:r>
                      <a:endParaRPr lang="en-US" sz="2000" b="1" dirty="0">
                        <a:solidFill>
                          <a:schemeClr val="tx1"/>
                        </a:solidFill>
                        <a:latin typeface="Calibri" panose="020F0502020204030204" pitchFamily="34" charset="0"/>
                        <a:cs typeface="Calibri" panose="020F0502020204030204" pitchFamily="34" charset="0"/>
                      </a:endParaRPr>
                    </a:p>
                  </a:txBody>
                  <a:tcPr anchor="ctr">
                    <a:solidFill>
                      <a:schemeClr val="bg1"/>
                    </a:solidFill>
                  </a:tcPr>
                </a:tc>
                <a:tc>
                  <a:txBody>
                    <a:bodyPr/>
                    <a:lstStyle/>
                    <a:p>
                      <a:pPr rtl="0">
                        <a:buNone/>
                      </a:pPr>
                      <a:r>
                        <a:rPr lang="en-US" sz="1800" b="0" dirty="0">
                          <a:solidFill>
                            <a:schemeClr val="tx1"/>
                          </a:solidFill>
                          <a:latin typeface="Calibri" panose="020F0502020204030204" pitchFamily="34" charset="0"/>
                          <a:cs typeface="Calibri" panose="020F0502020204030204" pitchFamily="34" charset="0"/>
                        </a:rPr>
                        <a:t>Converts values into class probabilities</a:t>
                      </a:r>
                    </a:p>
                  </a:txBody>
                  <a:tcPr anchor="ctr">
                    <a:solidFill>
                      <a:schemeClr val="bg1"/>
                    </a:solidFill>
                  </a:tcPr>
                </a:tc>
                <a:tc>
                  <a:txBody>
                    <a:bodyPr/>
                    <a:lstStyle/>
                    <a:p>
                      <a:pPr rtl="0">
                        <a:buNone/>
                      </a:pPr>
                      <a:r>
                        <a:rPr lang="en-US" sz="1800" b="0" dirty="0">
                          <a:solidFill>
                            <a:schemeClr val="tx1"/>
                          </a:solidFill>
                          <a:latin typeface="Calibri" panose="020F0502020204030204" pitchFamily="34" charset="0"/>
                          <a:cs typeface="Calibri" panose="020F0502020204030204" pitchFamily="34" charset="0"/>
                        </a:rPr>
                        <a:t>Multi-class classification</a:t>
                      </a:r>
                    </a:p>
                  </a:txBody>
                  <a:tcPr anchor="ctr">
                    <a:solidFill>
                      <a:schemeClr val="bg1"/>
                    </a:solidFill>
                  </a:tcPr>
                </a:tc>
                <a:extLst>
                  <a:ext uri="{0D108BD9-81ED-4DB2-BD59-A6C34878D82A}">
                    <a16:rowId xmlns:a16="http://schemas.microsoft.com/office/drawing/2014/main" val="10003"/>
                  </a:ext>
                </a:extLst>
              </a:tr>
            </a:tbl>
          </a:graphicData>
        </a:graphic>
      </p:graphicFrame>
      <p:sp>
        <p:nvSpPr>
          <p:cNvPr id="1048841" name="Rectangle 4"/>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r>
              <a:rPr lang="en-US" sz="2400" dirty="0">
                <a:latin typeface="Calibri" panose="020F0502020204030204" pitchFamily="34" charset="0"/>
                <a:cs typeface="Calibri" panose="020F0502020204030204" pitchFamily="34" charset="0"/>
              </a:rPr>
              <a:t>15</a:t>
            </a:r>
            <a:endParaRPr lang="en-PK" sz="2400" dirty="0">
              <a:latin typeface="Calibri" panose="020F0502020204030204" pitchFamily="34" charset="0"/>
              <a:cs typeface="Calibri" panose="020F050202020403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45" name="object 5"/>
          <p:cNvSpPr txBox="1"/>
          <p:nvPr/>
        </p:nvSpPr>
        <p:spPr>
          <a:xfrm>
            <a:off x="7239000" y="1320803"/>
            <a:ext cx="2796400" cy="382156"/>
          </a:xfrm>
          <a:prstGeom prst="rect">
            <a:avLst/>
          </a:prstGeom>
        </p:spPr>
        <p:txBody>
          <a:bodyPr vert="horz" wrap="square" lIns="0" tIns="12700" rIns="0" bIns="0" rtlCol="0">
            <a:spAutoFit/>
          </a:bodyPr>
          <a:lstStyle/>
          <a:p>
            <a:pPr marL="12700">
              <a:lnSpc>
                <a:spcPct val="100000"/>
              </a:lnSpc>
              <a:spcBef>
                <a:spcPts val="100"/>
              </a:spcBef>
            </a:pPr>
            <a:r>
              <a:rPr lang="en-US" sz="2400" i="1" spc="300" dirty="0">
                <a:solidFill>
                  <a:srgbClr val="0070C0"/>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f</a:t>
            </a:r>
            <a:r>
              <a:rPr sz="2400" spc="300" dirty="0">
                <a:solidFill>
                  <a:srgbClr val="0070C0"/>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a:t>
            </a:r>
            <a:r>
              <a:rPr sz="2400" i="1" spc="300" dirty="0">
                <a:solidFill>
                  <a:srgbClr val="0070C0"/>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x</a:t>
            </a:r>
            <a:r>
              <a:rPr sz="2400" spc="300" dirty="0">
                <a:solidFill>
                  <a:srgbClr val="0070C0"/>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 = </a:t>
            </a:r>
            <a:r>
              <a:rPr sz="2400" i="1" spc="300" dirty="0">
                <a:solidFill>
                  <a:srgbClr val="0070C0"/>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max</a:t>
            </a:r>
            <a:r>
              <a:rPr sz="2400" spc="300" dirty="0">
                <a:solidFill>
                  <a:srgbClr val="0070C0"/>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(0,</a:t>
            </a:r>
            <a:r>
              <a:rPr sz="2400" i="1" spc="300" dirty="0">
                <a:solidFill>
                  <a:srgbClr val="0070C0"/>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x</a:t>
            </a:r>
            <a:r>
              <a:rPr sz="2400" spc="300" dirty="0">
                <a:solidFill>
                  <a:srgbClr val="0070C0"/>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a:t>
            </a:r>
          </a:p>
        </p:txBody>
      </p:sp>
      <p:sp>
        <p:nvSpPr>
          <p:cNvPr id="1048847" name="Rectangle 8"/>
          <p:cNvSpPr/>
          <p:nvPr/>
        </p:nvSpPr>
        <p:spPr>
          <a:xfrm>
            <a:off x="0" y="-2458"/>
            <a:ext cx="12192000" cy="873760"/>
          </a:xfrm>
          <a:prstGeom prst="rect">
            <a:avLst/>
          </a:prstGeom>
          <a:solidFill>
            <a:srgbClr val="0E2841"/>
          </a:solidFill>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r>
              <a:rPr lang="en-US" sz="3200" b="1" dirty="0">
                <a:latin typeface="Calibri" panose="020F0502020204030204" pitchFamily="34" charset="0"/>
                <a:cs typeface="Calibri" panose="020F0502020204030204" pitchFamily="34" charset="0"/>
              </a:rPr>
              <a:t>2 (iii). Activation Functions </a:t>
            </a:r>
            <a:r>
              <a:rPr lang="en-US" sz="2000" b="1" dirty="0">
                <a:latin typeface="Calibri" panose="020F0502020204030204" pitchFamily="34" charset="0"/>
                <a:cs typeface="Calibri" panose="020F0502020204030204" pitchFamily="34" charset="0"/>
              </a:rPr>
              <a:t>(Con…)</a:t>
            </a:r>
            <a:endParaRPr lang="en-PK" sz="3200" b="1" dirty="0">
              <a:latin typeface="Calibri" panose="020F0502020204030204" pitchFamily="34" charset="0"/>
              <a:cs typeface="Calibri" panose="020F0502020204030204" pitchFamily="34" charset="0"/>
            </a:endParaRPr>
          </a:p>
        </p:txBody>
      </p:sp>
      <p:sp>
        <p:nvSpPr>
          <p:cNvPr id="1048848" name="Rectangle 4"/>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r>
              <a:rPr lang="en-US" sz="2400" dirty="0">
                <a:latin typeface="Calibri" panose="020F0502020204030204" pitchFamily="34" charset="0"/>
                <a:cs typeface="Calibri" panose="020F0502020204030204" pitchFamily="34" charset="0"/>
              </a:rPr>
              <a:t>16</a:t>
            </a:r>
            <a:endParaRPr lang="en-PK" sz="2400" dirty="0">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0D0BF916-CCCE-6666-CA38-F20DD3FAC10E}"/>
              </a:ext>
            </a:extLst>
          </p:cNvPr>
          <p:cNvSpPr txBox="1"/>
          <p:nvPr/>
        </p:nvSpPr>
        <p:spPr>
          <a:xfrm>
            <a:off x="664972" y="1197701"/>
            <a:ext cx="4950586" cy="1723549"/>
          </a:xfrm>
          <a:prstGeom prst="rect">
            <a:avLst/>
          </a:prstGeom>
          <a:noFill/>
        </p:spPr>
        <p:txBody>
          <a:bodyPr wrap="square" rtlCol="0">
            <a:spAutoFit/>
          </a:bodyPr>
          <a:lstStyle/>
          <a:p>
            <a:r>
              <a:rPr lang="en-US" sz="2800" b="1" spc="300" dirty="0">
                <a:latin typeface="Calibri" panose="020F0502020204030204" pitchFamily="34" charset="0"/>
                <a:cs typeface="Calibri" panose="020F0502020204030204" pitchFamily="34" charset="0"/>
              </a:rPr>
              <a:t>The Relu Operation</a:t>
            </a:r>
          </a:p>
          <a:p>
            <a:pPr marL="345440" indent="-304165" algn="just">
              <a:lnSpc>
                <a:spcPct val="100000"/>
              </a:lnSpc>
              <a:spcBef>
                <a:spcPts val="1205"/>
              </a:spcBef>
              <a:buSzPct val="122916"/>
              <a:buChar char="•"/>
              <a:tabLst>
                <a:tab pos="345440" algn="l"/>
              </a:tabLst>
            </a:pPr>
            <a:r>
              <a:rPr lang="en-US" spc="145" dirty="0">
                <a:latin typeface="Calibri" panose="020F0502020204030204" pitchFamily="34" charset="0"/>
                <a:cs typeface="Calibri" panose="020F0502020204030204" pitchFamily="34" charset="0"/>
              </a:rPr>
              <a:t>Change</a:t>
            </a:r>
            <a:r>
              <a:rPr lang="en-US" spc="90" dirty="0">
                <a:latin typeface="Calibri" panose="020F0502020204030204" pitchFamily="34" charset="0"/>
                <a:cs typeface="Calibri" panose="020F0502020204030204" pitchFamily="34" charset="0"/>
              </a:rPr>
              <a:t> </a:t>
            </a:r>
            <a:r>
              <a:rPr lang="en-US" spc="120" dirty="0">
                <a:latin typeface="Calibri" panose="020F0502020204030204" pitchFamily="34" charset="0"/>
                <a:cs typeface="Calibri" panose="020F0502020204030204" pitchFamily="34" charset="0"/>
              </a:rPr>
              <a:t>all</a:t>
            </a:r>
            <a:r>
              <a:rPr lang="en-US" spc="80" dirty="0">
                <a:latin typeface="Calibri" panose="020F0502020204030204" pitchFamily="34" charset="0"/>
                <a:cs typeface="Calibri" panose="020F0502020204030204" pitchFamily="34" charset="0"/>
              </a:rPr>
              <a:t> negative</a:t>
            </a:r>
            <a:r>
              <a:rPr lang="en-US" spc="85" dirty="0">
                <a:latin typeface="Calibri" panose="020F0502020204030204" pitchFamily="34" charset="0"/>
                <a:cs typeface="Calibri" panose="020F0502020204030204" pitchFamily="34" charset="0"/>
              </a:rPr>
              <a:t> values</a:t>
            </a:r>
            <a:r>
              <a:rPr lang="en-US" spc="95" dirty="0">
                <a:latin typeface="Calibri" panose="020F0502020204030204" pitchFamily="34" charset="0"/>
                <a:cs typeface="Calibri" panose="020F0502020204030204" pitchFamily="34" charset="0"/>
              </a:rPr>
              <a:t> </a:t>
            </a:r>
            <a:r>
              <a:rPr lang="en-US" spc="50" dirty="0">
                <a:latin typeface="Calibri" panose="020F0502020204030204" pitchFamily="34" charset="0"/>
                <a:cs typeface="Calibri" panose="020F0502020204030204" pitchFamily="34" charset="0"/>
              </a:rPr>
              <a:t>to</a:t>
            </a:r>
            <a:r>
              <a:rPr lang="en-US" spc="155" dirty="0">
                <a:latin typeface="Calibri" panose="020F0502020204030204" pitchFamily="34" charset="0"/>
                <a:cs typeface="Calibri" panose="020F0502020204030204" pitchFamily="34" charset="0"/>
              </a:rPr>
              <a:t> </a:t>
            </a:r>
            <a:r>
              <a:rPr lang="en-US" spc="-50" dirty="0">
                <a:latin typeface="Calibri" panose="020F0502020204030204" pitchFamily="34" charset="0"/>
                <a:cs typeface="Calibri" panose="020F0502020204030204" pitchFamily="34" charset="0"/>
              </a:rPr>
              <a:t>0</a:t>
            </a:r>
            <a:endParaRPr lang="en-US" dirty="0">
              <a:latin typeface="Calibri" panose="020F0502020204030204" pitchFamily="34" charset="0"/>
              <a:cs typeface="Calibri" panose="020F0502020204030204" pitchFamily="34" charset="0"/>
            </a:endParaRPr>
          </a:p>
          <a:p>
            <a:pPr marL="345440" indent="-304165" algn="just">
              <a:lnSpc>
                <a:spcPct val="100000"/>
              </a:lnSpc>
              <a:spcBef>
                <a:spcPts val="1205"/>
              </a:spcBef>
              <a:buSzPct val="122916"/>
              <a:buChar char="•"/>
              <a:tabLst>
                <a:tab pos="345440" algn="l"/>
              </a:tabLst>
            </a:pPr>
            <a:r>
              <a:rPr lang="en-US" spc="100" dirty="0">
                <a:latin typeface="Calibri" panose="020F0502020204030204" pitchFamily="34" charset="0"/>
                <a:cs typeface="Calibri" panose="020F0502020204030204" pitchFamily="34" charset="0"/>
              </a:rPr>
              <a:t>Leave</a:t>
            </a:r>
            <a:r>
              <a:rPr lang="en-US" spc="110" dirty="0">
                <a:latin typeface="Calibri" panose="020F0502020204030204" pitchFamily="34" charset="0"/>
                <a:cs typeface="Calibri" panose="020F0502020204030204" pitchFamily="34" charset="0"/>
              </a:rPr>
              <a:t> </a:t>
            </a:r>
            <a:r>
              <a:rPr lang="en-US" spc="120" dirty="0">
                <a:latin typeface="Calibri" panose="020F0502020204030204" pitchFamily="34" charset="0"/>
                <a:cs typeface="Calibri" panose="020F0502020204030204" pitchFamily="34" charset="0"/>
              </a:rPr>
              <a:t>all</a:t>
            </a:r>
            <a:r>
              <a:rPr lang="en-US" spc="95" dirty="0">
                <a:latin typeface="Calibri" panose="020F0502020204030204" pitchFamily="34" charset="0"/>
                <a:cs typeface="Calibri" panose="020F0502020204030204" pitchFamily="34" charset="0"/>
              </a:rPr>
              <a:t> </a:t>
            </a:r>
            <a:r>
              <a:rPr lang="en-US" spc="55" dirty="0">
                <a:latin typeface="Calibri" panose="020F0502020204030204" pitchFamily="34" charset="0"/>
                <a:cs typeface="Calibri" panose="020F0502020204030204" pitchFamily="34" charset="0"/>
              </a:rPr>
              <a:t>positive</a:t>
            </a:r>
            <a:r>
              <a:rPr lang="en-US" spc="80" dirty="0">
                <a:latin typeface="Calibri" panose="020F0502020204030204" pitchFamily="34" charset="0"/>
                <a:cs typeface="Calibri" panose="020F0502020204030204" pitchFamily="34" charset="0"/>
              </a:rPr>
              <a:t> Values</a:t>
            </a:r>
            <a:r>
              <a:rPr lang="en-US" spc="60" dirty="0">
                <a:latin typeface="Calibri" panose="020F0502020204030204" pitchFamily="34" charset="0"/>
                <a:cs typeface="Calibri" panose="020F0502020204030204" pitchFamily="34" charset="0"/>
              </a:rPr>
              <a:t> </a:t>
            </a:r>
            <a:r>
              <a:rPr lang="en-US" spc="40" dirty="0">
                <a:latin typeface="Calibri" panose="020F0502020204030204" pitchFamily="34" charset="0"/>
                <a:cs typeface="Calibri" panose="020F0502020204030204" pitchFamily="34" charset="0"/>
              </a:rPr>
              <a:t>alone</a:t>
            </a:r>
            <a:endParaRPr lang="en-US" dirty="0">
              <a:latin typeface="Calibri" panose="020F0502020204030204" pitchFamily="34" charset="0"/>
              <a:cs typeface="Calibri" panose="020F0502020204030204" pitchFamily="34" charset="0"/>
            </a:endParaRPr>
          </a:p>
          <a:p>
            <a:endParaRPr lang="en-US" dirty="0">
              <a:latin typeface="Calibri" panose="020F0502020204030204" pitchFamily="34" charset="0"/>
              <a:cs typeface="Calibri" panose="020F0502020204030204" pitchFamily="34" charset="0"/>
            </a:endParaRPr>
          </a:p>
        </p:txBody>
      </p:sp>
      <p:pic>
        <p:nvPicPr>
          <p:cNvPr id="8" name="Picture 7">
            <a:extLst>
              <a:ext uri="{FF2B5EF4-FFF2-40B4-BE49-F238E27FC236}">
                <a16:creationId xmlns:a16="http://schemas.microsoft.com/office/drawing/2014/main" id="{2CC7EF38-6C10-7B76-55F9-340A8522A1E9}"/>
              </a:ext>
            </a:extLst>
          </p:cNvPr>
          <p:cNvPicPr>
            <a:picLocks noChangeAspect="1"/>
          </p:cNvPicPr>
          <p:nvPr/>
        </p:nvPicPr>
        <p:blipFill>
          <a:blip r:embed="rId2"/>
          <a:stretch>
            <a:fillRect/>
          </a:stretch>
        </p:blipFill>
        <p:spPr>
          <a:xfrm>
            <a:off x="6096000" y="2515643"/>
            <a:ext cx="5253228" cy="3488472"/>
          </a:xfrm>
          <a:prstGeom prst="rect">
            <a:avLst/>
          </a:prstGeom>
        </p:spPr>
      </p:pic>
      <p:grpSp>
        <p:nvGrpSpPr>
          <p:cNvPr id="12" name="Group 11">
            <a:extLst>
              <a:ext uri="{FF2B5EF4-FFF2-40B4-BE49-F238E27FC236}">
                <a16:creationId xmlns:a16="http://schemas.microsoft.com/office/drawing/2014/main" id="{D40F220B-DB69-E40E-6FDB-C4607BE0C4EF}"/>
              </a:ext>
            </a:extLst>
          </p:cNvPr>
          <p:cNvGrpSpPr/>
          <p:nvPr/>
        </p:nvGrpSpPr>
        <p:grpSpPr>
          <a:xfrm>
            <a:off x="690372" y="2954573"/>
            <a:ext cx="4509372" cy="443070"/>
            <a:chOff x="690372" y="2620614"/>
            <a:chExt cx="4509372" cy="443070"/>
          </a:xfrm>
        </p:grpSpPr>
        <p:sp>
          <p:nvSpPr>
            <p:cNvPr id="1048846" name="object 6"/>
            <p:cNvSpPr txBox="1"/>
            <p:nvPr/>
          </p:nvSpPr>
          <p:spPr>
            <a:xfrm>
              <a:off x="1968146" y="2620614"/>
              <a:ext cx="3231598" cy="443070"/>
            </a:xfrm>
            <a:prstGeom prst="rect">
              <a:avLst/>
            </a:prstGeom>
          </p:spPr>
          <p:txBody>
            <a:bodyPr vert="horz" wrap="square" lIns="0" tIns="12065" rIns="0" bIns="0" rtlCol="0">
              <a:spAutoFit/>
            </a:bodyPr>
            <a:lstStyle/>
            <a:p>
              <a:pPr marL="12700">
                <a:lnSpc>
                  <a:spcPct val="100000"/>
                </a:lnSpc>
                <a:spcBef>
                  <a:spcPts val="95"/>
                </a:spcBef>
              </a:pPr>
              <a:r>
                <a:rPr sz="2800" i="1" spc="300" dirty="0">
                  <a:latin typeface="Calibri" panose="020F0502020204030204" pitchFamily="34" charset="0"/>
                  <a:cs typeface="Calibri" panose="020F0502020204030204" pitchFamily="34" charset="0"/>
                </a:rPr>
                <a:t>f</a:t>
              </a:r>
              <a:r>
                <a:rPr sz="2800" spc="300" dirty="0">
                  <a:latin typeface="Calibri" panose="020F0502020204030204" pitchFamily="34" charset="0"/>
                  <a:cs typeface="Calibri" panose="020F0502020204030204" pitchFamily="34" charset="0"/>
                </a:rPr>
                <a:t>(</a:t>
              </a:r>
              <a:r>
                <a:rPr sz="2800" i="1" spc="300" dirty="0">
                  <a:latin typeface="Calibri" panose="020F0502020204030204" pitchFamily="34" charset="0"/>
                  <a:cs typeface="Calibri" panose="020F0502020204030204" pitchFamily="34" charset="0"/>
                </a:rPr>
                <a:t>x</a:t>
              </a:r>
              <a:r>
                <a:rPr sz="2800" spc="300" dirty="0">
                  <a:latin typeface="Calibri" panose="020F0502020204030204" pitchFamily="34" charset="0"/>
                  <a:cs typeface="Calibri" panose="020F0502020204030204" pitchFamily="34" charset="0"/>
                </a:rPr>
                <a:t>) = </a:t>
              </a:r>
              <a:r>
                <a:rPr sz="2800" i="1" spc="300" dirty="0">
                  <a:latin typeface="Calibri" panose="020F0502020204030204" pitchFamily="34" charset="0"/>
                  <a:cs typeface="Calibri" panose="020F0502020204030204" pitchFamily="34" charset="0"/>
                </a:rPr>
                <a:t>max</a:t>
              </a:r>
              <a:r>
                <a:rPr sz="2800" spc="300" dirty="0">
                  <a:latin typeface="Calibri" panose="020F0502020204030204" pitchFamily="34" charset="0"/>
                  <a:cs typeface="Calibri" panose="020F0502020204030204" pitchFamily="34" charset="0"/>
                </a:rPr>
                <a:t>(0,</a:t>
              </a:r>
              <a:r>
                <a:rPr sz="2800" i="1" spc="300" dirty="0">
                  <a:latin typeface="Calibri" panose="020F0502020204030204" pitchFamily="34" charset="0"/>
                  <a:cs typeface="Calibri" panose="020F0502020204030204" pitchFamily="34" charset="0"/>
                </a:rPr>
                <a:t>x</a:t>
              </a:r>
              <a:r>
                <a:rPr sz="2800" spc="300" dirty="0">
                  <a:latin typeface="Calibri" panose="020F0502020204030204" pitchFamily="34" charset="0"/>
                  <a:cs typeface="Calibri" panose="020F0502020204030204" pitchFamily="34" charset="0"/>
                </a:rPr>
                <a:t>)</a:t>
              </a:r>
            </a:p>
          </p:txBody>
        </p:sp>
        <p:sp>
          <p:nvSpPr>
            <p:cNvPr id="9" name="TextBox 8">
              <a:extLst>
                <a:ext uri="{FF2B5EF4-FFF2-40B4-BE49-F238E27FC236}">
                  <a16:creationId xmlns:a16="http://schemas.microsoft.com/office/drawing/2014/main" id="{2DEB7999-2140-C301-BE16-C621ECDF1CA2}"/>
                </a:ext>
              </a:extLst>
            </p:cNvPr>
            <p:cNvSpPr txBox="1"/>
            <p:nvPr/>
          </p:nvSpPr>
          <p:spPr>
            <a:xfrm>
              <a:off x="690372" y="2717207"/>
              <a:ext cx="927242" cy="338554"/>
            </a:xfrm>
            <a:prstGeom prst="rect">
              <a:avLst/>
            </a:prstGeom>
            <a:noFill/>
          </p:spPr>
          <p:txBody>
            <a:bodyPr wrap="none" rtlCol="0">
              <a:spAutoFit/>
            </a:bodyPr>
            <a:lstStyle/>
            <a:p>
              <a:r>
                <a:rPr lang="en-US" sz="1600" dirty="0">
                  <a:solidFill>
                    <a:schemeClr val="bg1"/>
                  </a:solidFill>
                  <a:highlight>
                    <a:srgbClr val="07194A"/>
                  </a:highlight>
                  <a:latin typeface="Calibri" panose="020F0502020204030204" pitchFamily="34" charset="0"/>
                  <a:cs typeface="Calibri" panose="020F0502020204030204" pitchFamily="34" charset="0"/>
                </a:rPr>
                <a:t>Formula:</a:t>
              </a:r>
            </a:p>
          </p:txBody>
        </p:sp>
      </p:gr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9B1C0A04-D7B4-92A1-CC00-2DA42A971B86}"/>
                  </a:ext>
                </a:extLst>
              </p:cNvPr>
              <p:cNvSpPr txBox="1"/>
              <p:nvPr/>
            </p:nvSpPr>
            <p:spPr>
              <a:xfrm>
                <a:off x="0" y="3903427"/>
                <a:ext cx="3733800" cy="2644250"/>
              </a:xfrm>
              <a:prstGeom prst="rect">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wrap="square">
                <a:spAutoFit/>
              </a:bodyPr>
              <a:lstStyle/>
              <a:p>
                <a:pPr>
                  <a:lnSpc>
                    <a:spcPct val="150000"/>
                  </a:lnSpc>
                  <a:buNone/>
                </a:pPr>
                <a:r>
                  <a:rPr lang="en-US" sz="1400" b="1" dirty="0">
                    <a:solidFill>
                      <a:schemeClr val="tx1">
                        <a:lumMod val="95000"/>
                        <a:lumOff val="5000"/>
                      </a:schemeClr>
                    </a:solidFill>
                    <a:latin typeface="Calibri" panose="020F0502020204030204" pitchFamily="34" charset="0"/>
                    <a:cs typeface="Calibri" panose="020F0502020204030204" pitchFamily="34" charset="0"/>
                  </a:rPr>
                  <a:t>Example 1: Positive Input</a:t>
                </a:r>
                <a:endParaRPr lang="en-US" sz="1400" dirty="0">
                  <a:solidFill>
                    <a:schemeClr val="tx1">
                      <a:lumMod val="95000"/>
                      <a:lumOff val="5000"/>
                    </a:schemeClr>
                  </a:solidFill>
                  <a:latin typeface="Calibri" panose="020F0502020204030204" pitchFamily="34" charset="0"/>
                  <a:cs typeface="Calibri" panose="020F0502020204030204" pitchFamily="34" charset="0"/>
                </a:endParaRPr>
              </a:p>
              <a:p>
                <a:pPr marL="342900" lvl="0" indent="-342900">
                  <a:lnSpc>
                    <a:spcPct val="150000"/>
                  </a:lnSpc>
                  <a:buFont typeface="Arial" panose="020B0604020202020204" pitchFamily="34" charset="0"/>
                  <a:buChar char="•"/>
                </a:pPr>
                <a:r>
                  <a:rPr lang="en-US" sz="1400" dirty="0">
                    <a:solidFill>
                      <a:schemeClr val="tx1">
                        <a:lumMod val="95000"/>
                        <a:lumOff val="5000"/>
                      </a:schemeClr>
                    </a:solidFill>
                    <a:latin typeface="Calibri" panose="020F0502020204030204" pitchFamily="34" charset="0"/>
                    <a:cs typeface="Calibri" panose="020F0502020204030204" pitchFamily="34" charset="0"/>
                  </a:rPr>
                  <a:t>Input: </a:t>
                </a:r>
                <a14:m>
                  <m:oMath xmlns:m="http://schemas.openxmlformats.org/officeDocument/2006/math">
                    <m:r>
                      <a:rPr lang="en-US" sz="1400" i="1">
                        <a:solidFill>
                          <a:schemeClr val="tx1">
                            <a:lumMod val="95000"/>
                            <a:lumOff val="5000"/>
                          </a:schemeClr>
                        </a:solidFill>
                        <a:latin typeface="Cambria Math" panose="02040503050406030204" pitchFamily="18" charset="0"/>
                      </a:rPr>
                      <m:t>𝑥</m:t>
                    </m:r>
                    <m:r>
                      <a:rPr lang="en-US" sz="1400">
                        <a:solidFill>
                          <a:schemeClr val="tx1">
                            <a:lumMod val="95000"/>
                            <a:lumOff val="5000"/>
                          </a:schemeClr>
                        </a:solidFill>
                        <a:latin typeface="Cambria Math" panose="02040503050406030204" pitchFamily="18" charset="0"/>
                      </a:rPr>
                      <m:t>=5</m:t>
                    </m:r>
                  </m:oMath>
                </a14:m>
                <a:endParaRPr lang="en-US" sz="1400" dirty="0">
                  <a:solidFill>
                    <a:schemeClr val="tx1">
                      <a:lumMod val="95000"/>
                      <a:lumOff val="5000"/>
                    </a:schemeClr>
                  </a:solidFill>
                  <a:latin typeface="Calibri" panose="020F0502020204030204" pitchFamily="34" charset="0"/>
                  <a:cs typeface="Calibri" panose="020F0502020204030204" pitchFamily="34" charset="0"/>
                </a:endParaRPr>
              </a:p>
              <a:p>
                <a:pPr marL="342900" lvl="0" indent="-342900">
                  <a:lnSpc>
                    <a:spcPct val="150000"/>
                  </a:lnSpc>
                  <a:buFont typeface="Arial" panose="020B0604020202020204" pitchFamily="34" charset="0"/>
                  <a:buChar char="•"/>
                </a:pPr>
                <a:r>
                  <a:rPr lang="en-US" sz="1400" dirty="0">
                    <a:solidFill>
                      <a:schemeClr val="tx1">
                        <a:lumMod val="95000"/>
                        <a:lumOff val="5000"/>
                      </a:schemeClr>
                    </a:solidFill>
                    <a:latin typeface="Calibri" panose="020F0502020204030204" pitchFamily="34" charset="0"/>
                    <a:cs typeface="Calibri" panose="020F0502020204030204" pitchFamily="34" charset="0"/>
                  </a:rPr>
                  <a:t>Calculation: </a:t>
                </a:r>
                <a14:m>
                  <m:oMath xmlns:m="http://schemas.openxmlformats.org/officeDocument/2006/math">
                    <m:r>
                      <a:rPr lang="en-US" sz="1400" i="1">
                        <a:solidFill>
                          <a:schemeClr val="tx1">
                            <a:lumMod val="95000"/>
                            <a:lumOff val="5000"/>
                          </a:schemeClr>
                        </a:solidFill>
                        <a:latin typeface="Cambria Math" panose="02040503050406030204" pitchFamily="18" charset="0"/>
                      </a:rPr>
                      <m:t>𝑓</m:t>
                    </m:r>
                    <m:d>
                      <m:dPr>
                        <m:ctrlPr>
                          <a:rPr lang="en-US" sz="1400" i="1">
                            <a:solidFill>
                              <a:schemeClr val="tx1">
                                <a:lumMod val="95000"/>
                                <a:lumOff val="5000"/>
                              </a:schemeClr>
                            </a:solidFill>
                            <a:latin typeface="Cambria Math" panose="02040503050406030204" pitchFamily="18" charset="0"/>
                          </a:rPr>
                        </m:ctrlPr>
                      </m:dPr>
                      <m:e>
                        <m:r>
                          <a:rPr lang="en-US" sz="1400">
                            <a:solidFill>
                              <a:schemeClr val="tx1">
                                <a:lumMod val="95000"/>
                                <a:lumOff val="5000"/>
                              </a:schemeClr>
                            </a:solidFill>
                            <a:latin typeface="Cambria Math" panose="02040503050406030204" pitchFamily="18" charset="0"/>
                          </a:rPr>
                          <m:t>5</m:t>
                        </m:r>
                      </m:e>
                    </m:d>
                    <m:r>
                      <a:rPr lang="en-US" sz="1400">
                        <a:solidFill>
                          <a:schemeClr val="tx1">
                            <a:lumMod val="95000"/>
                            <a:lumOff val="5000"/>
                          </a:schemeClr>
                        </a:solidFill>
                        <a:latin typeface="Cambria Math" panose="02040503050406030204" pitchFamily="18" charset="0"/>
                      </a:rPr>
                      <m:t>=</m:t>
                    </m:r>
                    <m:func>
                      <m:funcPr>
                        <m:ctrlPr>
                          <a:rPr lang="en-US" sz="1400" i="1">
                            <a:solidFill>
                              <a:schemeClr val="tx1">
                                <a:lumMod val="95000"/>
                                <a:lumOff val="5000"/>
                              </a:schemeClr>
                            </a:solidFill>
                            <a:latin typeface="Cambria Math" panose="02040503050406030204" pitchFamily="18" charset="0"/>
                          </a:rPr>
                        </m:ctrlPr>
                      </m:funcPr>
                      <m:fName>
                        <m:r>
                          <m:rPr>
                            <m:sty m:val="p"/>
                          </m:rPr>
                          <a:rPr lang="en-US" sz="1400">
                            <a:solidFill>
                              <a:schemeClr val="tx1">
                                <a:lumMod val="95000"/>
                                <a:lumOff val="5000"/>
                              </a:schemeClr>
                            </a:solidFill>
                            <a:latin typeface="Cambria Math" panose="02040503050406030204" pitchFamily="18" charset="0"/>
                          </a:rPr>
                          <m:t>max</m:t>
                        </m:r>
                      </m:fName>
                      <m:e>
                        <m:d>
                          <m:dPr>
                            <m:ctrlPr>
                              <a:rPr lang="en-US" sz="1400" i="1">
                                <a:solidFill>
                                  <a:schemeClr val="tx1">
                                    <a:lumMod val="95000"/>
                                    <a:lumOff val="5000"/>
                                  </a:schemeClr>
                                </a:solidFill>
                                <a:latin typeface="Cambria Math" panose="02040503050406030204" pitchFamily="18" charset="0"/>
                              </a:rPr>
                            </m:ctrlPr>
                          </m:dPr>
                          <m:e>
                            <m:r>
                              <a:rPr lang="en-US" sz="1400">
                                <a:solidFill>
                                  <a:schemeClr val="tx1">
                                    <a:lumMod val="95000"/>
                                    <a:lumOff val="5000"/>
                                  </a:schemeClr>
                                </a:solidFill>
                                <a:latin typeface="Cambria Math" panose="02040503050406030204" pitchFamily="18" charset="0"/>
                              </a:rPr>
                              <m:t>0,5</m:t>
                            </m:r>
                          </m:e>
                        </m:d>
                      </m:e>
                    </m:func>
                    <m:r>
                      <a:rPr lang="en-US" sz="1400">
                        <a:solidFill>
                          <a:schemeClr val="tx1">
                            <a:lumMod val="95000"/>
                            <a:lumOff val="5000"/>
                          </a:schemeClr>
                        </a:solidFill>
                        <a:latin typeface="Cambria Math" panose="02040503050406030204" pitchFamily="18" charset="0"/>
                      </a:rPr>
                      <m:t>=5</m:t>
                    </m:r>
                  </m:oMath>
                </a14:m>
                <a:endParaRPr lang="en-US" sz="1400" dirty="0">
                  <a:solidFill>
                    <a:schemeClr val="tx1">
                      <a:lumMod val="95000"/>
                      <a:lumOff val="5000"/>
                    </a:schemeClr>
                  </a:solidFill>
                  <a:latin typeface="Calibri" panose="020F0502020204030204" pitchFamily="34" charset="0"/>
                  <a:cs typeface="Calibri" panose="020F0502020204030204" pitchFamily="34" charset="0"/>
                </a:endParaRPr>
              </a:p>
              <a:p>
                <a:pPr marL="342900" lvl="0" indent="-342900">
                  <a:lnSpc>
                    <a:spcPct val="150000"/>
                  </a:lnSpc>
                  <a:buFont typeface="Arial" panose="020B0604020202020204" pitchFamily="34" charset="0"/>
                  <a:buChar char="•"/>
                </a:pPr>
                <a:r>
                  <a:rPr lang="en-US" sz="1400" dirty="0">
                    <a:solidFill>
                      <a:schemeClr val="tx1">
                        <a:lumMod val="95000"/>
                        <a:lumOff val="5000"/>
                      </a:schemeClr>
                    </a:solidFill>
                    <a:latin typeface="Calibri" panose="020F0502020204030204" pitchFamily="34" charset="0"/>
                    <a:cs typeface="Calibri" panose="020F0502020204030204" pitchFamily="34" charset="0"/>
                  </a:rPr>
                  <a:t>Result: The positive value stays unchanged.</a:t>
                </a:r>
              </a:p>
              <a:p>
                <a:pPr>
                  <a:lnSpc>
                    <a:spcPct val="150000"/>
                  </a:lnSpc>
                  <a:buNone/>
                </a:pPr>
                <a:r>
                  <a:rPr lang="en-US" sz="1400" b="1" dirty="0">
                    <a:solidFill>
                      <a:schemeClr val="tx1">
                        <a:lumMod val="95000"/>
                        <a:lumOff val="5000"/>
                      </a:schemeClr>
                    </a:solidFill>
                    <a:latin typeface="Calibri" panose="020F0502020204030204" pitchFamily="34" charset="0"/>
                    <a:cs typeface="Calibri" panose="020F0502020204030204" pitchFamily="34" charset="0"/>
                  </a:rPr>
                  <a:t>Example 2: Negative Input</a:t>
                </a:r>
                <a:endParaRPr lang="en-US" sz="1400" dirty="0">
                  <a:solidFill>
                    <a:schemeClr val="tx1">
                      <a:lumMod val="95000"/>
                      <a:lumOff val="5000"/>
                    </a:schemeClr>
                  </a:solidFill>
                  <a:latin typeface="Calibri" panose="020F0502020204030204" pitchFamily="34" charset="0"/>
                  <a:cs typeface="Calibri" panose="020F0502020204030204" pitchFamily="34" charset="0"/>
                </a:endParaRPr>
              </a:p>
              <a:p>
                <a:pPr marL="342900" lvl="0" indent="-342900">
                  <a:lnSpc>
                    <a:spcPct val="150000"/>
                  </a:lnSpc>
                  <a:buFont typeface="Arial" panose="020B0604020202020204" pitchFamily="34" charset="0"/>
                  <a:buChar char="•"/>
                </a:pPr>
                <a:r>
                  <a:rPr lang="en-US" sz="1400" dirty="0">
                    <a:solidFill>
                      <a:schemeClr val="tx1">
                        <a:lumMod val="95000"/>
                        <a:lumOff val="5000"/>
                      </a:schemeClr>
                    </a:solidFill>
                    <a:latin typeface="Calibri" panose="020F0502020204030204" pitchFamily="34" charset="0"/>
                    <a:cs typeface="Calibri" panose="020F0502020204030204" pitchFamily="34" charset="0"/>
                  </a:rPr>
                  <a:t>Input: </a:t>
                </a:r>
                <a14:m>
                  <m:oMath xmlns:m="http://schemas.openxmlformats.org/officeDocument/2006/math">
                    <m:r>
                      <a:rPr lang="en-US" sz="1400" i="1">
                        <a:solidFill>
                          <a:schemeClr val="tx1">
                            <a:lumMod val="95000"/>
                            <a:lumOff val="5000"/>
                          </a:schemeClr>
                        </a:solidFill>
                        <a:latin typeface="Cambria Math" panose="02040503050406030204" pitchFamily="18" charset="0"/>
                      </a:rPr>
                      <m:t>𝑥</m:t>
                    </m:r>
                    <m:r>
                      <a:rPr lang="en-US" sz="1400">
                        <a:solidFill>
                          <a:schemeClr val="tx1">
                            <a:lumMod val="95000"/>
                            <a:lumOff val="5000"/>
                          </a:schemeClr>
                        </a:solidFill>
                        <a:latin typeface="Cambria Math" panose="02040503050406030204" pitchFamily="18" charset="0"/>
                      </a:rPr>
                      <m:t>=−3</m:t>
                    </m:r>
                  </m:oMath>
                </a14:m>
                <a:endParaRPr lang="en-US" sz="1400" dirty="0">
                  <a:solidFill>
                    <a:schemeClr val="tx1">
                      <a:lumMod val="95000"/>
                      <a:lumOff val="5000"/>
                    </a:schemeClr>
                  </a:solidFill>
                  <a:latin typeface="Calibri" panose="020F0502020204030204" pitchFamily="34" charset="0"/>
                  <a:cs typeface="Calibri" panose="020F0502020204030204" pitchFamily="34" charset="0"/>
                </a:endParaRPr>
              </a:p>
              <a:p>
                <a:pPr marL="342900" lvl="0" indent="-342900">
                  <a:lnSpc>
                    <a:spcPct val="150000"/>
                  </a:lnSpc>
                  <a:buFont typeface="Arial" panose="020B0604020202020204" pitchFamily="34" charset="0"/>
                  <a:buChar char="•"/>
                </a:pPr>
                <a:r>
                  <a:rPr lang="en-US" sz="1400" dirty="0">
                    <a:solidFill>
                      <a:schemeClr val="tx1">
                        <a:lumMod val="95000"/>
                        <a:lumOff val="5000"/>
                      </a:schemeClr>
                    </a:solidFill>
                    <a:latin typeface="Calibri" panose="020F0502020204030204" pitchFamily="34" charset="0"/>
                    <a:cs typeface="Calibri" panose="020F0502020204030204" pitchFamily="34" charset="0"/>
                  </a:rPr>
                  <a:t>Calculation: </a:t>
                </a:r>
                <a14:m>
                  <m:oMath xmlns:m="http://schemas.openxmlformats.org/officeDocument/2006/math">
                    <m:r>
                      <a:rPr lang="en-US" sz="1400" i="1">
                        <a:solidFill>
                          <a:schemeClr val="tx1">
                            <a:lumMod val="95000"/>
                            <a:lumOff val="5000"/>
                          </a:schemeClr>
                        </a:solidFill>
                        <a:latin typeface="Cambria Math" panose="02040503050406030204" pitchFamily="18" charset="0"/>
                      </a:rPr>
                      <m:t>𝑓</m:t>
                    </m:r>
                    <m:d>
                      <m:dPr>
                        <m:ctrlPr>
                          <a:rPr lang="en-US" sz="1400" i="1">
                            <a:solidFill>
                              <a:schemeClr val="tx1">
                                <a:lumMod val="95000"/>
                                <a:lumOff val="5000"/>
                              </a:schemeClr>
                            </a:solidFill>
                            <a:latin typeface="Cambria Math" panose="02040503050406030204" pitchFamily="18" charset="0"/>
                          </a:rPr>
                        </m:ctrlPr>
                      </m:dPr>
                      <m:e>
                        <m:r>
                          <a:rPr lang="en-US" sz="1400">
                            <a:solidFill>
                              <a:schemeClr val="tx1">
                                <a:lumMod val="95000"/>
                                <a:lumOff val="5000"/>
                              </a:schemeClr>
                            </a:solidFill>
                            <a:latin typeface="Cambria Math" panose="02040503050406030204" pitchFamily="18" charset="0"/>
                          </a:rPr>
                          <m:t>−3</m:t>
                        </m:r>
                      </m:e>
                    </m:d>
                    <m:r>
                      <a:rPr lang="en-US" sz="1400">
                        <a:solidFill>
                          <a:schemeClr val="tx1">
                            <a:lumMod val="95000"/>
                            <a:lumOff val="5000"/>
                          </a:schemeClr>
                        </a:solidFill>
                        <a:latin typeface="Cambria Math" panose="02040503050406030204" pitchFamily="18" charset="0"/>
                      </a:rPr>
                      <m:t>=</m:t>
                    </m:r>
                    <m:func>
                      <m:funcPr>
                        <m:ctrlPr>
                          <a:rPr lang="en-US" sz="1400" i="1">
                            <a:solidFill>
                              <a:schemeClr val="tx1">
                                <a:lumMod val="95000"/>
                                <a:lumOff val="5000"/>
                              </a:schemeClr>
                            </a:solidFill>
                            <a:latin typeface="Cambria Math" panose="02040503050406030204" pitchFamily="18" charset="0"/>
                          </a:rPr>
                        </m:ctrlPr>
                      </m:funcPr>
                      <m:fName>
                        <m:r>
                          <m:rPr>
                            <m:sty m:val="p"/>
                          </m:rPr>
                          <a:rPr lang="en-US" sz="1400">
                            <a:solidFill>
                              <a:schemeClr val="tx1">
                                <a:lumMod val="95000"/>
                                <a:lumOff val="5000"/>
                              </a:schemeClr>
                            </a:solidFill>
                            <a:latin typeface="Cambria Math" panose="02040503050406030204" pitchFamily="18" charset="0"/>
                          </a:rPr>
                          <m:t>max</m:t>
                        </m:r>
                      </m:fName>
                      <m:e>
                        <m:d>
                          <m:dPr>
                            <m:ctrlPr>
                              <a:rPr lang="en-US" sz="1400" i="1">
                                <a:solidFill>
                                  <a:schemeClr val="tx1">
                                    <a:lumMod val="95000"/>
                                    <a:lumOff val="5000"/>
                                  </a:schemeClr>
                                </a:solidFill>
                                <a:latin typeface="Cambria Math" panose="02040503050406030204" pitchFamily="18" charset="0"/>
                              </a:rPr>
                            </m:ctrlPr>
                          </m:dPr>
                          <m:e>
                            <m:r>
                              <a:rPr lang="en-US" sz="1400">
                                <a:solidFill>
                                  <a:schemeClr val="tx1">
                                    <a:lumMod val="95000"/>
                                    <a:lumOff val="5000"/>
                                  </a:schemeClr>
                                </a:solidFill>
                                <a:latin typeface="Cambria Math" panose="02040503050406030204" pitchFamily="18" charset="0"/>
                              </a:rPr>
                              <m:t>0,−3</m:t>
                            </m:r>
                          </m:e>
                        </m:d>
                      </m:e>
                    </m:func>
                    <m:r>
                      <a:rPr lang="en-US" sz="1400">
                        <a:solidFill>
                          <a:schemeClr val="tx1">
                            <a:lumMod val="95000"/>
                            <a:lumOff val="5000"/>
                          </a:schemeClr>
                        </a:solidFill>
                        <a:latin typeface="Cambria Math" panose="02040503050406030204" pitchFamily="18" charset="0"/>
                      </a:rPr>
                      <m:t>=0</m:t>
                    </m:r>
                  </m:oMath>
                </a14:m>
                <a:endParaRPr lang="en-US" sz="1400" dirty="0">
                  <a:solidFill>
                    <a:schemeClr val="tx1">
                      <a:lumMod val="95000"/>
                      <a:lumOff val="5000"/>
                    </a:schemeClr>
                  </a:solidFill>
                  <a:latin typeface="Calibri" panose="020F0502020204030204" pitchFamily="34" charset="0"/>
                  <a:cs typeface="Calibri" panose="020F0502020204030204" pitchFamily="34" charset="0"/>
                </a:endParaRPr>
              </a:p>
              <a:p>
                <a:pPr marL="342900" lvl="0" indent="-342900">
                  <a:lnSpc>
                    <a:spcPct val="150000"/>
                  </a:lnSpc>
                  <a:buFont typeface="Arial" panose="020B0604020202020204" pitchFamily="34" charset="0"/>
                  <a:buChar char="•"/>
                </a:pPr>
                <a:r>
                  <a:rPr lang="en-US" sz="1400" dirty="0">
                    <a:solidFill>
                      <a:schemeClr val="tx1">
                        <a:lumMod val="95000"/>
                        <a:lumOff val="5000"/>
                      </a:schemeClr>
                    </a:solidFill>
                    <a:latin typeface="Calibri" panose="020F0502020204030204" pitchFamily="34" charset="0"/>
                    <a:cs typeface="Calibri" panose="020F0502020204030204" pitchFamily="34" charset="0"/>
                  </a:rPr>
                  <a:t>Result: The negative value becomes 0.</a:t>
                </a:r>
              </a:p>
            </p:txBody>
          </p:sp>
        </mc:Choice>
        <mc:Fallback xmlns="">
          <p:sp>
            <p:nvSpPr>
              <p:cNvPr id="11" name="TextBox 10">
                <a:extLst>
                  <a:ext uri="{FF2B5EF4-FFF2-40B4-BE49-F238E27FC236}">
                    <a16:creationId xmlns:a16="http://schemas.microsoft.com/office/drawing/2014/main" id="{9B1C0A04-D7B4-92A1-CC00-2DA42A971B86}"/>
                  </a:ext>
                </a:extLst>
              </p:cNvPr>
              <p:cNvSpPr txBox="1">
                <a:spLocks noRot="1" noChangeAspect="1" noMove="1" noResize="1" noEditPoints="1" noAdjustHandles="1" noChangeArrowheads="1" noChangeShapeType="1" noTextEdit="1"/>
              </p:cNvSpPr>
              <p:nvPr/>
            </p:nvSpPr>
            <p:spPr>
              <a:xfrm>
                <a:off x="0" y="3903427"/>
                <a:ext cx="3733800" cy="2644250"/>
              </a:xfrm>
              <a:prstGeom prst="rect">
                <a:avLst/>
              </a:prstGeom>
              <a:blipFill>
                <a:blip r:embed="rId3"/>
                <a:stretch>
                  <a:fillRect l="-489" b="-1613"/>
                </a:stretch>
              </a:blipFill>
              <a:ln>
                <a:noFill/>
              </a:ln>
            </p:spPr>
            <p:txBody>
              <a:bodyPr/>
              <a:lstStyle/>
              <a:p>
                <a:r>
                  <a:rPr lang="en-US">
                    <a:noFill/>
                  </a:rPr>
                  <a:t> </a:t>
                </a:r>
              </a:p>
            </p:txBody>
          </p:sp>
        </mc:Fallback>
      </mc:AlternateContent>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26" name="object 2" descr="$PPTXTitle"/>
          <p:cNvSpPr txBox="1">
            <a:spLocks noGrp="1"/>
          </p:cNvSpPr>
          <p:nvPr>
            <p:ph type="title"/>
          </p:nvPr>
        </p:nvSpPr>
        <p:spPr>
          <a:xfrm>
            <a:off x="506678" y="1066800"/>
            <a:ext cx="4929629" cy="443711"/>
          </a:xfrm>
          <a:prstGeom prst="rect">
            <a:avLst/>
          </a:prstGeom>
        </p:spPr>
        <p:txBody>
          <a:bodyPr vert="horz" wrap="square" lIns="0" tIns="12700" rIns="0" bIns="0" rtlCol="0">
            <a:spAutoFit/>
          </a:bodyPr>
          <a:lstStyle/>
          <a:p>
            <a:pPr marL="12700">
              <a:lnSpc>
                <a:spcPct val="100000"/>
              </a:lnSpc>
              <a:spcBef>
                <a:spcPts val="100"/>
              </a:spcBef>
            </a:pPr>
            <a:r>
              <a:rPr lang="en-US" sz="2800" spc="220" dirty="0">
                <a:latin typeface="Calibri" panose="020F0502020204030204" pitchFamily="34" charset="0"/>
                <a:cs typeface="Calibri" panose="020F0502020204030204" pitchFamily="34" charset="0"/>
              </a:rPr>
              <a:t>Sigmoid</a:t>
            </a:r>
            <a:r>
              <a:rPr lang="en-US" sz="2800" spc="160" dirty="0">
                <a:latin typeface="Calibri" panose="020F0502020204030204" pitchFamily="34" charset="0"/>
                <a:cs typeface="Calibri" panose="020F0502020204030204" pitchFamily="34" charset="0"/>
              </a:rPr>
              <a:t> </a:t>
            </a:r>
            <a:r>
              <a:rPr lang="en-US" sz="2800" spc="245" dirty="0">
                <a:latin typeface="Calibri" panose="020F0502020204030204" pitchFamily="34" charset="0"/>
                <a:cs typeface="Calibri" panose="020F0502020204030204" pitchFamily="34" charset="0"/>
              </a:rPr>
              <a:t>Function</a:t>
            </a:r>
            <a:r>
              <a:rPr lang="en-US" sz="2800" spc="135" dirty="0">
                <a:latin typeface="Calibri" panose="020F0502020204030204" pitchFamily="34" charset="0"/>
                <a:cs typeface="Calibri" panose="020F0502020204030204" pitchFamily="34" charset="0"/>
              </a:rPr>
              <a:t> (Logistic)</a:t>
            </a:r>
            <a:endParaRPr lang="en-US" sz="2800" dirty="0">
              <a:latin typeface="Calibri" panose="020F0502020204030204" pitchFamily="34" charset="0"/>
              <a:cs typeface="Calibri" panose="020F0502020204030204" pitchFamily="34" charset="0"/>
            </a:endParaRPr>
          </a:p>
        </p:txBody>
      </p:sp>
      <p:sp>
        <p:nvSpPr>
          <p:cNvPr id="1048927" name="object 3"/>
          <p:cNvSpPr txBox="1"/>
          <p:nvPr/>
        </p:nvSpPr>
        <p:spPr>
          <a:xfrm>
            <a:off x="544162" y="1602623"/>
            <a:ext cx="5029876" cy="816890"/>
          </a:xfrm>
          <a:prstGeom prst="rect">
            <a:avLst/>
          </a:prstGeom>
        </p:spPr>
        <p:txBody>
          <a:bodyPr vert="horz" wrap="square" lIns="0" tIns="28575" rIns="0" bIns="0" rtlCol="0">
            <a:spAutoFit/>
          </a:bodyPr>
          <a:lstStyle/>
          <a:p>
            <a:pPr marL="285750" lvl="0" indent="-285750">
              <a:lnSpc>
                <a:spcPct val="150000"/>
              </a:lnSpc>
              <a:buFont typeface="Arial" panose="020B0604020202020204" pitchFamily="34" charset="0"/>
              <a:buChar char="•"/>
            </a:pPr>
            <a:r>
              <a:rPr lang="en-US" dirty="0">
                <a:latin typeface="Calibri" panose="020F0502020204030204" pitchFamily="34" charset="0"/>
                <a:cs typeface="Calibri" panose="020F0502020204030204" pitchFamily="34" charset="0"/>
              </a:rPr>
              <a:t>Converts values between 0 and 1 </a:t>
            </a:r>
          </a:p>
          <a:p>
            <a:pPr marL="285750" lvl="0" indent="-285750">
              <a:lnSpc>
                <a:spcPct val="150000"/>
              </a:lnSpc>
              <a:buFont typeface="Arial" panose="020B0604020202020204" pitchFamily="34" charset="0"/>
              <a:buChar char="•"/>
            </a:pPr>
            <a:r>
              <a:rPr lang="en-US" dirty="0">
                <a:latin typeface="Calibri" panose="020F0502020204030204" pitchFamily="34" charset="0"/>
                <a:cs typeface="Calibri" panose="020F0502020204030204" pitchFamily="34" charset="0"/>
              </a:rPr>
              <a:t>Useful for binary classification and probabilities</a:t>
            </a:r>
          </a:p>
        </p:txBody>
      </p:sp>
      <p:sp>
        <p:nvSpPr>
          <p:cNvPr id="1048929" name="Rectangle 10"/>
          <p:cNvSpPr/>
          <p:nvPr/>
        </p:nvSpPr>
        <p:spPr>
          <a:xfrm>
            <a:off x="0" y="0"/>
            <a:ext cx="12192000" cy="873760"/>
          </a:xfrm>
          <a:prstGeom prst="rect">
            <a:avLst/>
          </a:prstGeom>
          <a:solidFill>
            <a:srgbClr val="0E2841"/>
          </a:solidFill>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r>
              <a:rPr lang="en-US" sz="3200" b="1" dirty="0">
                <a:latin typeface="Calibri" panose="020F0502020204030204" pitchFamily="34" charset="0"/>
                <a:cs typeface="Calibri" panose="020F0502020204030204" pitchFamily="34" charset="0"/>
              </a:rPr>
              <a:t>2 (iii). Activation Functions </a:t>
            </a:r>
            <a:r>
              <a:rPr lang="en-US" sz="2000" b="1" dirty="0">
                <a:latin typeface="Calibri" panose="020F0502020204030204" pitchFamily="34" charset="0"/>
                <a:cs typeface="Calibri" panose="020F0502020204030204" pitchFamily="34" charset="0"/>
              </a:rPr>
              <a:t>(Con…)</a:t>
            </a:r>
            <a:endParaRPr lang="en-PK" sz="3200" b="1" dirty="0">
              <a:latin typeface="Calibri" panose="020F0502020204030204" pitchFamily="34" charset="0"/>
              <a:cs typeface="Calibri" panose="020F0502020204030204" pitchFamily="34" charset="0"/>
            </a:endParaRPr>
          </a:p>
        </p:txBody>
      </p:sp>
      <p:sp>
        <p:nvSpPr>
          <p:cNvPr id="1048930" name="Rectangle 4"/>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r>
              <a:rPr lang="en-US" sz="2400" dirty="0">
                <a:latin typeface="Calibri" panose="020F0502020204030204" pitchFamily="34" charset="0"/>
                <a:cs typeface="Calibri" panose="020F0502020204030204" pitchFamily="34" charset="0"/>
              </a:rPr>
              <a:t>17</a:t>
            </a:r>
            <a:endParaRPr lang="en-PK" sz="2400"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4EC0CAB-980B-E611-02AD-71172C77E4C9}"/>
                  </a:ext>
                </a:extLst>
              </p:cNvPr>
              <p:cNvSpPr txBox="1"/>
              <p:nvPr/>
            </p:nvSpPr>
            <p:spPr>
              <a:xfrm>
                <a:off x="7690881" y="888499"/>
                <a:ext cx="4501119" cy="5692501"/>
              </a:xfrm>
              <a:prstGeom prst="rect">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wrap="square">
                <a:spAutoFit/>
              </a:bodyPr>
              <a:lstStyle/>
              <a:p>
                <a:pPr>
                  <a:lnSpc>
                    <a:spcPct val="150000"/>
                  </a:lnSpc>
                </a:pPr>
                <a:r>
                  <a:rPr lang="en-US" sz="1400" b="1" dirty="0">
                    <a:solidFill>
                      <a:schemeClr val="tx1">
                        <a:lumMod val="95000"/>
                        <a:lumOff val="5000"/>
                      </a:schemeClr>
                    </a:solidFill>
                    <a:latin typeface="Calibri" panose="020F0502020204030204" pitchFamily="34" charset="0"/>
                    <a:cs typeface="Calibri" panose="020F0502020204030204" pitchFamily="34" charset="0"/>
                  </a:rPr>
                  <a:t>Example 1: Zero Input (Midpoint)</a:t>
                </a:r>
                <a:endParaRPr lang="en-US" sz="1400" dirty="0">
                  <a:solidFill>
                    <a:schemeClr val="tx1">
                      <a:lumMod val="95000"/>
                      <a:lumOff val="5000"/>
                    </a:schemeClr>
                  </a:solidFill>
                  <a:latin typeface="Calibri" panose="020F0502020204030204" pitchFamily="34" charset="0"/>
                  <a:cs typeface="Calibri" panose="020F0502020204030204" pitchFamily="34" charset="0"/>
                </a:endParaRPr>
              </a:p>
              <a:p>
                <a:pPr marL="285750" lvl="0" indent="-285750">
                  <a:lnSpc>
                    <a:spcPct val="150000"/>
                  </a:lnSpc>
                  <a:buFont typeface="Arial" panose="020B0604020202020204" pitchFamily="34" charset="0"/>
                  <a:buChar char="•"/>
                </a:pPr>
                <a:r>
                  <a:rPr lang="en-US" sz="1400" b="1" dirty="0">
                    <a:solidFill>
                      <a:schemeClr val="tx1">
                        <a:lumMod val="95000"/>
                        <a:lumOff val="5000"/>
                      </a:schemeClr>
                    </a:solidFill>
                    <a:latin typeface="Calibri" panose="020F0502020204030204" pitchFamily="34" charset="0"/>
                    <a:cs typeface="Calibri" panose="020F0502020204030204" pitchFamily="34" charset="0"/>
                  </a:rPr>
                  <a:t>Input (</a:t>
                </a:r>
                <a14:m>
                  <m:oMath xmlns:m="http://schemas.openxmlformats.org/officeDocument/2006/math">
                    <m:r>
                      <a:rPr lang="en-US" sz="1400" i="1">
                        <a:solidFill>
                          <a:schemeClr val="tx1">
                            <a:lumMod val="95000"/>
                            <a:lumOff val="5000"/>
                          </a:schemeClr>
                        </a:solidFill>
                        <a:latin typeface="Cambria Math" panose="02040503050406030204" pitchFamily="18" charset="0"/>
                      </a:rPr>
                      <m:t>𝑥</m:t>
                    </m:r>
                  </m:oMath>
                </a14:m>
                <a:r>
                  <a:rPr lang="en-US" sz="1400" b="1" dirty="0">
                    <a:solidFill>
                      <a:schemeClr val="tx1">
                        <a:lumMod val="95000"/>
                        <a:lumOff val="5000"/>
                      </a:schemeClr>
                    </a:solidFill>
                    <a:latin typeface="Calibri" panose="020F0502020204030204" pitchFamily="34" charset="0"/>
                    <a:cs typeface="Calibri" panose="020F0502020204030204" pitchFamily="34" charset="0"/>
                  </a:rPr>
                  <a:t>):</a:t>
                </a:r>
                <a:r>
                  <a:rPr lang="en-US" sz="1400" dirty="0">
                    <a:solidFill>
                      <a:schemeClr val="tx1">
                        <a:lumMod val="95000"/>
                        <a:lumOff val="5000"/>
                      </a:schemeClr>
                    </a:solidFill>
                    <a:latin typeface="Calibri" panose="020F0502020204030204" pitchFamily="34" charset="0"/>
                    <a:cs typeface="Calibri" panose="020F0502020204030204" pitchFamily="34" charset="0"/>
                  </a:rPr>
                  <a:t> </a:t>
                </a:r>
                <a14:m>
                  <m:oMath xmlns:m="http://schemas.openxmlformats.org/officeDocument/2006/math">
                    <m:r>
                      <a:rPr lang="en-US" sz="1400" i="1">
                        <a:solidFill>
                          <a:schemeClr val="tx1">
                            <a:lumMod val="95000"/>
                            <a:lumOff val="5000"/>
                          </a:schemeClr>
                        </a:solidFill>
                        <a:latin typeface="Cambria Math" panose="02040503050406030204" pitchFamily="18" charset="0"/>
                      </a:rPr>
                      <m:t>𝑥</m:t>
                    </m:r>
                    <m:r>
                      <a:rPr lang="en-US" sz="1400">
                        <a:solidFill>
                          <a:schemeClr val="tx1">
                            <a:lumMod val="95000"/>
                            <a:lumOff val="5000"/>
                          </a:schemeClr>
                        </a:solidFill>
                        <a:latin typeface="Cambria Math" panose="02040503050406030204" pitchFamily="18" charset="0"/>
                      </a:rPr>
                      <m:t>=0</m:t>
                    </m:r>
                  </m:oMath>
                </a14:m>
                <a:endParaRPr lang="en-US" sz="1400" dirty="0">
                  <a:solidFill>
                    <a:schemeClr val="tx1">
                      <a:lumMod val="95000"/>
                      <a:lumOff val="5000"/>
                    </a:schemeClr>
                  </a:solidFill>
                  <a:latin typeface="Calibri" panose="020F0502020204030204" pitchFamily="34" charset="0"/>
                  <a:cs typeface="Calibri" panose="020F0502020204030204" pitchFamily="34" charset="0"/>
                </a:endParaRPr>
              </a:p>
              <a:p>
                <a:pPr marL="285750" lvl="0" indent="-285750">
                  <a:lnSpc>
                    <a:spcPct val="150000"/>
                  </a:lnSpc>
                  <a:buFont typeface="Arial" panose="020B0604020202020204" pitchFamily="34" charset="0"/>
                  <a:buChar char="•"/>
                </a:pPr>
                <a:r>
                  <a:rPr lang="en-US" sz="1400" b="1" dirty="0">
                    <a:solidFill>
                      <a:schemeClr val="tx1">
                        <a:lumMod val="95000"/>
                        <a:lumOff val="5000"/>
                      </a:schemeClr>
                    </a:solidFill>
                    <a:latin typeface="Calibri" panose="020F0502020204030204" pitchFamily="34" charset="0"/>
                    <a:cs typeface="Calibri" panose="020F0502020204030204" pitchFamily="34" charset="0"/>
                  </a:rPr>
                  <a:t>Calculation:</a:t>
                </a:r>
                <a:endParaRPr lang="en-US" sz="1400" dirty="0">
                  <a:solidFill>
                    <a:schemeClr val="tx1">
                      <a:lumMod val="95000"/>
                      <a:lumOff val="5000"/>
                    </a:schemeClr>
                  </a:solidFill>
                  <a:latin typeface="Calibri" panose="020F0502020204030204" pitchFamily="34" charset="0"/>
                  <a:cs typeface="Calibri" panose="020F0502020204030204" pitchFamily="34" charset="0"/>
                </a:endParaRPr>
              </a:p>
              <a:p>
                <a:pPr marL="285750" lvl="0" indent="-285750">
                  <a:lnSpc>
                    <a:spcPct val="150000"/>
                  </a:lnSpc>
                  <a:buFont typeface="Arial" panose="020B0604020202020204" pitchFamily="34" charset="0"/>
                  <a:buChar char="•"/>
                </a:pPr>
                <a14:m>
                  <m:oMath xmlns:m="http://schemas.openxmlformats.org/officeDocument/2006/math">
                    <m:r>
                      <a:rPr lang="en-US" sz="1400" i="1">
                        <a:solidFill>
                          <a:schemeClr val="tx1">
                            <a:lumMod val="95000"/>
                            <a:lumOff val="5000"/>
                          </a:schemeClr>
                        </a:solidFill>
                        <a:latin typeface="Cambria Math" panose="02040503050406030204" pitchFamily="18" charset="0"/>
                      </a:rPr>
                      <m:t>𝑓</m:t>
                    </m:r>
                    <m:d>
                      <m:dPr>
                        <m:ctrlPr>
                          <a:rPr lang="en-US" sz="1400" i="1">
                            <a:solidFill>
                              <a:schemeClr val="tx1">
                                <a:lumMod val="95000"/>
                                <a:lumOff val="5000"/>
                              </a:schemeClr>
                            </a:solidFill>
                            <a:latin typeface="Cambria Math" panose="02040503050406030204" pitchFamily="18" charset="0"/>
                          </a:rPr>
                        </m:ctrlPr>
                      </m:dPr>
                      <m:e>
                        <m:r>
                          <a:rPr lang="en-US" sz="1400">
                            <a:solidFill>
                              <a:schemeClr val="tx1">
                                <a:lumMod val="95000"/>
                                <a:lumOff val="5000"/>
                              </a:schemeClr>
                            </a:solidFill>
                            <a:latin typeface="Cambria Math" panose="02040503050406030204" pitchFamily="18" charset="0"/>
                          </a:rPr>
                          <m:t>0</m:t>
                        </m:r>
                      </m:e>
                    </m:d>
                    <m:r>
                      <a:rPr lang="en-US" sz="1400">
                        <a:solidFill>
                          <a:schemeClr val="tx1">
                            <a:lumMod val="95000"/>
                            <a:lumOff val="5000"/>
                          </a:schemeClr>
                        </a:solidFill>
                        <a:latin typeface="Cambria Math" panose="02040503050406030204" pitchFamily="18" charset="0"/>
                      </a:rPr>
                      <m:t>=</m:t>
                    </m:r>
                    <m:f>
                      <m:fPr>
                        <m:ctrlPr>
                          <a:rPr lang="en-US" sz="1400" i="1">
                            <a:solidFill>
                              <a:schemeClr val="tx1">
                                <a:lumMod val="95000"/>
                                <a:lumOff val="5000"/>
                              </a:schemeClr>
                            </a:solidFill>
                            <a:latin typeface="Cambria Math" panose="02040503050406030204" pitchFamily="18" charset="0"/>
                          </a:rPr>
                        </m:ctrlPr>
                      </m:fPr>
                      <m:num>
                        <m:r>
                          <a:rPr lang="en-US" sz="1400">
                            <a:solidFill>
                              <a:schemeClr val="tx1">
                                <a:lumMod val="95000"/>
                                <a:lumOff val="5000"/>
                              </a:schemeClr>
                            </a:solidFill>
                            <a:latin typeface="Cambria Math" panose="02040503050406030204" pitchFamily="18" charset="0"/>
                          </a:rPr>
                          <m:t>1</m:t>
                        </m:r>
                      </m:num>
                      <m:den>
                        <m:r>
                          <a:rPr lang="en-US" sz="1400">
                            <a:solidFill>
                              <a:schemeClr val="tx1">
                                <a:lumMod val="95000"/>
                                <a:lumOff val="5000"/>
                              </a:schemeClr>
                            </a:solidFill>
                            <a:latin typeface="Cambria Math" panose="02040503050406030204" pitchFamily="18" charset="0"/>
                          </a:rPr>
                          <m:t>1+</m:t>
                        </m:r>
                        <m:sSup>
                          <m:sSupPr>
                            <m:ctrlPr>
                              <a:rPr lang="en-US" sz="1400" i="1">
                                <a:solidFill>
                                  <a:schemeClr val="tx1">
                                    <a:lumMod val="95000"/>
                                    <a:lumOff val="5000"/>
                                  </a:schemeClr>
                                </a:solidFill>
                                <a:latin typeface="Cambria Math" panose="02040503050406030204" pitchFamily="18" charset="0"/>
                              </a:rPr>
                            </m:ctrlPr>
                          </m:sSupPr>
                          <m:e>
                            <m:r>
                              <a:rPr lang="en-US" sz="1400" i="1">
                                <a:solidFill>
                                  <a:schemeClr val="tx1">
                                    <a:lumMod val="95000"/>
                                    <a:lumOff val="5000"/>
                                  </a:schemeClr>
                                </a:solidFill>
                                <a:latin typeface="Cambria Math" panose="02040503050406030204" pitchFamily="18" charset="0"/>
                              </a:rPr>
                              <m:t>𝑒</m:t>
                            </m:r>
                          </m:e>
                          <m:sup>
                            <m:r>
                              <a:rPr lang="en-US" sz="1400">
                                <a:solidFill>
                                  <a:schemeClr val="tx1">
                                    <a:lumMod val="95000"/>
                                    <a:lumOff val="5000"/>
                                  </a:schemeClr>
                                </a:solidFill>
                                <a:latin typeface="Cambria Math" panose="02040503050406030204" pitchFamily="18" charset="0"/>
                              </a:rPr>
                              <m:t>−0</m:t>
                            </m:r>
                          </m:sup>
                        </m:sSup>
                      </m:den>
                    </m:f>
                    <m:r>
                      <a:rPr lang="en-US" sz="1400">
                        <a:solidFill>
                          <a:schemeClr val="tx1">
                            <a:lumMod val="95000"/>
                            <a:lumOff val="5000"/>
                          </a:schemeClr>
                        </a:solidFill>
                        <a:latin typeface="Cambria Math" panose="02040503050406030204" pitchFamily="18" charset="0"/>
                      </a:rPr>
                      <m:t>=</m:t>
                    </m:r>
                    <m:f>
                      <m:fPr>
                        <m:ctrlPr>
                          <a:rPr lang="en-US" sz="1400" i="1">
                            <a:solidFill>
                              <a:schemeClr val="tx1">
                                <a:lumMod val="95000"/>
                                <a:lumOff val="5000"/>
                              </a:schemeClr>
                            </a:solidFill>
                            <a:latin typeface="Cambria Math" panose="02040503050406030204" pitchFamily="18" charset="0"/>
                          </a:rPr>
                        </m:ctrlPr>
                      </m:fPr>
                      <m:num>
                        <m:r>
                          <a:rPr lang="en-US" sz="1400">
                            <a:solidFill>
                              <a:schemeClr val="tx1">
                                <a:lumMod val="95000"/>
                                <a:lumOff val="5000"/>
                              </a:schemeClr>
                            </a:solidFill>
                            <a:latin typeface="Cambria Math" panose="02040503050406030204" pitchFamily="18" charset="0"/>
                          </a:rPr>
                          <m:t>1</m:t>
                        </m:r>
                      </m:num>
                      <m:den>
                        <m:r>
                          <a:rPr lang="en-US" sz="1400">
                            <a:solidFill>
                              <a:schemeClr val="tx1">
                                <a:lumMod val="95000"/>
                                <a:lumOff val="5000"/>
                              </a:schemeClr>
                            </a:solidFill>
                            <a:latin typeface="Cambria Math" panose="02040503050406030204" pitchFamily="18" charset="0"/>
                          </a:rPr>
                          <m:t>1+1</m:t>
                        </m:r>
                      </m:den>
                    </m:f>
                    <m:r>
                      <a:rPr lang="en-US" sz="1400">
                        <a:solidFill>
                          <a:schemeClr val="tx1">
                            <a:lumMod val="95000"/>
                            <a:lumOff val="5000"/>
                          </a:schemeClr>
                        </a:solidFill>
                        <a:latin typeface="Cambria Math" panose="02040503050406030204" pitchFamily="18" charset="0"/>
                      </a:rPr>
                      <m:t>=0.5</m:t>
                    </m:r>
                  </m:oMath>
                </a14:m>
                <a:endParaRPr lang="en-US" sz="1400" dirty="0">
                  <a:solidFill>
                    <a:schemeClr val="tx1">
                      <a:lumMod val="95000"/>
                      <a:lumOff val="5000"/>
                    </a:schemeClr>
                  </a:solidFill>
                  <a:latin typeface="Calibri" panose="020F0502020204030204" pitchFamily="34" charset="0"/>
                  <a:cs typeface="Calibri" panose="020F0502020204030204" pitchFamily="34" charset="0"/>
                </a:endParaRPr>
              </a:p>
              <a:p>
                <a:pPr lvl="0">
                  <a:lnSpc>
                    <a:spcPct val="150000"/>
                  </a:lnSpc>
                </a:pPr>
                <a:r>
                  <a:rPr lang="en-US" sz="1400" b="1" dirty="0">
                    <a:solidFill>
                      <a:schemeClr val="tx1">
                        <a:lumMod val="95000"/>
                        <a:lumOff val="5000"/>
                      </a:schemeClr>
                    </a:solidFill>
                    <a:latin typeface="Calibri" panose="020F0502020204030204" pitchFamily="34" charset="0"/>
                    <a:cs typeface="Calibri" panose="020F0502020204030204" pitchFamily="34" charset="0"/>
                  </a:rPr>
                  <a:t>Result:</a:t>
                </a:r>
                <a:r>
                  <a:rPr lang="en-US" sz="1400" dirty="0">
                    <a:solidFill>
                      <a:schemeClr val="tx1">
                        <a:lumMod val="95000"/>
                        <a:lumOff val="5000"/>
                      </a:schemeClr>
                    </a:solidFill>
                    <a:latin typeface="Calibri" panose="020F0502020204030204" pitchFamily="34" charset="0"/>
                    <a:cs typeface="Calibri" panose="020F0502020204030204" pitchFamily="34" charset="0"/>
                  </a:rPr>
                  <a:t> Output is exactly </a:t>
                </a:r>
                <a:r>
                  <a:rPr lang="en-US" sz="1400" b="1" dirty="0">
                    <a:solidFill>
                      <a:schemeClr val="tx1">
                        <a:lumMod val="95000"/>
                        <a:lumOff val="5000"/>
                      </a:schemeClr>
                    </a:solidFill>
                    <a:latin typeface="Calibri" panose="020F0502020204030204" pitchFamily="34" charset="0"/>
                    <a:cs typeface="Calibri" panose="020F0502020204030204" pitchFamily="34" charset="0"/>
                  </a:rPr>
                  <a:t>0.5</a:t>
                </a:r>
                <a:r>
                  <a:rPr lang="en-US" sz="1400" dirty="0">
                    <a:solidFill>
                      <a:schemeClr val="tx1">
                        <a:lumMod val="95000"/>
                        <a:lumOff val="5000"/>
                      </a:schemeClr>
                    </a:solidFill>
                    <a:latin typeface="Calibri" panose="020F0502020204030204" pitchFamily="34" charset="0"/>
                    <a:cs typeface="Calibri" panose="020F0502020204030204" pitchFamily="34" charset="0"/>
                  </a:rPr>
                  <a:t> (50% probability).</a:t>
                </a:r>
              </a:p>
              <a:p>
                <a:pPr>
                  <a:lnSpc>
                    <a:spcPct val="150000"/>
                  </a:lnSpc>
                </a:pPr>
                <a:r>
                  <a:rPr lang="en-US" sz="1400" b="1" dirty="0">
                    <a:solidFill>
                      <a:schemeClr val="tx1">
                        <a:lumMod val="95000"/>
                        <a:lumOff val="5000"/>
                      </a:schemeClr>
                    </a:solidFill>
                    <a:latin typeface="Calibri" panose="020F0502020204030204" pitchFamily="34" charset="0"/>
                    <a:cs typeface="Calibri" panose="020F0502020204030204" pitchFamily="34" charset="0"/>
                  </a:rPr>
                  <a:t>Example 2: Positive Input</a:t>
                </a:r>
                <a:endParaRPr lang="en-US" sz="1400" dirty="0">
                  <a:solidFill>
                    <a:schemeClr val="tx1">
                      <a:lumMod val="95000"/>
                      <a:lumOff val="5000"/>
                    </a:schemeClr>
                  </a:solidFill>
                  <a:latin typeface="Calibri" panose="020F0502020204030204" pitchFamily="34" charset="0"/>
                  <a:cs typeface="Calibri" panose="020F0502020204030204" pitchFamily="34" charset="0"/>
                </a:endParaRPr>
              </a:p>
              <a:p>
                <a:pPr marL="285750" lvl="0" indent="-285750">
                  <a:lnSpc>
                    <a:spcPct val="150000"/>
                  </a:lnSpc>
                  <a:buFont typeface="Arial" panose="020B0604020202020204" pitchFamily="34" charset="0"/>
                  <a:buChar char="•"/>
                </a:pPr>
                <a:r>
                  <a:rPr lang="en-US" sz="1400" b="1" dirty="0">
                    <a:solidFill>
                      <a:schemeClr val="tx1">
                        <a:lumMod val="95000"/>
                        <a:lumOff val="5000"/>
                      </a:schemeClr>
                    </a:solidFill>
                    <a:latin typeface="Calibri" panose="020F0502020204030204" pitchFamily="34" charset="0"/>
                    <a:cs typeface="Calibri" panose="020F0502020204030204" pitchFamily="34" charset="0"/>
                  </a:rPr>
                  <a:t>Input (</a:t>
                </a:r>
                <a14:m>
                  <m:oMath xmlns:m="http://schemas.openxmlformats.org/officeDocument/2006/math">
                    <m:r>
                      <a:rPr lang="en-US" sz="1400" i="1">
                        <a:solidFill>
                          <a:schemeClr val="tx1">
                            <a:lumMod val="95000"/>
                            <a:lumOff val="5000"/>
                          </a:schemeClr>
                        </a:solidFill>
                        <a:latin typeface="Cambria Math" panose="02040503050406030204" pitchFamily="18" charset="0"/>
                      </a:rPr>
                      <m:t>𝑥</m:t>
                    </m:r>
                  </m:oMath>
                </a14:m>
                <a:r>
                  <a:rPr lang="en-US" sz="1400" b="1" dirty="0">
                    <a:solidFill>
                      <a:schemeClr val="tx1">
                        <a:lumMod val="95000"/>
                        <a:lumOff val="5000"/>
                      </a:schemeClr>
                    </a:solidFill>
                    <a:latin typeface="Calibri" panose="020F0502020204030204" pitchFamily="34" charset="0"/>
                    <a:cs typeface="Calibri" panose="020F0502020204030204" pitchFamily="34" charset="0"/>
                  </a:rPr>
                  <a:t>):</a:t>
                </a:r>
                <a:r>
                  <a:rPr lang="en-US" sz="1400" dirty="0">
                    <a:solidFill>
                      <a:schemeClr val="tx1">
                        <a:lumMod val="95000"/>
                        <a:lumOff val="5000"/>
                      </a:schemeClr>
                    </a:solidFill>
                    <a:latin typeface="Calibri" panose="020F0502020204030204" pitchFamily="34" charset="0"/>
                    <a:cs typeface="Calibri" panose="020F0502020204030204" pitchFamily="34" charset="0"/>
                  </a:rPr>
                  <a:t> </a:t>
                </a:r>
                <a14:m>
                  <m:oMath xmlns:m="http://schemas.openxmlformats.org/officeDocument/2006/math">
                    <m:r>
                      <a:rPr lang="en-US" sz="1400" i="1">
                        <a:solidFill>
                          <a:schemeClr val="tx1">
                            <a:lumMod val="95000"/>
                            <a:lumOff val="5000"/>
                          </a:schemeClr>
                        </a:solidFill>
                        <a:latin typeface="Cambria Math" panose="02040503050406030204" pitchFamily="18" charset="0"/>
                      </a:rPr>
                      <m:t>𝑥</m:t>
                    </m:r>
                    <m:r>
                      <a:rPr lang="en-US" sz="1400">
                        <a:solidFill>
                          <a:schemeClr val="tx1">
                            <a:lumMod val="95000"/>
                            <a:lumOff val="5000"/>
                          </a:schemeClr>
                        </a:solidFill>
                        <a:latin typeface="Cambria Math" panose="02040503050406030204" pitchFamily="18" charset="0"/>
                      </a:rPr>
                      <m:t>=2</m:t>
                    </m:r>
                  </m:oMath>
                </a14:m>
                <a:endParaRPr lang="en-US" sz="1400" dirty="0">
                  <a:solidFill>
                    <a:schemeClr val="tx1">
                      <a:lumMod val="95000"/>
                      <a:lumOff val="5000"/>
                    </a:schemeClr>
                  </a:solidFill>
                  <a:latin typeface="Calibri" panose="020F0502020204030204" pitchFamily="34" charset="0"/>
                  <a:cs typeface="Calibri" panose="020F0502020204030204" pitchFamily="34" charset="0"/>
                </a:endParaRPr>
              </a:p>
              <a:p>
                <a:pPr marL="285750" lvl="0" indent="-285750">
                  <a:lnSpc>
                    <a:spcPct val="150000"/>
                  </a:lnSpc>
                  <a:buFont typeface="Arial" panose="020B0604020202020204" pitchFamily="34" charset="0"/>
                  <a:buChar char="•"/>
                </a:pPr>
                <a:r>
                  <a:rPr lang="en-US" sz="1400" b="1" dirty="0">
                    <a:solidFill>
                      <a:schemeClr val="tx1">
                        <a:lumMod val="95000"/>
                        <a:lumOff val="5000"/>
                      </a:schemeClr>
                    </a:solidFill>
                    <a:latin typeface="Calibri" panose="020F0502020204030204" pitchFamily="34" charset="0"/>
                    <a:cs typeface="Calibri" panose="020F0502020204030204" pitchFamily="34" charset="0"/>
                  </a:rPr>
                  <a:t>Calculation:</a:t>
                </a:r>
                <a:endParaRPr lang="en-US" sz="1400" dirty="0">
                  <a:solidFill>
                    <a:schemeClr val="tx1">
                      <a:lumMod val="95000"/>
                      <a:lumOff val="5000"/>
                    </a:schemeClr>
                  </a:solidFill>
                  <a:latin typeface="Calibri" panose="020F0502020204030204" pitchFamily="34" charset="0"/>
                  <a:cs typeface="Calibri" panose="020F0502020204030204" pitchFamily="34" charset="0"/>
                </a:endParaRPr>
              </a:p>
              <a:p>
                <a:pPr lvl="0">
                  <a:lnSpc>
                    <a:spcPct val="150000"/>
                  </a:lnSpc>
                </a:pPr>
                <a14:m>
                  <m:oMathPara xmlns:m="http://schemas.openxmlformats.org/officeDocument/2006/math">
                    <m:oMathParaPr>
                      <m:jc m:val="centerGroup"/>
                    </m:oMathParaPr>
                    <m:oMath xmlns:m="http://schemas.openxmlformats.org/officeDocument/2006/math">
                      <m:r>
                        <a:rPr lang="en-US" sz="1400" i="1" smtClean="0">
                          <a:solidFill>
                            <a:schemeClr val="tx1">
                              <a:lumMod val="95000"/>
                              <a:lumOff val="5000"/>
                            </a:schemeClr>
                          </a:solidFill>
                          <a:latin typeface="Cambria Math" panose="02040503050406030204" pitchFamily="18" charset="0"/>
                        </a:rPr>
                        <m:t>𝑓</m:t>
                      </m:r>
                      <m:d>
                        <m:dPr>
                          <m:ctrlPr>
                            <a:rPr lang="en-US" sz="1400" i="1">
                              <a:solidFill>
                                <a:schemeClr val="tx1">
                                  <a:lumMod val="95000"/>
                                  <a:lumOff val="5000"/>
                                </a:schemeClr>
                              </a:solidFill>
                              <a:latin typeface="Cambria Math" panose="02040503050406030204" pitchFamily="18" charset="0"/>
                            </a:rPr>
                          </m:ctrlPr>
                        </m:dPr>
                        <m:e>
                          <m:r>
                            <a:rPr lang="en-US" sz="1400">
                              <a:solidFill>
                                <a:schemeClr val="tx1">
                                  <a:lumMod val="95000"/>
                                  <a:lumOff val="5000"/>
                                </a:schemeClr>
                              </a:solidFill>
                              <a:latin typeface="Cambria Math" panose="02040503050406030204" pitchFamily="18" charset="0"/>
                            </a:rPr>
                            <m:t>2</m:t>
                          </m:r>
                        </m:e>
                      </m:d>
                      <m:r>
                        <a:rPr lang="en-US" sz="1400">
                          <a:solidFill>
                            <a:schemeClr val="tx1">
                              <a:lumMod val="95000"/>
                              <a:lumOff val="5000"/>
                            </a:schemeClr>
                          </a:solidFill>
                          <a:latin typeface="Cambria Math" panose="02040503050406030204" pitchFamily="18" charset="0"/>
                        </a:rPr>
                        <m:t>=</m:t>
                      </m:r>
                      <m:f>
                        <m:fPr>
                          <m:ctrlPr>
                            <a:rPr lang="en-US" sz="1400" i="1">
                              <a:solidFill>
                                <a:schemeClr val="tx1">
                                  <a:lumMod val="95000"/>
                                  <a:lumOff val="5000"/>
                                </a:schemeClr>
                              </a:solidFill>
                              <a:latin typeface="Cambria Math" panose="02040503050406030204" pitchFamily="18" charset="0"/>
                            </a:rPr>
                          </m:ctrlPr>
                        </m:fPr>
                        <m:num>
                          <m:r>
                            <a:rPr lang="en-US" sz="1400">
                              <a:solidFill>
                                <a:schemeClr val="tx1">
                                  <a:lumMod val="95000"/>
                                  <a:lumOff val="5000"/>
                                </a:schemeClr>
                              </a:solidFill>
                              <a:latin typeface="Cambria Math" panose="02040503050406030204" pitchFamily="18" charset="0"/>
                            </a:rPr>
                            <m:t>1</m:t>
                          </m:r>
                        </m:num>
                        <m:den>
                          <m:r>
                            <a:rPr lang="en-US" sz="1400">
                              <a:solidFill>
                                <a:schemeClr val="tx1">
                                  <a:lumMod val="95000"/>
                                  <a:lumOff val="5000"/>
                                </a:schemeClr>
                              </a:solidFill>
                              <a:latin typeface="Cambria Math" panose="02040503050406030204" pitchFamily="18" charset="0"/>
                            </a:rPr>
                            <m:t>1+</m:t>
                          </m:r>
                          <m:sSup>
                            <m:sSupPr>
                              <m:ctrlPr>
                                <a:rPr lang="en-US" sz="1400" i="1">
                                  <a:solidFill>
                                    <a:schemeClr val="tx1">
                                      <a:lumMod val="95000"/>
                                      <a:lumOff val="5000"/>
                                    </a:schemeClr>
                                  </a:solidFill>
                                  <a:latin typeface="Cambria Math" panose="02040503050406030204" pitchFamily="18" charset="0"/>
                                </a:rPr>
                              </m:ctrlPr>
                            </m:sSupPr>
                            <m:e>
                              <m:r>
                                <a:rPr lang="en-US" sz="1400" i="1">
                                  <a:solidFill>
                                    <a:schemeClr val="tx1">
                                      <a:lumMod val="95000"/>
                                      <a:lumOff val="5000"/>
                                    </a:schemeClr>
                                  </a:solidFill>
                                  <a:latin typeface="Cambria Math" panose="02040503050406030204" pitchFamily="18" charset="0"/>
                                </a:rPr>
                                <m:t>𝑒</m:t>
                              </m:r>
                            </m:e>
                            <m:sup>
                              <m:r>
                                <a:rPr lang="en-US" sz="1400">
                                  <a:solidFill>
                                    <a:schemeClr val="tx1">
                                      <a:lumMod val="95000"/>
                                      <a:lumOff val="5000"/>
                                    </a:schemeClr>
                                  </a:solidFill>
                                  <a:latin typeface="Cambria Math" panose="02040503050406030204" pitchFamily="18" charset="0"/>
                                </a:rPr>
                                <m:t>−2</m:t>
                              </m:r>
                            </m:sup>
                          </m:sSup>
                        </m:den>
                      </m:f>
                      <m:r>
                        <a:rPr lang="en-US" sz="1400">
                          <a:solidFill>
                            <a:schemeClr val="tx1">
                              <a:lumMod val="95000"/>
                              <a:lumOff val="5000"/>
                            </a:schemeClr>
                          </a:solidFill>
                          <a:latin typeface="Cambria Math" panose="02040503050406030204" pitchFamily="18" charset="0"/>
                        </a:rPr>
                        <m:t>=</m:t>
                      </m:r>
                      <m:f>
                        <m:fPr>
                          <m:ctrlPr>
                            <a:rPr lang="en-US" sz="1400" i="1">
                              <a:solidFill>
                                <a:schemeClr val="tx1">
                                  <a:lumMod val="95000"/>
                                  <a:lumOff val="5000"/>
                                </a:schemeClr>
                              </a:solidFill>
                              <a:latin typeface="Cambria Math" panose="02040503050406030204" pitchFamily="18" charset="0"/>
                            </a:rPr>
                          </m:ctrlPr>
                        </m:fPr>
                        <m:num>
                          <m:r>
                            <a:rPr lang="en-US" sz="1400">
                              <a:solidFill>
                                <a:schemeClr val="tx1">
                                  <a:lumMod val="95000"/>
                                  <a:lumOff val="5000"/>
                                </a:schemeClr>
                              </a:solidFill>
                              <a:latin typeface="Cambria Math" panose="02040503050406030204" pitchFamily="18" charset="0"/>
                            </a:rPr>
                            <m:t>1</m:t>
                          </m:r>
                        </m:num>
                        <m:den>
                          <m:r>
                            <a:rPr lang="en-US" sz="1400">
                              <a:solidFill>
                                <a:schemeClr val="tx1">
                                  <a:lumMod val="95000"/>
                                  <a:lumOff val="5000"/>
                                </a:schemeClr>
                              </a:solidFill>
                              <a:latin typeface="Cambria Math" panose="02040503050406030204" pitchFamily="18" charset="0"/>
                            </a:rPr>
                            <m:t>1+0.135</m:t>
                          </m:r>
                        </m:den>
                      </m:f>
                      <m:r>
                        <a:rPr lang="en-US" sz="1400">
                          <a:solidFill>
                            <a:schemeClr val="tx1">
                              <a:lumMod val="95000"/>
                              <a:lumOff val="5000"/>
                            </a:schemeClr>
                          </a:solidFill>
                          <a:latin typeface="Cambria Math" panose="02040503050406030204" pitchFamily="18" charset="0"/>
                        </a:rPr>
                        <m:t>=0.88</m:t>
                      </m:r>
                    </m:oMath>
                  </m:oMathPara>
                </a14:m>
                <a:endParaRPr lang="en-US" sz="1400" dirty="0">
                  <a:solidFill>
                    <a:schemeClr val="tx1">
                      <a:lumMod val="95000"/>
                      <a:lumOff val="5000"/>
                    </a:schemeClr>
                  </a:solidFill>
                  <a:latin typeface="Calibri" panose="020F0502020204030204" pitchFamily="34" charset="0"/>
                  <a:cs typeface="Calibri" panose="020F0502020204030204" pitchFamily="34" charset="0"/>
                </a:endParaRPr>
              </a:p>
              <a:p>
                <a:pPr lvl="0">
                  <a:lnSpc>
                    <a:spcPct val="150000"/>
                  </a:lnSpc>
                </a:pPr>
                <a:r>
                  <a:rPr lang="en-US" sz="1400" b="1" dirty="0">
                    <a:solidFill>
                      <a:schemeClr val="tx1">
                        <a:lumMod val="95000"/>
                        <a:lumOff val="5000"/>
                      </a:schemeClr>
                    </a:solidFill>
                    <a:latin typeface="Calibri" panose="020F0502020204030204" pitchFamily="34" charset="0"/>
                    <a:cs typeface="Calibri" panose="020F0502020204030204" pitchFamily="34" charset="0"/>
                  </a:rPr>
                  <a:t>Result:</a:t>
                </a:r>
                <a:r>
                  <a:rPr lang="en-US" sz="1400" dirty="0">
                    <a:solidFill>
                      <a:schemeClr val="tx1">
                        <a:lumMod val="95000"/>
                        <a:lumOff val="5000"/>
                      </a:schemeClr>
                    </a:solidFill>
                    <a:latin typeface="Calibri" panose="020F0502020204030204" pitchFamily="34" charset="0"/>
                    <a:cs typeface="Calibri" panose="020F0502020204030204" pitchFamily="34" charset="0"/>
                  </a:rPr>
                  <a:t> Output squashes up to </a:t>
                </a:r>
                <a:r>
                  <a:rPr lang="en-US" sz="1400" b="1" dirty="0">
                    <a:solidFill>
                      <a:schemeClr val="tx1">
                        <a:lumMod val="95000"/>
                        <a:lumOff val="5000"/>
                      </a:schemeClr>
                    </a:solidFill>
                    <a:latin typeface="Calibri" panose="020F0502020204030204" pitchFamily="34" charset="0"/>
                    <a:cs typeface="Calibri" panose="020F0502020204030204" pitchFamily="34" charset="0"/>
                  </a:rPr>
                  <a:t>0.88</a:t>
                </a:r>
                <a:r>
                  <a:rPr lang="en-US" sz="1400" dirty="0">
                    <a:solidFill>
                      <a:schemeClr val="tx1">
                        <a:lumMod val="95000"/>
                        <a:lumOff val="5000"/>
                      </a:schemeClr>
                    </a:solidFill>
                    <a:latin typeface="Calibri" panose="020F0502020204030204" pitchFamily="34" charset="0"/>
                    <a:cs typeface="Calibri" panose="020F0502020204030204" pitchFamily="34" charset="0"/>
                  </a:rPr>
                  <a:t> (88% probability).</a:t>
                </a:r>
              </a:p>
              <a:p>
                <a:pPr>
                  <a:lnSpc>
                    <a:spcPct val="150000"/>
                  </a:lnSpc>
                </a:pPr>
                <a:r>
                  <a:rPr lang="en-US" sz="1400" b="1" dirty="0">
                    <a:solidFill>
                      <a:schemeClr val="tx1">
                        <a:lumMod val="95000"/>
                        <a:lumOff val="5000"/>
                      </a:schemeClr>
                    </a:solidFill>
                    <a:latin typeface="Calibri" panose="020F0502020204030204" pitchFamily="34" charset="0"/>
                    <a:cs typeface="Calibri" panose="020F0502020204030204" pitchFamily="34" charset="0"/>
                  </a:rPr>
                  <a:t>Example 3: Negative Input</a:t>
                </a:r>
                <a:endParaRPr lang="en-US" sz="1400" dirty="0">
                  <a:solidFill>
                    <a:schemeClr val="tx1">
                      <a:lumMod val="95000"/>
                      <a:lumOff val="5000"/>
                    </a:schemeClr>
                  </a:solidFill>
                  <a:latin typeface="Calibri" panose="020F0502020204030204" pitchFamily="34" charset="0"/>
                  <a:cs typeface="Calibri" panose="020F0502020204030204" pitchFamily="34" charset="0"/>
                </a:endParaRPr>
              </a:p>
              <a:p>
                <a:pPr marL="285750" lvl="0" indent="-285750">
                  <a:lnSpc>
                    <a:spcPct val="150000"/>
                  </a:lnSpc>
                  <a:buFont typeface="Arial" panose="020B0604020202020204" pitchFamily="34" charset="0"/>
                  <a:buChar char="•"/>
                </a:pPr>
                <a:r>
                  <a:rPr lang="en-US" sz="1400" b="1" dirty="0">
                    <a:solidFill>
                      <a:schemeClr val="tx1">
                        <a:lumMod val="95000"/>
                        <a:lumOff val="5000"/>
                      </a:schemeClr>
                    </a:solidFill>
                    <a:latin typeface="Calibri" panose="020F0502020204030204" pitchFamily="34" charset="0"/>
                    <a:cs typeface="Calibri" panose="020F0502020204030204" pitchFamily="34" charset="0"/>
                  </a:rPr>
                  <a:t>Input (</a:t>
                </a:r>
                <a14:m>
                  <m:oMath xmlns:m="http://schemas.openxmlformats.org/officeDocument/2006/math">
                    <m:r>
                      <a:rPr lang="en-US" sz="1400" i="1">
                        <a:solidFill>
                          <a:schemeClr val="tx1">
                            <a:lumMod val="95000"/>
                            <a:lumOff val="5000"/>
                          </a:schemeClr>
                        </a:solidFill>
                        <a:latin typeface="Cambria Math" panose="02040503050406030204" pitchFamily="18" charset="0"/>
                      </a:rPr>
                      <m:t>𝑥</m:t>
                    </m:r>
                  </m:oMath>
                </a14:m>
                <a:r>
                  <a:rPr lang="en-US" sz="1400" b="1" dirty="0">
                    <a:solidFill>
                      <a:schemeClr val="tx1">
                        <a:lumMod val="95000"/>
                        <a:lumOff val="5000"/>
                      </a:schemeClr>
                    </a:solidFill>
                    <a:latin typeface="Calibri" panose="020F0502020204030204" pitchFamily="34" charset="0"/>
                    <a:cs typeface="Calibri" panose="020F0502020204030204" pitchFamily="34" charset="0"/>
                  </a:rPr>
                  <a:t>):</a:t>
                </a:r>
                <a:r>
                  <a:rPr lang="en-US" sz="1400" dirty="0">
                    <a:solidFill>
                      <a:schemeClr val="tx1">
                        <a:lumMod val="95000"/>
                        <a:lumOff val="5000"/>
                      </a:schemeClr>
                    </a:solidFill>
                    <a:latin typeface="Calibri" panose="020F0502020204030204" pitchFamily="34" charset="0"/>
                    <a:cs typeface="Calibri" panose="020F0502020204030204" pitchFamily="34" charset="0"/>
                  </a:rPr>
                  <a:t> </a:t>
                </a:r>
                <a14:m>
                  <m:oMath xmlns:m="http://schemas.openxmlformats.org/officeDocument/2006/math">
                    <m:r>
                      <a:rPr lang="en-US" sz="1400" i="1">
                        <a:solidFill>
                          <a:schemeClr val="tx1">
                            <a:lumMod val="95000"/>
                            <a:lumOff val="5000"/>
                          </a:schemeClr>
                        </a:solidFill>
                        <a:latin typeface="Cambria Math" panose="02040503050406030204" pitchFamily="18" charset="0"/>
                      </a:rPr>
                      <m:t>𝑥</m:t>
                    </m:r>
                    <m:r>
                      <a:rPr lang="en-US" sz="1400">
                        <a:solidFill>
                          <a:schemeClr val="tx1">
                            <a:lumMod val="95000"/>
                            <a:lumOff val="5000"/>
                          </a:schemeClr>
                        </a:solidFill>
                        <a:latin typeface="Cambria Math" panose="02040503050406030204" pitchFamily="18" charset="0"/>
                      </a:rPr>
                      <m:t>=−2</m:t>
                    </m:r>
                  </m:oMath>
                </a14:m>
                <a:endParaRPr lang="en-US" sz="1400" dirty="0">
                  <a:solidFill>
                    <a:schemeClr val="tx1">
                      <a:lumMod val="95000"/>
                      <a:lumOff val="5000"/>
                    </a:schemeClr>
                  </a:solidFill>
                  <a:latin typeface="Calibri" panose="020F0502020204030204" pitchFamily="34" charset="0"/>
                  <a:cs typeface="Calibri" panose="020F0502020204030204" pitchFamily="34" charset="0"/>
                </a:endParaRPr>
              </a:p>
              <a:p>
                <a:pPr marL="285750" lvl="0" indent="-285750">
                  <a:lnSpc>
                    <a:spcPct val="150000"/>
                  </a:lnSpc>
                  <a:buFont typeface="Arial" panose="020B0604020202020204" pitchFamily="34" charset="0"/>
                  <a:buChar char="•"/>
                </a:pPr>
                <a:r>
                  <a:rPr lang="en-US" sz="1400" b="1" dirty="0">
                    <a:solidFill>
                      <a:schemeClr val="tx1">
                        <a:lumMod val="95000"/>
                        <a:lumOff val="5000"/>
                      </a:schemeClr>
                    </a:solidFill>
                    <a:latin typeface="Calibri" panose="020F0502020204030204" pitchFamily="34" charset="0"/>
                    <a:cs typeface="Calibri" panose="020F0502020204030204" pitchFamily="34" charset="0"/>
                  </a:rPr>
                  <a:t>Calculation:</a:t>
                </a:r>
                <a:endParaRPr lang="en-US" sz="1400" dirty="0">
                  <a:solidFill>
                    <a:schemeClr val="tx1">
                      <a:lumMod val="95000"/>
                      <a:lumOff val="5000"/>
                    </a:schemeClr>
                  </a:solidFill>
                  <a:latin typeface="Calibri" panose="020F0502020204030204" pitchFamily="34" charset="0"/>
                  <a:cs typeface="Calibri" panose="020F0502020204030204" pitchFamily="34" charset="0"/>
                </a:endParaRPr>
              </a:p>
              <a:p>
                <a:pPr lvl="0">
                  <a:lnSpc>
                    <a:spcPct val="150000"/>
                  </a:lnSpc>
                </a:pPr>
                <a14:m>
                  <m:oMathPara xmlns:m="http://schemas.openxmlformats.org/officeDocument/2006/math">
                    <m:oMathParaPr>
                      <m:jc m:val="centerGroup"/>
                    </m:oMathParaPr>
                    <m:oMath xmlns:m="http://schemas.openxmlformats.org/officeDocument/2006/math">
                      <m:r>
                        <a:rPr lang="en-US" sz="1400" i="1">
                          <a:solidFill>
                            <a:schemeClr val="tx1">
                              <a:lumMod val="95000"/>
                              <a:lumOff val="5000"/>
                            </a:schemeClr>
                          </a:solidFill>
                          <a:latin typeface="Cambria Math" panose="02040503050406030204" pitchFamily="18" charset="0"/>
                        </a:rPr>
                        <m:t>𝑓</m:t>
                      </m:r>
                      <m:d>
                        <m:dPr>
                          <m:ctrlPr>
                            <a:rPr lang="en-US" sz="1400" i="1">
                              <a:solidFill>
                                <a:schemeClr val="tx1">
                                  <a:lumMod val="95000"/>
                                  <a:lumOff val="5000"/>
                                </a:schemeClr>
                              </a:solidFill>
                              <a:latin typeface="Cambria Math" panose="02040503050406030204" pitchFamily="18" charset="0"/>
                            </a:rPr>
                          </m:ctrlPr>
                        </m:dPr>
                        <m:e>
                          <m:r>
                            <a:rPr lang="en-US" sz="1400">
                              <a:solidFill>
                                <a:schemeClr val="tx1">
                                  <a:lumMod val="95000"/>
                                  <a:lumOff val="5000"/>
                                </a:schemeClr>
                              </a:solidFill>
                              <a:latin typeface="Cambria Math" panose="02040503050406030204" pitchFamily="18" charset="0"/>
                            </a:rPr>
                            <m:t>−2</m:t>
                          </m:r>
                        </m:e>
                      </m:d>
                      <m:r>
                        <a:rPr lang="en-US" sz="1400">
                          <a:solidFill>
                            <a:schemeClr val="tx1">
                              <a:lumMod val="95000"/>
                              <a:lumOff val="5000"/>
                            </a:schemeClr>
                          </a:solidFill>
                          <a:latin typeface="Cambria Math" panose="02040503050406030204" pitchFamily="18" charset="0"/>
                        </a:rPr>
                        <m:t>=</m:t>
                      </m:r>
                      <m:f>
                        <m:fPr>
                          <m:ctrlPr>
                            <a:rPr lang="en-US" sz="1400" i="1">
                              <a:solidFill>
                                <a:schemeClr val="tx1">
                                  <a:lumMod val="95000"/>
                                  <a:lumOff val="5000"/>
                                </a:schemeClr>
                              </a:solidFill>
                              <a:latin typeface="Cambria Math" panose="02040503050406030204" pitchFamily="18" charset="0"/>
                            </a:rPr>
                          </m:ctrlPr>
                        </m:fPr>
                        <m:num>
                          <m:r>
                            <a:rPr lang="en-US" sz="1400">
                              <a:solidFill>
                                <a:schemeClr val="tx1">
                                  <a:lumMod val="95000"/>
                                  <a:lumOff val="5000"/>
                                </a:schemeClr>
                              </a:solidFill>
                              <a:latin typeface="Cambria Math" panose="02040503050406030204" pitchFamily="18" charset="0"/>
                            </a:rPr>
                            <m:t>1</m:t>
                          </m:r>
                        </m:num>
                        <m:den>
                          <m:r>
                            <a:rPr lang="en-US" sz="1400">
                              <a:solidFill>
                                <a:schemeClr val="tx1">
                                  <a:lumMod val="95000"/>
                                  <a:lumOff val="5000"/>
                                </a:schemeClr>
                              </a:solidFill>
                              <a:latin typeface="Cambria Math" panose="02040503050406030204" pitchFamily="18" charset="0"/>
                            </a:rPr>
                            <m:t>1+</m:t>
                          </m:r>
                          <m:sSup>
                            <m:sSupPr>
                              <m:ctrlPr>
                                <a:rPr lang="en-US" sz="1400" i="1">
                                  <a:solidFill>
                                    <a:schemeClr val="tx1">
                                      <a:lumMod val="95000"/>
                                      <a:lumOff val="5000"/>
                                    </a:schemeClr>
                                  </a:solidFill>
                                  <a:latin typeface="Cambria Math" panose="02040503050406030204" pitchFamily="18" charset="0"/>
                                </a:rPr>
                              </m:ctrlPr>
                            </m:sSupPr>
                            <m:e>
                              <m:r>
                                <a:rPr lang="en-US" sz="1400" i="1">
                                  <a:solidFill>
                                    <a:schemeClr val="tx1">
                                      <a:lumMod val="95000"/>
                                      <a:lumOff val="5000"/>
                                    </a:schemeClr>
                                  </a:solidFill>
                                  <a:latin typeface="Cambria Math" panose="02040503050406030204" pitchFamily="18" charset="0"/>
                                </a:rPr>
                                <m:t>𝑒</m:t>
                              </m:r>
                            </m:e>
                            <m:sup>
                              <m:r>
                                <a:rPr lang="en-US" sz="1400">
                                  <a:solidFill>
                                    <a:schemeClr val="tx1">
                                      <a:lumMod val="95000"/>
                                      <a:lumOff val="5000"/>
                                    </a:schemeClr>
                                  </a:solidFill>
                                  <a:latin typeface="Cambria Math" panose="02040503050406030204" pitchFamily="18" charset="0"/>
                                </a:rPr>
                                <m:t>−</m:t>
                              </m:r>
                              <m:d>
                                <m:dPr>
                                  <m:ctrlPr>
                                    <a:rPr lang="en-US" sz="1400" i="1">
                                      <a:solidFill>
                                        <a:schemeClr val="tx1">
                                          <a:lumMod val="95000"/>
                                          <a:lumOff val="5000"/>
                                        </a:schemeClr>
                                      </a:solidFill>
                                      <a:latin typeface="Cambria Math" panose="02040503050406030204" pitchFamily="18" charset="0"/>
                                    </a:rPr>
                                  </m:ctrlPr>
                                </m:dPr>
                                <m:e>
                                  <m:r>
                                    <a:rPr lang="en-US" sz="1400">
                                      <a:solidFill>
                                        <a:schemeClr val="tx1">
                                          <a:lumMod val="95000"/>
                                          <a:lumOff val="5000"/>
                                        </a:schemeClr>
                                      </a:solidFill>
                                      <a:latin typeface="Cambria Math" panose="02040503050406030204" pitchFamily="18" charset="0"/>
                                    </a:rPr>
                                    <m:t>−2</m:t>
                                  </m:r>
                                </m:e>
                              </m:d>
                            </m:sup>
                          </m:sSup>
                        </m:den>
                      </m:f>
                      <m:r>
                        <a:rPr lang="en-US" sz="1400">
                          <a:solidFill>
                            <a:schemeClr val="tx1">
                              <a:lumMod val="95000"/>
                              <a:lumOff val="5000"/>
                            </a:schemeClr>
                          </a:solidFill>
                          <a:latin typeface="Cambria Math" panose="02040503050406030204" pitchFamily="18" charset="0"/>
                        </a:rPr>
                        <m:t>=</m:t>
                      </m:r>
                      <m:f>
                        <m:fPr>
                          <m:ctrlPr>
                            <a:rPr lang="en-US" sz="1400" i="1">
                              <a:solidFill>
                                <a:schemeClr val="tx1">
                                  <a:lumMod val="95000"/>
                                  <a:lumOff val="5000"/>
                                </a:schemeClr>
                              </a:solidFill>
                              <a:latin typeface="Cambria Math" panose="02040503050406030204" pitchFamily="18" charset="0"/>
                            </a:rPr>
                          </m:ctrlPr>
                        </m:fPr>
                        <m:num>
                          <m:r>
                            <a:rPr lang="en-US" sz="1400">
                              <a:solidFill>
                                <a:schemeClr val="tx1">
                                  <a:lumMod val="95000"/>
                                  <a:lumOff val="5000"/>
                                </a:schemeClr>
                              </a:solidFill>
                              <a:latin typeface="Cambria Math" panose="02040503050406030204" pitchFamily="18" charset="0"/>
                            </a:rPr>
                            <m:t>1</m:t>
                          </m:r>
                        </m:num>
                        <m:den>
                          <m:r>
                            <a:rPr lang="en-US" sz="1400">
                              <a:solidFill>
                                <a:schemeClr val="tx1">
                                  <a:lumMod val="95000"/>
                                  <a:lumOff val="5000"/>
                                </a:schemeClr>
                              </a:solidFill>
                              <a:latin typeface="Cambria Math" panose="02040503050406030204" pitchFamily="18" charset="0"/>
                            </a:rPr>
                            <m:t>1+7.389</m:t>
                          </m:r>
                        </m:den>
                      </m:f>
                      <m:r>
                        <a:rPr lang="en-US" sz="1400">
                          <a:solidFill>
                            <a:schemeClr val="tx1">
                              <a:lumMod val="95000"/>
                              <a:lumOff val="5000"/>
                            </a:schemeClr>
                          </a:solidFill>
                          <a:latin typeface="Cambria Math" panose="02040503050406030204" pitchFamily="18" charset="0"/>
                        </a:rPr>
                        <m:t>=0.12</m:t>
                      </m:r>
                    </m:oMath>
                  </m:oMathPara>
                </a14:m>
                <a:endParaRPr lang="en-US" sz="1400" dirty="0">
                  <a:solidFill>
                    <a:schemeClr val="tx1">
                      <a:lumMod val="95000"/>
                      <a:lumOff val="5000"/>
                    </a:schemeClr>
                  </a:solidFill>
                  <a:latin typeface="Calibri" panose="020F0502020204030204" pitchFamily="34" charset="0"/>
                  <a:cs typeface="Calibri" panose="020F0502020204030204" pitchFamily="34" charset="0"/>
                </a:endParaRPr>
              </a:p>
              <a:p>
                <a:pPr lvl="0">
                  <a:lnSpc>
                    <a:spcPct val="150000"/>
                  </a:lnSpc>
                </a:pPr>
                <a:r>
                  <a:rPr lang="en-US" sz="1400" b="1" dirty="0">
                    <a:solidFill>
                      <a:schemeClr val="tx1">
                        <a:lumMod val="95000"/>
                        <a:lumOff val="5000"/>
                      </a:schemeClr>
                    </a:solidFill>
                    <a:latin typeface="Calibri" panose="020F0502020204030204" pitchFamily="34" charset="0"/>
                    <a:cs typeface="Calibri" panose="020F0502020204030204" pitchFamily="34" charset="0"/>
                  </a:rPr>
                  <a:t>Result:</a:t>
                </a:r>
                <a:r>
                  <a:rPr lang="en-US" sz="1400" dirty="0">
                    <a:solidFill>
                      <a:schemeClr val="tx1">
                        <a:lumMod val="95000"/>
                        <a:lumOff val="5000"/>
                      </a:schemeClr>
                    </a:solidFill>
                    <a:latin typeface="Calibri" panose="020F0502020204030204" pitchFamily="34" charset="0"/>
                    <a:cs typeface="Calibri" panose="020F0502020204030204" pitchFamily="34" charset="0"/>
                  </a:rPr>
                  <a:t> Output squashes down to </a:t>
                </a:r>
                <a:r>
                  <a:rPr lang="en-US" sz="1400" b="1" dirty="0">
                    <a:solidFill>
                      <a:schemeClr val="tx1">
                        <a:lumMod val="95000"/>
                        <a:lumOff val="5000"/>
                      </a:schemeClr>
                    </a:solidFill>
                    <a:latin typeface="Calibri" panose="020F0502020204030204" pitchFamily="34" charset="0"/>
                    <a:cs typeface="Calibri" panose="020F0502020204030204" pitchFamily="34" charset="0"/>
                  </a:rPr>
                  <a:t>0.12</a:t>
                </a:r>
                <a:r>
                  <a:rPr lang="en-US" sz="1400" dirty="0">
                    <a:solidFill>
                      <a:schemeClr val="tx1">
                        <a:lumMod val="95000"/>
                        <a:lumOff val="5000"/>
                      </a:schemeClr>
                    </a:solidFill>
                    <a:latin typeface="Calibri" panose="020F0502020204030204" pitchFamily="34" charset="0"/>
                    <a:cs typeface="Calibri" panose="020F0502020204030204" pitchFamily="34" charset="0"/>
                  </a:rPr>
                  <a:t> (12% probability).</a:t>
                </a:r>
              </a:p>
            </p:txBody>
          </p:sp>
        </mc:Choice>
        <mc:Fallback xmlns="">
          <p:sp>
            <p:nvSpPr>
              <p:cNvPr id="5" name="TextBox 4">
                <a:extLst>
                  <a:ext uri="{FF2B5EF4-FFF2-40B4-BE49-F238E27FC236}">
                    <a16:creationId xmlns:a16="http://schemas.microsoft.com/office/drawing/2014/main" id="{14EC0CAB-980B-E611-02AD-71172C77E4C9}"/>
                  </a:ext>
                </a:extLst>
              </p:cNvPr>
              <p:cNvSpPr txBox="1">
                <a:spLocks noRot="1" noChangeAspect="1" noMove="1" noResize="1" noEditPoints="1" noAdjustHandles="1" noChangeArrowheads="1" noChangeShapeType="1" noTextEdit="1"/>
              </p:cNvSpPr>
              <p:nvPr/>
            </p:nvSpPr>
            <p:spPr>
              <a:xfrm>
                <a:off x="7690881" y="888499"/>
                <a:ext cx="4501119" cy="5692501"/>
              </a:xfrm>
              <a:prstGeom prst="rect">
                <a:avLst/>
              </a:prstGeom>
              <a:blipFill>
                <a:blip r:embed="rId2"/>
                <a:stretch>
                  <a:fillRect l="-407"/>
                </a:stretch>
              </a:blipFill>
              <a:ln>
                <a:noFill/>
              </a:ln>
            </p:spPr>
            <p:txBody>
              <a:bodyPr/>
              <a:lstStyle/>
              <a:p>
                <a:r>
                  <a:rPr lang="en-US">
                    <a:noFill/>
                  </a:rPr>
                  <a:t> </a:t>
                </a:r>
              </a:p>
            </p:txBody>
          </p:sp>
        </mc:Fallback>
      </mc:AlternateContent>
      <p:pic>
        <p:nvPicPr>
          <p:cNvPr id="16" name="Picture 15">
            <a:extLst>
              <a:ext uri="{FF2B5EF4-FFF2-40B4-BE49-F238E27FC236}">
                <a16:creationId xmlns:a16="http://schemas.microsoft.com/office/drawing/2014/main" id="{4F2C2225-5BC2-3348-F704-68DA4B95B9D4}"/>
              </a:ext>
            </a:extLst>
          </p:cNvPr>
          <p:cNvPicPr>
            <a:picLocks noChangeAspect="1"/>
          </p:cNvPicPr>
          <p:nvPr/>
        </p:nvPicPr>
        <p:blipFill>
          <a:blip r:embed="rId3"/>
          <a:stretch>
            <a:fillRect/>
          </a:stretch>
        </p:blipFill>
        <p:spPr>
          <a:xfrm>
            <a:off x="514787" y="2511625"/>
            <a:ext cx="4358823" cy="3965376"/>
          </a:xfrm>
          <a:prstGeom prst="rect">
            <a:avLst/>
          </a:prstGeom>
        </p:spPr>
      </p:pic>
      <p:grpSp>
        <p:nvGrpSpPr>
          <p:cNvPr id="24" name="Group 23">
            <a:extLst>
              <a:ext uri="{FF2B5EF4-FFF2-40B4-BE49-F238E27FC236}">
                <a16:creationId xmlns:a16="http://schemas.microsoft.com/office/drawing/2014/main" id="{16639A2C-84A2-ADA5-4AEE-C5756CB66AC2}"/>
              </a:ext>
            </a:extLst>
          </p:cNvPr>
          <p:cNvGrpSpPr/>
          <p:nvPr/>
        </p:nvGrpSpPr>
        <p:grpSpPr>
          <a:xfrm>
            <a:off x="5175750" y="2419513"/>
            <a:ext cx="2212990" cy="2653288"/>
            <a:chOff x="5048034" y="2488317"/>
            <a:chExt cx="2212990" cy="2653288"/>
          </a:xfrm>
        </p:grpSpPr>
        <p:grpSp>
          <p:nvGrpSpPr>
            <p:cNvPr id="18" name="Group 17">
              <a:extLst>
                <a:ext uri="{FF2B5EF4-FFF2-40B4-BE49-F238E27FC236}">
                  <a16:creationId xmlns:a16="http://schemas.microsoft.com/office/drawing/2014/main" id="{13B6F5B6-5F34-5636-62CF-5DD7E3E17502}"/>
                </a:ext>
              </a:extLst>
            </p:cNvPr>
            <p:cNvGrpSpPr/>
            <p:nvPr/>
          </p:nvGrpSpPr>
          <p:grpSpPr>
            <a:xfrm>
              <a:off x="5048034" y="2488317"/>
              <a:ext cx="2212990" cy="1815975"/>
              <a:chOff x="4873610" y="2594398"/>
              <a:chExt cx="2212990" cy="1815975"/>
            </a:xfrm>
          </p:grpSpPr>
          <p:grpSp>
            <p:nvGrpSpPr>
              <p:cNvPr id="10" name="Group 9">
                <a:extLst>
                  <a:ext uri="{FF2B5EF4-FFF2-40B4-BE49-F238E27FC236}">
                    <a16:creationId xmlns:a16="http://schemas.microsoft.com/office/drawing/2014/main" id="{7E596594-0E86-49AE-4F2D-CEC39353D963}"/>
                  </a:ext>
                </a:extLst>
              </p:cNvPr>
              <p:cNvGrpSpPr/>
              <p:nvPr/>
            </p:nvGrpSpPr>
            <p:grpSpPr>
              <a:xfrm>
                <a:off x="4873610" y="2594398"/>
                <a:ext cx="2212990" cy="1815975"/>
                <a:chOff x="2485762" y="1822941"/>
                <a:chExt cx="6588353" cy="1836713"/>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2C3D316D-6320-0D1A-646C-9BCB909343E3}"/>
                        </a:ext>
                      </a:extLst>
                    </p:cNvPr>
                    <p:cNvSpPr txBox="1"/>
                    <p:nvPr/>
                  </p:nvSpPr>
                  <p:spPr>
                    <a:xfrm>
                      <a:off x="2485762" y="2858209"/>
                      <a:ext cx="6588353" cy="801445"/>
                    </a:xfrm>
                    <a:prstGeom prst="rect">
                      <a:avLst/>
                    </a:prstGeom>
                    <a:noFill/>
                  </p:spPr>
                  <p:txBody>
                    <a:bodyPr wrap="square">
                      <a:spAutoFit/>
                    </a:bodyPr>
                    <a:lstStyle/>
                    <a:p>
                      <a:pPr>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𝑓</m:t>
                            </m:r>
                            <m:d>
                              <m:dPr>
                                <m:ctrlPr>
                                  <a:rPr lang="en-US" sz="2400" b="0" i="1" smtClean="0">
                                    <a:latin typeface="Cambria Math" panose="02040503050406030204" pitchFamily="18" charset="0"/>
                                  </a:rPr>
                                </m:ctrlPr>
                              </m:dPr>
                              <m:e>
                                <m:r>
                                  <m:rPr>
                                    <m:sty m:val="p"/>
                                  </m:rPr>
                                  <a:rPr lang="en-US" sz="2400" b="0" i="0" smtClean="0">
                                    <a:latin typeface="Cambria Math" panose="02040503050406030204" pitchFamily="18" charset="0"/>
                                  </a:rPr>
                                  <m:t>x</m:t>
                                </m:r>
                              </m:e>
                            </m:d>
                            <m:r>
                              <a:rPr lang="en-US" sz="2400" b="0" i="0">
                                <a:latin typeface="Cambria Math" panose="02040503050406030204" pitchFamily="18" charset="0"/>
                              </a:rPr>
                              <m:t>=</m:t>
                            </m:r>
                            <m:f>
                              <m:fPr>
                                <m:ctrlPr>
                                  <a:rPr lang="en-US" sz="2400" b="0" i="1">
                                    <a:latin typeface="Cambria Math" panose="02040503050406030204" pitchFamily="18" charset="0"/>
                                  </a:rPr>
                                </m:ctrlPr>
                              </m:fPr>
                              <m:num>
                                <m:r>
                                  <a:rPr lang="en-US" sz="2400" b="0" i="0">
                                    <a:latin typeface="Cambria Math" panose="02040503050406030204" pitchFamily="18" charset="0"/>
                                  </a:rPr>
                                  <m:t>1</m:t>
                                </m:r>
                              </m:num>
                              <m:den>
                                <m:r>
                                  <a:rPr lang="en-US" sz="2400" b="0" i="0">
                                    <a:latin typeface="Cambria Math" panose="02040503050406030204" pitchFamily="18" charset="0"/>
                                  </a:rPr>
                                  <m:t>1+</m:t>
                                </m:r>
                                <m:sSup>
                                  <m:sSupPr>
                                    <m:ctrlPr>
                                      <a:rPr lang="en-US" sz="2400" b="0" i="1">
                                        <a:latin typeface="Cambria Math" panose="02040503050406030204" pitchFamily="18" charset="0"/>
                                      </a:rPr>
                                    </m:ctrlPr>
                                  </m:sSupPr>
                                  <m:e>
                                    <m:r>
                                      <a:rPr lang="en-US" sz="2400" b="0" i="1">
                                        <a:latin typeface="Cambria Math" panose="02040503050406030204" pitchFamily="18" charset="0"/>
                                      </a:rPr>
                                      <m:t>𝑒</m:t>
                                    </m:r>
                                  </m:e>
                                  <m:sup>
                                    <m:r>
                                      <a:rPr lang="en-US" sz="2400" b="0" i="0">
                                        <a:latin typeface="Cambria Math" panose="02040503050406030204" pitchFamily="18" charset="0"/>
                                      </a:rPr>
                                      <m:t>−</m:t>
                                    </m:r>
                                    <m:r>
                                      <a:rPr lang="en-US" sz="2400" b="0" i="1" smtClean="0">
                                        <a:latin typeface="Cambria Math" panose="02040503050406030204" pitchFamily="18" charset="0"/>
                                      </a:rPr>
                                      <m:t>𝑥</m:t>
                                    </m:r>
                                  </m:sup>
                                </m:sSup>
                              </m:den>
                            </m:f>
                          </m:oMath>
                        </m:oMathPara>
                      </a14:m>
                      <a:endParaRPr lang="en-US" dirty="0">
                        <a:effectLst/>
                        <a:latin typeface="Google Sans Text"/>
                      </a:endParaRPr>
                    </a:p>
                  </p:txBody>
                </p:sp>
              </mc:Choice>
              <mc:Fallback xmlns="">
                <p:sp>
                  <p:nvSpPr>
                    <p:cNvPr id="3" name="TextBox 2">
                      <a:extLst>
                        <a:ext uri="{FF2B5EF4-FFF2-40B4-BE49-F238E27FC236}">
                          <a16:creationId xmlns:a16="http://schemas.microsoft.com/office/drawing/2014/main" id="{2C3D316D-6320-0D1A-646C-9BCB909343E3}"/>
                        </a:ext>
                      </a:extLst>
                    </p:cNvPr>
                    <p:cNvSpPr txBox="1">
                      <a:spLocks noRot="1" noChangeAspect="1" noMove="1" noResize="1" noEditPoints="1" noAdjustHandles="1" noChangeArrowheads="1" noChangeShapeType="1" noTextEdit="1"/>
                    </p:cNvSpPr>
                    <p:nvPr/>
                  </p:nvSpPr>
                  <p:spPr>
                    <a:xfrm>
                      <a:off x="2485762" y="2858209"/>
                      <a:ext cx="6588353" cy="801445"/>
                    </a:xfrm>
                    <a:prstGeom prst="rect">
                      <a:avLst/>
                    </a:prstGeom>
                    <a:blipFill>
                      <a:blip r:embed="rId4"/>
                      <a:stretch>
                        <a:fillRect/>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E4C96E2F-99E7-18AD-91FF-3EF0B5F03C1F}"/>
                    </a:ext>
                  </a:extLst>
                </p:cNvPr>
                <p:cNvSpPr txBox="1"/>
                <p:nvPr/>
              </p:nvSpPr>
              <p:spPr>
                <a:xfrm>
                  <a:off x="4426900" y="1822941"/>
                  <a:ext cx="1792001" cy="311292"/>
                </a:xfrm>
                <a:prstGeom prst="rect">
                  <a:avLst/>
                </a:prstGeom>
                <a:noFill/>
              </p:spPr>
              <p:txBody>
                <a:bodyPr wrap="none" rtlCol="0">
                  <a:spAutoFit/>
                </a:bodyPr>
                <a:lstStyle/>
                <a:p>
                  <a:r>
                    <a:rPr lang="en-US" sz="1400" dirty="0">
                      <a:solidFill>
                        <a:schemeClr val="bg1"/>
                      </a:solidFill>
                      <a:highlight>
                        <a:srgbClr val="07194A"/>
                      </a:highlight>
                      <a:latin typeface="Calibri" panose="020F0502020204030204" pitchFamily="34" charset="0"/>
                      <a:cs typeface="Calibri" panose="020F0502020204030204" pitchFamily="34" charset="0"/>
                    </a:rPr>
                    <a:t>Formula:</a:t>
                  </a:r>
                </a:p>
              </p:txBody>
            </p:sp>
          </p:grpSp>
          <p:sp>
            <p:nvSpPr>
              <p:cNvPr id="17" name="Arrow: Right 16">
                <a:extLst>
                  <a:ext uri="{FF2B5EF4-FFF2-40B4-BE49-F238E27FC236}">
                    <a16:creationId xmlns:a16="http://schemas.microsoft.com/office/drawing/2014/main" id="{D2004866-5CA9-323F-16F3-33589FE04715}"/>
                  </a:ext>
                </a:extLst>
              </p:cNvPr>
              <p:cNvSpPr/>
              <p:nvPr/>
            </p:nvSpPr>
            <p:spPr>
              <a:xfrm rot="5400000">
                <a:off x="5797241" y="3177271"/>
                <a:ext cx="307778" cy="57949"/>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grpSp>
        <p:sp>
          <p:nvSpPr>
            <p:cNvPr id="21" name="Arrow: Bent 20">
              <a:extLst>
                <a:ext uri="{FF2B5EF4-FFF2-40B4-BE49-F238E27FC236}">
                  <a16:creationId xmlns:a16="http://schemas.microsoft.com/office/drawing/2014/main" id="{19E6EA81-5A71-15DB-CA5B-E0FDCC2AA3B0}"/>
                </a:ext>
              </a:extLst>
            </p:cNvPr>
            <p:cNvSpPr/>
            <p:nvPr/>
          </p:nvSpPr>
          <p:spPr>
            <a:xfrm rot="10800000" flipH="1">
              <a:off x="6130424" y="4669004"/>
              <a:ext cx="371260" cy="472601"/>
            </a:xfrm>
            <a:prstGeom prst="bentArrow">
              <a:avLst>
                <a:gd name="adj1" fmla="val 8449"/>
                <a:gd name="adj2" fmla="val 26734"/>
                <a:gd name="adj3" fmla="val 28466"/>
                <a:gd name="adj4" fmla="val 0"/>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endParaRPr>
            </a:p>
          </p:txBody>
        </p:sp>
      </p:gr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A166EE48-6716-FDAE-611C-5FFE9B3051F7}"/>
                  </a:ext>
                </a:extLst>
              </p:cNvPr>
              <p:cNvSpPr txBox="1"/>
              <p:nvPr/>
            </p:nvSpPr>
            <p:spPr>
              <a:xfrm>
                <a:off x="5105400" y="6282779"/>
                <a:ext cx="2516194" cy="24622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000" smtClean="0">
                          <a:latin typeface="Cambria Math" panose="02040503050406030204" pitchFamily="18" charset="0"/>
                          <a:cs typeface="Calibri" panose="020F0502020204030204" pitchFamily="34" charset="0"/>
                        </a:rPr>
                        <m:t>𝜎</m:t>
                      </m:r>
                      <m:d>
                        <m:dPr>
                          <m:ctrlPr>
                            <a:rPr lang="en-US" sz="1000" i="1">
                              <a:latin typeface="Cambria Math" panose="02040503050406030204" pitchFamily="18" charset="0"/>
                              <a:cs typeface="Calibri" panose="020F0502020204030204" pitchFamily="34" charset="0"/>
                            </a:rPr>
                          </m:ctrlPr>
                        </m:dPr>
                        <m:e>
                          <m:r>
                            <a:rPr lang="en-US" sz="1000">
                              <a:latin typeface="Cambria Math" panose="02040503050406030204" pitchFamily="18" charset="0"/>
                              <a:cs typeface="Calibri" panose="020F0502020204030204" pitchFamily="34" charset="0"/>
                            </a:rPr>
                            <m:t>𝑥</m:t>
                          </m:r>
                        </m:e>
                      </m:d>
                      <m:r>
                        <a:rPr lang="en-US" sz="1000">
                          <a:latin typeface="Cambria Math" panose="02040503050406030204" pitchFamily="18" charset="0"/>
                          <a:cs typeface="Calibri" panose="020F0502020204030204" pitchFamily="34" charset="0"/>
                        </a:rPr>
                        <m:t>:</m:t>
                      </m:r>
                      <m:r>
                        <m:rPr>
                          <m:nor/>
                        </m:rPr>
                        <a:rPr lang="en-US" sz="1000" i="0"/>
                        <m:t>Sigma</m:t>
                      </m:r>
                      <m:r>
                        <m:rPr>
                          <m:nor/>
                        </m:rPr>
                        <a:rPr lang="en-US" sz="1000" i="0"/>
                        <m:t> </m:t>
                      </m:r>
                      <m:r>
                        <m:rPr>
                          <m:nor/>
                        </m:rPr>
                        <a:rPr lang="en-US" sz="1000" i="0"/>
                        <m:t>x</m:t>
                      </m:r>
                      <m:r>
                        <a:rPr lang="en-US" sz="1000" b="0" i="1" smtClean="0">
                          <a:latin typeface="Cambria Math" panose="02040503050406030204" pitchFamily="18" charset="0"/>
                        </a:rPr>
                        <m:t>→</m:t>
                      </m:r>
                      <m:r>
                        <a:rPr lang="en-US" sz="1000" b="0" i="1" smtClean="0">
                          <a:latin typeface="Cambria Math" panose="02040503050406030204" pitchFamily="18" charset="0"/>
                        </a:rPr>
                        <m:t>𝑓</m:t>
                      </m:r>
                      <m:r>
                        <a:rPr lang="en-US" sz="1000" b="0" i="1" smtClean="0">
                          <a:latin typeface="Cambria Math" panose="02040503050406030204" pitchFamily="18" charset="0"/>
                        </a:rPr>
                        <m:t> </m:t>
                      </m:r>
                      <m:d>
                        <m:dPr>
                          <m:ctrlPr>
                            <a:rPr lang="en-US" sz="1000" b="0" i="1" smtClean="0">
                              <a:latin typeface="Cambria Math" panose="02040503050406030204" pitchFamily="18" charset="0"/>
                            </a:rPr>
                          </m:ctrlPr>
                        </m:dPr>
                        <m:e>
                          <m:r>
                            <a:rPr lang="en-US" sz="1000" b="0" i="1" smtClean="0">
                              <a:latin typeface="Cambria Math" panose="02040503050406030204" pitchFamily="18" charset="0"/>
                            </a:rPr>
                            <m:t>𝑥</m:t>
                          </m:r>
                        </m:e>
                      </m:d>
                      <m:r>
                        <a:rPr lang="en-US" sz="1000" b="0" i="1" smtClean="0">
                          <a:latin typeface="Cambria Math" panose="02040503050406030204" pitchFamily="18" charset="0"/>
                        </a:rPr>
                        <m:t>→</m:t>
                      </m:r>
                      <m:r>
                        <a:rPr lang="en-US" sz="1000" b="0" i="1" smtClean="0">
                          <a:latin typeface="Cambria Math" panose="02040503050406030204" pitchFamily="18" charset="0"/>
                        </a:rPr>
                        <m:t>𝑆𝑖𝑔𝑚𝑜𝑖𝑑</m:t>
                      </m:r>
                      <m:r>
                        <a:rPr lang="en-US" sz="1000" b="0" i="1" smtClean="0">
                          <a:latin typeface="Cambria Math" panose="02040503050406030204" pitchFamily="18" charset="0"/>
                        </a:rPr>
                        <m:t> </m:t>
                      </m:r>
                      <m:r>
                        <a:rPr lang="en-US" sz="1000" b="0" i="1" smtClean="0">
                          <a:latin typeface="Cambria Math" panose="02040503050406030204" pitchFamily="18" charset="0"/>
                        </a:rPr>
                        <m:t>𝑜𝑢𝑡</m:t>
                      </m:r>
                    </m:oMath>
                  </m:oMathPara>
                </a14:m>
                <a:endParaRPr lang="en-US" sz="1000" dirty="0">
                  <a:latin typeface="Calibri" panose="020F0502020204030204" pitchFamily="34" charset="0"/>
                  <a:cs typeface="Calibri" panose="020F0502020204030204" pitchFamily="34" charset="0"/>
                </a:endParaRPr>
              </a:p>
            </p:txBody>
          </p:sp>
        </mc:Choice>
        <mc:Fallback xmlns="">
          <p:sp>
            <p:nvSpPr>
              <p:cNvPr id="2" name="TextBox 1">
                <a:extLst>
                  <a:ext uri="{FF2B5EF4-FFF2-40B4-BE49-F238E27FC236}">
                    <a16:creationId xmlns:a16="http://schemas.microsoft.com/office/drawing/2014/main" id="{A166EE48-6716-FDAE-611C-5FFE9B3051F7}"/>
                  </a:ext>
                </a:extLst>
              </p:cNvPr>
              <p:cNvSpPr txBox="1">
                <a:spLocks noRot="1" noChangeAspect="1" noMove="1" noResize="1" noEditPoints="1" noAdjustHandles="1" noChangeArrowheads="1" noChangeShapeType="1" noTextEdit="1"/>
              </p:cNvSpPr>
              <p:nvPr/>
            </p:nvSpPr>
            <p:spPr>
              <a:xfrm>
                <a:off x="5105400" y="6282779"/>
                <a:ext cx="2516194" cy="246221"/>
              </a:xfrm>
              <a:prstGeom prst="rect">
                <a:avLst/>
              </a:prstGeom>
              <a:blipFill>
                <a:blip r:embed="rId5"/>
                <a:stretch>
                  <a:fillRect b="-5000"/>
                </a:stretch>
              </a:blipFill>
            </p:spPr>
            <p:txBody>
              <a:bodyPr/>
              <a:lstStyle/>
              <a:p>
                <a:r>
                  <a:rPr lang="en-US">
                    <a:noFill/>
                  </a:rPr>
                  <a:t> </a:t>
                </a:r>
              </a:p>
            </p:txBody>
          </p:sp>
        </mc:Fallback>
      </mc:AlternateContent>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01" name="object 2" descr="$PPTXTitle"/>
          <p:cNvSpPr txBox="1">
            <a:spLocks noGrp="1"/>
          </p:cNvSpPr>
          <p:nvPr>
            <p:ph type="title"/>
          </p:nvPr>
        </p:nvSpPr>
        <p:spPr>
          <a:xfrm>
            <a:off x="506678" y="1167005"/>
            <a:ext cx="5513121" cy="443711"/>
          </a:xfrm>
          <a:prstGeom prst="rect">
            <a:avLst/>
          </a:prstGeom>
        </p:spPr>
        <p:txBody>
          <a:bodyPr vert="horz" wrap="square" lIns="0" tIns="12700" rIns="0" bIns="0" rtlCol="0">
            <a:spAutoFit/>
          </a:bodyPr>
          <a:lstStyle/>
          <a:p>
            <a:pPr marL="12700">
              <a:lnSpc>
                <a:spcPct val="100000"/>
              </a:lnSpc>
              <a:spcBef>
                <a:spcPts val="100"/>
              </a:spcBef>
            </a:pPr>
            <a:r>
              <a:rPr sz="2800" spc="229" dirty="0">
                <a:latin typeface="Calibri" panose="020F0502020204030204" pitchFamily="34" charset="0"/>
                <a:cs typeface="Calibri" panose="020F0502020204030204" pitchFamily="34" charset="0"/>
              </a:rPr>
              <a:t>Softmax</a:t>
            </a:r>
            <a:r>
              <a:rPr sz="2800" spc="155" dirty="0">
                <a:latin typeface="Calibri" panose="020F0502020204030204" pitchFamily="34" charset="0"/>
                <a:cs typeface="Calibri" panose="020F0502020204030204" pitchFamily="34" charset="0"/>
              </a:rPr>
              <a:t> </a:t>
            </a:r>
            <a:r>
              <a:rPr sz="2800" spc="235" dirty="0">
                <a:latin typeface="Calibri" panose="020F0502020204030204" pitchFamily="34" charset="0"/>
                <a:cs typeface="Calibri" panose="020F0502020204030204" pitchFamily="34" charset="0"/>
              </a:rPr>
              <a:t>Function</a:t>
            </a:r>
            <a:endParaRPr sz="2800" dirty="0">
              <a:latin typeface="Calibri" panose="020F0502020204030204" pitchFamily="34" charset="0"/>
              <a:cs typeface="Calibri" panose="020F0502020204030204" pitchFamily="34" charset="0"/>
            </a:endParaRPr>
          </a:p>
        </p:txBody>
      </p:sp>
      <p:sp>
        <p:nvSpPr>
          <p:cNvPr id="1049004" name="Rectangle 10"/>
          <p:cNvSpPr/>
          <p:nvPr/>
        </p:nvSpPr>
        <p:spPr>
          <a:xfrm>
            <a:off x="0" y="0"/>
            <a:ext cx="12192000" cy="873760"/>
          </a:xfrm>
          <a:prstGeom prst="rect">
            <a:avLst/>
          </a:prstGeom>
          <a:solidFill>
            <a:srgbClr val="0E2841"/>
          </a:solidFill>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r>
              <a:rPr lang="en-US" sz="3200" b="1" dirty="0">
                <a:latin typeface="Calibri" panose="020F0502020204030204" pitchFamily="34" charset="0"/>
                <a:cs typeface="Calibri" panose="020F0502020204030204" pitchFamily="34" charset="0"/>
              </a:rPr>
              <a:t>2 (iii). Activation Functions </a:t>
            </a:r>
            <a:r>
              <a:rPr lang="en-US" sz="2000" b="1" dirty="0">
                <a:latin typeface="Calibri" panose="020F0502020204030204" pitchFamily="34" charset="0"/>
                <a:cs typeface="Calibri" panose="020F0502020204030204" pitchFamily="34" charset="0"/>
              </a:rPr>
              <a:t>(Con…)</a:t>
            </a:r>
            <a:endParaRPr lang="en-PK" sz="3200" b="1" dirty="0">
              <a:latin typeface="Calibri" panose="020F0502020204030204" pitchFamily="34" charset="0"/>
              <a:cs typeface="Calibri" panose="020F0502020204030204" pitchFamily="34" charset="0"/>
            </a:endParaRPr>
          </a:p>
        </p:txBody>
      </p:sp>
      <p:sp>
        <p:nvSpPr>
          <p:cNvPr id="1049005" name="Rectangle 4"/>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r>
              <a:rPr lang="en-US" sz="2400" dirty="0">
                <a:latin typeface="Calibri" panose="020F0502020204030204" pitchFamily="34" charset="0"/>
                <a:cs typeface="Calibri" panose="020F0502020204030204" pitchFamily="34" charset="0"/>
              </a:rPr>
              <a:t>18</a:t>
            </a:r>
            <a:endParaRPr lang="en-PK" sz="2400" dirty="0">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9A3CD345-00C6-3440-B997-3D34AC0E2C42}"/>
              </a:ext>
            </a:extLst>
          </p:cNvPr>
          <p:cNvSpPr txBox="1"/>
          <p:nvPr/>
        </p:nvSpPr>
        <p:spPr>
          <a:xfrm>
            <a:off x="414617" y="1639555"/>
            <a:ext cx="6062927" cy="1711366"/>
          </a:xfrm>
          <a:prstGeom prst="rect">
            <a:avLst/>
          </a:prstGeom>
          <a:noFill/>
        </p:spPr>
        <p:txBody>
          <a:bodyPr wrap="square" rtlCol="0">
            <a:spAutoFit/>
          </a:bodyPr>
          <a:lstStyle/>
          <a:p>
            <a:pPr marL="285750" lvl="0" indent="-285750" algn="just">
              <a:lnSpc>
                <a:spcPct val="150000"/>
              </a:lnSpc>
              <a:buFont typeface="Arial" panose="020B0604020202020204" pitchFamily="34" charset="0"/>
              <a:buChar char="•"/>
            </a:pPr>
            <a:r>
              <a:rPr lang="en-US" dirty="0">
                <a:latin typeface="Calibri" panose="020F0502020204030204" pitchFamily="34" charset="0"/>
                <a:cs typeface="Calibri" panose="020F0502020204030204" pitchFamily="34" charset="0"/>
              </a:rPr>
              <a:t>Converts multiple values into probabilities between 0 and 1 </a:t>
            </a:r>
          </a:p>
          <a:p>
            <a:pPr marL="285750" lvl="0" indent="-285750" algn="just">
              <a:lnSpc>
                <a:spcPct val="150000"/>
              </a:lnSpc>
              <a:buFont typeface="Arial" panose="020B0604020202020204" pitchFamily="34" charset="0"/>
              <a:buChar char="•"/>
            </a:pPr>
            <a:r>
              <a:rPr lang="en-US" dirty="0">
                <a:latin typeface="Calibri" panose="020F0502020204030204" pitchFamily="34" charset="0"/>
                <a:cs typeface="Calibri" panose="020F0502020204030204" pitchFamily="34" charset="0"/>
              </a:rPr>
              <a:t>The probabilities add up to 1 </a:t>
            </a:r>
          </a:p>
          <a:p>
            <a:pPr marL="285750" lvl="0" indent="-285750" algn="just">
              <a:lnSpc>
                <a:spcPct val="150000"/>
              </a:lnSpc>
              <a:buFont typeface="Arial" panose="020B0604020202020204" pitchFamily="34" charset="0"/>
              <a:buChar char="•"/>
            </a:pPr>
            <a:r>
              <a:rPr lang="en-US" dirty="0">
                <a:latin typeface="Calibri" panose="020F0502020204030204" pitchFamily="34" charset="0"/>
                <a:cs typeface="Calibri" panose="020F0502020204030204" pitchFamily="34" charset="0"/>
              </a:rPr>
              <a:t>Used for multi-class classification to choose the most likely class.</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86A9037-67E4-41DF-AC1E-98A9E9017B9D}"/>
                  </a:ext>
                </a:extLst>
              </p:cNvPr>
              <p:cNvSpPr txBox="1"/>
              <p:nvPr/>
            </p:nvSpPr>
            <p:spPr>
              <a:xfrm>
                <a:off x="6384939" y="4603822"/>
                <a:ext cx="5300383" cy="1530804"/>
              </a:xfrm>
              <a:prstGeom prst="rect">
                <a:avLst/>
              </a:prstGeom>
              <a:noFill/>
            </p:spPr>
            <p:txBody>
              <a:bodyPr wrap="square">
                <a:spAutoFit/>
              </a:bodyPr>
              <a:lstStyle/>
              <a:p>
                <a:pPr marL="342900" lvl="0" indent="-342900">
                  <a:lnSpc>
                    <a:spcPct val="150000"/>
                  </a:lnSpc>
                  <a:buFont typeface="Arial" panose="020B0604020202020204" pitchFamily="34" charset="0"/>
                  <a:buChar char="•"/>
                </a:pPr>
                <a:r>
                  <a:rPr lang="en-US" sz="1600" b="1" dirty="0">
                    <a:latin typeface="Calibri" panose="020F0502020204030204" pitchFamily="34" charset="0"/>
                    <a:cs typeface="Calibri" panose="020F0502020204030204" pitchFamily="34" charset="0"/>
                  </a:rPr>
                  <a:t>xi​</a:t>
                </a:r>
                <a:r>
                  <a:rPr lang="en-US" sz="1600" dirty="0">
                    <a:latin typeface="Calibri" panose="020F0502020204030204" pitchFamily="34" charset="0"/>
                    <a:cs typeface="Calibri" panose="020F0502020204030204" pitchFamily="34" charset="0"/>
                  </a:rPr>
                  <a:t> → raw score (logit) for the current class. </a:t>
                </a:r>
              </a:p>
              <a:p>
                <a:pPr marL="342900" lvl="0" indent="-342900">
                  <a:lnSpc>
                    <a:spcPct val="150000"/>
                  </a:lnSpc>
                  <a:buFont typeface="Arial" panose="020B0604020202020204" pitchFamily="34" charset="0"/>
                  <a:buChar char="•"/>
                </a:pPr>
                <a14:m>
                  <m:oMath xmlns:m="http://schemas.openxmlformats.org/officeDocument/2006/math">
                    <m:r>
                      <a:rPr lang="en-US" sz="1600" i="1">
                        <a:latin typeface="Cambria Math" panose="02040503050406030204" pitchFamily="18" charset="0"/>
                      </a:rPr>
                      <m:t>𝑒</m:t>
                    </m:r>
                  </m:oMath>
                </a14:m>
                <a:r>
                  <a:rPr lang="en-US" sz="1600" dirty="0">
                    <a:latin typeface="Calibri" panose="020F0502020204030204" pitchFamily="34" charset="0"/>
                    <a:cs typeface="Calibri" panose="020F0502020204030204" pitchFamily="34" charset="0"/>
                  </a:rPr>
                  <a:t>→ mathematical constant, approximately </a:t>
                </a:r>
                <a:r>
                  <a:rPr lang="en-US" sz="1600" b="1" dirty="0">
                    <a:latin typeface="Calibri" panose="020F0502020204030204" pitchFamily="34" charset="0"/>
                    <a:cs typeface="Calibri" panose="020F0502020204030204" pitchFamily="34" charset="0"/>
                  </a:rPr>
                  <a:t>2.718</a:t>
                </a:r>
                <a:r>
                  <a:rPr lang="en-US" sz="1600" dirty="0">
                    <a:latin typeface="Calibri" panose="020F0502020204030204" pitchFamily="34" charset="0"/>
                    <a:cs typeface="Calibri" panose="020F0502020204030204" pitchFamily="34" charset="0"/>
                  </a:rPr>
                  <a:t>. </a:t>
                </a:r>
              </a:p>
              <a:p>
                <a:pPr marL="342900" lvl="0" indent="-342900">
                  <a:lnSpc>
                    <a:spcPct val="150000"/>
                  </a:lnSpc>
                  <a:buFont typeface="Arial" panose="020B0604020202020204" pitchFamily="34" charset="0"/>
                  <a:buChar char="•"/>
                </a:pPr>
                <a14:m>
                  <m:oMath xmlns:m="http://schemas.openxmlformats.org/officeDocument/2006/math">
                    <m:nary>
                      <m:naryPr>
                        <m:chr m:val="∑"/>
                        <m:grow m:val="on"/>
                        <m:subHide m:val="on"/>
                        <m:supHide m:val="on"/>
                        <m:ctrlPr>
                          <a:rPr lang="en-US" sz="1600" i="1">
                            <a:latin typeface="Cambria Math" panose="02040503050406030204" pitchFamily="18" charset="0"/>
                          </a:rPr>
                        </m:ctrlPr>
                      </m:naryPr>
                      <m:sub/>
                      <m:sup/>
                      <m:e>
                        <m:sSup>
                          <m:sSupPr>
                            <m:ctrlPr>
                              <a:rPr lang="en-US" sz="1600" i="1">
                                <a:latin typeface="Cambria Math" panose="02040503050406030204" pitchFamily="18" charset="0"/>
                              </a:rPr>
                            </m:ctrlPr>
                          </m:sSupPr>
                          <m:e>
                            <m:r>
                              <a:rPr lang="en-US" sz="1600" i="1">
                                <a:latin typeface="Cambria Math" panose="02040503050406030204" pitchFamily="18" charset="0"/>
                              </a:rPr>
                              <m:t>𝑒</m:t>
                            </m:r>
                          </m:e>
                          <m:sup>
                            <m:sSub>
                              <m:sSubPr>
                                <m:ctrlPr>
                                  <a:rPr lang="en-US" sz="1600" i="1">
                                    <a:latin typeface="Cambria Math" panose="02040503050406030204" pitchFamily="18" charset="0"/>
                                  </a:rPr>
                                </m:ctrlPr>
                              </m:sSubPr>
                              <m:e>
                                <m:r>
                                  <a:rPr lang="en-US" sz="1600" i="1">
                                    <a:latin typeface="Cambria Math" panose="02040503050406030204" pitchFamily="18" charset="0"/>
                                  </a:rPr>
                                  <m:t>𝑥</m:t>
                                </m:r>
                              </m:e>
                              <m:sub>
                                <m:r>
                                  <a:rPr lang="en-US" sz="1600" i="1">
                                    <a:latin typeface="Cambria Math" panose="02040503050406030204" pitchFamily="18" charset="0"/>
                                  </a:rPr>
                                  <m:t>𝑗</m:t>
                                </m:r>
                              </m:sub>
                            </m:sSub>
                          </m:sup>
                        </m:sSup>
                      </m:e>
                    </m:nary>
                  </m:oMath>
                </a14:m>
                <a:r>
                  <a:rPr lang="en-US" sz="1600" dirty="0">
                    <a:latin typeface="Calibri" panose="020F0502020204030204" pitchFamily="34" charset="0"/>
                    <a:cs typeface="Calibri" panose="020F0502020204030204" pitchFamily="34" charset="0"/>
                  </a:rPr>
                  <a:t>→ adds the scores of </a:t>
                </a:r>
                <a:r>
                  <a:rPr lang="en-US" sz="1600" b="1" dirty="0">
                    <a:latin typeface="Calibri" panose="020F0502020204030204" pitchFamily="34" charset="0"/>
                    <a:cs typeface="Calibri" panose="020F0502020204030204" pitchFamily="34" charset="0"/>
                  </a:rPr>
                  <a:t>all classes</a:t>
                </a:r>
                <a:r>
                  <a:rPr lang="en-US" sz="1600" dirty="0">
                    <a:latin typeface="Calibri" panose="020F0502020204030204" pitchFamily="34" charset="0"/>
                    <a:cs typeface="Calibri" panose="020F0502020204030204" pitchFamily="34" charset="0"/>
                  </a:rPr>
                  <a:t>. </a:t>
                </a:r>
              </a:p>
              <a:p>
                <a:pPr marL="342900" lvl="0" indent="-342900">
                  <a:lnSpc>
                    <a:spcPct val="150000"/>
                  </a:lnSpc>
                  <a:buFont typeface="Arial" panose="020B0604020202020204" pitchFamily="34" charset="0"/>
                  <a:buChar char="•"/>
                </a:pPr>
                <a14:m>
                  <m:oMath xmlns:m="http://schemas.openxmlformats.org/officeDocument/2006/math">
                    <m:r>
                      <a:rPr lang="en-US" sz="1600" i="1">
                        <a:latin typeface="Cambria Math" panose="02040503050406030204" pitchFamily="18" charset="0"/>
                      </a:rPr>
                      <m:t>𝑠</m:t>
                    </m:r>
                    <m:d>
                      <m:dPr>
                        <m:ctrlPr>
                          <a:rPr lang="en-US" sz="1600" i="1">
                            <a:latin typeface="Cambria Math" panose="02040503050406030204" pitchFamily="18" charset="0"/>
                          </a:rPr>
                        </m:ctrlPr>
                      </m:dPr>
                      <m:e>
                        <m:sSub>
                          <m:sSubPr>
                            <m:ctrlPr>
                              <a:rPr lang="en-US" sz="1600" i="1">
                                <a:latin typeface="Cambria Math" panose="02040503050406030204" pitchFamily="18" charset="0"/>
                              </a:rPr>
                            </m:ctrlPr>
                          </m:sSubPr>
                          <m:e>
                            <m:r>
                              <a:rPr lang="en-US" sz="1600" i="1">
                                <a:latin typeface="Cambria Math" panose="02040503050406030204" pitchFamily="18" charset="0"/>
                              </a:rPr>
                              <m:t>𝑥</m:t>
                            </m:r>
                          </m:e>
                          <m:sub>
                            <m:r>
                              <a:rPr lang="en-US" sz="1600" i="1">
                                <a:latin typeface="Cambria Math" panose="02040503050406030204" pitchFamily="18" charset="0"/>
                              </a:rPr>
                              <m:t>𝑖</m:t>
                            </m:r>
                          </m:sub>
                        </m:sSub>
                      </m:e>
                    </m:d>
                  </m:oMath>
                </a14:m>
                <a:r>
                  <a:rPr lang="en-US" sz="1600" dirty="0">
                    <a:latin typeface="Calibri" panose="020F0502020204030204" pitchFamily="34" charset="0"/>
                    <a:cs typeface="Calibri" panose="020F0502020204030204" pitchFamily="34" charset="0"/>
                  </a:rPr>
                  <a:t>→ final probability for that class, between </a:t>
                </a:r>
                <a:r>
                  <a:rPr lang="en-US" sz="1600" b="1" dirty="0">
                    <a:latin typeface="Calibri" panose="020F0502020204030204" pitchFamily="34" charset="0"/>
                    <a:cs typeface="Calibri" panose="020F0502020204030204" pitchFamily="34" charset="0"/>
                  </a:rPr>
                  <a:t>0 and 1</a:t>
                </a:r>
                <a:r>
                  <a:rPr lang="en-US" sz="1600" dirty="0">
                    <a:latin typeface="Calibri" panose="020F0502020204030204" pitchFamily="34" charset="0"/>
                    <a:cs typeface="Calibri" panose="020F0502020204030204" pitchFamily="34" charset="0"/>
                  </a:rPr>
                  <a:t>.</a:t>
                </a:r>
              </a:p>
            </p:txBody>
          </p:sp>
        </mc:Choice>
        <mc:Fallback xmlns="">
          <p:sp>
            <p:nvSpPr>
              <p:cNvPr id="10" name="TextBox 9">
                <a:extLst>
                  <a:ext uri="{FF2B5EF4-FFF2-40B4-BE49-F238E27FC236}">
                    <a16:creationId xmlns:a16="http://schemas.microsoft.com/office/drawing/2014/main" id="{186A9037-67E4-41DF-AC1E-98A9E9017B9D}"/>
                  </a:ext>
                </a:extLst>
              </p:cNvPr>
              <p:cNvSpPr txBox="1">
                <a:spLocks noRot="1" noChangeAspect="1" noMove="1" noResize="1" noEditPoints="1" noAdjustHandles="1" noChangeArrowheads="1" noChangeShapeType="1" noTextEdit="1"/>
              </p:cNvSpPr>
              <p:nvPr/>
            </p:nvSpPr>
            <p:spPr>
              <a:xfrm>
                <a:off x="6384939" y="4603822"/>
                <a:ext cx="5300383" cy="1530804"/>
              </a:xfrm>
              <a:prstGeom prst="rect">
                <a:avLst/>
              </a:prstGeom>
              <a:blipFill>
                <a:blip r:embed="rId2"/>
                <a:stretch>
                  <a:fillRect l="-460" b="-1314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E7CB391A-3173-2F27-EE0C-CDA7C106C64D}"/>
                  </a:ext>
                </a:extLst>
              </p:cNvPr>
              <p:cNvSpPr txBox="1"/>
              <p:nvPr/>
            </p:nvSpPr>
            <p:spPr>
              <a:xfrm>
                <a:off x="2362200" y="2996705"/>
                <a:ext cx="6216650" cy="9291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𝑠</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𝑖</m:t>
                              </m:r>
                            </m:sub>
                          </m:sSub>
                        </m:e>
                      </m:d>
                      <m:r>
                        <a:rPr lang="en-US" sz="2400">
                          <a:latin typeface="Cambria Math" panose="02040503050406030204" pitchFamily="18" charset="0"/>
                        </a:rPr>
                        <m:t>=</m:t>
                      </m:r>
                      <m:f>
                        <m:fPr>
                          <m:ctrlPr>
                            <a:rPr lang="en-US" sz="2400" i="1">
                              <a:latin typeface="Cambria Math" panose="02040503050406030204" pitchFamily="18" charset="0"/>
                            </a:rPr>
                          </m:ctrlPr>
                        </m:fPr>
                        <m:num>
                          <m:sSup>
                            <m:sSupPr>
                              <m:ctrlPr>
                                <a:rPr lang="en-US" sz="2400" i="1">
                                  <a:latin typeface="Cambria Math" panose="02040503050406030204" pitchFamily="18" charset="0"/>
                                </a:rPr>
                              </m:ctrlPr>
                            </m:sSupPr>
                            <m:e>
                              <m:r>
                                <a:rPr lang="en-US" sz="2400" i="1">
                                  <a:latin typeface="Cambria Math" panose="02040503050406030204" pitchFamily="18" charset="0"/>
                                </a:rPr>
                                <m:t>𝑒</m:t>
                              </m:r>
                            </m:e>
                            <m:sup>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𝑖</m:t>
                                  </m:r>
                                </m:sub>
                              </m:sSub>
                            </m:sup>
                          </m:sSup>
                        </m:num>
                        <m:den>
                          <m:nary>
                            <m:naryPr>
                              <m:chr m:val="∑"/>
                              <m:limLoc m:val="undOvr"/>
                              <m:ctrlPr>
                                <a:rPr lang="en-US" sz="2400" i="1">
                                  <a:latin typeface="Cambria Math" panose="02040503050406030204" pitchFamily="18" charset="0"/>
                                </a:rPr>
                              </m:ctrlPr>
                            </m:naryPr>
                            <m:sub>
                              <m:r>
                                <a:rPr lang="en-US" sz="2400" i="1">
                                  <a:latin typeface="Cambria Math" panose="02040503050406030204" pitchFamily="18" charset="0"/>
                                </a:rPr>
                                <m:t>𝑗</m:t>
                              </m:r>
                              <m:r>
                                <a:rPr lang="en-US" sz="2400">
                                  <a:latin typeface="Cambria Math" panose="02040503050406030204" pitchFamily="18" charset="0"/>
                                </a:rPr>
                                <m:t>=1</m:t>
                              </m:r>
                            </m:sub>
                            <m:sup>
                              <m:r>
                                <a:rPr lang="en-US" sz="2400" i="1">
                                  <a:latin typeface="Cambria Math" panose="02040503050406030204" pitchFamily="18" charset="0"/>
                                </a:rPr>
                                <m:t>𝑛</m:t>
                              </m:r>
                            </m:sup>
                            <m:e>
                              <m:sSup>
                                <m:sSupPr>
                                  <m:ctrlPr>
                                    <a:rPr lang="en-US" sz="2400" i="1">
                                      <a:latin typeface="Cambria Math" panose="02040503050406030204" pitchFamily="18" charset="0"/>
                                    </a:rPr>
                                  </m:ctrlPr>
                                </m:sSupPr>
                                <m:e>
                                  <m:r>
                                    <a:rPr lang="en-US" sz="2400" i="1">
                                      <a:latin typeface="Cambria Math" panose="02040503050406030204" pitchFamily="18" charset="0"/>
                                    </a:rPr>
                                    <m:t>𝑒</m:t>
                                  </m:r>
                                </m:e>
                                <m:sup>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𝑗</m:t>
                                      </m:r>
                                    </m:sub>
                                  </m:sSub>
                                </m:sup>
                              </m:sSup>
                            </m:e>
                          </m:nary>
                        </m:den>
                      </m:f>
                    </m:oMath>
                  </m:oMathPara>
                </a14:m>
                <a:endParaRPr lang="en-US" sz="3200" dirty="0">
                  <a:latin typeface="Calibri" panose="020F0502020204030204" pitchFamily="34" charset="0"/>
                  <a:cs typeface="Calibri" panose="020F0502020204030204" pitchFamily="34" charset="0"/>
                </a:endParaRPr>
              </a:p>
            </p:txBody>
          </p:sp>
        </mc:Choice>
        <mc:Fallback xmlns="">
          <p:sp>
            <p:nvSpPr>
              <p:cNvPr id="12" name="TextBox 11">
                <a:extLst>
                  <a:ext uri="{FF2B5EF4-FFF2-40B4-BE49-F238E27FC236}">
                    <a16:creationId xmlns:a16="http://schemas.microsoft.com/office/drawing/2014/main" id="{E7CB391A-3173-2F27-EE0C-CDA7C106C64D}"/>
                  </a:ext>
                </a:extLst>
              </p:cNvPr>
              <p:cNvSpPr txBox="1">
                <a:spLocks noRot="1" noChangeAspect="1" noMove="1" noResize="1" noEditPoints="1" noAdjustHandles="1" noChangeArrowheads="1" noChangeShapeType="1" noTextEdit="1"/>
              </p:cNvSpPr>
              <p:nvPr/>
            </p:nvSpPr>
            <p:spPr>
              <a:xfrm>
                <a:off x="2362200" y="2996705"/>
                <a:ext cx="6216650" cy="929165"/>
              </a:xfrm>
              <a:prstGeom prst="rect">
                <a:avLst/>
              </a:prstGeom>
              <a:blipFill>
                <a:blip r:embed="rId3"/>
                <a:stretch>
                  <a:fillRect/>
                </a:stretch>
              </a:blipFill>
            </p:spPr>
            <p:txBody>
              <a:bodyPr/>
              <a:lstStyle/>
              <a:p>
                <a:r>
                  <a:rPr lang="en-US">
                    <a:noFill/>
                  </a:rPr>
                  <a:t> </a:t>
                </a:r>
              </a:p>
            </p:txBody>
          </p:sp>
        </mc:Fallback>
      </mc:AlternateContent>
      <p:sp>
        <p:nvSpPr>
          <p:cNvPr id="15" name="TextBox 14">
            <a:extLst>
              <a:ext uri="{FF2B5EF4-FFF2-40B4-BE49-F238E27FC236}">
                <a16:creationId xmlns:a16="http://schemas.microsoft.com/office/drawing/2014/main" id="{9251DB14-88C3-8B6F-9EA9-D78067F236FC}"/>
              </a:ext>
            </a:extLst>
          </p:cNvPr>
          <p:cNvSpPr txBox="1"/>
          <p:nvPr/>
        </p:nvSpPr>
        <p:spPr>
          <a:xfrm>
            <a:off x="3336026" y="3266957"/>
            <a:ext cx="601923" cy="307777"/>
          </a:xfrm>
          <a:prstGeom prst="rect">
            <a:avLst/>
          </a:prstGeom>
          <a:noFill/>
        </p:spPr>
        <p:txBody>
          <a:bodyPr wrap="none" rtlCol="0">
            <a:spAutoFit/>
          </a:bodyPr>
          <a:lstStyle/>
          <a:p>
            <a:r>
              <a:rPr lang="en-US" sz="1400" dirty="0">
                <a:solidFill>
                  <a:schemeClr val="bg1"/>
                </a:solidFill>
                <a:highlight>
                  <a:srgbClr val="07194A"/>
                </a:highlight>
                <a:latin typeface="Calibri" panose="020F0502020204030204" pitchFamily="34" charset="0"/>
                <a:cs typeface="Calibri" panose="020F0502020204030204" pitchFamily="34" charset="0"/>
              </a:rPr>
              <a:t>Formula:</a:t>
            </a:r>
          </a:p>
        </p:txBody>
      </p:sp>
      <p:pic>
        <p:nvPicPr>
          <p:cNvPr id="17" name="Picture 16">
            <a:extLst>
              <a:ext uri="{FF2B5EF4-FFF2-40B4-BE49-F238E27FC236}">
                <a16:creationId xmlns:a16="http://schemas.microsoft.com/office/drawing/2014/main" id="{8E5C558F-E8BF-EB9C-F2DC-1BC597A0332C}"/>
              </a:ext>
            </a:extLst>
          </p:cNvPr>
          <p:cNvPicPr>
            <a:picLocks noChangeAspect="1"/>
          </p:cNvPicPr>
          <p:nvPr/>
        </p:nvPicPr>
        <p:blipFill>
          <a:blip r:embed="rId4"/>
          <a:stretch>
            <a:fillRect/>
          </a:stretch>
        </p:blipFill>
        <p:spPr>
          <a:xfrm>
            <a:off x="506678" y="3888857"/>
            <a:ext cx="4217721" cy="2545462"/>
          </a:xfrm>
          <a:prstGeom prst="rect">
            <a:avLst/>
          </a:prstGeom>
        </p:spPr>
      </p:pic>
      <p:sp>
        <p:nvSpPr>
          <p:cNvPr id="19" name="TextBox 18">
            <a:extLst>
              <a:ext uri="{FF2B5EF4-FFF2-40B4-BE49-F238E27FC236}">
                <a16:creationId xmlns:a16="http://schemas.microsoft.com/office/drawing/2014/main" id="{C0158B33-01B6-DEE9-76E7-D96E9972B63A}"/>
              </a:ext>
            </a:extLst>
          </p:cNvPr>
          <p:cNvSpPr txBox="1"/>
          <p:nvPr/>
        </p:nvSpPr>
        <p:spPr>
          <a:xfrm>
            <a:off x="2984600" y="2533552"/>
            <a:ext cx="6216650" cy="369332"/>
          </a:xfrm>
          <a:prstGeom prst="rect">
            <a:avLst/>
          </a:prstGeom>
          <a:noFill/>
        </p:spPr>
        <p:txBody>
          <a:bodyPr wrap="square">
            <a:spAutoFit/>
          </a:bodyPr>
          <a:lstStyle/>
          <a:p>
            <a:pPr>
              <a:buNone/>
            </a:pPr>
            <a:endParaRPr lang="en-US" dirty="0">
              <a:effectLst/>
              <a:latin typeface="Google Sans Text"/>
            </a:endParaRPr>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C9F5FC7B-9517-693F-CB97-7CB941613CE6}"/>
                  </a:ext>
                </a:extLst>
              </p:cNvPr>
              <p:cNvSpPr txBox="1"/>
              <p:nvPr/>
            </p:nvSpPr>
            <p:spPr>
              <a:xfrm>
                <a:off x="7467602" y="897304"/>
                <a:ext cx="4724398" cy="3217356"/>
              </a:xfrm>
              <a:prstGeom prst="rect">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wrap="square">
                <a:spAutoFit/>
              </a:bodyPr>
              <a:lstStyle/>
              <a:p>
                <a:pPr>
                  <a:lnSpc>
                    <a:spcPct val="150000"/>
                  </a:lnSpc>
                  <a:buNone/>
                </a:pPr>
                <a:r>
                  <a:rPr lang="en-US" sz="1400" b="1" dirty="0">
                    <a:solidFill>
                      <a:schemeClr val="tx1">
                        <a:lumMod val="95000"/>
                        <a:lumOff val="5000"/>
                      </a:schemeClr>
                    </a:solidFill>
                    <a:latin typeface="Calibri" panose="020F0502020204030204" pitchFamily="34" charset="0"/>
                    <a:cs typeface="Calibri" panose="020F0502020204030204" pitchFamily="34" charset="0"/>
                  </a:rPr>
                  <a:t>Example 1: Calculating Probability for Class 1 (Cat, </a:t>
                </a:r>
                <a14:m>
                  <m:oMath xmlns:m="http://schemas.openxmlformats.org/officeDocument/2006/math">
                    <m:sSub>
                      <m:sSubPr>
                        <m:ctrlPr>
                          <a:rPr lang="en-US" sz="1400" i="1">
                            <a:solidFill>
                              <a:schemeClr val="tx1">
                                <a:lumMod val="95000"/>
                                <a:lumOff val="5000"/>
                              </a:schemeClr>
                            </a:solidFill>
                            <a:latin typeface="Cambria Math" panose="02040503050406030204" pitchFamily="18" charset="0"/>
                          </a:rPr>
                        </m:ctrlPr>
                      </m:sSubPr>
                      <m:e>
                        <m:r>
                          <a:rPr lang="en-US" sz="1400" i="1">
                            <a:solidFill>
                              <a:schemeClr val="tx1">
                                <a:lumMod val="95000"/>
                                <a:lumOff val="5000"/>
                              </a:schemeClr>
                            </a:solidFill>
                            <a:latin typeface="Cambria Math" panose="02040503050406030204" pitchFamily="18" charset="0"/>
                          </a:rPr>
                          <m:t>𝑥</m:t>
                        </m:r>
                      </m:e>
                      <m:sub>
                        <m:r>
                          <a:rPr lang="en-US" sz="1400">
                            <a:solidFill>
                              <a:schemeClr val="tx1">
                                <a:lumMod val="95000"/>
                                <a:lumOff val="5000"/>
                              </a:schemeClr>
                            </a:solidFill>
                            <a:latin typeface="Cambria Math" panose="02040503050406030204" pitchFamily="18" charset="0"/>
                          </a:rPr>
                          <m:t>1</m:t>
                        </m:r>
                      </m:sub>
                    </m:sSub>
                    <m:r>
                      <a:rPr lang="en-US" sz="1400">
                        <a:solidFill>
                          <a:schemeClr val="tx1">
                            <a:lumMod val="95000"/>
                            <a:lumOff val="5000"/>
                          </a:schemeClr>
                        </a:solidFill>
                        <a:latin typeface="Cambria Math" panose="02040503050406030204" pitchFamily="18" charset="0"/>
                      </a:rPr>
                      <m:t>=2.0</m:t>
                    </m:r>
                  </m:oMath>
                </a14:m>
                <a:r>
                  <a:rPr lang="en-US" sz="1400" b="1" dirty="0">
                    <a:solidFill>
                      <a:schemeClr val="tx1">
                        <a:lumMod val="95000"/>
                        <a:lumOff val="5000"/>
                      </a:schemeClr>
                    </a:solidFill>
                    <a:latin typeface="Calibri" panose="020F0502020204030204" pitchFamily="34" charset="0"/>
                    <a:cs typeface="Calibri" panose="020F0502020204030204" pitchFamily="34" charset="0"/>
                  </a:rPr>
                  <a:t>)</a:t>
                </a:r>
                <a:endParaRPr lang="en-US" sz="1400" dirty="0">
                  <a:solidFill>
                    <a:schemeClr val="tx1">
                      <a:lumMod val="95000"/>
                      <a:lumOff val="5000"/>
                    </a:schemeClr>
                  </a:solidFill>
                  <a:latin typeface="Calibri" panose="020F0502020204030204" pitchFamily="34" charset="0"/>
                  <a:cs typeface="Calibri" panose="020F0502020204030204" pitchFamily="34" charset="0"/>
                </a:endParaRPr>
              </a:p>
              <a:p>
                <a:pPr marL="342900" lvl="0" indent="-342900">
                  <a:lnSpc>
                    <a:spcPct val="150000"/>
                  </a:lnSpc>
                  <a:buFont typeface="Arial" panose="020B0604020202020204" pitchFamily="34" charset="0"/>
                  <a:buChar char="•"/>
                </a:pPr>
                <a:r>
                  <a:rPr lang="en-US" sz="1400" b="1" dirty="0">
                    <a:solidFill>
                      <a:schemeClr val="tx1">
                        <a:lumMod val="95000"/>
                        <a:lumOff val="5000"/>
                      </a:schemeClr>
                    </a:solidFill>
                    <a:latin typeface="Calibri" panose="020F0502020204030204" pitchFamily="34" charset="0"/>
                    <a:cs typeface="Calibri" panose="020F0502020204030204" pitchFamily="34" charset="0"/>
                  </a:rPr>
                  <a:t>Calculation:</a:t>
                </a:r>
                <a:endParaRPr lang="en-US" sz="1400" dirty="0">
                  <a:solidFill>
                    <a:schemeClr val="tx1">
                      <a:lumMod val="95000"/>
                      <a:lumOff val="5000"/>
                    </a:schemeClr>
                  </a:solidFill>
                  <a:latin typeface="Calibri" panose="020F0502020204030204" pitchFamily="34" charset="0"/>
                  <a:cs typeface="Calibri" panose="020F0502020204030204" pitchFamily="34" charset="0"/>
                </a:endParaRPr>
              </a:p>
              <a:p>
                <a:pPr marL="342900" lvl="0" indent="-342900">
                  <a:lnSpc>
                    <a:spcPct val="150000"/>
                  </a:lnSpc>
                  <a:buFont typeface="Arial" panose="020B0604020202020204" pitchFamily="34" charset="0"/>
                  <a:buChar char="•"/>
                </a:pPr>
                <a14:m>
                  <m:oMath xmlns:m="http://schemas.openxmlformats.org/officeDocument/2006/math">
                    <m:r>
                      <a:rPr lang="en-US" sz="1400" i="1">
                        <a:solidFill>
                          <a:schemeClr val="tx1">
                            <a:lumMod val="95000"/>
                            <a:lumOff val="5000"/>
                          </a:schemeClr>
                        </a:solidFill>
                        <a:latin typeface="Cambria Math" panose="02040503050406030204" pitchFamily="18" charset="0"/>
                      </a:rPr>
                      <m:t>𝑠</m:t>
                    </m:r>
                    <m:d>
                      <m:dPr>
                        <m:ctrlPr>
                          <a:rPr lang="en-US" sz="1400" i="1">
                            <a:solidFill>
                              <a:schemeClr val="tx1">
                                <a:lumMod val="95000"/>
                                <a:lumOff val="5000"/>
                              </a:schemeClr>
                            </a:solidFill>
                            <a:latin typeface="Cambria Math" panose="02040503050406030204" pitchFamily="18" charset="0"/>
                          </a:rPr>
                        </m:ctrlPr>
                      </m:dPr>
                      <m:e>
                        <m:sSub>
                          <m:sSubPr>
                            <m:ctrlPr>
                              <a:rPr lang="en-US" sz="1400" i="1">
                                <a:solidFill>
                                  <a:schemeClr val="tx1">
                                    <a:lumMod val="95000"/>
                                    <a:lumOff val="5000"/>
                                  </a:schemeClr>
                                </a:solidFill>
                                <a:latin typeface="Cambria Math" panose="02040503050406030204" pitchFamily="18" charset="0"/>
                              </a:rPr>
                            </m:ctrlPr>
                          </m:sSubPr>
                          <m:e>
                            <m:r>
                              <a:rPr lang="en-US" sz="1400" i="1">
                                <a:solidFill>
                                  <a:schemeClr val="tx1">
                                    <a:lumMod val="95000"/>
                                    <a:lumOff val="5000"/>
                                  </a:schemeClr>
                                </a:solidFill>
                                <a:latin typeface="Cambria Math" panose="02040503050406030204" pitchFamily="18" charset="0"/>
                              </a:rPr>
                              <m:t>𝑥</m:t>
                            </m:r>
                          </m:e>
                          <m:sub>
                            <m:r>
                              <a:rPr lang="en-US" sz="1400">
                                <a:solidFill>
                                  <a:schemeClr val="tx1">
                                    <a:lumMod val="95000"/>
                                    <a:lumOff val="5000"/>
                                  </a:schemeClr>
                                </a:solidFill>
                                <a:latin typeface="Cambria Math" panose="02040503050406030204" pitchFamily="18" charset="0"/>
                              </a:rPr>
                              <m:t>1</m:t>
                            </m:r>
                          </m:sub>
                        </m:sSub>
                      </m:e>
                    </m:d>
                    <m:r>
                      <a:rPr lang="en-US" sz="1400">
                        <a:solidFill>
                          <a:schemeClr val="tx1">
                            <a:lumMod val="95000"/>
                            <a:lumOff val="5000"/>
                          </a:schemeClr>
                        </a:solidFill>
                        <a:latin typeface="Cambria Math" panose="02040503050406030204" pitchFamily="18" charset="0"/>
                      </a:rPr>
                      <m:t>=</m:t>
                    </m:r>
                    <m:f>
                      <m:fPr>
                        <m:ctrlPr>
                          <a:rPr lang="en-US" sz="1400" i="1">
                            <a:solidFill>
                              <a:schemeClr val="tx1">
                                <a:lumMod val="95000"/>
                                <a:lumOff val="5000"/>
                              </a:schemeClr>
                            </a:solidFill>
                            <a:latin typeface="Cambria Math" panose="02040503050406030204" pitchFamily="18" charset="0"/>
                          </a:rPr>
                        </m:ctrlPr>
                      </m:fPr>
                      <m:num>
                        <m:sSup>
                          <m:sSupPr>
                            <m:ctrlPr>
                              <a:rPr lang="en-US" sz="1400" i="1">
                                <a:solidFill>
                                  <a:schemeClr val="tx1">
                                    <a:lumMod val="95000"/>
                                    <a:lumOff val="5000"/>
                                  </a:schemeClr>
                                </a:solidFill>
                                <a:latin typeface="Cambria Math" panose="02040503050406030204" pitchFamily="18" charset="0"/>
                              </a:rPr>
                            </m:ctrlPr>
                          </m:sSupPr>
                          <m:e>
                            <m:r>
                              <a:rPr lang="en-US" sz="1400" i="1">
                                <a:solidFill>
                                  <a:schemeClr val="tx1">
                                    <a:lumMod val="95000"/>
                                    <a:lumOff val="5000"/>
                                  </a:schemeClr>
                                </a:solidFill>
                                <a:latin typeface="Cambria Math" panose="02040503050406030204" pitchFamily="18" charset="0"/>
                              </a:rPr>
                              <m:t>𝑒</m:t>
                            </m:r>
                          </m:e>
                          <m:sup>
                            <m:r>
                              <a:rPr lang="en-US" sz="1400">
                                <a:solidFill>
                                  <a:schemeClr val="tx1">
                                    <a:lumMod val="95000"/>
                                    <a:lumOff val="5000"/>
                                  </a:schemeClr>
                                </a:solidFill>
                                <a:latin typeface="Cambria Math" panose="02040503050406030204" pitchFamily="18" charset="0"/>
                              </a:rPr>
                              <m:t>2.0</m:t>
                            </m:r>
                          </m:sup>
                        </m:sSup>
                      </m:num>
                      <m:den>
                        <m:nary>
                          <m:naryPr>
                            <m:chr m:val="∑"/>
                            <m:limLoc m:val="undOvr"/>
                            <m:ctrlPr>
                              <a:rPr lang="en-US" sz="1400" i="1">
                                <a:solidFill>
                                  <a:schemeClr val="tx1">
                                    <a:lumMod val="95000"/>
                                    <a:lumOff val="5000"/>
                                  </a:schemeClr>
                                </a:solidFill>
                                <a:latin typeface="Cambria Math" panose="02040503050406030204" pitchFamily="18" charset="0"/>
                              </a:rPr>
                            </m:ctrlPr>
                          </m:naryPr>
                          <m:sub>
                            <m:r>
                              <a:rPr lang="en-US" sz="1400" i="1">
                                <a:solidFill>
                                  <a:schemeClr val="tx1">
                                    <a:lumMod val="95000"/>
                                    <a:lumOff val="5000"/>
                                  </a:schemeClr>
                                </a:solidFill>
                                <a:latin typeface="Cambria Math" panose="02040503050406030204" pitchFamily="18" charset="0"/>
                              </a:rPr>
                              <m:t>𝑗</m:t>
                            </m:r>
                            <m:r>
                              <a:rPr lang="en-US" sz="1400">
                                <a:solidFill>
                                  <a:schemeClr val="tx1">
                                    <a:lumMod val="95000"/>
                                    <a:lumOff val="5000"/>
                                  </a:schemeClr>
                                </a:solidFill>
                                <a:latin typeface="Cambria Math" panose="02040503050406030204" pitchFamily="18" charset="0"/>
                              </a:rPr>
                              <m:t>=1</m:t>
                            </m:r>
                          </m:sub>
                          <m:sup>
                            <m:r>
                              <a:rPr lang="en-US" sz="1400">
                                <a:solidFill>
                                  <a:schemeClr val="tx1">
                                    <a:lumMod val="95000"/>
                                    <a:lumOff val="5000"/>
                                  </a:schemeClr>
                                </a:solidFill>
                                <a:latin typeface="Cambria Math" panose="02040503050406030204" pitchFamily="18" charset="0"/>
                              </a:rPr>
                              <m:t>3</m:t>
                            </m:r>
                          </m:sup>
                          <m:e>
                            <m:sSup>
                              <m:sSupPr>
                                <m:ctrlPr>
                                  <a:rPr lang="en-US" sz="1400" i="1">
                                    <a:solidFill>
                                      <a:schemeClr val="tx1">
                                        <a:lumMod val="95000"/>
                                        <a:lumOff val="5000"/>
                                      </a:schemeClr>
                                    </a:solidFill>
                                    <a:latin typeface="Cambria Math" panose="02040503050406030204" pitchFamily="18" charset="0"/>
                                  </a:rPr>
                                </m:ctrlPr>
                              </m:sSupPr>
                              <m:e>
                                <m:r>
                                  <a:rPr lang="en-US" sz="1400" i="1">
                                    <a:solidFill>
                                      <a:schemeClr val="tx1">
                                        <a:lumMod val="95000"/>
                                        <a:lumOff val="5000"/>
                                      </a:schemeClr>
                                    </a:solidFill>
                                    <a:latin typeface="Cambria Math" panose="02040503050406030204" pitchFamily="18" charset="0"/>
                                  </a:rPr>
                                  <m:t>𝑒</m:t>
                                </m:r>
                              </m:e>
                              <m:sup>
                                <m:sSub>
                                  <m:sSubPr>
                                    <m:ctrlPr>
                                      <a:rPr lang="en-US" sz="1400" i="1">
                                        <a:solidFill>
                                          <a:schemeClr val="tx1">
                                            <a:lumMod val="95000"/>
                                            <a:lumOff val="5000"/>
                                          </a:schemeClr>
                                        </a:solidFill>
                                        <a:latin typeface="Cambria Math" panose="02040503050406030204" pitchFamily="18" charset="0"/>
                                      </a:rPr>
                                    </m:ctrlPr>
                                  </m:sSubPr>
                                  <m:e>
                                    <m:r>
                                      <a:rPr lang="en-US" sz="1400" i="1">
                                        <a:solidFill>
                                          <a:schemeClr val="tx1">
                                            <a:lumMod val="95000"/>
                                            <a:lumOff val="5000"/>
                                          </a:schemeClr>
                                        </a:solidFill>
                                        <a:latin typeface="Cambria Math" panose="02040503050406030204" pitchFamily="18" charset="0"/>
                                      </a:rPr>
                                      <m:t>𝑥</m:t>
                                    </m:r>
                                  </m:e>
                                  <m:sub>
                                    <m:r>
                                      <a:rPr lang="en-US" sz="1400" i="1">
                                        <a:solidFill>
                                          <a:schemeClr val="tx1">
                                            <a:lumMod val="95000"/>
                                            <a:lumOff val="5000"/>
                                          </a:schemeClr>
                                        </a:solidFill>
                                        <a:latin typeface="Cambria Math" panose="02040503050406030204" pitchFamily="18" charset="0"/>
                                      </a:rPr>
                                      <m:t>𝑗</m:t>
                                    </m:r>
                                  </m:sub>
                                </m:sSub>
                              </m:sup>
                            </m:sSup>
                          </m:e>
                        </m:nary>
                      </m:den>
                    </m:f>
                    <m:r>
                      <a:rPr lang="en-US" sz="1400">
                        <a:solidFill>
                          <a:schemeClr val="tx1">
                            <a:lumMod val="95000"/>
                            <a:lumOff val="5000"/>
                          </a:schemeClr>
                        </a:solidFill>
                        <a:latin typeface="Cambria Math" panose="02040503050406030204" pitchFamily="18" charset="0"/>
                      </a:rPr>
                      <m:t>=</m:t>
                    </m:r>
                    <m:f>
                      <m:fPr>
                        <m:ctrlPr>
                          <a:rPr lang="en-US" sz="1400" i="1">
                            <a:solidFill>
                              <a:schemeClr val="tx1">
                                <a:lumMod val="95000"/>
                                <a:lumOff val="5000"/>
                              </a:schemeClr>
                            </a:solidFill>
                            <a:latin typeface="Cambria Math" panose="02040503050406030204" pitchFamily="18" charset="0"/>
                          </a:rPr>
                        </m:ctrlPr>
                      </m:fPr>
                      <m:num>
                        <m:r>
                          <a:rPr lang="en-US" sz="1400">
                            <a:solidFill>
                              <a:schemeClr val="tx1">
                                <a:lumMod val="95000"/>
                                <a:lumOff val="5000"/>
                              </a:schemeClr>
                            </a:solidFill>
                            <a:latin typeface="Cambria Math" panose="02040503050406030204" pitchFamily="18" charset="0"/>
                          </a:rPr>
                          <m:t>7.39</m:t>
                        </m:r>
                      </m:num>
                      <m:den>
                        <m:r>
                          <a:rPr lang="en-US" sz="1400">
                            <a:solidFill>
                              <a:schemeClr val="tx1">
                                <a:lumMod val="95000"/>
                                <a:lumOff val="5000"/>
                              </a:schemeClr>
                            </a:solidFill>
                            <a:latin typeface="Cambria Math" panose="02040503050406030204" pitchFamily="18" charset="0"/>
                          </a:rPr>
                          <m:t>11.11</m:t>
                        </m:r>
                      </m:den>
                    </m:f>
                    <m:r>
                      <a:rPr lang="en-US" sz="1400">
                        <a:solidFill>
                          <a:schemeClr val="tx1">
                            <a:lumMod val="95000"/>
                            <a:lumOff val="5000"/>
                          </a:schemeClr>
                        </a:solidFill>
                        <a:latin typeface="Cambria Math" panose="02040503050406030204" pitchFamily="18" charset="0"/>
                      </a:rPr>
                      <m:t>≈0.665</m:t>
                    </m:r>
                  </m:oMath>
                </a14:m>
                <a:endParaRPr lang="en-US" sz="1400" dirty="0">
                  <a:solidFill>
                    <a:schemeClr val="tx1">
                      <a:lumMod val="95000"/>
                      <a:lumOff val="5000"/>
                    </a:schemeClr>
                  </a:solidFill>
                  <a:latin typeface="Calibri" panose="020F0502020204030204" pitchFamily="34" charset="0"/>
                  <a:cs typeface="Calibri" panose="020F0502020204030204" pitchFamily="34" charset="0"/>
                </a:endParaRPr>
              </a:p>
              <a:p>
                <a:pPr marL="342900" lvl="0" indent="-342900">
                  <a:lnSpc>
                    <a:spcPct val="150000"/>
                  </a:lnSpc>
                  <a:buFont typeface="Arial" panose="020B0604020202020204" pitchFamily="34" charset="0"/>
                  <a:buChar char="•"/>
                </a:pPr>
                <a:r>
                  <a:rPr lang="en-US" sz="1400" b="1" dirty="0">
                    <a:solidFill>
                      <a:schemeClr val="tx1">
                        <a:lumMod val="95000"/>
                        <a:lumOff val="5000"/>
                      </a:schemeClr>
                    </a:solidFill>
                    <a:latin typeface="Calibri" panose="020F0502020204030204" pitchFamily="34" charset="0"/>
                    <a:cs typeface="Calibri" panose="020F0502020204030204" pitchFamily="34" charset="0"/>
                  </a:rPr>
                  <a:t>Result:</a:t>
                </a:r>
                <a:r>
                  <a:rPr lang="en-US" sz="1400" dirty="0">
                    <a:solidFill>
                      <a:schemeClr val="tx1">
                        <a:lumMod val="95000"/>
                        <a:lumOff val="5000"/>
                      </a:schemeClr>
                    </a:solidFill>
                    <a:latin typeface="Calibri" panose="020F0502020204030204" pitchFamily="34" charset="0"/>
                    <a:cs typeface="Calibri" panose="020F0502020204030204" pitchFamily="34" charset="0"/>
                  </a:rPr>
                  <a:t> </a:t>
                </a:r>
                <a:r>
                  <a:rPr lang="en-US" sz="1400" b="1" dirty="0">
                    <a:solidFill>
                      <a:schemeClr val="tx1">
                        <a:lumMod val="95000"/>
                        <a:lumOff val="5000"/>
                      </a:schemeClr>
                    </a:solidFill>
                    <a:latin typeface="Calibri" panose="020F0502020204030204" pitchFamily="34" charset="0"/>
                    <a:cs typeface="Calibri" panose="020F0502020204030204" pitchFamily="34" charset="0"/>
                  </a:rPr>
                  <a:t>66.5% probability</a:t>
                </a:r>
                <a:r>
                  <a:rPr lang="en-US" sz="1400" dirty="0">
                    <a:solidFill>
                      <a:schemeClr val="tx1">
                        <a:lumMod val="95000"/>
                        <a:lumOff val="5000"/>
                      </a:schemeClr>
                    </a:solidFill>
                    <a:latin typeface="Calibri" panose="020F0502020204030204" pitchFamily="34" charset="0"/>
                    <a:cs typeface="Calibri" panose="020F0502020204030204" pitchFamily="34" charset="0"/>
                  </a:rPr>
                  <a:t> that the input is a Cat.</a:t>
                </a:r>
              </a:p>
              <a:p>
                <a:pPr>
                  <a:lnSpc>
                    <a:spcPct val="150000"/>
                  </a:lnSpc>
                  <a:buNone/>
                </a:pPr>
                <a:r>
                  <a:rPr lang="en-US" sz="1400" b="1" dirty="0">
                    <a:solidFill>
                      <a:schemeClr val="tx1">
                        <a:lumMod val="95000"/>
                        <a:lumOff val="5000"/>
                      </a:schemeClr>
                    </a:solidFill>
                    <a:latin typeface="Calibri" panose="020F0502020204030204" pitchFamily="34" charset="0"/>
                    <a:cs typeface="Calibri" panose="020F0502020204030204" pitchFamily="34" charset="0"/>
                  </a:rPr>
                  <a:t>Example 2: Calculating Probability for Class 2 (Dog, </a:t>
                </a:r>
                <a14:m>
                  <m:oMath xmlns:m="http://schemas.openxmlformats.org/officeDocument/2006/math">
                    <m:sSub>
                      <m:sSubPr>
                        <m:ctrlPr>
                          <a:rPr lang="en-US" sz="1400" i="1">
                            <a:solidFill>
                              <a:schemeClr val="tx1">
                                <a:lumMod val="95000"/>
                                <a:lumOff val="5000"/>
                              </a:schemeClr>
                            </a:solidFill>
                            <a:latin typeface="Cambria Math" panose="02040503050406030204" pitchFamily="18" charset="0"/>
                          </a:rPr>
                        </m:ctrlPr>
                      </m:sSubPr>
                      <m:e>
                        <m:r>
                          <a:rPr lang="en-US" sz="1400" i="1">
                            <a:solidFill>
                              <a:schemeClr val="tx1">
                                <a:lumMod val="95000"/>
                                <a:lumOff val="5000"/>
                              </a:schemeClr>
                            </a:solidFill>
                            <a:latin typeface="Cambria Math" panose="02040503050406030204" pitchFamily="18" charset="0"/>
                          </a:rPr>
                          <m:t>𝑥</m:t>
                        </m:r>
                      </m:e>
                      <m:sub>
                        <m:r>
                          <a:rPr lang="en-US" sz="1400">
                            <a:solidFill>
                              <a:schemeClr val="tx1">
                                <a:lumMod val="95000"/>
                                <a:lumOff val="5000"/>
                              </a:schemeClr>
                            </a:solidFill>
                            <a:latin typeface="Cambria Math" panose="02040503050406030204" pitchFamily="18" charset="0"/>
                          </a:rPr>
                          <m:t>2</m:t>
                        </m:r>
                      </m:sub>
                    </m:sSub>
                    <m:r>
                      <a:rPr lang="en-US" sz="1400">
                        <a:solidFill>
                          <a:schemeClr val="tx1">
                            <a:lumMod val="95000"/>
                            <a:lumOff val="5000"/>
                          </a:schemeClr>
                        </a:solidFill>
                        <a:latin typeface="Cambria Math" panose="02040503050406030204" pitchFamily="18" charset="0"/>
                      </a:rPr>
                      <m:t>=1.0</m:t>
                    </m:r>
                  </m:oMath>
                </a14:m>
                <a:r>
                  <a:rPr lang="en-US" sz="1400" b="1" dirty="0">
                    <a:solidFill>
                      <a:schemeClr val="tx1">
                        <a:lumMod val="95000"/>
                        <a:lumOff val="5000"/>
                      </a:schemeClr>
                    </a:solidFill>
                    <a:latin typeface="Calibri" panose="020F0502020204030204" pitchFamily="34" charset="0"/>
                    <a:cs typeface="Calibri" panose="020F0502020204030204" pitchFamily="34" charset="0"/>
                  </a:rPr>
                  <a:t>)</a:t>
                </a:r>
                <a:endParaRPr lang="en-US" sz="1400" dirty="0">
                  <a:solidFill>
                    <a:schemeClr val="tx1">
                      <a:lumMod val="95000"/>
                      <a:lumOff val="5000"/>
                    </a:schemeClr>
                  </a:solidFill>
                  <a:latin typeface="Calibri" panose="020F0502020204030204" pitchFamily="34" charset="0"/>
                  <a:cs typeface="Calibri" panose="020F0502020204030204" pitchFamily="34" charset="0"/>
                </a:endParaRPr>
              </a:p>
              <a:p>
                <a:pPr marL="342900" lvl="0" indent="-342900">
                  <a:lnSpc>
                    <a:spcPct val="150000"/>
                  </a:lnSpc>
                  <a:buFont typeface="Arial" panose="020B0604020202020204" pitchFamily="34" charset="0"/>
                  <a:buChar char="•"/>
                </a:pPr>
                <a:r>
                  <a:rPr lang="en-US" sz="1400" b="1" dirty="0">
                    <a:solidFill>
                      <a:schemeClr val="tx1">
                        <a:lumMod val="95000"/>
                        <a:lumOff val="5000"/>
                      </a:schemeClr>
                    </a:solidFill>
                    <a:latin typeface="Calibri" panose="020F0502020204030204" pitchFamily="34" charset="0"/>
                    <a:cs typeface="Calibri" panose="020F0502020204030204" pitchFamily="34" charset="0"/>
                  </a:rPr>
                  <a:t>Calculation:</a:t>
                </a:r>
                <a:endParaRPr lang="en-US" sz="1400" dirty="0">
                  <a:solidFill>
                    <a:schemeClr val="tx1">
                      <a:lumMod val="95000"/>
                      <a:lumOff val="5000"/>
                    </a:schemeClr>
                  </a:solidFill>
                  <a:latin typeface="Calibri" panose="020F0502020204030204" pitchFamily="34" charset="0"/>
                  <a:cs typeface="Calibri" panose="020F0502020204030204" pitchFamily="34" charset="0"/>
                </a:endParaRPr>
              </a:p>
              <a:p>
                <a:pPr marL="342900" lvl="0" indent="-342900">
                  <a:lnSpc>
                    <a:spcPct val="150000"/>
                  </a:lnSpc>
                  <a:buFont typeface="Arial" panose="020B0604020202020204" pitchFamily="34" charset="0"/>
                  <a:buChar char="•"/>
                </a:pPr>
                <a14:m>
                  <m:oMath xmlns:m="http://schemas.openxmlformats.org/officeDocument/2006/math">
                    <m:r>
                      <a:rPr lang="en-US" sz="1400" i="1">
                        <a:solidFill>
                          <a:schemeClr val="tx1">
                            <a:lumMod val="95000"/>
                            <a:lumOff val="5000"/>
                          </a:schemeClr>
                        </a:solidFill>
                        <a:latin typeface="Cambria Math" panose="02040503050406030204" pitchFamily="18" charset="0"/>
                      </a:rPr>
                      <m:t>𝑠</m:t>
                    </m:r>
                    <m:d>
                      <m:dPr>
                        <m:ctrlPr>
                          <a:rPr lang="en-US" sz="1400" i="1">
                            <a:solidFill>
                              <a:schemeClr val="tx1">
                                <a:lumMod val="95000"/>
                                <a:lumOff val="5000"/>
                              </a:schemeClr>
                            </a:solidFill>
                            <a:latin typeface="Cambria Math" panose="02040503050406030204" pitchFamily="18" charset="0"/>
                          </a:rPr>
                        </m:ctrlPr>
                      </m:dPr>
                      <m:e>
                        <m:sSub>
                          <m:sSubPr>
                            <m:ctrlPr>
                              <a:rPr lang="en-US" sz="1400" i="1">
                                <a:solidFill>
                                  <a:schemeClr val="tx1">
                                    <a:lumMod val="95000"/>
                                    <a:lumOff val="5000"/>
                                  </a:schemeClr>
                                </a:solidFill>
                                <a:latin typeface="Cambria Math" panose="02040503050406030204" pitchFamily="18" charset="0"/>
                              </a:rPr>
                            </m:ctrlPr>
                          </m:sSubPr>
                          <m:e>
                            <m:r>
                              <a:rPr lang="en-US" sz="1400" i="1">
                                <a:solidFill>
                                  <a:schemeClr val="tx1">
                                    <a:lumMod val="95000"/>
                                    <a:lumOff val="5000"/>
                                  </a:schemeClr>
                                </a:solidFill>
                                <a:latin typeface="Cambria Math" panose="02040503050406030204" pitchFamily="18" charset="0"/>
                              </a:rPr>
                              <m:t>𝑥</m:t>
                            </m:r>
                          </m:e>
                          <m:sub>
                            <m:r>
                              <a:rPr lang="en-US" sz="1400">
                                <a:solidFill>
                                  <a:schemeClr val="tx1">
                                    <a:lumMod val="95000"/>
                                    <a:lumOff val="5000"/>
                                  </a:schemeClr>
                                </a:solidFill>
                                <a:latin typeface="Cambria Math" panose="02040503050406030204" pitchFamily="18" charset="0"/>
                              </a:rPr>
                              <m:t>2</m:t>
                            </m:r>
                          </m:sub>
                        </m:sSub>
                      </m:e>
                    </m:d>
                    <m:r>
                      <a:rPr lang="en-US" sz="1400">
                        <a:solidFill>
                          <a:schemeClr val="tx1">
                            <a:lumMod val="95000"/>
                            <a:lumOff val="5000"/>
                          </a:schemeClr>
                        </a:solidFill>
                        <a:latin typeface="Cambria Math" panose="02040503050406030204" pitchFamily="18" charset="0"/>
                      </a:rPr>
                      <m:t>=</m:t>
                    </m:r>
                    <m:f>
                      <m:fPr>
                        <m:ctrlPr>
                          <a:rPr lang="en-US" sz="1400" i="1">
                            <a:solidFill>
                              <a:schemeClr val="tx1">
                                <a:lumMod val="95000"/>
                                <a:lumOff val="5000"/>
                              </a:schemeClr>
                            </a:solidFill>
                            <a:latin typeface="Cambria Math" panose="02040503050406030204" pitchFamily="18" charset="0"/>
                          </a:rPr>
                        </m:ctrlPr>
                      </m:fPr>
                      <m:num>
                        <m:sSup>
                          <m:sSupPr>
                            <m:ctrlPr>
                              <a:rPr lang="en-US" sz="1400" i="1">
                                <a:solidFill>
                                  <a:schemeClr val="tx1">
                                    <a:lumMod val="95000"/>
                                    <a:lumOff val="5000"/>
                                  </a:schemeClr>
                                </a:solidFill>
                                <a:latin typeface="Cambria Math" panose="02040503050406030204" pitchFamily="18" charset="0"/>
                              </a:rPr>
                            </m:ctrlPr>
                          </m:sSupPr>
                          <m:e>
                            <m:r>
                              <a:rPr lang="en-US" sz="1400" i="1">
                                <a:solidFill>
                                  <a:schemeClr val="tx1">
                                    <a:lumMod val="95000"/>
                                    <a:lumOff val="5000"/>
                                  </a:schemeClr>
                                </a:solidFill>
                                <a:latin typeface="Cambria Math" panose="02040503050406030204" pitchFamily="18" charset="0"/>
                              </a:rPr>
                              <m:t>𝑒</m:t>
                            </m:r>
                          </m:e>
                          <m:sup>
                            <m:r>
                              <a:rPr lang="en-US" sz="1400">
                                <a:solidFill>
                                  <a:schemeClr val="tx1">
                                    <a:lumMod val="95000"/>
                                    <a:lumOff val="5000"/>
                                  </a:schemeClr>
                                </a:solidFill>
                                <a:latin typeface="Cambria Math" panose="02040503050406030204" pitchFamily="18" charset="0"/>
                              </a:rPr>
                              <m:t>1.0</m:t>
                            </m:r>
                          </m:sup>
                        </m:sSup>
                      </m:num>
                      <m:den>
                        <m:nary>
                          <m:naryPr>
                            <m:chr m:val="∑"/>
                            <m:limLoc m:val="undOvr"/>
                            <m:ctrlPr>
                              <a:rPr lang="en-US" sz="1400" i="1">
                                <a:solidFill>
                                  <a:schemeClr val="tx1">
                                    <a:lumMod val="95000"/>
                                    <a:lumOff val="5000"/>
                                  </a:schemeClr>
                                </a:solidFill>
                                <a:latin typeface="Cambria Math" panose="02040503050406030204" pitchFamily="18" charset="0"/>
                              </a:rPr>
                            </m:ctrlPr>
                          </m:naryPr>
                          <m:sub>
                            <m:r>
                              <a:rPr lang="en-US" sz="1400" i="1">
                                <a:solidFill>
                                  <a:schemeClr val="tx1">
                                    <a:lumMod val="95000"/>
                                    <a:lumOff val="5000"/>
                                  </a:schemeClr>
                                </a:solidFill>
                                <a:latin typeface="Cambria Math" panose="02040503050406030204" pitchFamily="18" charset="0"/>
                              </a:rPr>
                              <m:t>𝑗</m:t>
                            </m:r>
                            <m:r>
                              <a:rPr lang="en-US" sz="1400">
                                <a:solidFill>
                                  <a:schemeClr val="tx1">
                                    <a:lumMod val="95000"/>
                                    <a:lumOff val="5000"/>
                                  </a:schemeClr>
                                </a:solidFill>
                                <a:latin typeface="Cambria Math" panose="02040503050406030204" pitchFamily="18" charset="0"/>
                              </a:rPr>
                              <m:t>=1</m:t>
                            </m:r>
                          </m:sub>
                          <m:sup>
                            <m:r>
                              <a:rPr lang="en-US" sz="1400">
                                <a:solidFill>
                                  <a:schemeClr val="tx1">
                                    <a:lumMod val="95000"/>
                                    <a:lumOff val="5000"/>
                                  </a:schemeClr>
                                </a:solidFill>
                                <a:latin typeface="Cambria Math" panose="02040503050406030204" pitchFamily="18" charset="0"/>
                              </a:rPr>
                              <m:t>3</m:t>
                            </m:r>
                          </m:sup>
                          <m:e>
                            <m:sSup>
                              <m:sSupPr>
                                <m:ctrlPr>
                                  <a:rPr lang="en-US" sz="1400" i="1">
                                    <a:solidFill>
                                      <a:schemeClr val="tx1">
                                        <a:lumMod val="95000"/>
                                        <a:lumOff val="5000"/>
                                      </a:schemeClr>
                                    </a:solidFill>
                                    <a:latin typeface="Cambria Math" panose="02040503050406030204" pitchFamily="18" charset="0"/>
                                  </a:rPr>
                                </m:ctrlPr>
                              </m:sSupPr>
                              <m:e>
                                <m:r>
                                  <a:rPr lang="en-US" sz="1400" i="1">
                                    <a:solidFill>
                                      <a:schemeClr val="tx1">
                                        <a:lumMod val="95000"/>
                                        <a:lumOff val="5000"/>
                                      </a:schemeClr>
                                    </a:solidFill>
                                    <a:latin typeface="Cambria Math" panose="02040503050406030204" pitchFamily="18" charset="0"/>
                                  </a:rPr>
                                  <m:t>𝑒</m:t>
                                </m:r>
                              </m:e>
                              <m:sup>
                                <m:sSub>
                                  <m:sSubPr>
                                    <m:ctrlPr>
                                      <a:rPr lang="en-US" sz="1400" i="1">
                                        <a:solidFill>
                                          <a:schemeClr val="tx1">
                                            <a:lumMod val="95000"/>
                                            <a:lumOff val="5000"/>
                                          </a:schemeClr>
                                        </a:solidFill>
                                        <a:latin typeface="Cambria Math" panose="02040503050406030204" pitchFamily="18" charset="0"/>
                                      </a:rPr>
                                    </m:ctrlPr>
                                  </m:sSubPr>
                                  <m:e>
                                    <m:r>
                                      <a:rPr lang="en-US" sz="1400" i="1">
                                        <a:solidFill>
                                          <a:schemeClr val="tx1">
                                            <a:lumMod val="95000"/>
                                            <a:lumOff val="5000"/>
                                          </a:schemeClr>
                                        </a:solidFill>
                                        <a:latin typeface="Cambria Math" panose="02040503050406030204" pitchFamily="18" charset="0"/>
                                      </a:rPr>
                                      <m:t>𝑥</m:t>
                                    </m:r>
                                  </m:e>
                                  <m:sub>
                                    <m:r>
                                      <a:rPr lang="en-US" sz="1400" i="1">
                                        <a:solidFill>
                                          <a:schemeClr val="tx1">
                                            <a:lumMod val="95000"/>
                                            <a:lumOff val="5000"/>
                                          </a:schemeClr>
                                        </a:solidFill>
                                        <a:latin typeface="Cambria Math" panose="02040503050406030204" pitchFamily="18" charset="0"/>
                                      </a:rPr>
                                      <m:t>𝑗</m:t>
                                    </m:r>
                                  </m:sub>
                                </m:sSub>
                              </m:sup>
                            </m:sSup>
                          </m:e>
                        </m:nary>
                      </m:den>
                    </m:f>
                    <m:r>
                      <a:rPr lang="en-US" sz="1400">
                        <a:solidFill>
                          <a:schemeClr val="tx1">
                            <a:lumMod val="95000"/>
                            <a:lumOff val="5000"/>
                          </a:schemeClr>
                        </a:solidFill>
                        <a:latin typeface="Cambria Math" panose="02040503050406030204" pitchFamily="18" charset="0"/>
                      </a:rPr>
                      <m:t>=</m:t>
                    </m:r>
                    <m:f>
                      <m:fPr>
                        <m:ctrlPr>
                          <a:rPr lang="en-US" sz="1400" i="1">
                            <a:solidFill>
                              <a:schemeClr val="tx1">
                                <a:lumMod val="95000"/>
                                <a:lumOff val="5000"/>
                              </a:schemeClr>
                            </a:solidFill>
                            <a:latin typeface="Cambria Math" panose="02040503050406030204" pitchFamily="18" charset="0"/>
                          </a:rPr>
                        </m:ctrlPr>
                      </m:fPr>
                      <m:num>
                        <m:r>
                          <a:rPr lang="en-US" sz="1400">
                            <a:solidFill>
                              <a:schemeClr val="tx1">
                                <a:lumMod val="95000"/>
                                <a:lumOff val="5000"/>
                              </a:schemeClr>
                            </a:solidFill>
                            <a:latin typeface="Cambria Math" panose="02040503050406030204" pitchFamily="18" charset="0"/>
                          </a:rPr>
                          <m:t>2.72</m:t>
                        </m:r>
                      </m:num>
                      <m:den>
                        <m:r>
                          <a:rPr lang="en-US" sz="1400">
                            <a:solidFill>
                              <a:schemeClr val="tx1">
                                <a:lumMod val="95000"/>
                                <a:lumOff val="5000"/>
                              </a:schemeClr>
                            </a:solidFill>
                            <a:latin typeface="Cambria Math" panose="02040503050406030204" pitchFamily="18" charset="0"/>
                          </a:rPr>
                          <m:t>11.11</m:t>
                        </m:r>
                      </m:den>
                    </m:f>
                    <m:r>
                      <a:rPr lang="en-US" sz="1400">
                        <a:solidFill>
                          <a:schemeClr val="tx1">
                            <a:lumMod val="95000"/>
                            <a:lumOff val="5000"/>
                          </a:schemeClr>
                        </a:solidFill>
                        <a:latin typeface="Cambria Math" panose="02040503050406030204" pitchFamily="18" charset="0"/>
                      </a:rPr>
                      <m:t>≈0.245</m:t>
                    </m:r>
                  </m:oMath>
                </a14:m>
                <a:endParaRPr lang="en-US" sz="1400" dirty="0">
                  <a:solidFill>
                    <a:schemeClr val="tx1">
                      <a:lumMod val="95000"/>
                      <a:lumOff val="5000"/>
                    </a:schemeClr>
                  </a:solidFill>
                  <a:latin typeface="Calibri" panose="020F0502020204030204" pitchFamily="34" charset="0"/>
                  <a:cs typeface="Calibri" panose="020F0502020204030204" pitchFamily="34" charset="0"/>
                </a:endParaRPr>
              </a:p>
              <a:p>
                <a:pPr marL="342900" lvl="0" indent="-342900">
                  <a:lnSpc>
                    <a:spcPct val="150000"/>
                  </a:lnSpc>
                  <a:buFont typeface="Arial" panose="020B0604020202020204" pitchFamily="34" charset="0"/>
                  <a:buChar char="•"/>
                </a:pPr>
                <a:r>
                  <a:rPr lang="en-US" sz="1400" b="1" dirty="0">
                    <a:solidFill>
                      <a:schemeClr val="tx1">
                        <a:lumMod val="95000"/>
                        <a:lumOff val="5000"/>
                      </a:schemeClr>
                    </a:solidFill>
                    <a:latin typeface="Calibri" panose="020F0502020204030204" pitchFamily="34" charset="0"/>
                    <a:cs typeface="Calibri" panose="020F0502020204030204" pitchFamily="34" charset="0"/>
                  </a:rPr>
                  <a:t>Result:</a:t>
                </a:r>
                <a:r>
                  <a:rPr lang="en-US" sz="1400" dirty="0">
                    <a:solidFill>
                      <a:schemeClr val="tx1">
                        <a:lumMod val="95000"/>
                        <a:lumOff val="5000"/>
                      </a:schemeClr>
                    </a:solidFill>
                    <a:latin typeface="Calibri" panose="020F0502020204030204" pitchFamily="34" charset="0"/>
                    <a:cs typeface="Calibri" panose="020F0502020204030204" pitchFamily="34" charset="0"/>
                  </a:rPr>
                  <a:t> </a:t>
                </a:r>
                <a:r>
                  <a:rPr lang="en-US" sz="1400" b="1" dirty="0">
                    <a:solidFill>
                      <a:schemeClr val="tx1">
                        <a:lumMod val="95000"/>
                        <a:lumOff val="5000"/>
                      </a:schemeClr>
                    </a:solidFill>
                    <a:latin typeface="Calibri" panose="020F0502020204030204" pitchFamily="34" charset="0"/>
                    <a:cs typeface="Calibri" panose="020F0502020204030204" pitchFamily="34" charset="0"/>
                  </a:rPr>
                  <a:t>24.5% probability</a:t>
                </a:r>
                <a:r>
                  <a:rPr lang="en-US" sz="1400" dirty="0">
                    <a:solidFill>
                      <a:schemeClr val="tx1">
                        <a:lumMod val="95000"/>
                        <a:lumOff val="5000"/>
                      </a:schemeClr>
                    </a:solidFill>
                    <a:latin typeface="Calibri" panose="020F0502020204030204" pitchFamily="34" charset="0"/>
                    <a:cs typeface="Calibri" panose="020F0502020204030204" pitchFamily="34" charset="0"/>
                  </a:rPr>
                  <a:t> that the input is a Dog.</a:t>
                </a:r>
              </a:p>
            </p:txBody>
          </p:sp>
        </mc:Choice>
        <mc:Fallback xmlns="">
          <p:sp>
            <p:nvSpPr>
              <p:cNvPr id="27" name="TextBox 26">
                <a:extLst>
                  <a:ext uri="{FF2B5EF4-FFF2-40B4-BE49-F238E27FC236}">
                    <a16:creationId xmlns:a16="http://schemas.microsoft.com/office/drawing/2014/main" id="{C9F5FC7B-9517-693F-CB97-7CB941613CE6}"/>
                  </a:ext>
                </a:extLst>
              </p:cNvPr>
              <p:cNvSpPr txBox="1">
                <a:spLocks noRot="1" noChangeAspect="1" noMove="1" noResize="1" noEditPoints="1" noAdjustHandles="1" noChangeArrowheads="1" noChangeShapeType="1" noTextEdit="1"/>
              </p:cNvSpPr>
              <p:nvPr/>
            </p:nvSpPr>
            <p:spPr>
              <a:xfrm>
                <a:off x="7467602" y="897304"/>
                <a:ext cx="4724398" cy="3217356"/>
              </a:xfrm>
              <a:prstGeom prst="rect">
                <a:avLst/>
              </a:prstGeom>
              <a:blipFill>
                <a:blip r:embed="rId5"/>
                <a:stretch>
                  <a:fillRect l="-387" b="-1136"/>
                </a:stretch>
              </a:blipFill>
              <a:ln>
                <a:noFill/>
              </a:ln>
            </p:spPr>
            <p:txBody>
              <a:bodyPr/>
              <a:lstStyle/>
              <a:p>
                <a:r>
                  <a:rPr lang="en-US">
                    <a:noFill/>
                  </a:rPr>
                  <a:t> </a:t>
                </a:r>
              </a:p>
            </p:txBody>
          </p:sp>
        </mc:Fallback>
      </mc:AlternateContent>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D395B">
            <a:alpha val="98824"/>
          </a:srgbClr>
        </a:solidFill>
        <a:effectLst/>
      </p:bgPr>
    </p:bg>
    <p:spTree>
      <p:nvGrpSpPr>
        <p:cNvPr id="1" name=""/>
        <p:cNvGrpSpPr/>
        <p:nvPr/>
      </p:nvGrpSpPr>
      <p:grpSpPr>
        <a:xfrm>
          <a:off x="0" y="0"/>
          <a:ext cx="0" cy="0"/>
          <a:chOff x="0" y="0"/>
          <a:chExt cx="0" cy="0"/>
        </a:xfrm>
      </p:grpSpPr>
      <p:sp>
        <p:nvSpPr>
          <p:cNvPr id="1049074" name="TextBox 3"/>
          <p:cNvSpPr txBox="1"/>
          <p:nvPr/>
        </p:nvSpPr>
        <p:spPr>
          <a:xfrm>
            <a:off x="992587" y="2849460"/>
            <a:ext cx="10006250" cy="2250441"/>
          </a:xfrm>
          <a:prstGeom prst="rect">
            <a:avLst/>
          </a:prstGeom>
          <a:noFill/>
        </p:spPr>
        <p:txBody>
          <a:bodyPr wrap="square" rtlCol="0">
            <a:spAutoFit/>
          </a:bodyPr>
          <a:lstStyle/>
          <a:p>
            <a:pPr algn="ctr"/>
            <a:r>
              <a:rPr lang="en-US" sz="7200" dirty="0">
                <a:solidFill>
                  <a:schemeClr val="bg1"/>
                </a:solidFill>
                <a:effectLst>
                  <a:glow rad="139700">
                    <a:schemeClr val="accent1">
                      <a:satMod val="175000"/>
                      <a:alpha val="40000"/>
                    </a:schemeClr>
                  </a:glow>
                </a:effectLst>
                <a:latin typeface="Calibri" panose="020F0502020204030204" pitchFamily="34" charset="0"/>
                <a:cs typeface="Calibri" panose="020F0502020204030204" pitchFamily="34" charset="0"/>
              </a:rPr>
              <a:t>3. How Neural Networks Learn</a:t>
            </a:r>
          </a:p>
        </p:txBody>
      </p:sp>
      <p:sp>
        <p:nvSpPr>
          <p:cNvPr id="1049075" name="Rectangle 4"/>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r>
              <a:rPr lang="en-GB" sz="2000" dirty="0">
                <a:latin typeface="Calibri" panose="020F0502020204030204" pitchFamily="34" charset="0"/>
                <a:cs typeface="Calibri" panose="020F0502020204030204" pitchFamily="34" charset="0"/>
              </a:rPr>
              <a:t>19</a:t>
            </a:r>
            <a:endParaRPr lang="en-PK" sz="4400" dirty="0">
              <a:latin typeface="Calibri" panose="020F0502020204030204" pitchFamily="34" charset="0"/>
              <a:cs typeface="Calibri" panose="020F0502020204030204" pitchFamily="34" charset="0"/>
            </a:endParaRPr>
          </a:p>
        </p:txBody>
      </p:sp>
      <p:sp>
        <p:nvSpPr>
          <p:cNvPr id="1049076" name="Rectangle 4"/>
          <p:cNvSpPr/>
          <p:nvPr/>
        </p:nvSpPr>
        <p:spPr>
          <a:xfrm>
            <a:off x="0" y="0"/>
            <a:ext cx="12192000" cy="631371"/>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endParaRPr lang="en-PK" sz="4000" b="1" dirty="0">
              <a:latin typeface="Calibri" panose="020F0502020204030204" pitchFamily="34" charset="0"/>
              <a:cs typeface="Calibri" panose="020F0502020204030204"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77" name="object 3"/>
          <p:cNvSpPr txBox="1"/>
          <p:nvPr/>
        </p:nvSpPr>
        <p:spPr>
          <a:xfrm>
            <a:off x="228598" y="1027292"/>
            <a:ext cx="6324599" cy="2229456"/>
          </a:xfrm>
          <a:prstGeom prst="rect">
            <a:avLst/>
          </a:prstGeom>
        </p:spPr>
        <p:txBody>
          <a:bodyPr vert="horz" wrap="square" lIns="0" tIns="28575" rIns="0" bIns="0" rtlCol="0">
            <a:spAutoFit/>
          </a:bodyPr>
          <a:lstStyle/>
          <a:p>
            <a:pPr marL="12065" marR="5080" algn="just">
              <a:lnSpc>
                <a:spcPct val="95100"/>
              </a:lnSpc>
              <a:spcBef>
                <a:spcPts val="225"/>
              </a:spcBef>
              <a:buClr>
                <a:srgbClr val="6E6E74"/>
              </a:buClr>
              <a:buSzPct val="80000"/>
              <a:tabLst>
                <a:tab pos="194945" algn="l"/>
              </a:tabLst>
            </a:pPr>
            <a:r>
              <a:rPr lang="en-US" sz="2000" spc="70" dirty="0">
                <a:latin typeface="Calibri" panose="020F0502020204030204" pitchFamily="34" charset="0"/>
                <a:cs typeface="Calibri" panose="020F0502020204030204" pitchFamily="34" charset="0"/>
              </a:rPr>
              <a:t>A neural network learns by repeatedly:</a:t>
            </a:r>
          </a:p>
          <a:p>
            <a:pPr marL="469265" marR="5080" indent="-457200" algn="just">
              <a:lnSpc>
                <a:spcPct val="95100"/>
              </a:lnSpc>
              <a:spcBef>
                <a:spcPts val="225"/>
              </a:spcBef>
              <a:buClr>
                <a:srgbClr val="6E6E74"/>
              </a:buClr>
              <a:buSzPct val="80000"/>
              <a:buFont typeface="+mj-lt"/>
              <a:buAutoNum type="arabicPeriod"/>
              <a:tabLst>
                <a:tab pos="194945" algn="l"/>
              </a:tabLst>
            </a:pPr>
            <a:r>
              <a:rPr lang="en-US" sz="2000" spc="70" dirty="0">
                <a:latin typeface="Calibri" panose="020F0502020204030204" pitchFamily="34" charset="0"/>
                <a:cs typeface="Calibri" panose="020F0502020204030204" pitchFamily="34" charset="0"/>
              </a:rPr>
              <a:t>Taking an input </a:t>
            </a:r>
          </a:p>
          <a:p>
            <a:pPr marL="469265" marR="5080" indent="-457200" algn="just">
              <a:lnSpc>
                <a:spcPct val="95100"/>
              </a:lnSpc>
              <a:spcBef>
                <a:spcPts val="225"/>
              </a:spcBef>
              <a:buClr>
                <a:srgbClr val="6E6E74"/>
              </a:buClr>
              <a:buSzPct val="80000"/>
              <a:buFont typeface="+mj-lt"/>
              <a:buAutoNum type="arabicPeriod"/>
              <a:tabLst>
                <a:tab pos="194945" algn="l"/>
              </a:tabLst>
            </a:pPr>
            <a:r>
              <a:rPr lang="en-US" sz="2000" spc="70" dirty="0">
                <a:latin typeface="Calibri" panose="020F0502020204030204" pitchFamily="34" charset="0"/>
                <a:cs typeface="Calibri" panose="020F0502020204030204" pitchFamily="34" charset="0"/>
              </a:rPr>
              <a:t>Making a prediction </a:t>
            </a:r>
          </a:p>
          <a:p>
            <a:pPr marL="469265" marR="5080" indent="-457200" algn="just">
              <a:lnSpc>
                <a:spcPct val="95100"/>
              </a:lnSpc>
              <a:spcBef>
                <a:spcPts val="225"/>
              </a:spcBef>
              <a:buClr>
                <a:srgbClr val="6E6E74"/>
              </a:buClr>
              <a:buSzPct val="80000"/>
              <a:buFont typeface="+mj-lt"/>
              <a:buAutoNum type="arabicPeriod"/>
              <a:tabLst>
                <a:tab pos="194945" algn="l"/>
              </a:tabLst>
            </a:pPr>
            <a:r>
              <a:rPr lang="en-US" sz="2000" spc="70" dirty="0">
                <a:latin typeface="Calibri" panose="020F0502020204030204" pitchFamily="34" charset="0"/>
                <a:cs typeface="Calibri" panose="020F0502020204030204" pitchFamily="34" charset="0"/>
              </a:rPr>
              <a:t>Measuring how wrong the prediction is </a:t>
            </a:r>
          </a:p>
          <a:p>
            <a:pPr marL="469265" marR="5080" indent="-457200" algn="just">
              <a:lnSpc>
                <a:spcPct val="95100"/>
              </a:lnSpc>
              <a:spcBef>
                <a:spcPts val="225"/>
              </a:spcBef>
              <a:buClr>
                <a:srgbClr val="6E6E74"/>
              </a:buClr>
              <a:buSzPct val="80000"/>
              <a:buFont typeface="+mj-lt"/>
              <a:buAutoNum type="arabicPeriod"/>
              <a:tabLst>
                <a:tab pos="194945" algn="l"/>
              </a:tabLst>
            </a:pPr>
            <a:r>
              <a:rPr lang="en-US" sz="2000" spc="70" dirty="0">
                <a:latin typeface="Calibri" panose="020F0502020204030204" pitchFamily="34" charset="0"/>
                <a:cs typeface="Calibri" panose="020F0502020204030204" pitchFamily="34" charset="0"/>
              </a:rPr>
              <a:t>Finding which weights caused the error </a:t>
            </a:r>
          </a:p>
          <a:p>
            <a:pPr marL="469265" marR="5080" indent="-457200" algn="just">
              <a:lnSpc>
                <a:spcPct val="95100"/>
              </a:lnSpc>
              <a:spcBef>
                <a:spcPts val="225"/>
              </a:spcBef>
              <a:buClr>
                <a:srgbClr val="6E6E74"/>
              </a:buClr>
              <a:buSzPct val="80000"/>
              <a:buFont typeface="+mj-lt"/>
              <a:buAutoNum type="arabicPeriod"/>
              <a:tabLst>
                <a:tab pos="194945" algn="l"/>
              </a:tabLst>
            </a:pPr>
            <a:r>
              <a:rPr lang="en-US" sz="2000" spc="70" dirty="0">
                <a:latin typeface="Calibri" panose="020F0502020204030204" pitchFamily="34" charset="0"/>
                <a:cs typeface="Calibri" panose="020F0502020204030204" pitchFamily="34" charset="0"/>
              </a:rPr>
              <a:t>Updating the weights </a:t>
            </a:r>
          </a:p>
          <a:p>
            <a:pPr marL="469265" marR="5080" indent="-457200" algn="just">
              <a:lnSpc>
                <a:spcPct val="95100"/>
              </a:lnSpc>
              <a:spcBef>
                <a:spcPts val="225"/>
              </a:spcBef>
              <a:buClr>
                <a:srgbClr val="6E6E74"/>
              </a:buClr>
              <a:buSzPct val="80000"/>
              <a:buFont typeface="+mj-lt"/>
              <a:buAutoNum type="arabicPeriod"/>
              <a:tabLst>
                <a:tab pos="194945" algn="l"/>
              </a:tabLst>
            </a:pPr>
            <a:r>
              <a:rPr lang="en-US" sz="2000" spc="70" dirty="0">
                <a:latin typeface="Calibri" panose="020F0502020204030204" pitchFamily="34" charset="0"/>
                <a:cs typeface="Calibri" panose="020F0502020204030204" pitchFamily="34" charset="0"/>
              </a:rPr>
              <a:t>Repeating the process</a:t>
            </a:r>
          </a:p>
        </p:txBody>
      </p:sp>
      <p:sp>
        <p:nvSpPr>
          <p:cNvPr id="1049078" name="Rectangle 7"/>
          <p:cNvSpPr/>
          <p:nvPr/>
        </p:nvSpPr>
        <p:spPr>
          <a:xfrm>
            <a:off x="0" y="0"/>
            <a:ext cx="12192000" cy="873760"/>
          </a:xfrm>
          <a:prstGeom prst="rect">
            <a:avLst/>
          </a:prstGeom>
          <a:solidFill>
            <a:srgbClr val="0E2841"/>
          </a:solidFill>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r>
              <a:rPr lang="en-US" sz="3200" b="1" dirty="0">
                <a:latin typeface="Calibri" panose="020F0502020204030204" pitchFamily="34" charset="0"/>
                <a:cs typeface="Calibri" panose="020F0502020204030204" pitchFamily="34" charset="0"/>
              </a:rPr>
              <a:t>3. How Neural Networks Learn</a:t>
            </a:r>
            <a:endParaRPr lang="en-PK" sz="3200" b="1" dirty="0">
              <a:latin typeface="Calibri" panose="020F0502020204030204" pitchFamily="34" charset="0"/>
              <a:cs typeface="Calibri" panose="020F0502020204030204" pitchFamily="34" charset="0"/>
            </a:endParaRPr>
          </a:p>
        </p:txBody>
      </p:sp>
      <p:sp>
        <p:nvSpPr>
          <p:cNvPr id="1049079" name="Rectangle 4"/>
          <p:cNvSpPr/>
          <p:nvPr/>
        </p:nvSpPr>
        <p:spPr>
          <a:xfrm>
            <a:off x="0" y="6581001"/>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r>
              <a:rPr lang="en-US" sz="2400" dirty="0">
                <a:latin typeface="Calibri" panose="020F0502020204030204" pitchFamily="34" charset="0"/>
                <a:cs typeface="Calibri" panose="020F0502020204030204" pitchFamily="34" charset="0"/>
              </a:rPr>
              <a:t>20</a:t>
            </a:r>
            <a:endParaRPr lang="en-PK" sz="2400" dirty="0">
              <a:latin typeface="Calibri" panose="020F0502020204030204" pitchFamily="34" charset="0"/>
              <a:cs typeface="Calibri" panose="020F0502020204030204" pitchFamily="34" charset="0"/>
            </a:endParaRPr>
          </a:p>
        </p:txBody>
      </p:sp>
      <p:pic>
        <p:nvPicPr>
          <p:cNvPr id="2097173" name="Picture 5"/>
          <p:cNvPicPr>
            <a:picLocks noChangeAspect="1"/>
          </p:cNvPicPr>
          <p:nvPr/>
        </p:nvPicPr>
        <p:blipFill>
          <a:blip r:embed="rId3"/>
          <a:srcRect t="3623"/>
          <a:stretch>
            <a:fillRect/>
          </a:stretch>
        </p:blipFill>
        <p:spPr>
          <a:xfrm>
            <a:off x="457200" y="3410280"/>
            <a:ext cx="11277600" cy="3103238"/>
          </a:xfrm>
          <a:prstGeom prst="rect">
            <a:avLst/>
          </a:prstGeom>
        </p:spPr>
      </p:pic>
      <p:sp>
        <p:nvSpPr>
          <p:cNvPr id="1049080" name="TextBox 10"/>
          <p:cNvSpPr txBox="1"/>
          <p:nvPr/>
        </p:nvSpPr>
        <p:spPr>
          <a:xfrm>
            <a:off x="6553197" y="1752600"/>
            <a:ext cx="4930880" cy="802640"/>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r>
              <a:rPr lang="en-US" sz="2400" dirty="0">
                <a:latin typeface="Calibri" panose="020F0502020204030204" pitchFamily="34" charset="0"/>
                <a:cs typeface="Calibri" panose="020F0502020204030204" pitchFamily="34" charset="0"/>
              </a:rPr>
              <a:t>Learning = reducing the error over many examples.</a:t>
            </a:r>
          </a:p>
        </p:txBody>
      </p:sp>
      <p:sp>
        <p:nvSpPr>
          <p:cNvPr id="2" name="TextBox 1">
            <a:extLst>
              <a:ext uri="{FF2B5EF4-FFF2-40B4-BE49-F238E27FC236}">
                <a16:creationId xmlns:a16="http://schemas.microsoft.com/office/drawing/2014/main" id="{EDF41BCC-35B5-0D16-6136-71DEEE3AB7B5}"/>
              </a:ext>
            </a:extLst>
          </p:cNvPr>
          <p:cNvSpPr txBox="1"/>
          <p:nvPr/>
        </p:nvSpPr>
        <p:spPr>
          <a:xfrm>
            <a:off x="7543800" y="926436"/>
            <a:ext cx="4620176" cy="276999"/>
          </a:xfrm>
          <a:prstGeom prst="rect">
            <a:avLst/>
          </a:prstGeom>
          <a:noFill/>
        </p:spPr>
        <p:txBody>
          <a:bodyPr wrap="none" rtlCol="0">
            <a:spAutoFit/>
          </a:bodyPr>
          <a:lstStyle/>
          <a:p>
            <a:r>
              <a:rPr lang="en-US" sz="1200" dirty="0"/>
              <a:t>Simple NN Video (&lt;10 mints): </a:t>
            </a:r>
            <a:r>
              <a:rPr lang="en-US" sz="1200" dirty="0">
                <a:hlinkClick r:id="rId4"/>
              </a:rPr>
              <a:t>https://youtu.be/SV2huMdNs9c</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81" name="object 3"/>
          <p:cNvSpPr txBox="1"/>
          <p:nvPr/>
        </p:nvSpPr>
        <p:spPr>
          <a:xfrm>
            <a:off x="685801" y="1215792"/>
            <a:ext cx="6324599" cy="3712083"/>
          </a:xfrm>
          <a:prstGeom prst="rect">
            <a:avLst/>
          </a:prstGeom>
        </p:spPr>
        <p:txBody>
          <a:bodyPr vert="horz" wrap="square" lIns="0" tIns="28575" rIns="0" bIns="0" rtlCol="0">
            <a:spAutoFit/>
          </a:bodyPr>
          <a:lstStyle/>
          <a:p>
            <a:pPr marL="12065" marR="5080" algn="just">
              <a:lnSpc>
                <a:spcPct val="95100"/>
              </a:lnSpc>
              <a:spcBef>
                <a:spcPts val="225"/>
              </a:spcBef>
              <a:buClr>
                <a:srgbClr val="6E6E74"/>
              </a:buClr>
              <a:buSzPct val="80000"/>
              <a:tabLst>
                <a:tab pos="194945" algn="l"/>
              </a:tabLst>
            </a:pPr>
            <a:r>
              <a:rPr lang="en-US" sz="2000" spc="70" dirty="0">
                <a:latin typeface="Calibri" panose="020F0502020204030204" pitchFamily="34" charset="0"/>
                <a:cs typeface="Calibri" panose="020F0502020204030204" pitchFamily="34" charset="0"/>
              </a:rPr>
              <a:t>Forward propagation is the process of moving information from the input layer to the output layer.</a:t>
            </a:r>
          </a:p>
          <a:p>
            <a:pPr marL="12065" marR="5080" algn="just">
              <a:lnSpc>
                <a:spcPct val="95100"/>
              </a:lnSpc>
              <a:spcBef>
                <a:spcPts val="225"/>
              </a:spcBef>
              <a:buClr>
                <a:srgbClr val="6E6E74"/>
              </a:buClr>
              <a:buSzPct val="80000"/>
              <a:tabLst>
                <a:tab pos="194945" algn="l"/>
              </a:tabLst>
            </a:pPr>
            <a:r>
              <a:rPr lang="en-US" sz="2000" spc="70" dirty="0">
                <a:latin typeface="Calibri" panose="020F0502020204030204" pitchFamily="34" charset="0"/>
                <a:cs typeface="Calibri" panose="020F0502020204030204" pitchFamily="34" charset="0"/>
              </a:rPr>
              <a:t>	</a:t>
            </a:r>
          </a:p>
          <a:p>
            <a:pPr marL="12065" marR="5080" algn="just">
              <a:lnSpc>
                <a:spcPct val="95100"/>
              </a:lnSpc>
              <a:spcBef>
                <a:spcPts val="225"/>
              </a:spcBef>
              <a:buClr>
                <a:srgbClr val="6E6E74"/>
              </a:buClr>
              <a:buSzPct val="80000"/>
              <a:tabLst>
                <a:tab pos="194945" algn="l"/>
              </a:tabLst>
            </a:pPr>
            <a:r>
              <a:rPr lang="en-US" sz="2400" b="1" spc="135" dirty="0">
                <a:latin typeface="Calibri" panose="020F0502020204030204" pitchFamily="34" charset="0"/>
                <a:cs typeface="Calibri" panose="020F0502020204030204" pitchFamily="34" charset="0"/>
              </a:rPr>
              <a:t>Steps:</a:t>
            </a:r>
            <a:endParaRPr lang="en-US" sz="2400" dirty="0">
              <a:latin typeface="Calibri" panose="020F0502020204030204" pitchFamily="34" charset="0"/>
              <a:cs typeface="Calibri" panose="020F0502020204030204" pitchFamily="34" charset="0"/>
            </a:endParaRPr>
          </a:p>
          <a:p>
            <a:pPr marL="316865" indent="-304165">
              <a:lnSpc>
                <a:spcPct val="100000"/>
              </a:lnSpc>
              <a:spcBef>
                <a:spcPts val="815"/>
              </a:spcBef>
              <a:buClr>
                <a:srgbClr val="6E6E74"/>
              </a:buClr>
              <a:buSzPct val="78378"/>
              <a:buAutoNum type="arabicParenR"/>
              <a:tabLst>
                <a:tab pos="316865" algn="l"/>
              </a:tabLst>
            </a:pPr>
            <a:r>
              <a:rPr lang="en-US" sz="1850" spc="110" dirty="0">
                <a:latin typeface="Calibri" panose="020F0502020204030204" pitchFamily="34" charset="0"/>
                <a:cs typeface="Calibri" panose="020F0502020204030204" pitchFamily="34" charset="0"/>
              </a:rPr>
              <a:t>Input</a:t>
            </a:r>
            <a:r>
              <a:rPr lang="en-US" sz="1850" spc="165" dirty="0">
                <a:latin typeface="Calibri" panose="020F0502020204030204" pitchFamily="34" charset="0"/>
                <a:cs typeface="Calibri" panose="020F0502020204030204" pitchFamily="34" charset="0"/>
              </a:rPr>
              <a:t> </a:t>
            </a:r>
            <a:r>
              <a:rPr lang="en-US" sz="1850" spc="110" dirty="0">
                <a:latin typeface="Calibri" panose="020F0502020204030204" pitchFamily="34" charset="0"/>
                <a:cs typeface="Calibri" panose="020F0502020204030204" pitchFamily="34" charset="0"/>
              </a:rPr>
              <a:t>data</a:t>
            </a:r>
            <a:r>
              <a:rPr lang="en-US" sz="1850" spc="160" dirty="0">
                <a:latin typeface="Calibri" panose="020F0502020204030204" pitchFamily="34" charset="0"/>
                <a:cs typeface="Calibri" panose="020F0502020204030204" pitchFamily="34" charset="0"/>
              </a:rPr>
              <a:t> </a:t>
            </a:r>
            <a:r>
              <a:rPr lang="en-US" sz="1850" spc="70" dirty="0">
                <a:latin typeface="Calibri" panose="020F0502020204030204" pitchFamily="34" charset="0"/>
                <a:cs typeface="Calibri" panose="020F0502020204030204" pitchFamily="34" charset="0"/>
              </a:rPr>
              <a:t>is</a:t>
            </a:r>
            <a:r>
              <a:rPr lang="en-US" sz="1850" spc="180" dirty="0">
                <a:latin typeface="Calibri" panose="020F0502020204030204" pitchFamily="34" charset="0"/>
                <a:cs typeface="Calibri" panose="020F0502020204030204" pitchFamily="34" charset="0"/>
              </a:rPr>
              <a:t> </a:t>
            </a:r>
            <a:r>
              <a:rPr lang="en-US" sz="1850" dirty="0">
                <a:latin typeface="Calibri" panose="020F0502020204030204" pitchFamily="34" charset="0"/>
                <a:cs typeface="Calibri" panose="020F0502020204030204" pitchFamily="34" charset="0"/>
              </a:rPr>
              <a:t>provided</a:t>
            </a:r>
            <a:r>
              <a:rPr lang="en-US" sz="1850" spc="165" dirty="0">
                <a:latin typeface="Calibri" panose="020F0502020204030204" pitchFamily="34" charset="0"/>
                <a:cs typeface="Calibri" panose="020F0502020204030204" pitchFamily="34" charset="0"/>
              </a:rPr>
              <a:t> </a:t>
            </a:r>
            <a:r>
              <a:rPr lang="en-US" sz="1850" dirty="0">
                <a:latin typeface="Calibri" panose="020F0502020204030204" pitchFamily="34" charset="0"/>
                <a:cs typeface="Calibri" panose="020F0502020204030204" pitchFamily="34" charset="0"/>
              </a:rPr>
              <a:t>to</a:t>
            </a:r>
            <a:r>
              <a:rPr lang="en-US" sz="1850" spc="185" dirty="0">
                <a:latin typeface="Calibri" panose="020F0502020204030204" pitchFamily="34" charset="0"/>
                <a:cs typeface="Calibri" panose="020F0502020204030204" pitchFamily="34" charset="0"/>
              </a:rPr>
              <a:t> </a:t>
            </a:r>
            <a:r>
              <a:rPr lang="en-US" sz="1850" spc="85" dirty="0">
                <a:latin typeface="Calibri" panose="020F0502020204030204" pitchFamily="34" charset="0"/>
                <a:cs typeface="Calibri" panose="020F0502020204030204" pitchFamily="34" charset="0"/>
              </a:rPr>
              <a:t>the</a:t>
            </a:r>
            <a:r>
              <a:rPr lang="en-US" sz="1850" spc="180" dirty="0">
                <a:latin typeface="Calibri" panose="020F0502020204030204" pitchFamily="34" charset="0"/>
                <a:cs typeface="Calibri" panose="020F0502020204030204" pitchFamily="34" charset="0"/>
              </a:rPr>
              <a:t> </a:t>
            </a:r>
            <a:r>
              <a:rPr lang="en-US" sz="1850" spc="90" dirty="0">
                <a:latin typeface="Calibri" panose="020F0502020204030204" pitchFamily="34" charset="0"/>
                <a:cs typeface="Calibri" panose="020F0502020204030204" pitchFamily="34" charset="0"/>
              </a:rPr>
              <a:t>input</a:t>
            </a:r>
            <a:r>
              <a:rPr lang="en-US" sz="1850" spc="170" dirty="0">
                <a:latin typeface="Calibri" panose="020F0502020204030204" pitchFamily="34" charset="0"/>
                <a:cs typeface="Calibri" panose="020F0502020204030204" pitchFamily="34" charset="0"/>
              </a:rPr>
              <a:t> </a:t>
            </a:r>
            <a:r>
              <a:rPr lang="en-US" sz="1850" spc="85" dirty="0">
                <a:latin typeface="Calibri" panose="020F0502020204030204" pitchFamily="34" charset="0"/>
                <a:cs typeface="Calibri" panose="020F0502020204030204" pitchFamily="34" charset="0"/>
              </a:rPr>
              <a:t>layer.</a:t>
            </a:r>
            <a:endParaRPr lang="en-US" sz="1850" dirty="0">
              <a:latin typeface="Calibri" panose="020F0502020204030204" pitchFamily="34" charset="0"/>
              <a:cs typeface="Calibri" panose="020F0502020204030204" pitchFamily="34" charset="0"/>
            </a:endParaRPr>
          </a:p>
          <a:p>
            <a:pPr marL="317500" marR="5080" indent="-304800">
              <a:lnSpc>
                <a:spcPts val="2120"/>
              </a:lnSpc>
              <a:spcBef>
                <a:spcPts val="969"/>
              </a:spcBef>
              <a:buClr>
                <a:srgbClr val="6E6E74"/>
              </a:buClr>
              <a:buSzPct val="78378"/>
              <a:buAutoNum type="arabicParenR"/>
              <a:tabLst>
                <a:tab pos="317500" algn="l"/>
                <a:tab pos="1551940" algn="l"/>
                <a:tab pos="2196465" algn="l"/>
                <a:tab pos="2574290" algn="l"/>
                <a:tab pos="3460115" algn="l"/>
                <a:tab pos="3824604" algn="l"/>
                <a:tab pos="5128895" algn="l"/>
                <a:tab pos="5532755" algn="l"/>
              </a:tabLst>
            </a:pPr>
            <a:r>
              <a:rPr lang="en-US" sz="1850" spc="70" dirty="0">
                <a:latin typeface="Calibri" panose="020F0502020204030204" pitchFamily="34" charset="0"/>
                <a:cs typeface="Calibri" panose="020F0502020204030204" pitchFamily="34" charset="0"/>
              </a:rPr>
              <a:t>Weighted</a:t>
            </a:r>
            <a:r>
              <a:rPr lang="en-US" sz="1850" dirty="0">
                <a:latin typeface="Calibri" panose="020F0502020204030204" pitchFamily="34" charset="0"/>
                <a:cs typeface="Calibri" panose="020F0502020204030204" pitchFamily="34" charset="0"/>
              </a:rPr>
              <a:t>	</a:t>
            </a:r>
            <a:r>
              <a:rPr lang="en-US" sz="1850" spc="70" dirty="0">
                <a:latin typeface="Calibri" panose="020F0502020204030204" pitchFamily="34" charset="0"/>
                <a:cs typeface="Calibri" panose="020F0502020204030204" pitchFamily="34" charset="0"/>
              </a:rPr>
              <a:t>sum</a:t>
            </a:r>
            <a:r>
              <a:rPr lang="en-US" sz="1850" dirty="0">
                <a:latin typeface="Calibri" panose="020F0502020204030204" pitchFamily="34" charset="0"/>
                <a:cs typeface="Calibri" panose="020F0502020204030204" pitchFamily="34" charset="0"/>
              </a:rPr>
              <a:t>	</a:t>
            </a:r>
            <a:r>
              <a:rPr lang="en-US" sz="1850" spc="-25" dirty="0">
                <a:latin typeface="Calibri" panose="020F0502020204030204" pitchFamily="34" charset="0"/>
                <a:cs typeface="Calibri" panose="020F0502020204030204" pitchFamily="34" charset="0"/>
              </a:rPr>
              <a:t>of</a:t>
            </a:r>
            <a:r>
              <a:rPr lang="en-US" sz="1850" dirty="0">
                <a:latin typeface="Calibri" panose="020F0502020204030204" pitchFamily="34" charset="0"/>
                <a:cs typeface="Calibri" panose="020F0502020204030204" pitchFamily="34" charset="0"/>
              </a:rPr>
              <a:t>	</a:t>
            </a:r>
            <a:r>
              <a:rPr lang="en-US" sz="1850" spc="75" dirty="0">
                <a:latin typeface="Calibri" panose="020F0502020204030204" pitchFamily="34" charset="0"/>
                <a:cs typeface="Calibri" panose="020F0502020204030204" pitchFamily="34" charset="0"/>
              </a:rPr>
              <a:t>inputs</a:t>
            </a:r>
            <a:r>
              <a:rPr lang="en-US" sz="1850" dirty="0">
                <a:latin typeface="Calibri" panose="020F0502020204030204" pitchFamily="34" charset="0"/>
                <a:cs typeface="Calibri" panose="020F0502020204030204" pitchFamily="34" charset="0"/>
              </a:rPr>
              <a:t>	</a:t>
            </a:r>
            <a:r>
              <a:rPr lang="en-US" sz="1850" spc="45" dirty="0">
                <a:latin typeface="Calibri" panose="020F0502020204030204" pitchFamily="34" charset="0"/>
                <a:cs typeface="Calibri" panose="020F0502020204030204" pitchFamily="34" charset="0"/>
              </a:rPr>
              <a:t>is</a:t>
            </a:r>
            <a:r>
              <a:rPr lang="en-US" sz="1850" dirty="0">
                <a:latin typeface="Calibri" panose="020F0502020204030204" pitchFamily="34" charset="0"/>
                <a:cs typeface="Calibri" panose="020F0502020204030204" pitchFamily="34" charset="0"/>
              </a:rPr>
              <a:t>	</a:t>
            </a:r>
            <a:r>
              <a:rPr lang="en-US" sz="1850" spc="65" dirty="0">
                <a:latin typeface="Calibri" panose="020F0502020204030204" pitchFamily="34" charset="0"/>
                <a:cs typeface="Calibri" panose="020F0502020204030204" pitchFamily="34" charset="0"/>
              </a:rPr>
              <a:t>calculated</a:t>
            </a:r>
            <a:r>
              <a:rPr lang="en-US" sz="1850" dirty="0">
                <a:latin typeface="Calibri" panose="020F0502020204030204" pitchFamily="34" charset="0"/>
                <a:cs typeface="Calibri" panose="020F0502020204030204" pitchFamily="34" charset="0"/>
              </a:rPr>
              <a:t>	</a:t>
            </a:r>
            <a:r>
              <a:rPr lang="en-US" sz="1850" spc="95" dirty="0">
                <a:latin typeface="Calibri" panose="020F0502020204030204" pitchFamily="34" charset="0"/>
                <a:cs typeface="Calibri" panose="020F0502020204030204" pitchFamily="34" charset="0"/>
              </a:rPr>
              <a:t>at</a:t>
            </a:r>
            <a:r>
              <a:rPr lang="en-US" sz="1850" dirty="0">
                <a:latin typeface="Calibri" panose="020F0502020204030204" pitchFamily="34" charset="0"/>
                <a:cs typeface="Calibri" panose="020F0502020204030204" pitchFamily="34" charset="0"/>
              </a:rPr>
              <a:t>	</a:t>
            </a:r>
            <a:r>
              <a:rPr lang="en-US" sz="1850" spc="50" dirty="0">
                <a:latin typeface="Calibri" panose="020F0502020204030204" pitchFamily="34" charset="0"/>
                <a:cs typeface="Calibri" panose="020F0502020204030204" pitchFamily="34" charset="0"/>
              </a:rPr>
              <a:t>each </a:t>
            </a:r>
            <a:r>
              <a:rPr lang="en-US" sz="1850" spc="65" dirty="0">
                <a:latin typeface="Calibri" panose="020F0502020204030204" pitchFamily="34" charset="0"/>
                <a:cs typeface="Calibri" panose="020F0502020204030204" pitchFamily="34" charset="0"/>
              </a:rPr>
              <a:t>neuron.</a:t>
            </a:r>
            <a:endParaRPr lang="en-US" sz="1850" dirty="0">
              <a:latin typeface="Calibri" panose="020F0502020204030204" pitchFamily="34" charset="0"/>
              <a:cs typeface="Calibri" panose="020F0502020204030204" pitchFamily="34" charset="0"/>
            </a:endParaRPr>
          </a:p>
          <a:p>
            <a:pPr marL="316865" indent="-304165">
              <a:lnSpc>
                <a:spcPct val="100000"/>
              </a:lnSpc>
              <a:spcBef>
                <a:spcPts val="755"/>
              </a:spcBef>
              <a:buClr>
                <a:srgbClr val="6E6E74"/>
              </a:buClr>
              <a:buSzPct val="78378"/>
              <a:buAutoNum type="arabicParenR"/>
              <a:tabLst>
                <a:tab pos="316865" algn="l"/>
              </a:tabLst>
            </a:pPr>
            <a:r>
              <a:rPr lang="en-US" sz="1850" spc="85" dirty="0">
                <a:latin typeface="Calibri" panose="020F0502020204030204" pitchFamily="34" charset="0"/>
                <a:cs typeface="Calibri" panose="020F0502020204030204" pitchFamily="34" charset="0"/>
              </a:rPr>
              <a:t>Activation</a:t>
            </a:r>
            <a:r>
              <a:rPr lang="en-US" sz="1850" spc="120" dirty="0">
                <a:latin typeface="Calibri" panose="020F0502020204030204" pitchFamily="34" charset="0"/>
                <a:cs typeface="Calibri" panose="020F0502020204030204" pitchFamily="34" charset="0"/>
              </a:rPr>
              <a:t> </a:t>
            </a:r>
            <a:r>
              <a:rPr lang="en-US" sz="1850" spc="65" dirty="0">
                <a:latin typeface="Calibri" panose="020F0502020204030204" pitchFamily="34" charset="0"/>
                <a:cs typeface="Calibri" panose="020F0502020204030204" pitchFamily="34" charset="0"/>
              </a:rPr>
              <a:t>function</a:t>
            </a:r>
            <a:r>
              <a:rPr lang="en-US" sz="1850" spc="125" dirty="0">
                <a:latin typeface="Calibri" panose="020F0502020204030204" pitchFamily="34" charset="0"/>
                <a:cs typeface="Calibri" panose="020F0502020204030204" pitchFamily="34" charset="0"/>
              </a:rPr>
              <a:t> </a:t>
            </a:r>
            <a:r>
              <a:rPr lang="en-US" sz="1850" spc="70" dirty="0">
                <a:latin typeface="Calibri" panose="020F0502020204030204" pitchFamily="34" charset="0"/>
                <a:cs typeface="Calibri" panose="020F0502020204030204" pitchFamily="34" charset="0"/>
              </a:rPr>
              <a:t>is</a:t>
            </a:r>
            <a:r>
              <a:rPr lang="en-US" sz="1850" spc="135" dirty="0">
                <a:latin typeface="Calibri" panose="020F0502020204030204" pitchFamily="34" charset="0"/>
                <a:cs typeface="Calibri" panose="020F0502020204030204" pitchFamily="34" charset="0"/>
              </a:rPr>
              <a:t> </a:t>
            </a:r>
            <a:r>
              <a:rPr lang="en-US" sz="1850" spc="70" dirty="0">
                <a:latin typeface="Calibri" panose="020F0502020204030204" pitchFamily="34" charset="0"/>
                <a:cs typeface="Calibri" panose="020F0502020204030204" pitchFamily="34" charset="0"/>
              </a:rPr>
              <a:t>applied.</a:t>
            </a:r>
            <a:endParaRPr lang="en-US" sz="1850" dirty="0">
              <a:latin typeface="Calibri" panose="020F0502020204030204" pitchFamily="34" charset="0"/>
              <a:cs typeface="Calibri" panose="020F0502020204030204" pitchFamily="34" charset="0"/>
            </a:endParaRPr>
          </a:p>
          <a:p>
            <a:pPr marL="316865" indent="-304165">
              <a:lnSpc>
                <a:spcPts val="2170"/>
              </a:lnSpc>
              <a:spcBef>
                <a:spcPts val="815"/>
              </a:spcBef>
              <a:buClr>
                <a:srgbClr val="6E6E74"/>
              </a:buClr>
              <a:buSzPct val="78378"/>
              <a:buAutoNum type="arabicParenR"/>
              <a:tabLst>
                <a:tab pos="316865" algn="l"/>
              </a:tabLst>
            </a:pPr>
            <a:r>
              <a:rPr lang="en-US" sz="1850" spc="100" dirty="0">
                <a:latin typeface="Calibri" panose="020F0502020204030204" pitchFamily="34" charset="0"/>
                <a:cs typeface="Calibri" panose="020F0502020204030204" pitchFamily="34" charset="0"/>
              </a:rPr>
              <a:t>The</a:t>
            </a:r>
            <a:r>
              <a:rPr lang="en-US" sz="1850" spc="160" dirty="0">
                <a:latin typeface="Calibri" panose="020F0502020204030204" pitchFamily="34" charset="0"/>
                <a:cs typeface="Calibri" panose="020F0502020204030204" pitchFamily="34" charset="0"/>
              </a:rPr>
              <a:t> </a:t>
            </a:r>
            <a:r>
              <a:rPr lang="en-US" sz="1850" spc="70" dirty="0">
                <a:latin typeface="Calibri" panose="020F0502020204030204" pitchFamily="34" charset="0"/>
                <a:cs typeface="Calibri" panose="020F0502020204030204" pitchFamily="34" charset="0"/>
              </a:rPr>
              <a:t>output</a:t>
            </a:r>
            <a:r>
              <a:rPr lang="en-US" sz="1850" spc="170" dirty="0">
                <a:latin typeface="Calibri" panose="020F0502020204030204" pitchFamily="34" charset="0"/>
                <a:cs typeface="Calibri" panose="020F0502020204030204" pitchFamily="34" charset="0"/>
              </a:rPr>
              <a:t> </a:t>
            </a:r>
            <a:r>
              <a:rPr lang="en-US" sz="1850" dirty="0">
                <a:latin typeface="Calibri" panose="020F0502020204030204" pitchFamily="34" charset="0"/>
                <a:cs typeface="Calibri" panose="020F0502020204030204" pitchFamily="34" charset="0"/>
              </a:rPr>
              <a:t>of</a:t>
            </a:r>
            <a:r>
              <a:rPr lang="en-US" sz="1850" spc="145" dirty="0">
                <a:latin typeface="Calibri" panose="020F0502020204030204" pitchFamily="34" charset="0"/>
                <a:cs typeface="Calibri" panose="020F0502020204030204" pitchFamily="34" charset="0"/>
              </a:rPr>
              <a:t> </a:t>
            </a:r>
            <a:r>
              <a:rPr lang="en-US" sz="1850" spc="75" dirty="0">
                <a:latin typeface="Calibri" panose="020F0502020204030204" pitchFamily="34" charset="0"/>
                <a:cs typeface="Calibri" panose="020F0502020204030204" pitchFamily="34" charset="0"/>
              </a:rPr>
              <a:t>each</a:t>
            </a:r>
            <a:r>
              <a:rPr lang="en-US" sz="1850" spc="155" dirty="0">
                <a:latin typeface="Calibri" panose="020F0502020204030204" pitchFamily="34" charset="0"/>
                <a:cs typeface="Calibri" panose="020F0502020204030204" pitchFamily="34" charset="0"/>
              </a:rPr>
              <a:t> </a:t>
            </a:r>
            <a:r>
              <a:rPr lang="en-US" sz="1850" spc="80" dirty="0">
                <a:latin typeface="Calibri" panose="020F0502020204030204" pitchFamily="34" charset="0"/>
                <a:cs typeface="Calibri" panose="020F0502020204030204" pitchFamily="34" charset="0"/>
              </a:rPr>
              <a:t>layer</a:t>
            </a:r>
            <a:r>
              <a:rPr lang="en-US" sz="1850" spc="155" dirty="0">
                <a:latin typeface="Calibri" panose="020F0502020204030204" pitchFamily="34" charset="0"/>
                <a:cs typeface="Calibri" panose="020F0502020204030204" pitchFamily="34" charset="0"/>
              </a:rPr>
              <a:t> </a:t>
            </a:r>
            <a:r>
              <a:rPr lang="en-US" sz="1850" spc="55" dirty="0">
                <a:latin typeface="Calibri" panose="020F0502020204030204" pitchFamily="34" charset="0"/>
                <a:cs typeface="Calibri" panose="020F0502020204030204" pitchFamily="34" charset="0"/>
              </a:rPr>
              <a:t>serves</a:t>
            </a:r>
            <a:r>
              <a:rPr lang="en-US" sz="1850" spc="160" dirty="0">
                <a:latin typeface="Calibri" panose="020F0502020204030204" pitchFamily="34" charset="0"/>
                <a:cs typeface="Calibri" panose="020F0502020204030204" pitchFamily="34" charset="0"/>
              </a:rPr>
              <a:t> </a:t>
            </a:r>
            <a:r>
              <a:rPr lang="en-US" sz="1850" spc="100" dirty="0">
                <a:latin typeface="Calibri" panose="020F0502020204030204" pitchFamily="34" charset="0"/>
                <a:cs typeface="Calibri" panose="020F0502020204030204" pitchFamily="34" charset="0"/>
              </a:rPr>
              <a:t>as</a:t>
            </a:r>
            <a:r>
              <a:rPr lang="en-US" sz="1850" spc="155" dirty="0">
                <a:latin typeface="Calibri" panose="020F0502020204030204" pitchFamily="34" charset="0"/>
                <a:cs typeface="Calibri" panose="020F0502020204030204" pitchFamily="34" charset="0"/>
              </a:rPr>
              <a:t> </a:t>
            </a:r>
            <a:r>
              <a:rPr lang="en-US" sz="1850" spc="85" dirty="0">
                <a:latin typeface="Calibri" panose="020F0502020204030204" pitchFamily="34" charset="0"/>
                <a:cs typeface="Calibri" panose="020F0502020204030204" pitchFamily="34" charset="0"/>
              </a:rPr>
              <a:t>input</a:t>
            </a:r>
            <a:r>
              <a:rPr lang="en-US" sz="1850" spc="150" dirty="0">
                <a:latin typeface="Calibri" panose="020F0502020204030204" pitchFamily="34" charset="0"/>
                <a:cs typeface="Calibri" panose="020F0502020204030204" pitchFamily="34" charset="0"/>
              </a:rPr>
              <a:t> </a:t>
            </a:r>
            <a:r>
              <a:rPr lang="en-US" sz="1850" dirty="0">
                <a:latin typeface="Calibri" panose="020F0502020204030204" pitchFamily="34" charset="0"/>
                <a:cs typeface="Calibri" panose="020F0502020204030204" pitchFamily="34" charset="0"/>
              </a:rPr>
              <a:t>to</a:t>
            </a:r>
            <a:r>
              <a:rPr lang="en-US" sz="1850" spc="150" dirty="0">
                <a:latin typeface="Calibri" panose="020F0502020204030204" pitchFamily="34" charset="0"/>
                <a:cs typeface="Calibri" panose="020F0502020204030204" pitchFamily="34" charset="0"/>
              </a:rPr>
              <a:t> </a:t>
            </a:r>
            <a:r>
              <a:rPr lang="en-US" sz="1850" spc="85" dirty="0">
                <a:latin typeface="Calibri" panose="020F0502020204030204" pitchFamily="34" charset="0"/>
                <a:cs typeface="Calibri" panose="020F0502020204030204" pitchFamily="34" charset="0"/>
              </a:rPr>
              <a:t>the</a:t>
            </a:r>
            <a:r>
              <a:rPr lang="en-US" sz="1850" spc="160" dirty="0">
                <a:latin typeface="Calibri" panose="020F0502020204030204" pitchFamily="34" charset="0"/>
                <a:cs typeface="Calibri" panose="020F0502020204030204" pitchFamily="34" charset="0"/>
              </a:rPr>
              <a:t> </a:t>
            </a:r>
            <a:r>
              <a:rPr lang="en-US" sz="1850" spc="60" dirty="0">
                <a:latin typeface="Calibri" panose="020F0502020204030204" pitchFamily="34" charset="0"/>
                <a:cs typeface="Calibri" panose="020F0502020204030204" pitchFamily="34" charset="0"/>
              </a:rPr>
              <a:t>next</a:t>
            </a:r>
            <a:endParaRPr lang="en-US" sz="1850" dirty="0">
              <a:latin typeface="Calibri" panose="020F0502020204030204" pitchFamily="34" charset="0"/>
              <a:cs typeface="Calibri" panose="020F0502020204030204" pitchFamily="34" charset="0"/>
            </a:endParaRPr>
          </a:p>
          <a:p>
            <a:pPr marL="317500">
              <a:lnSpc>
                <a:spcPts val="2170"/>
              </a:lnSpc>
            </a:pPr>
            <a:r>
              <a:rPr lang="en-US" sz="1850" spc="85" dirty="0">
                <a:latin typeface="Calibri" panose="020F0502020204030204" pitchFamily="34" charset="0"/>
                <a:cs typeface="Calibri" panose="020F0502020204030204" pitchFamily="34" charset="0"/>
              </a:rPr>
              <a:t>layer.</a:t>
            </a:r>
            <a:endParaRPr lang="en-US" sz="1850" dirty="0">
              <a:latin typeface="Calibri" panose="020F0502020204030204" pitchFamily="34" charset="0"/>
              <a:cs typeface="Calibri" panose="020F0502020204030204" pitchFamily="34" charset="0"/>
            </a:endParaRPr>
          </a:p>
          <a:p>
            <a:pPr marL="316865" indent="-304165">
              <a:lnSpc>
                <a:spcPct val="100000"/>
              </a:lnSpc>
              <a:spcBef>
                <a:spcPts val="810"/>
              </a:spcBef>
              <a:buClr>
                <a:srgbClr val="6E6E74"/>
              </a:buClr>
              <a:buSzPct val="78378"/>
              <a:buAutoNum type="arabicParenR" startAt="5"/>
              <a:tabLst>
                <a:tab pos="316865" algn="l"/>
              </a:tabLst>
            </a:pPr>
            <a:r>
              <a:rPr lang="en-US" sz="1850" spc="100" dirty="0">
                <a:latin typeface="Calibri" panose="020F0502020204030204" pitchFamily="34" charset="0"/>
                <a:cs typeface="Calibri" panose="020F0502020204030204" pitchFamily="34" charset="0"/>
              </a:rPr>
              <a:t>The</a:t>
            </a:r>
            <a:r>
              <a:rPr lang="en-US" sz="1850" spc="220" dirty="0">
                <a:latin typeface="Calibri" panose="020F0502020204030204" pitchFamily="34" charset="0"/>
                <a:cs typeface="Calibri" panose="020F0502020204030204" pitchFamily="34" charset="0"/>
              </a:rPr>
              <a:t> </a:t>
            </a:r>
            <a:r>
              <a:rPr lang="en-US" sz="1850" spc="95" dirty="0">
                <a:latin typeface="Calibri" panose="020F0502020204030204" pitchFamily="34" charset="0"/>
                <a:cs typeface="Calibri" panose="020F0502020204030204" pitchFamily="34" charset="0"/>
              </a:rPr>
              <a:t>final</a:t>
            </a:r>
            <a:r>
              <a:rPr lang="en-US" sz="1850" spc="215" dirty="0">
                <a:latin typeface="Calibri" panose="020F0502020204030204" pitchFamily="34" charset="0"/>
                <a:cs typeface="Calibri" panose="020F0502020204030204" pitchFamily="34" charset="0"/>
              </a:rPr>
              <a:t> </a:t>
            </a:r>
            <a:r>
              <a:rPr lang="en-US" sz="1850" spc="80" dirty="0">
                <a:latin typeface="Calibri" panose="020F0502020204030204" pitchFamily="34" charset="0"/>
                <a:cs typeface="Calibri" panose="020F0502020204030204" pitchFamily="34" charset="0"/>
              </a:rPr>
              <a:t>layer</a:t>
            </a:r>
            <a:r>
              <a:rPr lang="en-US" sz="1850" spc="190" dirty="0">
                <a:latin typeface="Calibri" panose="020F0502020204030204" pitchFamily="34" charset="0"/>
                <a:cs typeface="Calibri" panose="020F0502020204030204" pitchFamily="34" charset="0"/>
              </a:rPr>
              <a:t> </a:t>
            </a:r>
            <a:r>
              <a:rPr lang="en-US" sz="1850" dirty="0">
                <a:latin typeface="Calibri" panose="020F0502020204030204" pitchFamily="34" charset="0"/>
                <a:cs typeface="Calibri" panose="020F0502020204030204" pitchFamily="34" charset="0"/>
              </a:rPr>
              <a:t>produces</a:t>
            </a:r>
            <a:r>
              <a:rPr lang="en-US" sz="1850" spc="200" dirty="0">
                <a:latin typeface="Calibri" panose="020F0502020204030204" pitchFamily="34" charset="0"/>
                <a:cs typeface="Calibri" panose="020F0502020204030204" pitchFamily="34" charset="0"/>
              </a:rPr>
              <a:t> </a:t>
            </a:r>
            <a:r>
              <a:rPr lang="en-US" sz="1850" spc="55" dirty="0">
                <a:latin typeface="Calibri" panose="020F0502020204030204" pitchFamily="34" charset="0"/>
                <a:cs typeface="Calibri" panose="020F0502020204030204" pitchFamily="34" charset="0"/>
              </a:rPr>
              <a:t>predictions.</a:t>
            </a:r>
            <a:endParaRPr lang="en-US" sz="1850" dirty="0">
              <a:latin typeface="Calibri" panose="020F0502020204030204" pitchFamily="34" charset="0"/>
              <a:cs typeface="Calibri" panose="020F0502020204030204" pitchFamily="34" charset="0"/>
            </a:endParaRPr>
          </a:p>
        </p:txBody>
      </p:sp>
      <p:pic>
        <p:nvPicPr>
          <p:cNvPr id="2097174" name="object 4" descr="Forward Propagation"/>
          <p:cNvPicPr>
            <a:picLocks/>
          </p:cNvPicPr>
          <p:nvPr/>
        </p:nvPicPr>
        <p:blipFill>
          <a:blip r:embed="rId2" cstate="print"/>
          <a:stretch>
            <a:fillRect/>
          </a:stretch>
        </p:blipFill>
        <p:spPr>
          <a:xfrm>
            <a:off x="7627476" y="953441"/>
            <a:ext cx="4254240" cy="2864584"/>
          </a:xfrm>
          <a:prstGeom prst="rect">
            <a:avLst/>
          </a:prstGeom>
        </p:spPr>
      </p:pic>
      <p:pic>
        <p:nvPicPr>
          <p:cNvPr id="2097175" name="object 5"/>
          <p:cNvPicPr>
            <a:picLocks/>
          </p:cNvPicPr>
          <p:nvPr/>
        </p:nvPicPr>
        <p:blipFill>
          <a:blip r:embed="rId3" cstate="print"/>
          <a:srcRect l="2798" r="7675"/>
          <a:stretch>
            <a:fillRect/>
          </a:stretch>
        </p:blipFill>
        <p:spPr>
          <a:xfrm>
            <a:off x="7990293" y="3962400"/>
            <a:ext cx="3503206" cy="2618601"/>
          </a:xfrm>
          <a:prstGeom prst="rect">
            <a:avLst/>
          </a:prstGeom>
        </p:spPr>
      </p:pic>
      <p:sp>
        <p:nvSpPr>
          <p:cNvPr id="1049082" name="Rectangle 7"/>
          <p:cNvSpPr/>
          <p:nvPr/>
        </p:nvSpPr>
        <p:spPr>
          <a:xfrm>
            <a:off x="0" y="0"/>
            <a:ext cx="12192000" cy="873760"/>
          </a:xfrm>
          <a:prstGeom prst="rect">
            <a:avLst/>
          </a:prstGeom>
          <a:solidFill>
            <a:srgbClr val="0E2841"/>
          </a:solidFill>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r>
              <a:rPr lang="en-US" sz="3200" b="1" dirty="0">
                <a:latin typeface="Calibri" panose="020F0502020204030204" pitchFamily="34" charset="0"/>
                <a:cs typeface="Calibri" panose="020F0502020204030204" pitchFamily="34" charset="0"/>
              </a:rPr>
              <a:t>3 (</a:t>
            </a:r>
            <a:r>
              <a:rPr lang="en-US" sz="3200" b="1" dirty="0" err="1">
                <a:latin typeface="Calibri" panose="020F0502020204030204" pitchFamily="34" charset="0"/>
                <a:cs typeface="Calibri" panose="020F0502020204030204" pitchFamily="34" charset="0"/>
              </a:rPr>
              <a:t>i</a:t>
            </a:r>
            <a:r>
              <a:rPr lang="en-US" sz="3200" b="1" dirty="0">
                <a:latin typeface="Calibri" panose="020F0502020204030204" pitchFamily="34" charset="0"/>
                <a:cs typeface="Calibri" panose="020F0502020204030204" pitchFamily="34" charset="0"/>
              </a:rPr>
              <a:t>). Forward Propagation</a:t>
            </a:r>
            <a:endParaRPr lang="en-PK" sz="3200" b="1" dirty="0">
              <a:latin typeface="Calibri" panose="020F0502020204030204" pitchFamily="34" charset="0"/>
              <a:cs typeface="Calibri" panose="020F0502020204030204" pitchFamily="34" charset="0"/>
            </a:endParaRPr>
          </a:p>
        </p:txBody>
      </p:sp>
      <p:sp>
        <p:nvSpPr>
          <p:cNvPr id="1049083" name="TextBox 6"/>
          <p:cNvSpPr txBox="1"/>
          <p:nvPr/>
        </p:nvSpPr>
        <p:spPr>
          <a:xfrm>
            <a:off x="1407216" y="5780734"/>
            <a:ext cx="4626077" cy="707886"/>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lgn="ctr"/>
            <a:r>
              <a:rPr lang="en-US" sz="2000" dirty="0">
                <a:latin typeface="Calibri" panose="020F0502020204030204" pitchFamily="34" charset="0"/>
                <a:cs typeface="Calibri" panose="020F0502020204030204" pitchFamily="34" charset="0"/>
              </a:rPr>
              <a:t>Information moves forward through the network to produce a prediction.</a:t>
            </a:r>
          </a:p>
        </p:txBody>
      </p:sp>
      <p:sp>
        <p:nvSpPr>
          <p:cNvPr id="1049084" name="Rectangle 4"/>
          <p:cNvSpPr/>
          <p:nvPr/>
        </p:nvSpPr>
        <p:spPr>
          <a:xfrm>
            <a:off x="0" y="6581001"/>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r>
              <a:rPr lang="en-US" sz="2400" dirty="0">
                <a:latin typeface="Calibri" panose="020F0502020204030204" pitchFamily="34" charset="0"/>
                <a:cs typeface="Calibri" panose="020F0502020204030204" pitchFamily="34" charset="0"/>
              </a:rPr>
              <a:t>21</a:t>
            </a:r>
            <a:endParaRPr lang="en-PK" sz="2400" dirty="0">
              <a:latin typeface="Calibri" panose="020F0502020204030204" pitchFamily="34" charset="0"/>
              <a:cs typeface="Calibri" panose="020F0502020204030204"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3AF776-BAD2-7A82-46C6-CB9C8D59207F}"/>
            </a:ext>
          </a:extLst>
        </p:cNvPr>
        <p:cNvGrpSpPr/>
        <p:nvPr/>
      </p:nvGrpSpPr>
      <p:grpSpPr>
        <a:xfrm>
          <a:off x="0" y="0"/>
          <a:ext cx="0" cy="0"/>
          <a:chOff x="0" y="0"/>
          <a:chExt cx="0" cy="0"/>
        </a:xfrm>
      </p:grpSpPr>
      <p:pic>
        <p:nvPicPr>
          <p:cNvPr id="2097174" name="object 4" descr="Forward Propagation">
            <a:extLst>
              <a:ext uri="{FF2B5EF4-FFF2-40B4-BE49-F238E27FC236}">
                <a16:creationId xmlns:a16="http://schemas.microsoft.com/office/drawing/2014/main" id="{420D7298-9B51-4D65-3963-F97793007915}"/>
              </a:ext>
            </a:extLst>
          </p:cNvPr>
          <p:cNvPicPr>
            <a:picLocks/>
          </p:cNvPicPr>
          <p:nvPr/>
        </p:nvPicPr>
        <p:blipFill>
          <a:blip r:embed="rId2" cstate="print"/>
          <a:stretch>
            <a:fillRect/>
          </a:stretch>
        </p:blipFill>
        <p:spPr>
          <a:xfrm>
            <a:off x="7627476" y="953441"/>
            <a:ext cx="4254240" cy="2864584"/>
          </a:xfrm>
          <a:prstGeom prst="rect">
            <a:avLst/>
          </a:prstGeom>
        </p:spPr>
      </p:pic>
      <p:pic>
        <p:nvPicPr>
          <p:cNvPr id="2097175" name="object 5">
            <a:extLst>
              <a:ext uri="{FF2B5EF4-FFF2-40B4-BE49-F238E27FC236}">
                <a16:creationId xmlns:a16="http://schemas.microsoft.com/office/drawing/2014/main" id="{97D01704-5A76-9519-CFE2-D864662F92E1}"/>
              </a:ext>
            </a:extLst>
          </p:cNvPr>
          <p:cNvPicPr>
            <a:picLocks/>
          </p:cNvPicPr>
          <p:nvPr/>
        </p:nvPicPr>
        <p:blipFill>
          <a:blip r:embed="rId3" cstate="print"/>
          <a:srcRect l="2798" r="7675"/>
          <a:stretch>
            <a:fillRect/>
          </a:stretch>
        </p:blipFill>
        <p:spPr>
          <a:xfrm>
            <a:off x="7990293" y="3962400"/>
            <a:ext cx="3503206" cy="2618601"/>
          </a:xfrm>
          <a:prstGeom prst="rect">
            <a:avLst/>
          </a:prstGeom>
        </p:spPr>
      </p:pic>
      <p:sp>
        <p:nvSpPr>
          <p:cNvPr id="1049082" name="Rectangle 7">
            <a:extLst>
              <a:ext uri="{FF2B5EF4-FFF2-40B4-BE49-F238E27FC236}">
                <a16:creationId xmlns:a16="http://schemas.microsoft.com/office/drawing/2014/main" id="{DDD70C48-0867-467F-C544-C1D60430C9CF}"/>
              </a:ext>
            </a:extLst>
          </p:cNvPr>
          <p:cNvSpPr/>
          <p:nvPr/>
        </p:nvSpPr>
        <p:spPr>
          <a:xfrm>
            <a:off x="0" y="0"/>
            <a:ext cx="12192000" cy="873760"/>
          </a:xfrm>
          <a:prstGeom prst="rect">
            <a:avLst/>
          </a:prstGeom>
          <a:solidFill>
            <a:srgbClr val="0E2841"/>
          </a:solidFill>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r>
              <a:rPr lang="en-US" sz="3200" b="1" dirty="0">
                <a:latin typeface="Calibri" panose="020F0502020204030204" pitchFamily="34" charset="0"/>
                <a:cs typeface="Calibri" panose="020F0502020204030204" pitchFamily="34" charset="0"/>
              </a:rPr>
              <a:t>3 (</a:t>
            </a:r>
            <a:r>
              <a:rPr lang="en-US" sz="3200" b="1" dirty="0" err="1">
                <a:latin typeface="Calibri" panose="020F0502020204030204" pitchFamily="34" charset="0"/>
                <a:cs typeface="Calibri" panose="020F0502020204030204" pitchFamily="34" charset="0"/>
              </a:rPr>
              <a:t>i</a:t>
            </a:r>
            <a:r>
              <a:rPr lang="en-US" sz="3200" b="1" dirty="0">
                <a:latin typeface="Calibri" panose="020F0502020204030204" pitchFamily="34" charset="0"/>
                <a:cs typeface="Calibri" panose="020F0502020204030204" pitchFamily="34" charset="0"/>
              </a:rPr>
              <a:t>). Forward Propagation </a:t>
            </a:r>
            <a:r>
              <a:rPr lang="en-US" sz="2000" b="1" dirty="0">
                <a:latin typeface="Calibri" panose="020F0502020204030204" pitchFamily="34" charset="0"/>
                <a:cs typeface="Calibri" panose="020F0502020204030204" pitchFamily="34" charset="0"/>
              </a:rPr>
              <a:t>(Con…)</a:t>
            </a:r>
            <a:endParaRPr lang="en-PK" sz="3200" b="1" dirty="0">
              <a:latin typeface="Calibri" panose="020F0502020204030204" pitchFamily="34" charset="0"/>
              <a:cs typeface="Calibri" panose="020F0502020204030204" pitchFamily="34" charset="0"/>
            </a:endParaRPr>
          </a:p>
        </p:txBody>
      </p:sp>
      <p:sp>
        <p:nvSpPr>
          <p:cNvPr id="1049084" name="Rectangle 4">
            <a:extLst>
              <a:ext uri="{FF2B5EF4-FFF2-40B4-BE49-F238E27FC236}">
                <a16:creationId xmlns:a16="http://schemas.microsoft.com/office/drawing/2014/main" id="{C30E0DD0-B3B4-F617-8866-F209CDE23C95}"/>
              </a:ext>
            </a:extLst>
          </p:cNvPr>
          <p:cNvSpPr/>
          <p:nvPr/>
        </p:nvSpPr>
        <p:spPr>
          <a:xfrm>
            <a:off x="0" y="6581001"/>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r>
              <a:rPr lang="en-US" sz="2400" dirty="0">
                <a:latin typeface="Calibri" panose="020F0502020204030204" pitchFamily="34" charset="0"/>
                <a:cs typeface="Calibri" panose="020F0502020204030204" pitchFamily="34" charset="0"/>
              </a:rPr>
              <a:t>22</a:t>
            </a:r>
            <a:endParaRPr lang="en-PK" sz="2400"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0ACC3C4C-1840-43EA-FD7F-B7C85C8A329D}"/>
                  </a:ext>
                </a:extLst>
              </p:cNvPr>
              <p:cNvSpPr txBox="1"/>
              <p:nvPr/>
            </p:nvSpPr>
            <p:spPr>
              <a:xfrm>
                <a:off x="310284" y="1083334"/>
                <a:ext cx="7157316" cy="5469382"/>
              </a:xfrm>
              <a:prstGeom prst="rect">
                <a:avLst/>
              </a:prstGeom>
              <a:noFill/>
            </p:spPr>
            <p:txBody>
              <a:bodyPr wrap="square">
                <a:spAutoFit/>
              </a:bodyPr>
              <a:lstStyle/>
              <a:p>
                <a:pPr marL="0" marR="0" rtl="0">
                  <a:buNone/>
                </a:pPr>
                <a:r>
                  <a:rPr lang="en-US" sz="1400" b="1" dirty="0">
                    <a:solidFill>
                      <a:schemeClr val="tx1"/>
                    </a:solidFill>
                    <a:effectLst/>
                    <a:latin typeface="Calibri" panose="020F0502020204030204" pitchFamily="34" charset="0"/>
                    <a:cs typeface="Calibri" panose="020F0502020204030204" pitchFamily="34" charset="0"/>
                  </a:rPr>
                  <a:t>Layer Notation</a:t>
                </a:r>
              </a:p>
              <a:p>
                <a:pPr marL="0" marR="0" lvl="0" indent="-342900" rtl="0">
                  <a:buFont typeface="Arial" panose="020B0604020202020204" pitchFamily="34" charset="0"/>
                  <a:buChar char="•"/>
                </a:pPr>
                <a:r>
                  <a:rPr lang="en-US" sz="1400" b="1" dirty="0">
                    <a:solidFill>
                      <a:schemeClr val="tx1"/>
                    </a:solidFill>
                    <a:effectLst/>
                    <a:latin typeface="Calibri" panose="020F0502020204030204" pitchFamily="34" charset="0"/>
                    <a:cs typeface="Calibri" panose="020F0502020204030204" pitchFamily="34" charset="0"/>
                  </a:rPr>
                  <a:t>Layer 0:</a:t>
                </a:r>
                <a:r>
                  <a:rPr lang="en-US" sz="1400" dirty="0">
                    <a:solidFill>
                      <a:schemeClr val="tx1"/>
                    </a:solidFill>
                    <a:effectLst/>
                    <a:latin typeface="Calibri" panose="020F0502020204030204" pitchFamily="34" charset="0"/>
                    <a:cs typeface="Calibri" panose="020F0502020204030204" pitchFamily="34" charset="0"/>
                  </a:rPr>
                  <a:t> Input Layer (Raw features fed into the network)</a:t>
                </a:r>
              </a:p>
              <a:p>
                <a:pPr marL="0" marR="0" lvl="0" indent="-342900" rtl="0">
                  <a:buFont typeface="Arial" panose="020B0604020202020204" pitchFamily="34" charset="0"/>
                  <a:buChar char="•"/>
                </a:pPr>
                <a:r>
                  <a:rPr lang="en-US" sz="1400" b="1" dirty="0">
                    <a:solidFill>
                      <a:schemeClr val="tx1"/>
                    </a:solidFill>
                    <a:effectLst/>
                    <a:latin typeface="Calibri" panose="020F0502020204030204" pitchFamily="34" charset="0"/>
                    <a:cs typeface="Calibri" panose="020F0502020204030204" pitchFamily="34" charset="0"/>
                  </a:rPr>
                  <a:t>Layer 1:</a:t>
                </a:r>
                <a:r>
                  <a:rPr lang="en-US" sz="1400" dirty="0">
                    <a:solidFill>
                      <a:schemeClr val="tx1"/>
                    </a:solidFill>
                    <a:effectLst/>
                    <a:latin typeface="Calibri" panose="020F0502020204030204" pitchFamily="34" charset="0"/>
                    <a:cs typeface="Calibri" panose="020F0502020204030204" pitchFamily="34" charset="0"/>
                  </a:rPr>
                  <a:t> Hidden Layer (Intermediate feature representations)</a:t>
                </a:r>
              </a:p>
              <a:p>
                <a:pPr marL="0" marR="0" lvl="0" indent="-342900" rtl="0">
                  <a:buFont typeface="Arial" panose="020B0604020202020204" pitchFamily="34" charset="0"/>
                  <a:buChar char="•"/>
                </a:pPr>
                <a:r>
                  <a:rPr lang="en-US" sz="1400" b="1" dirty="0">
                    <a:solidFill>
                      <a:schemeClr val="tx1"/>
                    </a:solidFill>
                    <a:effectLst/>
                    <a:latin typeface="Calibri" panose="020F0502020204030204" pitchFamily="34" charset="0"/>
                    <a:cs typeface="Calibri" panose="020F0502020204030204" pitchFamily="34" charset="0"/>
                  </a:rPr>
                  <a:t>Layer 2:</a:t>
                </a:r>
                <a:r>
                  <a:rPr lang="en-US" sz="1400" dirty="0">
                    <a:solidFill>
                      <a:schemeClr val="tx1"/>
                    </a:solidFill>
                    <a:effectLst/>
                    <a:latin typeface="Calibri" panose="020F0502020204030204" pitchFamily="34" charset="0"/>
                    <a:cs typeface="Calibri" panose="020F0502020204030204" pitchFamily="34" charset="0"/>
                  </a:rPr>
                  <a:t> Output Layer (Final predictions)</a:t>
                </a:r>
              </a:p>
              <a:p>
                <a:pPr marL="0" marR="0" rtl="0">
                  <a:buNone/>
                </a:pPr>
                <a:endParaRPr lang="en-US" sz="1400" b="1" dirty="0">
                  <a:solidFill>
                    <a:schemeClr val="tx1"/>
                  </a:solidFill>
                  <a:effectLst/>
                  <a:latin typeface="Calibri" panose="020F0502020204030204" pitchFamily="34" charset="0"/>
                  <a:cs typeface="Calibri" panose="020F0502020204030204" pitchFamily="34" charset="0"/>
                </a:endParaRPr>
              </a:p>
              <a:p>
                <a:pPr marL="0" marR="0" rtl="0">
                  <a:buNone/>
                </a:pPr>
                <a:r>
                  <a:rPr lang="en-US" sz="1400" b="1" dirty="0">
                    <a:solidFill>
                      <a:schemeClr val="tx1"/>
                    </a:solidFill>
                    <a:effectLst/>
                    <a:latin typeface="Calibri" panose="020F0502020204030204" pitchFamily="34" charset="0"/>
                    <a:cs typeface="Calibri" panose="020F0502020204030204" pitchFamily="34" charset="0"/>
                  </a:rPr>
                  <a:t>Input &amp; Constant Terms</a:t>
                </a:r>
                <a:endParaRPr lang="en-US" sz="1400" dirty="0">
                  <a:solidFill>
                    <a:schemeClr val="tx1"/>
                  </a:solidFill>
                  <a:effectLst/>
                  <a:latin typeface="Calibri" panose="020F0502020204030204" pitchFamily="34" charset="0"/>
                  <a:cs typeface="Calibri" panose="020F0502020204030204" pitchFamily="34" charset="0"/>
                </a:endParaRPr>
              </a:p>
              <a:p>
                <a:pPr marL="0" marR="0" lvl="0" indent="-342900" rtl="0">
                  <a:buFont typeface="Arial" panose="020B0604020202020204" pitchFamily="34" charset="0"/>
                  <a:buChar char="•"/>
                </a:pP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𝑥</m:t>
                        </m:r>
                      </m:e>
                      <m:sub>
                        <m:r>
                          <a:rPr lang="en-US" sz="1400" i="0">
                            <a:latin typeface="Cambria Math" panose="02040503050406030204" pitchFamily="18" charset="0"/>
                          </a:rPr>
                          <m:t>1</m:t>
                        </m:r>
                      </m:sub>
                    </m:sSub>
                    <m:r>
                      <a:rPr lang="en-US" sz="1400" i="0">
                        <a:latin typeface="Cambria Math" panose="02040503050406030204" pitchFamily="18" charset="0"/>
                      </a:rPr>
                      <m:t>,</m:t>
                    </m:r>
                    <m:sSub>
                      <m:sSubPr>
                        <m:ctrlPr>
                          <a:rPr lang="en-US" sz="1400" i="1">
                            <a:latin typeface="Cambria Math" panose="02040503050406030204" pitchFamily="18" charset="0"/>
                          </a:rPr>
                        </m:ctrlPr>
                      </m:sSubPr>
                      <m:e>
                        <m:r>
                          <a:rPr lang="en-US" sz="1400" i="1">
                            <a:latin typeface="Cambria Math" panose="02040503050406030204" pitchFamily="18" charset="0"/>
                          </a:rPr>
                          <m:t>𝑥</m:t>
                        </m:r>
                      </m:e>
                      <m:sub>
                        <m:r>
                          <a:rPr lang="en-US" sz="1400" i="0">
                            <a:latin typeface="Cambria Math" panose="02040503050406030204" pitchFamily="18" charset="0"/>
                          </a:rPr>
                          <m:t>2</m:t>
                        </m:r>
                      </m:sub>
                    </m:sSub>
                  </m:oMath>
                </a14:m>
                <a:r>
                  <a:rPr lang="en-US" sz="1400" b="1" dirty="0">
                    <a:solidFill>
                      <a:schemeClr val="tx1"/>
                    </a:solidFill>
                    <a:effectLst/>
                    <a:latin typeface="Calibri" panose="020F0502020204030204" pitchFamily="34" charset="0"/>
                    <a:cs typeface="Calibri" panose="020F0502020204030204" pitchFamily="34" charset="0"/>
                  </a:rPr>
                  <a:t>:</a:t>
                </a:r>
                <a:r>
                  <a:rPr lang="en-US" sz="1400" dirty="0">
                    <a:solidFill>
                      <a:schemeClr val="tx1"/>
                    </a:solidFill>
                    <a:effectLst/>
                    <a:latin typeface="Calibri" panose="020F0502020204030204" pitchFamily="34" charset="0"/>
                    <a:cs typeface="Calibri" panose="020F0502020204030204" pitchFamily="34" charset="0"/>
                  </a:rPr>
                  <a:t> The input features passed to the network.</a:t>
                </a:r>
              </a:p>
              <a:p>
                <a:pPr marL="0" marR="0" lvl="0" indent="-342900" rtl="0">
                  <a:buFont typeface="Arial" panose="020B0604020202020204" pitchFamily="34" charset="0"/>
                  <a:buChar char="•"/>
                </a:pPr>
                <a14:m>
                  <m:oMath xmlns:m="http://schemas.openxmlformats.org/officeDocument/2006/math">
                    <m:r>
                      <a:rPr lang="en-US" sz="1400" smtClean="0">
                        <a:latin typeface="Cambria Math" panose="02040503050406030204" pitchFamily="18" charset="0"/>
                      </a:rPr>
                      <m:t>1</m:t>
                    </m:r>
                  </m:oMath>
                </a14:m>
                <a:r>
                  <a:rPr lang="en-US" sz="1400" b="1" dirty="0">
                    <a:solidFill>
                      <a:schemeClr val="tx1"/>
                    </a:solidFill>
                    <a:effectLst/>
                    <a:latin typeface="Calibri" panose="020F0502020204030204" pitchFamily="34" charset="0"/>
                    <a:cs typeface="Calibri" panose="020F0502020204030204" pitchFamily="34" charset="0"/>
                  </a:rPr>
                  <a:t>(Yellow Nodes at Top):</a:t>
                </a:r>
                <a:r>
                  <a:rPr lang="en-US" sz="1400" dirty="0">
                    <a:solidFill>
                      <a:schemeClr val="tx1"/>
                    </a:solidFill>
                    <a:effectLst/>
                    <a:latin typeface="Calibri" panose="020F0502020204030204" pitchFamily="34" charset="0"/>
                    <a:cs typeface="Calibri" panose="020F0502020204030204" pitchFamily="34" charset="0"/>
                  </a:rPr>
                  <a:t> Represents the </a:t>
                </a:r>
                <a:r>
                  <a:rPr lang="en-US" sz="1400" b="1" dirty="0">
                    <a:solidFill>
                      <a:schemeClr val="tx1"/>
                    </a:solidFill>
                    <a:effectLst/>
                    <a:latin typeface="Calibri" panose="020F0502020204030204" pitchFamily="34" charset="0"/>
                    <a:cs typeface="Calibri" panose="020F0502020204030204" pitchFamily="34" charset="0"/>
                  </a:rPr>
                  <a:t>Bias Unit</a:t>
                </a:r>
                <a:r>
                  <a:rPr lang="en-US" sz="1400" dirty="0">
                    <a:solidFill>
                      <a:schemeClr val="tx1"/>
                    </a:solidFill>
                    <a:effectLst/>
                    <a:latin typeface="Calibri" panose="020F0502020204030204" pitchFamily="34" charset="0"/>
                    <a:cs typeface="Calibri" panose="020F0502020204030204" pitchFamily="34" charset="0"/>
                  </a:rPr>
                  <a:t> added to each layer to shift the activation function.</a:t>
                </a:r>
              </a:p>
              <a:p>
                <a:pPr marR="0" lvl="0" rtl="0"/>
                <a:endParaRPr lang="en-US" sz="1400" dirty="0">
                  <a:solidFill>
                    <a:schemeClr val="tx1"/>
                  </a:solidFill>
                  <a:effectLst/>
                  <a:latin typeface="Calibri" panose="020F0502020204030204" pitchFamily="34" charset="0"/>
                  <a:cs typeface="Calibri" panose="020F0502020204030204" pitchFamily="34" charset="0"/>
                </a:endParaRPr>
              </a:p>
              <a:p>
                <a:pPr marL="0" marR="0" rtl="0">
                  <a:buNone/>
                </a:pPr>
                <a:r>
                  <a:rPr lang="en-US" sz="1400" b="1" dirty="0">
                    <a:solidFill>
                      <a:schemeClr val="tx1"/>
                    </a:solidFill>
                    <a:effectLst/>
                    <a:latin typeface="Calibri" panose="020F0502020204030204" pitchFamily="34" charset="0"/>
                    <a:cs typeface="Calibri" panose="020F0502020204030204" pitchFamily="34" charset="0"/>
                  </a:rPr>
                  <a:t>Weights &amp; Biases</a:t>
                </a:r>
                <a:endParaRPr lang="en-US" sz="1400" dirty="0">
                  <a:solidFill>
                    <a:schemeClr val="tx1"/>
                  </a:solidFill>
                  <a:effectLst/>
                  <a:latin typeface="Calibri" panose="020F0502020204030204" pitchFamily="34" charset="0"/>
                  <a:cs typeface="Calibri" panose="020F0502020204030204" pitchFamily="34" charset="0"/>
                </a:endParaRPr>
              </a:p>
              <a:p>
                <a:pPr marL="0" marR="0" lvl="0" indent="-342900" rtl="0">
                  <a:buFont typeface="Arial" panose="020B0604020202020204" pitchFamily="34" charset="0"/>
                  <a:buChar char="•"/>
                </a:pPr>
                <a14:m>
                  <m:oMath xmlns:m="http://schemas.openxmlformats.org/officeDocument/2006/math">
                    <m:sSubSup>
                      <m:sSubSupPr>
                        <m:ctrlPr>
                          <a:rPr lang="en-US" sz="1400" i="1">
                            <a:latin typeface="Cambria Math" panose="02040503050406030204" pitchFamily="18" charset="0"/>
                          </a:rPr>
                        </m:ctrlPr>
                      </m:sSubSupPr>
                      <m:e>
                        <m:r>
                          <a:rPr lang="en-US" sz="1400" i="1">
                            <a:latin typeface="Cambria Math" panose="02040503050406030204" pitchFamily="18" charset="0"/>
                          </a:rPr>
                          <m:t>𝑤</m:t>
                        </m:r>
                      </m:e>
                      <m:sub>
                        <m:r>
                          <a:rPr lang="en-US" sz="1400" i="1">
                            <a:latin typeface="Cambria Math" panose="02040503050406030204" pitchFamily="18" charset="0"/>
                          </a:rPr>
                          <m:t>𝑖</m:t>
                        </m:r>
                        <m:r>
                          <a:rPr lang="en-US" sz="1400" i="0">
                            <a:latin typeface="Cambria Math" panose="02040503050406030204" pitchFamily="18" charset="0"/>
                          </a:rPr>
                          <m:t>,</m:t>
                        </m:r>
                        <m:r>
                          <a:rPr lang="en-US" sz="1400" i="1">
                            <a:latin typeface="Cambria Math" panose="02040503050406030204" pitchFamily="18" charset="0"/>
                          </a:rPr>
                          <m:t>𝑗</m:t>
                        </m:r>
                      </m:sub>
                      <m:sup>
                        <m:d>
                          <m:dPr>
                            <m:ctrlPr>
                              <a:rPr lang="en-US" sz="1400" i="1">
                                <a:latin typeface="Cambria Math" panose="02040503050406030204" pitchFamily="18" charset="0"/>
                              </a:rPr>
                            </m:ctrlPr>
                          </m:dPr>
                          <m:e>
                            <m:r>
                              <a:rPr lang="en-US" sz="1400" i="1">
                                <a:latin typeface="Cambria Math" panose="02040503050406030204" pitchFamily="18" charset="0"/>
                              </a:rPr>
                              <m:t>𝑙</m:t>
                            </m:r>
                          </m:e>
                        </m:d>
                      </m:sup>
                    </m:sSubSup>
                  </m:oMath>
                </a14:m>
                <a:r>
                  <a:rPr lang="en-US" sz="1400" b="1" dirty="0">
                    <a:solidFill>
                      <a:schemeClr val="tx1"/>
                    </a:solidFill>
                    <a:effectLst/>
                    <a:latin typeface="Calibri" panose="020F0502020204030204" pitchFamily="34" charset="0"/>
                    <a:cs typeface="Calibri" panose="020F0502020204030204" pitchFamily="34" charset="0"/>
                  </a:rPr>
                  <a:t>:</a:t>
                </a:r>
                <a:r>
                  <a:rPr lang="en-US" sz="1400" dirty="0">
                    <a:solidFill>
                      <a:schemeClr val="tx1"/>
                    </a:solidFill>
                    <a:effectLst/>
                    <a:latin typeface="Calibri" panose="020F0502020204030204" pitchFamily="34" charset="0"/>
                    <a:cs typeface="Calibri" panose="020F0502020204030204" pitchFamily="34" charset="0"/>
                  </a:rPr>
                  <a:t> The </a:t>
                </a:r>
                <a:r>
                  <a:rPr lang="en-US" sz="1400" b="1" dirty="0">
                    <a:solidFill>
                      <a:schemeClr val="tx1"/>
                    </a:solidFill>
                    <a:effectLst/>
                    <a:latin typeface="Calibri" panose="020F0502020204030204" pitchFamily="34" charset="0"/>
                    <a:cs typeface="Calibri" panose="020F0502020204030204" pitchFamily="34" charset="0"/>
                  </a:rPr>
                  <a:t>Weight</a:t>
                </a:r>
                <a:r>
                  <a:rPr lang="en-US" sz="1400" dirty="0">
                    <a:solidFill>
                      <a:schemeClr val="tx1"/>
                    </a:solidFill>
                    <a:effectLst/>
                    <a:latin typeface="Calibri" panose="020F0502020204030204" pitchFamily="34" charset="0"/>
                    <a:cs typeface="Calibri" panose="020F0502020204030204" pitchFamily="34" charset="0"/>
                  </a:rPr>
                  <a:t> connecting neuron </a:t>
                </a:r>
                <a14:m>
                  <m:oMath xmlns:m="http://schemas.openxmlformats.org/officeDocument/2006/math">
                    <m:r>
                      <a:rPr lang="en-US" sz="1400" i="1" smtClean="0">
                        <a:latin typeface="Cambria Math" panose="02040503050406030204" pitchFamily="18" charset="0"/>
                      </a:rPr>
                      <m:t>𝑗</m:t>
                    </m:r>
                  </m:oMath>
                </a14:m>
                <a:r>
                  <a:rPr lang="en-US" sz="1400" dirty="0">
                    <a:solidFill>
                      <a:schemeClr val="tx1"/>
                    </a:solidFill>
                    <a:effectLst/>
                    <a:latin typeface="Calibri" panose="020F0502020204030204" pitchFamily="34" charset="0"/>
                    <a:cs typeface="Calibri" panose="020F0502020204030204" pitchFamily="34" charset="0"/>
                  </a:rPr>
                  <a:t> in layer </a:t>
                </a:r>
                <a14:m>
                  <m:oMath xmlns:m="http://schemas.openxmlformats.org/officeDocument/2006/math">
                    <m:r>
                      <a:rPr lang="en-US" sz="1400" i="1" smtClean="0">
                        <a:latin typeface="Cambria Math" panose="02040503050406030204" pitchFamily="18" charset="0"/>
                      </a:rPr>
                      <m:t>𝑙</m:t>
                    </m:r>
                    <m:r>
                      <a:rPr lang="en-US" sz="1400" i="0">
                        <a:latin typeface="Cambria Math" panose="02040503050406030204" pitchFamily="18" charset="0"/>
                      </a:rPr>
                      <m:t>−1</m:t>
                    </m:r>
                  </m:oMath>
                </a14:m>
                <a:r>
                  <a:rPr lang="en-US" sz="1400" dirty="0">
                    <a:solidFill>
                      <a:schemeClr val="tx1"/>
                    </a:solidFill>
                    <a:effectLst/>
                    <a:latin typeface="Calibri" panose="020F0502020204030204" pitchFamily="34" charset="0"/>
                    <a:cs typeface="Calibri" panose="020F0502020204030204" pitchFamily="34" charset="0"/>
                  </a:rPr>
                  <a:t> to neuron </a:t>
                </a:r>
                <a14:m>
                  <m:oMath xmlns:m="http://schemas.openxmlformats.org/officeDocument/2006/math">
                    <m:r>
                      <a:rPr lang="en-US" sz="1400" i="1" smtClean="0">
                        <a:latin typeface="Cambria Math" panose="02040503050406030204" pitchFamily="18" charset="0"/>
                      </a:rPr>
                      <m:t>𝑖</m:t>
                    </m:r>
                    <m:r>
                      <a:rPr lang="en-US" sz="1400" b="0" i="1" smtClean="0">
                        <a:latin typeface="Cambria Math" panose="02040503050406030204" pitchFamily="18" charset="0"/>
                      </a:rPr>
                      <m:t> </m:t>
                    </m:r>
                  </m:oMath>
                </a14:m>
                <a:r>
                  <a:rPr lang="en-US" sz="1400" dirty="0">
                    <a:solidFill>
                      <a:schemeClr val="tx1"/>
                    </a:solidFill>
                    <a:effectLst/>
                    <a:latin typeface="Calibri" panose="020F0502020204030204" pitchFamily="34" charset="0"/>
                    <a:cs typeface="Calibri" panose="020F0502020204030204" pitchFamily="34" charset="0"/>
                  </a:rPr>
                  <a:t>in layer </a:t>
                </a:r>
                <a14:m>
                  <m:oMath xmlns:m="http://schemas.openxmlformats.org/officeDocument/2006/math">
                    <m:r>
                      <a:rPr lang="en-US" sz="1400" i="1" smtClean="0">
                        <a:latin typeface="Cambria Math" panose="02040503050406030204" pitchFamily="18" charset="0"/>
                      </a:rPr>
                      <m:t>𝑙</m:t>
                    </m:r>
                  </m:oMath>
                </a14:m>
                <a:r>
                  <a:rPr lang="en-US" sz="1400" dirty="0">
                    <a:solidFill>
                      <a:schemeClr val="tx1"/>
                    </a:solidFill>
                    <a:effectLst/>
                    <a:latin typeface="Calibri" panose="020F0502020204030204" pitchFamily="34" charset="0"/>
                    <a:cs typeface="Calibri" panose="020F0502020204030204" pitchFamily="34" charset="0"/>
                  </a:rPr>
                  <a:t>.</a:t>
                </a:r>
              </a:p>
              <a:p>
                <a:pPr marL="0" marR="0" lvl="1" indent="-285750" rtl="0">
                  <a:buFont typeface="Arial" panose="020B0604020202020204" pitchFamily="34" charset="0"/>
                  <a:buChar char="•"/>
                </a:pPr>
                <a:r>
                  <a:rPr lang="en-US" sz="1400" i="1" dirty="0">
                    <a:solidFill>
                      <a:schemeClr val="tx1"/>
                    </a:solidFill>
                    <a:effectLst/>
                    <a:latin typeface="Calibri" panose="020F0502020204030204" pitchFamily="34" charset="0"/>
                    <a:cs typeface="Calibri" panose="020F0502020204030204" pitchFamily="34" charset="0"/>
                  </a:rPr>
                  <a:t>Example:</a:t>
                </a:r>
                <a:r>
                  <a:rPr lang="en-US" sz="1400" dirty="0">
                    <a:solidFill>
                      <a:schemeClr val="tx1"/>
                    </a:solidFill>
                    <a:effectLst/>
                    <a:latin typeface="Calibri" panose="020F0502020204030204" pitchFamily="34" charset="0"/>
                    <a:cs typeface="Calibri" panose="020F0502020204030204" pitchFamily="34" charset="0"/>
                  </a:rPr>
                  <a:t> </a:t>
                </a:r>
                <a14:m>
                  <m:oMath xmlns:m="http://schemas.openxmlformats.org/officeDocument/2006/math">
                    <m:sSubSup>
                      <m:sSubSupPr>
                        <m:ctrlPr>
                          <a:rPr lang="en-US" sz="1400" i="1">
                            <a:latin typeface="Cambria Math" panose="02040503050406030204" pitchFamily="18" charset="0"/>
                          </a:rPr>
                        </m:ctrlPr>
                      </m:sSubSupPr>
                      <m:e>
                        <m:r>
                          <a:rPr lang="en-US" sz="1400" i="1">
                            <a:latin typeface="Cambria Math" panose="02040503050406030204" pitchFamily="18" charset="0"/>
                          </a:rPr>
                          <m:t>𝑤</m:t>
                        </m:r>
                      </m:e>
                      <m:sub>
                        <m:r>
                          <a:rPr lang="en-US" sz="1400" i="0">
                            <a:latin typeface="Cambria Math" panose="02040503050406030204" pitchFamily="18" charset="0"/>
                          </a:rPr>
                          <m:t>1,1</m:t>
                        </m:r>
                      </m:sub>
                      <m:sup>
                        <m:d>
                          <m:dPr>
                            <m:ctrlPr>
                              <a:rPr lang="en-US" sz="1400" i="1">
                                <a:latin typeface="Cambria Math" panose="02040503050406030204" pitchFamily="18" charset="0"/>
                              </a:rPr>
                            </m:ctrlPr>
                          </m:dPr>
                          <m:e>
                            <m:r>
                              <a:rPr lang="en-US" sz="1400" i="0">
                                <a:latin typeface="Cambria Math" panose="02040503050406030204" pitchFamily="18" charset="0"/>
                              </a:rPr>
                              <m:t>1</m:t>
                            </m:r>
                          </m:e>
                        </m:d>
                      </m:sup>
                    </m:sSubSup>
                  </m:oMath>
                </a14:m>
                <a:r>
                  <a:rPr lang="en-US" sz="1400" dirty="0">
                    <a:solidFill>
                      <a:schemeClr val="tx1"/>
                    </a:solidFill>
                    <a:effectLst/>
                    <a:latin typeface="Calibri" panose="020F0502020204030204" pitchFamily="34" charset="0"/>
                    <a:cs typeface="Calibri" panose="020F0502020204030204" pitchFamily="34" charset="0"/>
                  </a:rPr>
                  <a:t>is the weight connecting input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𝑥</m:t>
                        </m:r>
                      </m:e>
                      <m:sub>
                        <m:r>
                          <a:rPr lang="en-US" sz="1400" i="0">
                            <a:latin typeface="Cambria Math" panose="02040503050406030204" pitchFamily="18" charset="0"/>
                          </a:rPr>
                          <m:t>1</m:t>
                        </m:r>
                      </m:sub>
                    </m:sSub>
                  </m:oMath>
                </a14:m>
                <a:r>
                  <a:rPr lang="en-US" sz="1400" dirty="0">
                    <a:solidFill>
                      <a:schemeClr val="tx1"/>
                    </a:solidFill>
                    <a:effectLst/>
                    <a:latin typeface="Calibri" panose="020F0502020204030204" pitchFamily="34" charset="0"/>
                    <a:cs typeface="Calibri" panose="020F0502020204030204" pitchFamily="34" charset="0"/>
                  </a:rPr>
                  <a:t>to the 1st neuron of Layer 1.</a:t>
                </a:r>
              </a:p>
              <a:p>
                <a:pPr marL="0" marR="0" lvl="0" indent="-342900" rtl="0">
                  <a:buFont typeface="Arial" panose="020B0604020202020204" pitchFamily="34" charset="0"/>
                  <a:buChar char="•"/>
                </a:pPr>
                <a14:m>
                  <m:oMath xmlns:m="http://schemas.openxmlformats.org/officeDocument/2006/math">
                    <m:sSubSup>
                      <m:sSubSupPr>
                        <m:ctrlPr>
                          <a:rPr lang="en-US" sz="1400" i="1">
                            <a:latin typeface="Cambria Math" panose="02040503050406030204" pitchFamily="18" charset="0"/>
                          </a:rPr>
                        </m:ctrlPr>
                      </m:sSubSupPr>
                      <m:e>
                        <m:r>
                          <a:rPr lang="en-US" sz="1400" i="1">
                            <a:latin typeface="Cambria Math" panose="02040503050406030204" pitchFamily="18" charset="0"/>
                          </a:rPr>
                          <m:t>𝑏</m:t>
                        </m:r>
                      </m:e>
                      <m:sub>
                        <m:r>
                          <a:rPr lang="en-US" sz="1400" i="1">
                            <a:latin typeface="Cambria Math" panose="02040503050406030204" pitchFamily="18" charset="0"/>
                          </a:rPr>
                          <m:t>𝑖</m:t>
                        </m:r>
                      </m:sub>
                      <m:sup>
                        <m:d>
                          <m:dPr>
                            <m:ctrlPr>
                              <a:rPr lang="en-US" sz="1400" i="1">
                                <a:latin typeface="Cambria Math" panose="02040503050406030204" pitchFamily="18" charset="0"/>
                              </a:rPr>
                            </m:ctrlPr>
                          </m:dPr>
                          <m:e>
                            <m:r>
                              <a:rPr lang="en-US" sz="1400" i="1">
                                <a:latin typeface="Cambria Math" panose="02040503050406030204" pitchFamily="18" charset="0"/>
                              </a:rPr>
                              <m:t>𝑙</m:t>
                            </m:r>
                          </m:e>
                        </m:d>
                      </m:sup>
                    </m:sSubSup>
                  </m:oMath>
                </a14:m>
                <a:r>
                  <a:rPr lang="en-US" sz="1400" b="1" dirty="0">
                    <a:solidFill>
                      <a:schemeClr val="tx1"/>
                    </a:solidFill>
                    <a:effectLst/>
                    <a:latin typeface="Calibri" panose="020F0502020204030204" pitchFamily="34" charset="0"/>
                    <a:cs typeface="Calibri" panose="020F0502020204030204" pitchFamily="34" charset="0"/>
                  </a:rPr>
                  <a:t>:</a:t>
                </a:r>
                <a:r>
                  <a:rPr lang="en-US" sz="1400" dirty="0">
                    <a:solidFill>
                      <a:schemeClr val="tx1"/>
                    </a:solidFill>
                    <a:effectLst/>
                    <a:latin typeface="Calibri" panose="020F0502020204030204" pitchFamily="34" charset="0"/>
                    <a:cs typeface="Calibri" panose="020F0502020204030204" pitchFamily="34" charset="0"/>
                  </a:rPr>
                  <a:t> The </a:t>
                </a:r>
                <a:r>
                  <a:rPr lang="en-US" sz="1400" b="1" dirty="0">
                    <a:solidFill>
                      <a:schemeClr val="tx1"/>
                    </a:solidFill>
                    <a:effectLst/>
                    <a:latin typeface="Calibri" panose="020F0502020204030204" pitchFamily="34" charset="0"/>
                    <a:cs typeface="Calibri" panose="020F0502020204030204" pitchFamily="34" charset="0"/>
                  </a:rPr>
                  <a:t>Bias</a:t>
                </a:r>
                <a:r>
                  <a:rPr lang="en-US" sz="1400" dirty="0">
                    <a:solidFill>
                      <a:schemeClr val="tx1"/>
                    </a:solidFill>
                    <a:effectLst/>
                    <a:latin typeface="Calibri" panose="020F0502020204030204" pitchFamily="34" charset="0"/>
                    <a:cs typeface="Calibri" panose="020F0502020204030204" pitchFamily="34" charset="0"/>
                  </a:rPr>
                  <a:t> added to neuron </a:t>
                </a:r>
                <a14:m>
                  <m:oMath xmlns:m="http://schemas.openxmlformats.org/officeDocument/2006/math">
                    <m:r>
                      <a:rPr lang="en-US" sz="1400" i="1" smtClean="0">
                        <a:latin typeface="Cambria Math" panose="02040503050406030204" pitchFamily="18" charset="0"/>
                      </a:rPr>
                      <m:t>𝑖</m:t>
                    </m:r>
                    <m:r>
                      <a:rPr lang="en-US" sz="1400" b="0" i="1" smtClean="0">
                        <a:latin typeface="Cambria Math" panose="02040503050406030204" pitchFamily="18" charset="0"/>
                      </a:rPr>
                      <m:t> </m:t>
                    </m:r>
                  </m:oMath>
                </a14:m>
                <a:r>
                  <a:rPr lang="en-US" sz="1400" dirty="0">
                    <a:solidFill>
                      <a:schemeClr val="tx1"/>
                    </a:solidFill>
                    <a:effectLst/>
                    <a:latin typeface="Calibri" panose="020F0502020204030204" pitchFamily="34" charset="0"/>
                    <a:cs typeface="Calibri" panose="020F0502020204030204" pitchFamily="34" charset="0"/>
                  </a:rPr>
                  <a:t>in layer </a:t>
                </a:r>
                <a14:m>
                  <m:oMath xmlns:m="http://schemas.openxmlformats.org/officeDocument/2006/math">
                    <m:r>
                      <a:rPr lang="en-US" sz="1400" i="1" smtClean="0">
                        <a:latin typeface="Cambria Math" panose="02040503050406030204" pitchFamily="18" charset="0"/>
                      </a:rPr>
                      <m:t>𝑙</m:t>
                    </m:r>
                  </m:oMath>
                </a14:m>
                <a:r>
                  <a:rPr lang="en-US" sz="1400" dirty="0">
                    <a:solidFill>
                      <a:schemeClr val="tx1"/>
                    </a:solidFill>
                    <a:effectLst/>
                    <a:latin typeface="Calibri" panose="020F0502020204030204" pitchFamily="34" charset="0"/>
                    <a:cs typeface="Calibri" panose="020F0502020204030204" pitchFamily="34" charset="0"/>
                  </a:rPr>
                  <a:t>.</a:t>
                </a:r>
              </a:p>
              <a:p>
                <a:pPr marR="0" lvl="0" rtl="0"/>
                <a:endParaRPr lang="en-US" sz="1400" dirty="0">
                  <a:solidFill>
                    <a:schemeClr val="tx1"/>
                  </a:solidFill>
                  <a:effectLst/>
                  <a:latin typeface="Calibri" panose="020F0502020204030204" pitchFamily="34" charset="0"/>
                  <a:cs typeface="Calibri" panose="020F0502020204030204" pitchFamily="34" charset="0"/>
                </a:endParaRPr>
              </a:p>
              <a:p>
                <a:pPr marL="0" marR="0" rtl="0">
                  <a:buNone/>
                </a:pPr>
                <a:r>
                  <a:rPr lang="en-US" sz="1400" b="1" dirty="0">
                    <a:solidFill>
                      <a:schemeClr val="tx1"/>
                    </a:solidFill>
                    <a:effectLst/>
                    <a:latin typeface="Calibri" panose="020F0502020204030204" pitchFamily="34" charset="0"/>
                    <a:cs typeface="Calibri" panose="020F0502020204030204" pitchFamily="34" charset="0"/>
                  </a:rPr>
                  <a:t>Hidden Neuron Calculation (Layer 1)</a:t>
                </a:r>
                <a:endParaRPr lang="en-US" sz="1400" dirty="0">
                  <a:solidFill>
                    <a:schemeClr val="tx1"/>
                  </a:solidFill>
                  <a:effectLst/>
                  <a:latin typeface="Calibri" panose="020F0502020204030204" pitchFamily="34" charset="0"/>
                  <a:cs typeface="Calibri" panose="020F0502020204030204" pitchFamily="34" charset="0"/>
                </a:endParaRPr>
              </a:p>
              <a:p>
                <a:pPr marL="0" marR="0" lvl="0" indent="-342900" rtl="0">
                  <a:buFont typeface="Arial" panose="020B0604020202020204" pitchFamily="34" charset="0"/>
                  <a:buChar char="•"/>
                </a:pP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𝑎</m:t>
                        </m:r>
                      </m:e>
                      <m:sub>
                        <m:r>
                          <a:rPr lang="en-US" sz="1400" i="1">
                            <a:latin typeface="Cambria Math" panose="02040503050406030204" pitchFamily="18" charset="0"/>
                          </a:rPr>
                          <m:t>𝑖</m:t>
                        </m:r>
                      </m:sub>
                    </m:sSub>
                  </m:oMath>
                </a14:m>
                <a:r>
                  <a:rPr lang="en-US" sz="1400" b="1" dirty="0">
                    <a:solidFill>
                      <a:schemeClr val="tx1"/>
                    </a:solidFill>
                    <a:effectLst/>
                    <a:latin typeface="Calibri" panose="020F0502020204030204" pitchFamily="34" charset="0"/>
                    <a:cs typeface="Calibri" panose="020F0502020204030204" pitchFamily="34" charset="0"/>
                  </a:rPr>
                  <a:t>:</a:t>
                </a:r>
                <a:r>
                  <a:rPr lang="en-US" sz="1400" dirty="0">
                    <a:solidFill>
                      <a:schemeClr val="tx1"/>
                    </a:solidFill>
                    <a:effectLst/>
                    <a:latin typeface="Calibri" panose="020F0502020204030204" pitchFamily="34" charset="0"/>
                    <a:cs typeface="Calibri" panose="020F0502020204030204" pitchFamily="34" charset="0"/>
                  </a:rPr>
                  <a:t> The </a:t>
                </a:r>
                <a:r>
                  <a:rPr lang="en-US" sz="1400" b="1" dirty="0">
                    <a:solidFill>
                      <a:schemeClr val="tx1"/>
                    </a:solidFill>
                    <a:effectLst/>
                    <a:latin typeface="Calibri" panose="020F0502020204030204" pitchFamily="34" charset="0"/>
                    <a:cs typeface="Calibri" panose="020F0502020204030204" pitchFamily="34" charset="0"/>
                  </a:rPr>
                  <a:t>Linear Combination</a:t>
                </a:r>
                <a:r>
                  <a:rPr lang="en-US" sz="1400" dirty="0">
                    <a:solidFill>
                      <a:schemeClr val="tx1"/>
                    </a:solidFill>
                    <a:effectLst/>
                    <a:latin typeface="Calibri" panose="020F0502020204030204" pitchFamily="34" charset="0"/>
                    <a:cs typeface="Calibri" panose="020F0502020204030204" pitchFamily="34" charset="0"/>
                  </a:rPr>
                  <a:t> (weighted sum + bias) at hidden neuron </a:t>
                </a:r>
                <a14:m>
                  <m:oMath xmlns:m="http://schemas.openxmlformats.org/officeDocument/2006/math">
                    <m:r>
                      <a:rPr lang="en-US" sz="1400" i="1" smtClean="0">
                        <a:latin typeface="Cambria Math" panose="02040503050406030204" pitchFamily="18" charset="0"/>
                      </a:rPr>
                      <m:t>𝑖</m:t>
                    </m:r>
                  </m:oMath>
                </a14:m>
                <a:r>
                  <a:rPr lang="en-US" sz="1400" dirty="0">
                    <a:solidFill>
                      <a:schemeClr val="tx1"/>
                    </a:solidFill>
                    <a:effectLst/>
                    <a:latin typeface="Calibri" panose="020F0502020204030204" pitchFamily="34" charset="0"/>
                    <a:cs typeface="Calibri" panose="020F0502020204030204" pitchFamily="34" charset="0"/>
                  </a:rPr>
                  <a:t>:</a:t>
                </a:r>
              </a:p>
              <a:p>
                <a:pPr marL="0" marR="0" lvl="0" indent="-342900" rtl="0">
                  <a:buFont typeface="Arial" panose="020B0604020202020204" pitchFamily="34" charset="0"/>
                  <a:buChar char="•"/>
                </a:pP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𝑎</m:t>
                        </m:r>
                      </m:e>
                      <m:sub>
                        <m:r>
                          <a:rPr lang="en-US" sz="1400" i="1">
                            <a:latin typeface="Cambria Math" panose="02040503050406030204" pitchFamily="18" charset="0"/>
                          </a:rPr>
                          <m:t>𝑖</m:t>
                        </m:r>
                      </m:sub>
                    </m:sSub>
                    <m:r>
                      <a:rPr lang="en-US" sz="1400" i="0">
                        <a:latin typeface="Cambria Math" panose="02040503050406030204" pitchFamily="18" charset="0"/>
                      </a:rPr>
                      <m:t>=</m:t>
                    </m:r>
                    <m:nary>
                      <m:naryPr>
                        <m:chr m:val="∑"/>
                        <m:limLoc m:val="undOvr"/>
                        <m:subHide m:val="on"/>
                        <m:supHide m:val="on"/>
                        <m:ctrlPr>
                          <a:rPr lang="en-US" sz="1400" i="1">
                            <a:latin typeface="Cambria Math" panose="02040503050406030204" pitchFamily="18" charset="0"/>
                          </a:rPr>
                        </m:ctrlPr>
                      </m:naryPr>
                      <m:sub/>
                      <m:sup/>
                      <m:e>
                        <m:d>
                          <m:dPr>
                            <m:ctrlPr>
                              <a:rPr lang="en-US" sz="1400" i="1">
                                <a:latin typeface="Cambria Math" panose="02040503050406030204" pitchFamily="18" charset="0"/>
                              </a:rPr>
                            </m:ctrlPr>
                          </m:dPr>
                          <m:e>
                            <m:r>
                              <a:rPr lang="en-US" sz="1400" i="1">
                                <a:latin typeface="Cambria Math" panose="02040503050406030204" pitchFamily="18" charset="0"/>
                              </a:rPr>
                              <m:t>𝑤</m:t>
                            </m:r>
                            <m:r>
                              <a:rPr lang="en-US" sz="1400" i="0">
                                <a:latin typeface="Cambria Math" panose="02040503050406030204" pitchFamily="18" charset="0"/>
                              </a:rPr>
                              <m:t>⋅</m:t>
                            </m:r>
                            <m:r>
                              <a:rPr lang="en-US" sz="1400" i="1">
                                <a:latin typeface="Cambria Math" panose="02040503050406030204" pitchFamily="18" charset="0"/>
                              </a:rPr>
                              <m:t>𝑥</m:t>
                            </m:r>
                          </m:e>
                        </m:d>
                      </m:e>
                    </m:nary>
                    <m:r>
                      <a:rPr lang="en-US" sz="1400" i="0">
                        <a:latin typeface="Cambria Math" panose="02040503050406030204" pitchFamily="18" charset="0"/>
                      </a:rPr>
                      <m:t>+</m:t>
                    </m:r>
                    <m:r>
                      <a:rPr lang="en-US" sz="1400" i="1">
                        <a:latin typeface="Cambria Math" panose="02040503050406030204" pitchFamily="18" charset="0"/>
                      </a:rPr>
                      <m:t>𝑏</m:t>
                    </m:r>
                  </m:oMath>
                </a14:m>
                <a:endParaRPr lang="en-US" sz="1400" dirty="0">
                  <a:solidFill>
                    <a:schemeClr val="tx1"/>
                  </a:solidFill>
                  <a:effectLst/>
                  <a:latin typeface="Calibri" panose="020F0502020204030204" pitchFamily="34" charset="0"/>
                  <a:cs typeface="Calibri" panose="020F0502020204030204" pitchFamily="34" charset="0"/>
                </a:endParaRPr>
              </a:p>
              <a:p>
                <a:pPr marL="0" marR="0" lvl="0" indent="-342900" rtl="0">
                  <a:buFont typeface="Arial" panose="020B0604020202020204" pitchFamily="34" charset="0"/>
                  <a:buChar char="•"/>
                </a:pPr>
                <a14:m>
                  <m:oMath xmlns:m="http://schemas.openxmlformats.org/officeDocument/2006/math">
                    <m:r>
                      <a:rPr lang="en-US" sz="1400" i="1" smtClean="0">
                        <a:latin typeface="Cambria Math" panose="02040503050406030204" pitchFamily="18" charset="0"/>
                      </a:rPr>
                      <m:t>h</m:t>
                    </m:r>
                    <m:d>
                      <m:dPr>
                        <m:ctrlPr>
                          <a:rPr lang="en-US" sz="1400" i="1">
                            <a:latin typeface="Cambria Math" panose="02040503050406030204" pitchFamily="18" charset="0"/>
                          </a:rPr>
                        </m:ctrlPr>
                      </m:dPr>
                      <m:e>
                        <m:r>
                          <a:rPr lang="en-US" sz="1400" i="1">
                            <a:latin typeface="Cambria Math" panose="02040503050406030204" pitchFamily="18" charset="0"/>
                          </a:rPr>
                          <m:t>𝑥</m:t>
                        </m:r>
                      </m:e>
                    </m:d>
                  </m:oMath>
                </a14:m>
                <a:r>
                  <a:rPr lang="en-US" sz="1400" b="1" dirty="0">
                    <a:solidFill>
                      <a:schemeClr val="tx1"/>
                    </a:solidFill>
                    <a:effectLst/>
                    <a:latin typeface="Calibri" panose="020F0502020204030204" pitchFamily="34" charset="0"/>
                    <a:cs typeface="Calibri" panose="020F0502020204030204" pitchFamily="34" charset="0"/>
                  </a:rPr>
                  <a:t>:</a:t>
                </a:r>
                <a:r>
                  <a:rPr lang="en-US" sz="1400" dirty="0">
                    <a:solidFill>
                      <a:schemeClr val="tx1"/>
                    </a:solidFill>
                    <a:effectLst/>
                    <a:latin typeface="Calibri" panose="020F0502020204030204" pitchFamily="34" charset="0"/>
                    <a:cs typeface="Calibri" panose="020F0502020204030204" pitchFamily="34" charset="0"/>
                  </a:rPr>
                  <a:t> The non-linear </a:t>
                </a:r>
                <a:r>
                  <a:rPr lang="en-US" sz="1400" b="1" dirty="0">
                    <a:solidFill>
                      <a:schemeClr val="tx1"/>
                    </a:solidFill>
                    <a:effectLst/>
                    <a:latin typeface="Calibri" panose="020F0502020204030204" pitchFamily="34" charset="0"/>
                    <a:cs typeface="Calibri" panose="020F0502020204030204" pitchFamily="34" charset="0"/>
                  </a:rPr>
                  <a:t>Activation Function</a:t>
                </a:r>
                <a:r>
                  <a:rPr lang="en-US" sz="1400" dirty="0">
                    <a:solidFill>
                      <a:schemeClr val="tx1"/>
                    </a:solidFill>
                    <a:effectLst/>
                    <a:latin typeface="Calibri" panose="020F0502020204030204" pitchFamily="34" charset="0"/>
                    <a:cs typeface="Calibri" panose="020F0502020204030204" pitchFamily="34" charset="0"/>
                  </a:rPr>
                  <a:t> (e.g., ReLU or Sigmoid) applied to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𝑎</m:t>
                        </m:r>
                      </m:e>
                      <m:sub>
                        <m:r>
                          <a:rPr lang="en-US" sz="1400" i="1">
                            <a:latin typeface="Cambria Math" panose="02040503050406030204" pitchFamily="18" charset="0"/>
                          </a:rPr>
                          <m:t>𝑖</m:t>
                        </m:r>
                      </m:sub>
                    </m:sSub>
                  </m:oMath>
                </a14:m>
                <a:r>
                  <a:rPr lang="en-US" sz="1400" dirty="0">
                    <a:solidFill>
                      <a:schemeClr val="tx1"/>
                    </a:solidFill>
                    <a:effectLst/>
                    <a:latin typeface="Calibri" panose="020F0502020204030204" pitchFamily="34" charset="0"/>
                    <a:cs typeface="Calibri" panose="020F0502020204030204" pitchFamily="34" charset="0"/>
                  </a:rPr>
                  <a:t>.</a:t>
                </a:r>
              </a:p>
              <a:p>
                <a:pPr marL="0" marR="0" lvl="0" indent="-342900" rtl="0">
                  <a:buFont typeface="Arial" panose="020B0604020202020204" pitchFamily="34" charset="0"/>
                  <a:buChar char="•"/>
                </a:pP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𝑧</m:t>
                        </m:r>
                      </m:e>
                      <m:sub>
                        <m:r>
                          <a:rPr lang="en-US" sz="1400" i="1">
                            <a:latin typeface="Cambria Math" panose="02040503050406030204" pitchFamily="18" charset="0"/>
                          </a:rPr>
                          <m:t>𝑖</m:t>
                        </m:r>
                      </m:sub>
                    </m:sSub>
                  </m:oMath>
                </a14:m>
                <a:r>
                  <a:rPr lang="en-US" sz="1400" b="1" dirty="0">
                    <a:solidFill>
                      <a:schemeClr val="tx1"/>
                    </a:solidFill>
                    <a:effectLst/>
                    <a:latin typeface="Calibri" panose="020F0502020204030204" pitchFamily="34" charset="0"/>
                    <a:cs typeface="Calibri" panose="020F0502020204030204" pitchFamily="34" charset="0"/>
                  </a:rPr>
                  <a:t>:</a:t>
                </a:r>
                <a:r>
                  <a:rPr lang="en-US" sz="1400" dirty="0">
                    <a:solidFill>
                      <a:schemeClr val="tx1"/>
                    </a:solidFill>
                    <a:effectLst/>
                    <a:latin typeface="Calibri" panose="020F0502020204030204" pitchFamily="34" charset="0"/>
                    <a:cs typeface="Calibri" panose="020F0502020204030204" pitchFamily="34" charset="0"/>
                  </a:rPr>
                  <a:t> The final </a:t>
                </a:r>
                <a:r>
                  <a:rPr lang="en-US" sz="1400" b="1" dirty="0">
                    <a:solidFill>
                      <a:schemeClr val="tx1"/>
                    </a:solidFill>
                    <a:effectLst/>
                    <a:latin typeface="Calibri" panose="020F0502020204030204" pitchFamily="34" charset="0"/>
                    <a:cs typeface="Calibri" panose="020F0502020204030204" pitchFamily="34" charset="0"/>
                  </a:rPr>
                  <a:t>Activated Output</a:t>
                </a:r>
                <a:r>
                  <a:rPr lang="en-US" sz="1400" dirty="0">
                    <a:solidFill>
                      <a:schemeClr val="tx1"/>
                    </a:solidFill>
                    <a:effectLst/>
                    <a:latin typeface="Calibri" panose="020F0502020204030204" pitchFamily="34" charset="0"/>
                    <a:cs typeface="Calibri" panose="020F0502020204030204" pitchFamily="34" charset="0"/>
                  </a:rPr>
                  <a:t> of hidden neuron </a:t>
                </a:r>
                <a14:m>
                  <m:oMath xmlns:m="http://schemas.openxmlformats.org/officeDocument/2006/math">
                    <m:r>
                      <a:rPr lang="en-US" sz="1400" i="1" smtClean="0">
                        <a:latin typeface="Cambria Math" panose="02040503050406030204" pitchFamily="18" charset="0"/>
                      </a:rPr>
                      <m:t>𝑖</m:t>
                    </m:r>
                  </m:oMath>
                </a14:m>
                <a:r>
                  <a:rPr lang="en-US" sz="1400" dirty="0">
                    <a:solidFill>
                      <a:schemeClr val="tx1"/>
                    </a:solidFill>
                    <a:effectLst/>
                    <a:latin typeface="Calibri" panose="020F0502020204030204" pitchFamily="34" charset="0"/>
                    <a:cs typeface="Calibri" panose="020F0502020204030204" pitchFamily="34" charset="0"/>
                  </a:rPr>
                  <a:t>, where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𝑧</m:t>
                        </m:r>
                      </m:e>
                      <m:sub>
                        <m:r>
                          <a:rPr lang="en-US" sz="1400" i="1">
                            <a:latin typeface="Cambria Math" panose="02040503050406030204" pitchFamily="18" charset="0"/>
                          </a:rPr>
                          <m:t>𝑖</m:t>
                        </m:r>
                      </m:sub>
                    </m:sSub>
                    <m:r>
                      <a:rPr lang="en-US" sz="1400" i="0">
                        <a:latin typeface="Cambria Math" panose="02040503050406030204" pitchFamily="18" charset="0"/>
                      </a:rPr>
                      <m:t>=</m:t>
                    </m:r>
                    <m:r>
                      <a:rPr lang="en-US" sz="1400" i="1">
                        <a:latin typeface="Cambria Math" panose="02040503050406030204" pitchFamily="18" charset="0"/>
                      </a:rPr>
                      <m:t>h</m:t>
                    </m:r>
                    <m:d>
                      <m:dPr>
                        <m:ctrlPr>
                          <a:rPr lang="en-US" sz="1400" i="1">
                            <a:latin typeface="Cambria Math" panose="02040503050406030204" pitchFamily="18" charset="0"/>
                          </a:rPr>
                        </m:ctrlPr>
                      </m:dPr>
                      <m:e>
                        <m:sSub>
                          <m:sSubPr>
                            <m:ctrlPr>
                              <a:rPr lang="en-US" sz="1400" i="1">
                                <a:latin typeface="Cambria Math" panose="02040503050406030204" pitchFamily="18" charset="0"/>
                              </a:rPr>
                            </m:ctrlPr>
                          </m:sSubPr>
                          <m:e>
                            <m:r>
                              <a:rPr lang="en-US" sz="1400" i="1">
                                <a:latin typeface="Cambria Math" panose="02040503050406030204" pitchFamily="18" charset="0"/>
                              </a:rPr>
                              <m:t>𝑎</m:t>
                            </m:r>
                          </m:e>
                          <m:sub>
                            <m:r>
                              <a:rPr lang="en-US" sz="1400" i="1">
                                <a:latin typeface="Cambria Math" panose="02040503050406030204" pitchFamily="18" charset="0"/>
                              </a:rPr>
                              <m:t>𝑖</m:t>
                            </m:r>
                          </m:sub>
                        </m:sSub>
                      </m:e>
                    </m:d>
                  </m:oMath>
                </a14:m>
                <a:r>
                  <a:rPr lang="en-US" sz="1400" dirty="0">
                    <a:solidFill>
                      <a:schemeClr val="tx1"/>
                    </a:solidFill>
                    <a:effectLst/>
                    <a:latin typeface="Calibri" panose="020F0502020204030204" pitchFamily="34" charset="0"/>
                    <a:cs typeface="Calibri" panose="020F0502020204030204" pitchFamily="34" charset="0"/>
                  </a:rPr>
                  <a:t>. This output is sent as the input to Layer 2.</a:t>
                </a:r>
              </a:p>
              <a:p>
                <a:pPr marL="0" marR="0" rtl="0">
                  <a:buNone/>
                </a:pPr>
                <a:endParaRPr lang="en-US" sz="1400" b="1" dirty="0">
                  <a:solidFill>
                    <a:schemeClr val="tx1"/>
                  </a:solidFill>
                  <a:effectLst/>
                  <a:latin typeface="Calibri" panose="020F0502020204030204" pitchFamily="34" charset="0"/>
                  <a:cs typeface="Calibri" panose="020F0502020204030204" pitchFamily="34" charset="0"/>
                </a:endParaRPr>
              </a:p>
              <a:p>
                <a:pPr marL="0" marR="0" rtl="0">
                  <a:buNone/>
                </a:pPr>
                <a:r>
                  <a:rPr lang="en-US" sz="1400" b="1" dirty="0">
                    <a:solidFill>
                      <a:schemeClr val="tx1"/>
                    </a:solidFill>
                    <a:effectLst/>
                    <a:latin typeface="Calibri" panose="020F0502020204030204" pitchFamily="34" charset="0"/>
                    <a:cs typeface="Calibri" panose="020F0502020204030204" pitchFamily="34" charset="0"/>
                  </a:rPr>
                  <a:t>Outputs (Layer 2)</a:t>
                </a:r>
                <a:endParaRPr lang="en-US" sz="1400" dirty="0">
                  <a:solidFill>
                    <a:schemeClr val="tx1"/>
                  </a:solidFill>
                  <a:effectLst/>
                  <a:latin typeface="Calibri" panose="020F0502020204030204" pitchFamily="34" charset="0"/>
                  <a:cs typeface="Calibri" panose="020F0502020204030204" pitchFamily="34" charset="0"/>
                </a:endParaRPr>
              </a:p>
              <a:p>
                <a:pPr marL="0" marR="0" lvl="0" indent="-342900" rtl="0">
                  <a:buFont typeface="Arial" panose="020B0604020202020204" pitchFamily="34" charset="0"/>
                  <a:buChar char="•"/>
                </a:pP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𝑦</m:t>
                        </m:r>
                      </m:e>
                      <m:sub>
                        <m:r>
                          <a:rPr lang="en-US" sz="1400" i="0">
                            <a:latin typeface="Cambria Math" panose="02040503050406030204" pitchFamily="18" charset="0"/>
                          </a:rPr>
                          <m:t>1</m:t>
                        </m:r>
                      </m:sub>
                    </m:sSub>
                    <m:r>
                      <a:rPr lang="en-US" sz="1400" i="0">
                        <a:latin typeface="Cambria Math" panose="02040503050406030204" pitchFamily="18" charset="0"/>
                      </a:rPr>
                      <m:t>,</m:t>
                    </m:r>
                    <m:sSub>
                      <m:sSubPr>
                        <m:ctrlPr>
                          <a:rPr lang="en-US" sz="1400" i="1">
                            <a:latin typeface="Cambria Math" panose="02040503050406030204" pitchFamily="18" charset="0"/>
                          </a:rPr>
                        </m:ctrlPr>
                      </m:sSubPr>
                      <m:e>
                        <m:r>
                          <a:rPr lang="en-US" sz="1400" i="1">
                            <a:latin typeface="Cambria Math" panose="02040503050406030204" pitchFamily="18" charset="0"/>
                          </a:rPr>
                          <m:t>𝑦</m:t>
                        </m:r>
                      </m:e>
                      <m:sub>
                        <m:r>
                          <a:rPr lang="en-US" sz="1400" i="0">
                            <a:latin typeface="Cambria Math" panose="02040503050406030204" pitchFamily="18" charset="0"/>
                          </a:rPr>
                          <m:t>2</m:t>
                        </m:r>
                      </m:sub>
                    </m:sSub>
                  </m:oMath>
                </a14:m>
                <a:r>
                  <a:rPr lang="en-US" sz="1400" b="1" dirty="0">
                    <a:solidFill>
                      <a:schemeClr val="tx1"/>
                    </a:solidFill>
                    <a:effectLst/>
                    <a:latin typeface="Calibri" panose="020F0502020204030204" pitchFamily="34" charset="0"/>
                    <a:cs typeface="Calibri" panose="020F0502020204030204" pitchFamily="34" charset="0"/>
                  </a:rPr>
                  <a:t>:</a:t>
                </a:r>
                <a:r>
                  <a:rPr lang="en-US" sz="1400" dirty="0">
                    <a:solidFill>
                      <a:schemeClr val="tx1"/>
                    </a:solidFill>
                    <a:effectLst/>
                    <a:latin typeface="Calibri" panose="020F0502020204030204" pitchFamily="34" charset="0"/>
                    <a:cs typeface="Calibri" panose="020F0502020204030204" pitchFamily="34" charset="0"/>
                  </a:rPr>
                  <a:t> The final predicted outputs produced by the network.</a:t>
                </a:r>
                <a:endParaRPr lang="en-US" sz="1400" dirty="0">
                  <a:solidFill>
                    <a:srgbClr val="1F1F1F"/>
                  </a:solidFill>
                  <a:effectLst/>
                  <a:latin typeface="Calibri" panose="020F0502020204030204" pitchFamily="34" charset="0"/>
                  <a:cs typeface="Calibri" panose="020F0502020204030204" pitchFamily="34" charset="0"/>
                </a:endParaRPr>
              </a:p>
            </p:txBody>
          </p:sp>
        </mc:Choice>
        <mc:Fallback xmlns="">
          <p:sp>
            <p:nvSpPr>
              <p:cNvPr id="3" name="TextBox 2">
                <a:extLst>
                  <a:ext uri="{FF2B5EF4-FFF2-40B4-BE49-F238E27FC236}">
                    <a16:creationId xmlns:a16="http://schemas.microsoft.com/office/drawing/2014/main" id="{0ACC3C4C-1840-43EA-FD7F-B7C85C8A329D}"/>
                  </a:ext>
                </a:extLst>
              </p:cNvPr>
              <p:cNvSpPr txBox="1">
                <a:spLocks noRot="1" noChangeAspect="1" noMove="1" noResize="1" noEditPoints="1" noAdjustHandles="1" noChangeArrowheads="1" noChangeShapeType="1" noTextEdit="1"/>
              </p:cNvSpPr>
              <p:nvPr/>
            </p:nvSpPr>
            <p:spPr>
              <a:xfrm>
                <a:off x="310284" y="1083334"/>
                <a:ext cx="7157316" cy="5469382"/>
              </a:xfrm>
              <a:prstGeom prst="rect">
                <a:avLst/>
              </a:prstGeom>
              <a:blipFill>
                <a:blip r:embed="rId4"/>
                <a:stretch>
                  <a:fillRect l="-256" t="-223" r="-596" b="-223"/>
                </a:stretch>
              </a:blipFill>
            </p:spPr>
            <p:txBody>
              <a:bodyPr/>
              <a:lstStyle/>
              <a:p>
                <a:r>
                  <a:rPr lang="en-US">
                    <a:noFill/>
                  </a:rPr>
                  <a:t> </a:t>
                </a:r>
              </a:p>
            </p:txBody>
          </p:sp>
        </mc:Fallback>
      </mc:AlternateContent>
    </p:spTree>
    <p:extLst>
      <p:ext uri="{BB962C8B-B14F-4D97-AF65-F5344CB8AC3E}">
        <p14:creationId xmlns:p14="http://schemas.microsoft.com/office/powerpoint/2010/main" val="42666560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85" name="Rectangle 7"/>
          <p:cNvSpPr/>
          <p:nvPr/>
        </p:nvSpPr>
        <p:spPr>
          <a:xfrm>
            <a:off x="0" y="0"/>
            <a:ext cx="12192000" cy="873760"/>
          </a:xfrm>
          <a:prstGeom prst="rect">
            <a:avLst/>
          </a:prstGeom>
          <a:solidFill>
            <a:srgbClr val="0E2841"/>
          </a:solidFill>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r>
              <a:rPr lang="en-US" sz="3200" b="1" dirty="0">
                <a:latin typeface="Calibri" panose="020F0502020204030204" pitchFamily="34" charset="0"/>
                <a:cs typeface="Calibri" panose="020F0502020204030204" pitchFamily="34" charset="0"/>
              </a:rPr>
              <a:t>3 (</a:t>
            </a:r>
            <a:r>
              <a:rPr lang="en-US" sz="3200" b="1" dirty="0" err="1">
                <a:latin typeface="Calibri" panose="020F0502020204030204" pitchFamily="34" charset="0"/>
                <a:cs typeface="Calibri" panose="020F0502020204030204" pitchFamily="34" charset="0"/>
              </a:rPr>
              <a:t>i</a:t>
            </a:r>
            <a:r>
              <a:rPr lang="en-US" sz="3200" b="1" dirty="0">
                <a:latin typeface="Calibri" panose="020F0502020204030204" pitchFamily="34" charset="0"/>
                <a:cs typeface="Calibri" panose="020F0502020204030204" pitchFamily="34" charset="0"/>
              </a:rPr>
              <a:t>). Forward Propagation </a:t>
            </a:r>
            <a:r>
              <a:rPr lang="en-US" sz="2000" b="1" dirty="0">
                <a:latin typeface="Calibri" panose="020F0502020204030204" pitchFamily="34" charset="0"/>
                <a:cs typeface="Calibri" panose="020F0502020204030204" pitchFamily="34" charset="0"/>
              </a:rPr>
              <a:t>(Con…)</a:t>
            </a:r>
            <a:endParaRPr lang="en-PK" sz="3200" b="1" dirty="0">
              <a:latin typeface="Calibri" panose="020F0502020204030204" pitchFamily="34" charset="0"/>
              <a:cs typeface="Calibri" panose="020F0502020204030204" pitchFamily="34" charset="0"/>
            </a:endParaRPr>
          </a:p>
        </p:txBody>
      </p:sp>
      <p:sp>
        <p:nvSpPr>
          <p:cNvPr id="1049086" name="Rectangle 4"/>
          <p:cNvSpPr/>
          <p:nvPr/>
        </p:nvSpPr>
        <p:spPr>
          <a:xfrm>
            <a:off x="0" y="6581001"/>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r>
              <a:rPr lang="en-US" sz="2400" dirty="0">
                <a:latin typeface="Calibri" panose="020F0502020204030204" pitchFamily="34" charset="0"/>
                <a:cs typeface="Calibri" panose="020F0502020204030204" pitchFamily="34" charset="0"/>
              </a:rPr>
              <a:t>23</a:t>
            </a:r>
            <a:endParaRPr lang="en-PK" sz="2400" dirty="0">
              <a:latin typeface="Calibri" panose="020F0502020204030204" pitchFamily="34" charset="0"/>
              <a:cs typeface="Calibri" panose="020F0502020204030204" pitchFamily="34" charset="0"/>
            </a:endParaRPr>
          </a:p>
        </p:txBody>
      </p:sp>
      <mc:AlternateContent xmlns:mc="http://schemas.openxmlformats.org/markup-compatibility/2006" xmlns:p14="http://schemas.microsoft.com/office/powerpoint/2010/main">
        <mc:Choice Requires="p14">
          <p:contentPart p14:bwMode="auto" r:id="rId4">
            <p14:nvContentPartPr>
              <p14:cNvPr id="1049655" name="Ink 1049654"/>
              <p14:cNvContentPartPr/>
              <p14:nvPr/>
            </p14:nvContentPartPr>
            <p14:xfrm>
              <a:off x="9264805" y="5178685"/>
              <a:ext cx="0" cy="0"/>
            </p14:xfrm>
          </p:contentPart>
        </mc:Choice>
        <mc:Fallback xmlns="">
          <p:sp>
            <p:nvSpPr>
              <p:cNvPr id="1049655" name=""/>
              <p:cNvSpPr/>
              <p:nvPr/>
            </p:nvSpPr>
            <p:spPr>
              <a:xfrm>
                <a:off x="9264805" y="5178685"/>
                <a:ext cx="0" cy="0"/>
              </a:xfrm>
            </p:spPr>
          </p:sp>
        </mc:Fallback>
      </mc:AlternateContent>
      <mc:AlternateContent xmlns:mc="http://schemas.openxmlformats.org/markup-compatibility/2006" xmlns:p14="http://schemas.microsoft.com/office/powerpoint/2010/main">
        <mc:Choice Requires="p14">
          <p:contentPart p14:bwMode="auto" r:id="rId5">
            <p14:nvContentPartPr>
              <p14:cNvPr id="1049683" name="Ink 1049682"/>
              <p14:cNvContentPartPr/>
              <p14:nvPr/>
            </p14:nvContentPartPr>
            <p14:xfrm>
              <a:off x="9617927" y="3273317"/>
              <a:ext cx="0" cy="0"/>
            </p14:xfrm>
          </p:contentPart>
        </mc:Choice>
        <mc:Fallback xmlns="">
          <p:sp>
            <p:nvSpPr>
              <p:cNvPr id="1049683" name=""/>
              <p:cNvSpPr/>
              <p:nvPr/>
            </p:nvSpPr>
            <p:spPr>
              <a:xfrm>
                <a:off x="9617927" y="3273317"/>
                <a:ext cx="0" cy="0"/>
              </a:xfrm>
            </p:spPr>
          </p:sp>
        </mc:Fallback>
      </mc:AlternateContent>
      <mc:AlternateContent xmlns:mc="http://schemas.openxmlformats.org/markup-compatibility/2006" xmlns:p14="http://schemas.microsoft.com/office/powerpoint/2010/main">
        <mc:Choice Requires="p14">
          <p:contentPart p14:bwMode="auto" r:id="rId6">
            <p14:nvContentPartPr>
              <p14:cNvPr id="1049695" name="Ink 1049694"/>
              <p14:cNvContentPartPr/>
              <p14:nvPr/>
            </p14:nvContentPartPr>
            <p14:xfrm>
              <a:off x="11597268" y="3663685"/>
              <a:ext cx="0" cy="0"/>
            </p14:xfrm>
          </p:contentPart>
        </mc:Choice>
        <mc:Fallback xmlns="">
          <p:sp>
            <p:nvSpPr>
              <p:cNvPr id="1049695" name=""/>
              <p:cNvSpPr/>
              <p:nvPr/>
            </p:nvSpPr>
            <p:spPr>
              <a:xfrm>
                <a:off x="11597268" y="3663685"/>
                <a:ext cx="0" cy="0"/>
              </a:xfrm>
            </p:spPr>
          </p:sp>
        </mc:Fallback>
      </mc:AlternateContent>
      <mc:AlternateContent xmlns:mc="http://schemas.openxmlformats.org/markup-compatibility/2006" xmlns:p14="http://schemas.microsoft.com/office/powerpoint/2010/main">
        <mc:Choice Requires="p14">
          <p:contentPart p14:bwMode="auto" r:id="rId7">
            <p14:nvContentPartPr>
              <p14:cNvPr id="1049722" name="Ink 1049721"/>
              <p14:cNvContentPartPr/>
              <p14:nvPr/>
            </p14:nvContentPartPr>
            <p14:xfrm>
              <a:off x="10812036" y="4430480"/>
              <a:ext cx="0" cy="0"/>
            </p14:xfrm>
          </p:contentPart>
        </mc:Choice>
        <mc:Fallback xmlns="">
          <p:sp>
            <p:nvSpPr>
              <p:cNvPr id="1049722" name=""/>
              <p:cNvSpPr/>
              <p:nvPr/>
            </p:nvSpPr>
            <p:spPr>
              <a:xfrm>
                <a:off x="10812036" y="4430480"/>
                <a:ext cx="0" cy="0"/>
              </a:xfrm>
            </p:spPr>
          </p:sp>
        </mc:Fallback>
      </mc:AlternateContent>
      <mc:AlternateContent xmlns:mc="http://schemas.openxmlformats.org/markup-compatibility/2006" xmlns:p14="http://schemas.microsoft.com/office/powerpoint/2010/main">
        <mc:Choice Requires="p14">
          <p:contentPart p14:bwMode="auto" r:id="rId8">
            <p14:nvContentPartPr>
              <p14:cNvPr id="1049725" name="Ink 1049724"/>
              <p14:cNvContentPartPr/>
              <p14:nvPr/>
            </p14:nvContentPartPr>
            <p14:xfrm>
              <a:off x="10537902" y="4370065"/>
              <a:ext cx="0" cy="0"/>
            </p14:xfrm>
          </p:contentPart>
        </mc:Choice>
        <mc:Fallback xmlns="">
          <p:sp>
            <p:nvSpPr>
              <p:cNvPr id="1049725" name=""/>
              <p:cNvSpPr/>
              <p:nvPr/>
            </p:nvSpPr>
            <p:spPr>
              <a:xfrm>
                <a:off x="10537902" y="4370065"/>
                <a:ext cx="0" cy="0"/>
              </a:xfrm>
            </p:spPr>
          </p:sp>
        </mc:Fallback>
      </mc:AlternateContent>
      <p:sp>
        <p:nvSpPr>
          <p:cNvPr id="6" name="TextBox 5">
            <a:extLst>
              <a:ext uri="{FF2B5EF4-FFF2-40B4-BE49-F238E27FC236}">
                <a16:creationId xmlns:a16="http://schemas.microsoft.com/office/drawing/2014/main" id="{B16904B6-7B0D-59A3-8719-51CF7CD8D086}"/>
              </a:ext>
            </a:extLst>
          </p:cNvPr>
          <p:cNvSpPr txBox="1"/>
          <p:nvPr/>
        </p:nvSpPr>
        <p:spPr>
          <a:xfrm>
            <a:off x="609600" y="1962931"/>
            <a:ext cx="3422069" cy="2551917"/>
          </a:xfrm>
          <a:prstGeom prst="rect">
            <a:avLst/>
          </a:prstGeom>
          <a:noFill/>
        </p:spPr>
        <p:txBody>
          <a:bodyPr wrap="square">
            <a:spAutoFit/>
          </a:bodyPr>
          <a:lstStyle/>
          <a:p>
            <a:pPr>
              <a:lnSpc>
                <a:spcPct val="150000"/>
              </a:lnSpc>
            </a:pPr>
            <a:r>
              <a:rPr lang="en-US" sz="2400" b="1" dirty="0">
                <a:latin typeface="Calibri" panose="020F0502020204030204" pitchFamily="34" charset="0"/>
                <a:cs typeface="Calibri" panose="020F0502020204030204" pitchFamily="34" charset="0"/>
              </a:rPr>
              <a:t>A short Video Clip</a:t>
            </a:r>
            <a:endParaRPr lang="en-US" sz="2400" dirty="0">
              <a:latin typeface="Calibri" panose="020F0502020204030204" pitchFamily="34" charset="0"/>
              <a:cs typeface="Calibri" panose="020F0502020204030204" pitchFamily="34" charset="0"/>
            </a:endParaRPr>
          </a:p>
          <a:p>
            <a:pPr marL="285750" lvl="0" indent="-285750">
              <a:lnSpc>
                <a:spcPct val="150000"/>
              </a:lnSpc>
              <a:buFont typeface="Arial" panose="020B0604020202020204" pitchFamily="34" charset="0"/>
              <a:buChar char="•"/>
            </a:pPr>
            <a:r>
              <a:rPr lang="en-US" sz="1400" dirty="0">
                <a:latin typeface="Calibri" panose="020F0502020204030204" pitchFamily="34" charset="0"/>
                <a:cs typeface="Calibri" panose="020F0502020204030204" pitchFamily="34" charset="0"/>
              </a:rPr>
              <a:t>🎬 Watch 5-Sec Demo: How Data Flows Through Neural Networks</a:t>
            </a:r>
          </a:p>
          <a:p>
            <a:pPr marL="285750" lvl="0" indent="-285750">
              <a:lnSpc>
                <a:spcPct val="150000"/>
              </a:lnSpc>
              <a:buFont typeface="Arial" panose="020B0604020202020204" pitchFamily="34" charset="0"/>
              <a:buChar char="•"/>
            </a:pPr>
            <a:r>
              <a:rPr lang="en-US" sz="1400" dirty="0">
                <a:latin typeface="Calibri" panose="020F0502020204030204" pitchFamily="34" charset="0"/>
                <a:cs typeface="Calibri" panose="020F0502020204030204" pitchFamily="34" charset="0"/>
              </a:rPr>
              <a:t>▶️ Press Play: Watch the Forward Pass in Action (5s)</a:t>
            </a:r>
          </a:p>
          <a:p>
            <a:pPr marL="285750" lvl="0" indent="-285750">
              <a:lnSpc>
                <a:spcPct val="150000"/>
              </a:lnSpc>
              <a:buFont typeface="Arial" panose="020B0604020202020204" pitchFamily="34" charset="0"/>
              <a:buChar char="•"/>
            </a:pPr>
            <a:r>
              <a:rPr lang="en-US" sz="1400" dirty="0">
                <a:latin typeface="Calibri" panose="020F0502020204030204" pitchFamily="34" charset="0"/>
                <a:cs typeface="Calibri" panose="020F0502020204030204" pitchFamily="34" charset="0"/>
              </a:rPr>
              <a:t>⚡ Live Animation: See How Inputs Turn Into Predictions</a:t>
            </a:r>
          </a:p>
        </p:txBody>
      </p:sp>
      <p:grpSp>
        <p:nvGrpSpPr>
          <p:cNvPr id="11" name="Group 10">
            <a:extLst>
              <a:ext uri="{FF2B5EF4-FFF2-40B4-BE49-F238E27FC236}">
                <a16:creationId xmlns:a16="http://schemas.microsoft.com/office/drawing/2014/main" id="{0C85EF5B-0268-679F-F479-4AEC9CB5C3F9}"/>
              </a:ext>
            </a:extLst>
          </p:cNvPr>
          <p:cNvGrpSpPr/>
          <p:nvPr/>
        </p:nvGrpSpPr>
        <p:grpSpPr>
          <a:xfrm>
            <a:off x="3429000" y="-228600"/>
            <a:ext cx="9509760" cy="7955280"/>
            <a:chOff x="4642418" y="304800"/>
            <a:chExt cx="8481307" cy="7392708"/>
          </a:xfrm>
        </p:grpSpPr>
        <p:pic>
          <p:nvPicPr>
            <p:cNvPr id="3" name="make_animation_type_of_to_">
              <a:hlinkClick r:id="" action="ppaction://media"/>
              <a:extLst>
                <a:ext uri="{FF2B5EF4-FFF2-40B4-BE49-F238E27FC236}">
                  <a16:creationId xmlns:a16="http://schemas.microsoft.com/office/drawing/2014/main" id="{4C658A24-BDA7-0998-6ABB-54596490272C}"/>
                </a:ext>
              </a:extLst>
            </p:cNvPr>
            <p:cNvPicPr>
              <a:picLocks noChangeAspect="1"/>
            </p:cNvPicPr>
            <p:nvPr>
              <a:videoFile r:link="rId2"/>
              <p:extLst>
                <p:ext uri="{DAA4B4D4-6D71-4841-9C94-3DE7FCFB9230}">
                  <p14:media xmlns:p14="http://schemas.microsoft.com/office/powerpoint/2010/main" r:embed="rId1"/>
                </p:ext>
              </p:extLst>
            </p:nvPr>
          </p:nvPicPr>
          <p:blipFill>
            <a:blip r:embed="rId9"/>
            <a:stretch>
              <a:fillRect/>
            </a:stretch>
          </p:blipFill>
          <p:spPr>
            <a:xfrm>
              <a:off x="5778400" y="1862650"/>
              <a:ext cx="6209343" cy="3202964"/>
            </a:xfrm>
            <a:prstGeom prst="rect">
              <a:avLst/>
            </a:prstGeom>
            <a:ln>
              <a:noFill/>
            </a:ln>
            <a:effectLst>
              <a:softEdge rad="112500"/>
            </a:effectLst>
          </p:spPr>
        </p:pic>
        <p:pic>
          <p:nvPicPr>
            <p:cNvPr id="10" name="Graphic 9" descr="Monitor with solid fill">
              <a:extLst>
                <a:ext uri="{FF2B5EF4-FFF2-40B4-BE49-F238E27FC236}">
                  <a16:creationId xmlns:a16="http://schemas.microsoft.com/office/drawing/2014/main" id="{E2A997AF-A6D8-8507-6832-B13B2D7E4B22}"/>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642418" y="304800"/>
              <a:ext cx="8481307" cy="7392708"/>
            </a:xfrm>
            <a:prstGeom prst="rect">
              <a:avLst/>
            </a:prstGeom>
          </p:spPr>
        </p:pic>
      </p:grpSp>
    </p:spTree>
  </p:cSld>
  <p:clrMapOvr>
    <a:masterClrMapping/>
  </p:clrMapOvr>
  <p:timing>
    <p:tnLst>
      <p:par>
        <p:cTn id="1" dur="indefinite" restart="never" nodeType="tmRoot">
          <p:childTnLst>
            <p:video>
              <p:cMediaNode vol="100000">
                <p:cTn id="2" fill="hold" display="0">
                  <p:stCondLst>
                    <p:cond delay="indefinite"/>
                  </p:stCondLst>
                </p:cTn>
                <p:tgtEl>
                  <p:spTgt spid="3"/>
                </p:tgtEl>
              </p:cMediaNode>
            </p:video>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87" name="Rectangle 7"/>
          <p:cNvSpPr/>
          <p:nvPr/>
        </p:nvSpPr>
        <p:spPr>
          <a:xfrm>
            <a:off x="0" y="0"/>
            <a:ext cx="12192000" cy="873760"/>
          </a:xfrm>
          <a:prstGeom prst="rect">
            <a:avLst/>
          </a:prstGeom>
          <a:solidFill>
            <a:srgbClr val="0E2841"/>
          </a:solidFill>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r>
              <a:rPr lang="en-US" sz="3200" b="1" dirty="0">
                <a:latin typeface="Calibri" panose="020F0502020204030204" pitchFamily="34" charset="0"/>
                <a:cs typeface="Calibri" panose="020F0502020204030204" pitchFamily="34" charset="0"/>
              </a:rPr>
              <a:t>3 (</a:t>
            </a:r>
            <a:r>
              <a:rPr lang="en-US" sz="3200" b="1" dirty="0" err="1">
                <a:latin typeface="Calibri" panose="020F0502020204030204" pitchFamily="34" charset="0"/>
                <a:cs typeface="Calibri" panose="020F0502020204030204" pitchFamily="34" charset="0"/>
              </a:rPr>
              <a:t>i</a:t>
            </a:r>
            <a:r>
              <a:rPr lang="en-US" sz="3200" b="1" dirty="0">
                <a:latin typeface="Calibri" panose="020F0502020204030204" pitchFamily="34" charset="0"/>
                <a:cs typeface="Calibri" panose="020F0502020204030204" pitchFamily="34" charset="0"/>
              </a:rPr>
              <a:t>). Forward Propagation </a:t>
            </a:r>
            <a:r>
              <a:rPr lang="en-US" sz="2000" b="1" dirty="0">
                <a:latin typeface="Calibri" panose="020F0502020204030204" pitchFamily="34" charset="0"/>
                <a:cs typeface="Calibri" panose="020F0502020204030204" pitchFamily="34" charset="0"/>
              </a:rPr>
              <a:t>(Con…)</a:t>
            </a:r>
            <a:endParaRPr lang="en-PK" sz="3200" b="1" dirty="0">
              <a:latin typeface="Calibri" panose="020F0502020204030204" pitchFamily="34" charset="0"/>
              <a:cs typeface="Calibri" panose="020F0502020204030204" pitchFamily="34" charset="0"/>
            </a:endParaRPr>
          </a:p>
        </p:txBody>
      </p:sp>
      <p:sp>
        <p:nvSpPr>
          <p:cNvPr id="1049088" name="TextBox 8"/>
          <p:cNvSpPr txBox="1"/>
          <p:nvPr/>
        </p:nvSpPr>
        <p:spPr>
          <a:xfrm>
            <a:off x="381000" y="914400"/>
            <a:ext cx="6553200" cy="5438140"/>
          </a:xfrm>
          <a:prstGeom prst="rect">
            <a:avLst/>
          </a:prstGeom>
          <a:noFill/>
        </p:spPr>
        <p:txBody>
          <a:bodyPr wrap="square">
            <a:spAutoFit/>
          </a:bodyPr>
          <a:lstStyle/>
          <a:p>
            <a:pPr>
              <a:buNone/>
            </a:pPr>
            <a:r>
              <a:rPr lang="en-US" sz="2000" dirty="0">
                <a:latin typeface="Calibri" panose="020F0502020204030204" pitchFamily="34" charset="0"/>
                <a:cs typeface="Calibri" panose="020F0502020204030204" pitchFamily="34" charset="0"/>
              </a:rPr>
              <a:t>A neural network's prediction can differ from the actual target.</a:t>
            </a:r>
          </a:p>
          <a:p>
            <a:pPr>
              <a:buNone/>
            </a:pPr>
            <a:r>
              <a:rPr lang="en-US" sz="2400" b="1" dirty="0">
                <a:latin typeface="Calibri" panose="020F0502020204030204" pitchFamily="34" charset="0"/>
                <a:cs typeface="Calibri" panose="020F0502020204030204" pitchFamily="34" charset="0"/>
              </a:rPr>
              <a:t>Example</a:t>
            </a:r>
            <a:endParaRPr lang="en-US" sz="2800" b="1" dirty="0">
              <a:latin typeface="Calibri" panose="020F0502020204030204" pitchFamily="34" charset="0"/>
              <a:cs typeface="Calibri" panose="020F0502020204030204" pitchFamily="34" charset="0"/>
            </a:endParaRPr>
          </a:p>
          <a:p>
            <a:pPr>
              <a:buNone/>
            </a:pPr>
            <a:r>
              <a:rPr lang="en-US" sz="2000" b="1" dirty="0">
                <a:latin typeface="Calibri" panose="020F0502020204030204" pitchFamily="34" charset="0"/>
                <a:cs typeface="Calibri" panose="020F0502020204030204" pitchFamily="34" charset="0"/>
              </a:rPr>
              <a:t>Actual:</a:t>
            </a:r>
            <a:r>
              <a:rPr lang="en-US" sz="2000" dirty="0">
                <a:latin typeface="Calibri" panose="020F0502020204030204" pitchFamily="34" charset="0"/>
                <a:cs typeface="Calibri" panose="020F0502020204030204" pitchFamily="34" charset="0"/>
              </a:rPr>
              <a:t> Engaged		</a:t>
            </a:r>
            <a:r>
              <a:rPr lang="en-US" sz="2000" b="1" dirty="0">
                <a:latin typeface="Calibri" panose="020F0502020204030204" pitchFamily="34" charset="0"/>
                <a:cs typeface="Calibri" panose="020F0502020204030204" pitchFamily="34" charset="0"/>
              </a:rPr>
              <a:t>Predicted:</a:t>
            </a:r>
            <a:r>
              <a:rPr lang="en-US" sz="2000" dirty="0">
                <a:latin typeface="Calibri" panose="020F0502020204030204" pitchFamily="34" charset="0"/>
                <a:cs typeface="Calibri" panose="020F0502020204030204" pitchFamily="34" charset="0"/>
              </a:rPr>
              <a:t> Not Engaged</a:t>
            </a:r>
          </a:p>
          <a:p>
            <a:pPr>
              <a:buNone/>
            </a:pPr>
            <a:r>
              <a:rPr lang="en-US" sz="2400" b="1" dirty="0">
                <a:latin typeface="Calibri" panose="020F0502020204030204" pitchFamily="34" charset="0"/>
                <a:cs typeface="Calibri" panose="020F0502020204030204" pitchFamily="34" charset="0"/>
              </a:rPr>
              <a:t>Prediction Error</a:t>
            </a:r>
            <a:r>
              <a:rPr lang="en-US" b="1" dirty="0">
                <a:latin typeface="Calibri" panose="020F0502020204030204" pitchFamily="34" charset="0"/>
                <a:cs typeface="Calibri" panose="020F0502020204030204" pitchFamily="34" charset="0"/>
              </a:rPr>
              <a:t>:</a:t>
            </a:r>
            <a:endParaRPr lang="en-US" sz="2000" b="1" dirty="0">
              <a:latin typeface="Calibri" panose="020F0502020204030204" pitchFamily="34" charset="0"/>
              <a:cs typeface="Calibri" panose="020F0502020204030204" pitchFamily="34" charset="0"/>
            </a:endParaRPr>
          </a:p>
          <a:p>
            <a:pPr>
              <a:buNone/>
            </a:pPr>
            <a:r>
              <a:rPr lang="en-US" dirty="0">
                <a:latin typeface="Calibri" panose="020F0502020204030204" pitchFamily="34" charset="0"/>
                <a:cs typeface="Calibri" panose="020F0502020204030204" pitchFamily="34" charset="0"/>
              </a:rPr>
              <a:t>The difference between the actual target and the network prediction.</a:t>
            </a:r>
          </a:p>
          <a:p>
            <a:pPr>
              <a:buNone/>
            </a:pPr>
            <a:r>
              <a:rPr lang="en-US" sz="2400" b="1" dirty="0">
                <a:latin typeface="Calibri" panose="020F0502020204030204" pitchFamily="34" charset="0"/>
                <a:cs typeface="Calibri" panose="020F0502020204030204" pitchFamily="34" charset="0"/>
              </a:rPr>
              <a:t>Why does error occur?</a:t>
            </a:r>
            <a:endParaRPr lang="en-US" sz="2000" b="1" dirty="0">
              <a:latin typeface="Calibri" panose="020F0502020204030204" pitchFamily="34" charset="0"/>
              <a:cs typeface="Calibri" panose="020F0502020204030204" pitchFamily="34" charset="0"/>
            </a:endParaRPr>
          </a:p>
          <a:p>
            <a:pPr marL="342900" lvl="0" indent="-342900">
              <a:buFont typeface="Arial" panose="020B0604020202020204" pitchFamily="34" charset="0"/>
              <a:buChar char="•"/>
            </a:pPr>
            <a:r>
              <a:rPr lang="en-US" sz="2000" dirty="0">
                <a:latin typeface="Calibri" panose="020F0502020204030204" pitchFamily="34" charset="0"/>
                <a:cs typeface="Calibri" panose="020F0502020204030204" pitchFamily="34" charset="0"/>
              </a:rPr>
              <a:t>Untrained parameters </a:t>
            </a:r>
          </a:p>
          <a:p>
            <a:pPr marL="342900" lvl="0" indent="-342900">
              <a:buFont typeface="Arial" panose="020B0604020202020204" pitchFamily="34" charset="0"/>
              <a:buChar char="•"/>
            </a:pPr>
            <a:r>
              <a:rPr lang="en-US" sz="2000" dirty="0">
                <a:latin typeface="Calibri" panose="020F0502020204030204" pitchFamily="34" charset="0"/>
                <a:cs typeface="Calibri" panose="020F0502020204030204" pitchFamily="34" charset="0"/>
              </a:rPr>
              <a:t>Incorrect weights and biases </a:t>
            </a:r>
          </a:p>
          <a:p>
            <a:pPr marL="342900" lvl="0" indent="-342900">
              <a:buFont typeface="Arial" panose="020B0604020202020204" pitchFamily="34" charset="0"/>
              <a:buChar char="•"/>
            </a:pPr>
            <a:r>
              <a:rPr lang="en-US" sz="2000" dirty="0">
                <a:latin typeface="Calibri" panose="020F0502020204030204" pitchFamily="34" charset="0"/>
                <a:cs typeface="Calibri" panose="020F0502020204030204" pitchFamily="34" charset="0"/>
              </a:rPr>
              <a:t>Complex or ambiguous data </a:t>
            </a:r>
          </a:p>
          <a:p>
            <a:pPr>
              <a:buNone/>
            </a:pPr>
            <a:r>
              <a:rPr lang="en-US" sz="2400" b="1" dirty="0">
                <a:latin typeface="Calibri" panose="020F0502020204030204" pitchFamily="34" charset="0"/>
                <a:cs typeface="Calibri" panose="020F0502020204030204" pitchFamily="34" charset="0"/>
              </a:rPr>
              <a:t>Loss Function</a:t>
            </a:r>
            <a:endParaRPr lang="en-US" sz="2000" b="1" dirty="0">
              <a:latin typeface="Calibri" panose="020F0502020204030204" pitchFamily="34" charset="0"/>
              <a:cs typeface="Calibri" panose="020F0502020204030204" pitchFamily="34" charset="0"/>
            </a:endParaRPr>
          </a:p>
          <a:p>
            <a:pPr>
              <a:buNone/>
            </a:pPr>
            <a:r>
              <a:rPr lang="en-US" sz="2000" dirty="0">
                <a:latin typeface="Calibri" panose="020F0502020204030204" pitchFamily="34" charset="0"/>
                <a:cs typeface="Calibri" panose="020F0502020204030204" pitchFamily="34" charset="0"/>
              </a:rPr>
              <a:t>Measures how wrong the prediction is.</a:t>
            </a:r>
          </a:p>
          <a:p>
            <a:pPr>
              <a:buNone/>
            </a:pPr>
            <a:endParaRPr lang="en-US" sz="2800" b="1" dirty="0">
              <a:latin typeface="Calibri" panose="020F0502020204030204" pitchFamily="34" charset="0"/>
              <a:cs typeface="Calibri" panose="020F0502020204030204" pitchFamily="34" charset="0"/>
            </a:endParaRPr>
          </a:p>
          <a:p>
            <a:pPr>
              <a:buNone/>
            </a:pPr>
            <a:endParaRPr lang="en-US" sz="2800" b="1" dirty="0">
              <a:latin typeface="Calibri" panose="020F0502020204030204" pitchFamily="34" charset="0"/>
              <a:cs typeface="Calibri" panose="020F0502020204030204" pitchFamily="34" charset="0"/>
            </a:endParaRPr>
          </a:p>
          <a:p>
            <a:pPr>
              <a:buNone/>
            </a:pPr>
            <a:endParaRPr lang="en-US" sz="2800" b="1" dirty="0">
              <a:latin typeface="Calibri" panose="020F0502020204030204" pitchFamily="34" charset="0"/>
              <a:cs typeface="Calibri" panose="020F0502020204030204" pitchFamily="34" charset="0"/>
            </a:endParaRPr>
          </a:p>
        </p:txBody>
      </p:sp>
      <p:pic>
        <p:nvPicPr>
          <p:cNvPr id="2097177" name="Picture 2"/>
          <p:cNvPicPr>
            <a:picLocks noChangeAspect="1"/>
          </p:cNvPicPr>
          <p:nvPr/>
        </p:nvPicPr>
        <p:blipFill>
          <a:blip r:embed="rId2"/>
          <a:stretch>
            <a:fillRect/>
          </a:stretch>
        </p:blipFill>
        <p:spPr>
          <a:xfrm>
            <a:off x="7010400" y="990600"/>
            <a:ext cx="4976780" cy="5545194"/>
          </a:xfrm>
          <a:prstGeom prst="rect">
            <a:avLst/>
          </a:prstGeom>
        </p:spPr>
      </p:pic>
      <p:pic>
        <p:nvPicPr>
          <p:cNvPr id="2097178" name="Picture 4"/>
          <p:cNvPicPr>
            <a:picLocks noChangeAspect="1"/>
          </p:cNvPicPr>
          <p:nvPr/>
        </p:nvPicPr>
        <p:blipFill>
          <a:blip r:embed="rId3"/>
          <a:stretch>
            <a:fillRect/>
          </a:stretch>
        </p:blipFill>
        <p:spPr>
          <a:xfrm>
            <a:off x="209736" y="5089312"/>
            <a:ext cx="5181602" cy="1540088"/>
          </a:xfrm>
          <a:prstGeom prst="rect">
            <a:avLst/>
          </a:prstGeom>
        </p:spPr>
      </p:pic>
      <p:sp>
        <p:nvSpPr>
          <p:cNvPr id="1049089" name="Rectangle 4"/>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r>
              <a:rPr lang="en-US" sz="2400" dirty="0">
                <a:latin typeface="Calibri" panose="020F0502020204030204" pitchFamily="34" charset="0"/>
                <a:cs typeface="Calibri" panose="020F0502020204030204" pitchFamily="34" charset="0"/>
              </a:rPr>
              <a:t>24</a:t>
            </a:r>
            <a:endParaRPr lang="en-PK" sz="2400" dirty="0">
              <a:latin typeface="Calibri" panose="020F0502020204030204" pitchFamily="34" charset="0"/>
              <a:cs typeface="Calibri" panose="020F0502020204030204" pitchFamily="34" charset="0"/>
            </a:endParaRPr>
          </a:p>
        </p:txBody>
      </p:sp>
      <mc:AlternateContent xmlns:mc="http://schemas.openxmlformats.org/markup-compatibility/2006" xmlns:p14="http://schemas.microsoft.com/office/powerpoint/2010/main">
        <mc:Choice Requires="p14">
          <p:contentPart p14:bwMode="auto" r:id="rId4">
            <p14:nvContentPartPr>
              <p14:cNvPr id="1049587" name="Ink 1049586"/>
              <p14:cNvContentPartPr/>
              <p14:nvPr/>
            </p14:nvContentPartPr>
            <p14:xfrm>
              <a:off x="8326243" y="7204881"/>
              <a:ext cx="0" cy="0"/>
            </p14:xfrm>
          </p:contentPart>
        </mc:Choice>
        <mc:Fallback xmlns="">
          <p:sp>
            <p:nvSpPr>
              <p:cNvPr id="1049587" name=""/>
              <p:cNvSpPr/>
              <p:nvPr/>
            </p:nvSpPr>
            <p:spPr>
              <a:xfrm>
                <a:off x="8326243" y="7204881"/>
                <a:ext cx="0" cy="0"/>
              </a:xfrm>
            </p:spPr>
          </p:sp>
        </mc:Fallback>
      </mc:AlternateContent>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79" name="Picture 8"/>
          <p:cNvPicPr>
            <a:picLocks noChangeAspect="1"/>
          </p:cNvPicPr>
          <p:nvPr/>
        </p:nvPicPr>
        <p:blipFill>
          <a:blip r:embed="rId2"/>
          <a:srcRect t="14445" b="14444"/>
          <a:stretch>
            <a:fillRect/>
          </a:stretch>
        </p:blipFill>
        <p:spPr>
          <a:xfrm>
            <a:off x="838200" y="1564075"/>
            <a:ext cx="10210800" cy="4840676"/>
          </a:xfrm>
          <a:prstGeom prst="rect">
            <a:avLst/>
          </a:prstGeom>
        </p:spPr>
      </p:pic>
      <p:sp>
        <p:nvSpPr>
          <p:cNvPr id="1049090" name="Rectangle 4"/>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r>
              <a:rPr lang="en-US" sz="2400" dirty="0">
                <a:latin typeface="Calibri" panose="020F0502020204030204" pitchFamily="34" charset="0"/>
                <a:cs typeface="Calibri" panose="020F0502020204030204" pitchFamily="34" charset="0"/>
              </a:rPr>
              <a:t>25</a:t>
            </a:r>
            <a:endParaRPr lang="en-PK" sz="2400" dirty="0">
              <a:latin typeface="Calibri" panose="020F0502020204030204" pitchFamily="34" charset="0"/>
              <a:cs typeface="Calibri" panose="020F0502020204030204" pitchFamily="34" charset="0"/>
            </a:endParaRPr>
          </a:p>
        </p:txBody>
      </p:sp>
      <p:sp>
        <p:nvSpPr>
          <p:cNvPr id="1049091" name="TextBox 2"/>
          <p:cNvSpPr txBox="1"/>
          <p:nvPr/>
        </p:nvSpPr>
        <p:spPr>
          <a:xfrm>
            <a:off x="228600" y="979300"/>
            <a:ext cx="5105400" cy="523220"/>
          </a:xfrm>
          <a:prstGeom prst="rect">
            <a:avLst/>
          </a:prstGeom>
          <a:noFill/>
        </p:spPr>
        <p:txBody>
          <a:bodyPr wrap="square">
            <a:spAutoFit/>
          </a:bodyPr>
          <a:lstStyle/>
          <a:p>
            <a:r>
              <a:rPr lang="en-US" sz="2800" b="1" dirty="0">
                <a:latin typeface="Calibri" panose="020F0502020204030204" pitchFamily="34" charset="0"/>
                <a:cs typeface="Calibri" panose="020F0502020204030204" pitchFamily="34" charset="0"/>
              </a:rPr>
              <a:t>A Simple Prediction Example</a:t>
            </a:r>
            <a:endParaRPr lang="en-PK" sz="2800" b="1" dirty="0">
              <a:latin typeface="Calibri" panose="020F0502020204030204" pitchFamily="34" charset="0"/>
              <a:cs typeface="Calibri" panose="020F0502020204030204" pitchFamily="34" charset="0"/>
            </a:endParaRPr>
          </a:p>
        </p:txBody>
      </p:sp>
      <p:sp>
        <p:nvSpPr>
          <p:cNvPr id="1049092" name="Rectangle 4"/>
          <p:cNvSpPr/>
          <p:nvPr/>
        </p:nvSpPr>
        <p:spPr>
          <a:xfrm>
            <a:off x="0" y="0"/>
            <a:ext cx="12192000" cy="873760"/>
          </a:xfrm>
          <a:prstGeom prst="rect">
            <a:avLst/>
          </a:prstGeom>
          <a:solidFill>
            <a:srgbClr val="0E2841"/>
          </a:solidFill>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r>
              <a:rPr lang="en-US" sz="3200" b="1" dirty="0">
                <a:latin typeface="Calibri" panose="020F0502020204030204" pitchFamily="34" charset="0"/>
                <a:cs typeface="Calibri" panose="020F0502020204030204" pitchFamily="34" charset="0"/>
              </a:rPr>
              <a:t>3 (</a:t>
            </a:r>
            <a:r>
              <a:rPr lang="en-US" sz="3200" b="1" dirty="0" err="1">
                <a:latin typeface="Calibri" panose="020F0502020204030204" pitchFamily="34" charset="0"/>
                <a:cs typeface="Calibri" panose="020F0502020204030204" pitchFamily="34" charset="0"/>
              </a:rPr>
              <a:t>i</a:t>
            </a:r>
            <a:r>
              <a:rPr lang="en-US" sz="3200" b="1" dirty="0">
                <a:latin typeface="Calibri" panose="020F0502020204030204" pitchFamily="34" charset="0"/>
                <a:cs typeface="Calibri" panose="020F0502020204030204" pitchFamily="34" charset="0"/>
              </a:rPr>
              <a:t>). Forward Propagation </a:t>
            </a:r>
            <a:r>
              <a:rPr lang="en-US" sz="2000" b="1" dirty="0">
                <a:latin typeface="Calibri" panose="020F0502020204030204" pitchFamily="34" charset="0"/>
                <a:cs typeface="Calibri" panose="020F0502020204030204" pitchFamily="34" charset="0"/>
              </a:rPr>
              <a:t>(Con…)</a:t>
            </a:r>
            <a:endParaRPr lang="en-PK" sz="3200" b="1" dirty="0">
              <a:latin typeface="Calibri" panose="020F0502020204030204" pitchFamily="34" charset="0"/>
              <a:cs typeface="Calibri" panose="020F0502020204030204" pitchFamily="34" charset="0"/>
            </a:endParaRPr>
          </a:p>
        </p:txBody>
      </p:sp>
      <mc:AlternateContent xmlns:mc="http://schemas.openxmlformats.org/markup-compatibility/2006" xmlns:p14="http://schemas.microsoft.com/office/powerpoint/2010/main">
        <mc:Choice Requires="p14">
          <p:contentPart p14:bwMode="auto" r:id="rId3">
            <p14:nvContentPartPr>
              <p14:cNvPr id="1049589" name="Ink 1049588"/>
              <p14:cNvContentPartPr/>
              <p14:nvPr/>
            </p14:nvContentPartPr>
            <p14:xfrm>
              <a:off x="4632402" y="3728746"/>
              <a:ext cx="0" cy="0"/>
            </p14:xfrm>
          </p:contentPart>
        </mc:Choice>
        <mc:Fallback xmlns="">
          <p:sp>
            <p:nvSpPr>
              <p:cNvPr id="1049589" name=""/>
              <p:cNvSpPr/>
              <p:nvPr/>
            </p:nvSpPr>
            <p:spPr>
              <a:xfrm>
                <a:off x="4632402" y="3728746"/>
                <a:ext cx="0" cy="0"/>
              </a:xfrm>
            </p:spPr>
          </p:sp>
        </mc:Fallback>
      </mc:AlternateContent>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BBC8A4-1224-806C-8FF3-2A43AF3C2D1C}"/>
            </a:ext>
          </a:extLst>
        </p:cNvPr>
        <p:cNvGrpSpPr/>
        <p:nvPr/>
      </p:nvGrpSpPr>
      <p:grpSpPr>
        <a:xfrm>
          <a:off x="0" y="0"/>
          <a:ext cx="0" cy="0"/>
          <a:chOff x="0" y="0"/>
          <a:chExt cx="0" cy="0"/>
        </a:xfrm>
      </p:grpSpPr>
      <p:sp>
        <p:nvSpPr>
          <p:cNvPr id="1049096" name="Rectangle 13">
            <a:extLst>
              <a:ext uri="{FF2B5EF4-FFF2-40B4-BE49-F238E27FC236}">
                <a16:creationId xmlns:a16="http://schemas.microsoft.com/office/drawing/2014/main" id="{1C697D18-F975-40E1-CED7-C01F666B602E}"/>
              </a:ext>
            </a:extLst>
          </p:cNvPr>
          <p:cNvSpPr/>
          <p:nvPr/>
        </p:nvSpPr>
        <p:spPr>
          <a:xfrm>
            <a:off x="0" y="0"/>
            <a:ext cx="12192000" cy="873760"/>
          </a:xfrm>
          <a:prstGeom prst="rect">
            <a:avLst/>
          </a:prstGeom>
          <a:solidFill>
            <a:srgbClr val="0E2841"/>
          </a:solidFill>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r>
              <a:rPr lang="en-US" sz="3200" b="1" dirty="0">
                <a:latin typeface="Calibri" panose="020F0502020204030204" pitchFamily="34" charset="0"/>
                <a:cs typeface="Calibri" panose="020F0502020204030204" pitchFamily="34" charset="0"/>
              </a:rPr>
              <a:t>3 (ii). Loss Function / Cost Functions</a:t>
            </a:r>
            <a:endParaRPr lang="en-PK" sz="3200" b="1" dirty="0">
              <a:latin typeface="Calibri" panose="020F0502020204030204" pitchFamily="34" charset="0"/>
              <a:cs typeface="Calibri" panose="020F0502020204030204" pitchFamily="34" charset="0"/>
            </a:endParaRPr>
          </a:p>
        </p:txBody>
      </p:sp>
      <p:sp>
        <p:nvSpPr>
          <p:cNvPr id="1049097" name="Rectangle 4">
            <a:extLst>
              <a:ext uri="{FF2B5EF4-FFF2-40B4-BE49-F238E27FC236}">
                <a16:creationId xmlns:a16="http://schemas.microsoft.com/office/drawing/2014/main" id="{8D2F6EEF-7AA0-4F93-3DBF-6A9A2D97B294}"/>
              </a:ext>
            </a:extLst>
          </p:cNvPr>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r>
              <a:rPr lang="en-US" sz="2400" dirty="0">
                <a:latin typeface="Calibri" panose="020F0502020204030204" pitchFamily="34" charset="0"/>
                <a:cs typeface="Calibri" panose="020F0502020204030204" pitchFamily="34" charset="0"/>
              </a:rPr>
              <a:t>26</a:t>
            </a:r>
            <a:endParaRPr lang="en-PK" sz="2400" dirty="0">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4B16F6B6-2BCB-48DF-EABA-BA21E2958811}"/>
              </a:ext>
            </a:extLst>
          </p:cNvPr>
          <p:cNvSpPr txBox="1"/>
          <p:nvPr/>
        </p:nvSpPr>
        <p:spPr>
          <a:xfrm>
            <a:off x="2438400" y="989977"/>
            <a:ext cx="4698274" cy="584775"/>
          </a:xfrm>
          <a:prstGeom prst="rect">
            <a:avLst/>
          </a:prstGeom>
          <a:noFill/>
        </p:spPr>
        <p:txBody>
          <a:bodyPr wrap="none" rtlCol="0">
            <a:spAutoFit/>
          </a:bodyPr>
          <a:lstStyle/>
          <a:p>
            <a:r>
              <a:rPr lang="en-US" sz="3200" i="1" dirty="0">
                <a:latin typeface="Calibri" panose="020F0502020204030204" pitchFamily="34" charset="0"/>
                <a:cs typeface="Calibri" panose="020F0502020204030204" pitchFamily="34" charset="0"/>
              </a:rPr>
              <a:t>Classification vs Regression</a:t>
            </a:r>
          </a:p>
        </p:txBody>
      </p:sp>
      <p:pic>
        <p:nvPicPr>
          <p:cNvPr id="6" name="Picture 5" descr="classification-vs-regression">
            <a:extLst>
              <a:ext uri="{FF2B5EF4-FFF2-40B4-BE49-F238E27FC236}">
                <a16:creationId xmlns:a16="http://schemas.microsoft.com/office/drawing/2014/main" id="{DD122CC9-E446-D66A-57DC-CD63D1D41A9D}"/>
              </a:ext>
            </a:extLst>
          </p:cNvPr>
          <p:cNvPicPr>
            <a:picLocks noChangeAspect="1"/>
          </p:cNvPicPr>
          <p:nvPr/>
        </p:nvPicPr>
        <p:blipFill>
          <a:blip r:embed="rId3"/>
          <a:srcRect l="12906" t="14470" r="53404" b="12609"/>
          <a:stretch>
            <a:fillRect/>
          </a:stretch>
        </p:blipFill>
        <p:spPr>
          <a:xfrm>
            <a:off x="9448800" y="1185006"/>
            <a:ext cx="2438400" cy="2638982"/>
          </a:xfrm>
          <a:prstGeom prst="rect">
            <a:avLst/>
          </a:prstGeom>
        </p:spPr>
      </p:pic>
      <p:graphicFrame>
        <p:nvGraphicFramePr>
          <p:cNvPr id="7" name="Table 6">
            <a:extLst>
              <a:ext uri="{FF2B5EF4-FFF2-40B4-BE49-F238E27FC236}">
                <a16:creationId xmlns:a16="http://schemas.microsoft.com/office/drawing/2014/main" id="{A415A12A-EF41-B204-019F-CD0913237740}"/>
              </a:ext>
            </a:extLst>
          </p:cNvPr>
          <p:cNvGraphicFramePr>
            <a:graphicFrameLocks noGrp="1"/>
          </p:cNvGraphicFramePr>
          <p:nvPr>
            <p:extLst>
              <p:ext uri="{D42A27DB-BD31-4B8C-83A1-F6EECF244321}">
                <p14:modId xmlns:p14="http://schemas.microsoft.com/office/powerpoint/2010/main" val="1978548202"/>
              </p:ext>
            </p:extLst>
          </p:nvPr>
        </p:nvGraphicFramePr>
        <p:xfrm>
          <a:off x="533400" y="1690970"/>
          <a:ext cx="8686799" cy="4616411"/>
        </p:xfrm>
        <a:graphic>
          <a:graphicData uri="http://schemas.openxmlformats.org/drawingml/2006/table">
            <a:tbl>
              <a:tblPr>
                <a:tableStyleId>{073A0DAA-6AF3-43AB-8588-CEC1D06C72B9}</a:tableStyleId>
              </a:tblPr>
              <a:tblGrid>
                <a:gridCol w="2362199">
                  <a:extLst>
                    <a:ext uri="{9D8B030D-6E8A-4147-A177-3AD203B41FA5}">
                      <a16:colId xmlns:a16="http://schemas.microsoft.com/office/drawing/2014/main" val="3674585910"/>
                    </a:ext>
                  </a:extLst>
                </a:gridCol>
                <a:gridCol w="3352800">
                  <a:extLst>
                    <a:ext uri="{9D8B030D-6E8A-4147-A177-3AD203B41FA5}">
                      <a16:colId xmlns:a16="http://schemas.microsoft.com/office/drawing/2014/main" val="2359710880"/>
                    </a:ext>
                  </a:extLst>
                </a:gridCol>
                <a:gridCol w="2971800">
                  <a:extLst>
                    <a:ext uri="{9D8B030D-6E8A-4147-A177-3AD203B41FA5}">
                      <a16:colId xmlns:a16="http://schemas.microsoft.com/office/drawing/2014/main" val="350780106"/>
                    </a:ext>
                  </a:extLst>
                </a:gridCol>
              </a:tblGrid>
              <a:tr h="267705">
                <a:tc>
                  <a:txBody>
                    <a:bodyPr/>
                    <a:lstStyle/>
                    <a:p>
                      <a:pPr>
                        <a:buNone/>
                      </a:pPr>
                      <a:r>
                        <a:rPr lang="en-US" sz="1400" dirty="0">
                          <a:solidFill>
                            <a:schemeClr val="bg1"/>
                          </a:solidFill>
                        </a:rPr>
                        <a:t>Feature</a:t>
                      </a:r>
                    </a:p>
                  </a:txBody>
                  <a:tcPr marL="74442" marR="74442" marT="37221" marB="37221" anchor="ctr">
                    <a:solidFill>
                      <a:schemeClr val="tx1">
                        <a:lumMod val="75000"/>
                        <a:lumOff val="25000"/>
                      </a:schemeClr>
                    </a:solidFill>
                  </a:tcPr>
                </a:tc>
                <a:tc>
                  <a:txBody>
                    <a:bodyPr/>
                    <a:lstStyle/>
                    <a:p>
                      <a:pPr>
                        <a:buNone/>
                      </a:pPr>
                      <a:r>
                        <a:rPr lang="en-US" sz="1400">
                          <a:solidFill>
                            <a:schemeClr val="bg1"/>
                          </a:solidFill>
                        </a:rPr>
                        <a:t>Classification</a:t>
                      </a:r>
                    </a:p>
                  </a:txBody>
                  <a:tcPr marL="74442" marR="74442" marT="37221" marB="37221" anchor="ctr">
                    <a:solidFill>
                      <a:schemeClr val="tx1">
                        <a:lumMod val="75000"/>
                        <a:lumOff val="25000"/>
                      </a:schemeClr>
                    </a:solidFill>
                  </a:tcPr>
                </a:tc>
                <a:tc>
                  <a:txBody>
                    <a:bodyPr/>
                    <a:lstStyle/>
                    <a:p>
                      <a:pPr>
                        <a:buNone/>
                      </a:pPr>
                      <a:r>
                        <a:rPr lang="en-US" sz="1400" dirty="0">
                          <a:solidFill>
                            <a:schemeClr val="bg1"/>
                          </a:solidFill>
                        </a:rPr>
                        <a:t>Regression</a:t>
                      </a:r>
                    </a:p>
                  </a:txBody>
                  <a:tcPr marL="74442" marR="74442" marT="37221" marB="37221" anchor="ctr">
                    <a:solidFill>
                      <a:schemeClr val="tx1">
                        <a:lumMod val="75000"/>
                        <a:lumOff val="25000"/>
                      </a:schemeClr>
                    </a:solidFill>
                  </a:tcPr>
                </a:tc>
                <a:extLst>
                  <a:ext uri="{0D108BD9-81ED-4DB2-BD59-A6C34878D82A}">
                    <a16:rowId xmlns:a16="http://schemas.microsoft.com/office/drawing/2014/main" val="3765482295"/>
                  </a:ext>
                </a:extLst>
              </a:tr>
              <a:tr h="267705">
                <a:tc>
                  <a:txBody>
                    <a:bodyPr/>
                    <a:lstStyle/>
                    <a:p>
                      <a:pPr>
                        <a:buNone/>
                      </a:pPr>
                      <a:r>
                        <a:rPr lang="en-US" sz="1400" dirty="0"/>
                        <a:t>Main Purpose</a:t>
                      </a:r>
                    </a:p>
                  </a:txBody>
                  <a:tcPr marL="74442" marR="74442" marT="37221" marB="37221" anchor="ctr"/>
                </a:tc>
                <a:tc>
                  <a:txBody>
                    <a:bodyPr/>
                    <a:lstStyle/>
                    <a:p>
                      <a:pPr>
                        <a:buNone/>
                      </a:pPr>
                      <a:r>
                        <a:rPr lang="en-US" sz="1400"/>
                        <a:t>Predicts a category or class</a:t>
                      </a:r>
                    </a:p>
                  </a:txBody>
                  <a:tcPr marL="74442" marR="74442" marT="37221" marB="37221" anchor="ctr"/>
                </a:tc>
                <a:tc>
                  <a:txBody>
                    <a:bodyPr/>
                    <a:lstStyle/>
                    <a:p>
                      <a:pPr>
                        <a:buNone/>
                      </a:pPr>
                      <a:r>
                        <a:rPr lang="en-US" sz="1400"/>
                        <a:t>Predicts a numerical value</a:t>
                      </a:r>
                    </a:p>
                  </a:txBody>
                  <a:tcPr marL="74442" marR="74442" marT="37221" marB="37221" anchor="ctr"/>
                </a:tc>
                <a:extLst>
                  <a:ext uri="{0D108BD9-81ED-4DB2-BD59-A6C34878D82A}">
                    <a16:rowId xmlns:a16="http://schemas.microsoft.com/office/drawing/2014/main" val="4123113112"/>
                  </a:ext>
                </a:extLst>
              </a:tr>
              <a:tr h="267705">
                <a:tc>
                  <a:txBody>
                    <a:bodyPr/>
                    <a:lstStyle/>
                    <a:p>
                      <a:pPr>
                        <a:buNone/>
                      </a:pPr>
                      <a:r>
                        <a:rPr lang="en-US" sz="1400"/>
                        <a:t>Main Question</a:t>
                      </a:r>
                    </a:p>
                  </a:txBody>
                  <a:tcPr marL="74442" marR="74442" marT="37221" marB="37221" anchor="ctr"/>
                </a:tc>
                <a:tc>
                  <a:txBody>
                    <a:bodyPr/>
                    <a:lstStyle/>
                    <a:p>
                      <a:pPr>
                        <a:buNone/>
                      </a:pPr>
                      <a:r>
                        <a:rPr lang="en-US" sz="1400"/>
                        <a:t>Which class?</a:t>
                      </a:r>
                    </a:p>
                  </a:txBody>
                  <a:tcPr marL="74442" marR="74442" marT="37221" marB="37221" anchor="ctr"/>
                </a:tc>
                <a:tc>
                  <a:txBody>
                    <a:bodyPr/>
                    <a:lstStyle/>
                    <a:p>
                      <a:pPr>
                        <a:buNone/>
                      </a:pPr>
                      <a:r>
                        <a:rPr lang="en-US" sz="1400"/>
                        <a:t>What value? / How much?</a:t>
                      </a:r>
                    </a:p>
                  </a:txBody>
                  <a:tcPr marL="74442" marR="74442" marT="37221" marB="37221" anchor="ctr"/>
                </a:tc>
                <a:extLst>
                  <a:ext uri="{0D108BD9-81ED-4DB2-BD59-A6C34878D82A}">
                    <a16:rowId xmlns:a16="http://schemas.microsoft.com/office/drawing/2014/main" val="3282735026"/>
                  </a:ext>
                </a:extLst>
              </a:tr>
              <a:tr h="267705">
                <a:tc>
                  <a:txBody>
                    <a:bodyPr/>
                    <a:lstStyle/>
                    <a:p>
                      <a:pPr>
                        <a:buNone/>
                      </a:pPr>
                      <a:r>
                        <a:rPr lang="en-US" sz="1400"/>
                        <a:t>Output</a:t>
                      </a:r>
                    </a:p>
                  </a:txBody>
                  <a:tcPr marL="74442" marR="74442" marT="37221" marB="37221" anchor="ctr"/>
                </a:tc>
                <a:tc>
                  <a:txBody>
                    <a:bodyPr/>
                    <a:lstStyle/>
                    <a:p>
                      <a:pPr>
                        <a:buNone/>
                      </a:pPr>
                      <a:r>
                        <a:rPr lang="en-US" sz="1400"/>
                        <a:t>Discrete labels</a:t>
                      </a:r>
                    </a:p>
                  </a:txBody>
                  <a:tcPr marL="74442" marR="74442" marT="37221" marB="37221" anchor="ctr"/>
                </a:tc>
                <a:tc>
                  <a:txBody>
                    <a:bodyPr/>
                    <a:lstStyle/>
                    <a:p>
                      <a:pPr>
                        <a:buNone/>
                      </a:pPr>
                      <a:r>
                        <a:rPr lang="en-US" sz="1400" dirty="0"/>
                        <a:t>Continuous values</a:t>
                      </a:r>
                    </a:p>
                  </a:txBody>
                  <a:tcPr marL="74442" marR="74442" marT="37221" marB="37221" anchor="ctr"/>
                </a:tc>
                <a:extLst>
                  <a:ext uri="{0D108BD9-81ED-4DB2-BD59-A6C34878D82A}">
                    <a16:rowId xmlns:a16="http://schemas.microsoft.com/office/drawing/2014/main" val="2812854900"/>
                  </a:ext>
                </a:extLst>
              </a:tr>
              <a:tr h="469648">
                <a:tc>
                  <a:txBody>
                    <a:bodyPr/>
                    <a:lstStyle/>
                    <a:p>
                      <a:pPr>
                        <a:buNone/>
                      </a:pPr>
                      <a:r>
                        <a:rPr lang="en-US" sz="1400" dirty="0"/>
                        <a:t>Examples</a:t>
                      </a:r>
                    </a:p>
                  </a:txBody>
                  <a:tcPr marL="74442" marR="74442" marT="37221" marB="37221" anchor="ctr"/>
                </a:tc>
                <a:tc>
                  <a:txBody>
                    <a:bodyPr/>
                    <a:lstStyle/>
                    <a:p>
                      <a:pPr>
                        <a:buNone/>
                      </a:pPr>
                      <a:r>
                        <a:rPr lang="en-US" sz="1400" dirty="0"/>
                        <a:t>Spam / Not Spam, Disease / No Disease, Cat / Dog</a:t>
                      </a:r>
                    </a:p>
                  </a:txBody>
                  <a:tcPr marL="74442" marR="74442" marT="37221" marB="37221" anchor="ctr"/>
                </a:tc>
                <a:tc>
                  <a:txBody>
                    <a:bodyPr/>
                    <a:lstStyle/>
                    <a:p>
                      <a:pPr>
                        <a:buNone/>
                      </a:pPr>
                      <a:r>
                        <a:rPr lang="en-US" sz="1400" dirty="0"/>
                        <a:t>House Price, Temperature, Sales</a:t>
                      </a:r>
                    </a:p>
                  </a:txBody>
                  <a:tcPr marL="74442" marR="74442" marT="37221" marB="37221" anchor="ctr"/>
                </a:tc>
                <a:extLst>
                  <a:ext uri="{0D108BD9-81ED-4DB2-BD59-A6C34878D82A}">
                    <a16:rowId xmlns:a16="http://schemas.microsoft.com/office/drawing/2014/main" val="143608348"/>
                  </a:ext>
                </a:extLst>
              </a:tr>
              <a:tr h="469648">
                <a:tc>
                  <a:txBody>
                    <a:bodyPr/>
                    <a:lstStyle/>
                    <a:p>
                      <a:pPr>
                        <a:buNone/>
                      </a:pPr>
                      <a:r>
                        <a:rPr lang="en-US" sz="1400" dirty="0"/>
                        <a:t>How It Works</a:t>
                      </a:r>
                    </a:p>
                  </a:txBody>
                  <a:tcPr marL="74442" marR="74442" marT="37221" marB="37221" anchor="ctr"/>
                </a:tc>
                <a:tc>
                  <a:txBody>
                    <a:bodyPr/>
                    <a:lstStyle/>
                    <a:p>
                      <a:pPr>
                        <a:buNone/>
                      </a:pPr>
                      <a:r>
                        <a:rPr lang="en-US" sz="1400"/>
                        <a:t>Learns to separate data into different classes</a:t>
                      </a:r>
                    </a:p>
                  </a:txBody>
                  <a:tcPr marL="74442" marR="74442" marT="37221" marB="37221" anchor="ctr"/>
                </a:tc>
                <a:tc>
                  <a:txBody>
                    <a:bodyPr/>
                    <a:lstStyle/>
                    <a:p>
                      <a:pPr>
                        <a:buNone/>
                      </a:pPr>
                      <a:r>
                        <a:rPr lang="en-US" sz="1400"/>
                        <a:t>Learns the relationship between inputs and numerical output</a:t>
                      </a:r>
                    </a:p>
                  </a:txBody>
                  <a:tcPr marL="74442" marR="74442" marT="37221" marB="37221" anchor="ctr"/>
                </a:tc>
                <a:extLst>
                  <a:ext uri="{0D108BD9-81ED-4DB2-BD59-A6C34878D82A}">
                    <a16:rowId xmlns:a16="http://schemas.microsoft.com/office/drawing/2014/main" val="1362453538"/>
                  </a:ext>
                </a:extLst>
              </a:tr>
              <a:tr h="469648">
                <a:tc>
                  <a:txBody>
                    <a:bodyPr/>
                    <a:lstStyle/>
                    <a:p>
                      <a:pPr>
                        <a:buNone/>
                      </a:pPr>
                      <a:r>
                        <a:rPr lang="en-US" sz="1400"/>
                        <a:t>Main Concept</a:t>
                      </a:r>
                    </a:p>
                  </a:txBody>
                  <a:tcPr marL="74442" marR="74442" marT="37221" marB="37221" anchor="ctr"/>
                </a:tc>
                <a:tc>
                  <a:txBody>
                    <a:bodyPr/>
                    <a:lstStyle/>
                    <a:p>
                      <a:pPr>
                        <a:buNone/>
                      </a:pPr>
                      <a:r>
                        <a:rPr lang="en-US" sz="1400" dirty="0"/>
                        <a:t>Uses a decision boundary between classes</a:t>
                      </a:r>
                    </a:p>
                  </a:txBody>
                  <a:tcPr marL="74442" marR="74442" marT="37221" marB="37221" anchor="ctr"/>
                </a:tc>
                <a:tc>
                  <a:txBody>
                    <a:bodyPr/>
                    <a:lstStyle/>
                    <a:p>
                      <a:pPr>
                        <a:buNone/>
                      </a:pPr>
                      <a:r>
                        <a:rPr lang="en-US" sz="1400"/>
                        <a:t>Finds a best-fit line or curve</a:t>
                      </a:r>
                    </a:p>
                  </a:txBody>
                  <a:tcPr marL="74442" marR="74442" marT="37221" marB="37221" anchor="ctr"/>
                </a:tc>
                <a:extLst>
                  <a:ext uri="{0D108BD9-81ED-4DB2-BD59-A6C34878D82A}">
                    <a16:rowId xmlns:a16="http://schemas.microsoft.com/office/drawing/2014/main" val="3059483739"/>
                  </a:ext>
                </a:extLst>
              </a:tr>
              <a:tr h="267705">
                <a:tc>
                  <a:txBody>
                    <a:bodyPr/>
                    <a:lstStyle/>
                    <a:p>
                      <a:pPr>
                        <a:buNone/>
                      </a:pPr>
                      <a:r>
                        <a:rPr lang="en-US" sz="1400"/>
                        <a:t>Example Output</a:t>
                      </a:r>
                    </a:p>
                  </a:txBody>
                  <a:tcPr marL="74442" marR="74442" marT="37221" marB="37221" anchor="ctr"/>
                </a:tc>
                <a:tc>
                  <a:txBody>
                    <a:bodyPr/>
                    <a:lstStyle/>
                    <a:p>
                      <a:pPr>
                        <a:buNone/>
                      </a:pPr>
                      <a:r>
                        <a:rPr lang="en-US" sz="1400"/>
                        <a:t>Spam</a:t>
                      </a:r>
                    </a:p>
                  </a:txBody>
                  <a:tcPr marL="74442" marR="74442" marT="37221" marB="37221" anchor="ctr"/>
                </a:tc>
                <a:tc>
                  <a:txBody>
                    <a:bodyPr/>
                    <a:lstStyle/>
                    <a:p>
                      <a:pPr>
                        <a:buNone/>
                      </a:pPr>
                      <a:r>
                        <a:rPr lang="en-US" sz="1400"/>
                        <a:t>$350,000</a:t>
                      </a:r>
                    </a:p>
                  </a:txBody>
                  <a:tcPr marL="74442" marR="74442" marT="37221" marB="37221" anchor="ctr"/>
                </a:tc>
                <a:extLst>
                  <a:ext uri="{0D108BD9-81ED-4DB2-BD59-A6C34878D82A}">
                    <a16:rowId xmlns:a16="http://schemas.microsoft.com/office/drawing/2014/main" val="1989936295"/>
                  </a:ext>
                </a:extLst>
              </a:tr>
              <a:tr h="671591">
                <a:tc>
                  <a:txBody>
                    <a:bodyPr/>
                    <a:lstStyle/>
                    <a:p>
                      <a:pPr>
                        <a:buNone/>
                      </a:pPr>
                      <a:r>
                        <a:rPr lang="en-US" sz="1400"/>
                        <a:t>Common Activation</a:t>
                      </a:r>
                    </a:p>
                  </a:txBody>
                  <a:tcPr marL="74442" marR="74442" marT="37221" marB="37221" anchor="ctr"/>
                </a:tc>
                <a:tc>
                  <a:txBody>
                    <a:bodyPr/>
                    <a:lstStyle/>
                    <a:p>
                      <a:pPr>
                        <a:buNone/>
                      </a:pPr>
                      <a:r>
                        <a:rPr lang="en-US" sz="1400"/>
                        <a:t>Sigmoid for binary classification; Softmax for multi-class classification</a:t>
                      </a:r>
                    </a:p>
                  </a:txBody>
                  <a:tcPr marL="74442" marR="74442" marT="37221" marB="37221" anchor="ctr"/>
                </a:tc>
                <a:tc>
                  <a:txBody>
                    <a:bodyPr/>
                    <a:lstStyle/>
                    <a:p>
                      <a:pPr>
                        <a:buNone/>
                      </a:pPr>
                      <a:r>
                        <a:rPr lang="en-US" sz="1400" dirty="0"/>
                        <a:t>Often a linear output for predicting continuous values</a:t>
                      </a:r>
                    </a:p>
                  </a:txBody>
                  <a:tcPr marL="74442" marR="74442" marT="37221" marB="37221" anchor="ctr"/>
                </a:tc>
                <a:extLst>
                  <a:ext uri="{0D108BD9-81ED-4DB2-BD59-A6C34878D82A}">
                    <a16:rowId xmlns:a16="http://schemas.microsoft.com/office/drawing/2014/main" val="2540755283"/>
                  </a:ext>
                </a:extLst>
              </a:tr>
              <a:tr h="469648">
                <a:tc>
                  <a:txBody>
                    <a:bodyPr/>
                    <a:lstStyle/>
                    <a:p>
                      <a:pPr>
                        <a:buNone/>
                      </a:pPr>
                      <a:r>
                        <a:rPr lang="en-US" sz="1400"/>
                        <a:t>Common Loss Functions</a:t>
                      </a:r>
                    </a:p>
                  </a:txBody>
                  <a:tcPr marL="74442" marR="74442" marT="37221" marB="37221" anchor="ctr"/>
                </a:tc>
                <a:tc>
                  <a:txBody>
                    <a:bodyPr/>
                    <a:lstStyle/>
                    <a:p>
                      <a:pPr>
                        <a:buNone/>
                      </a:pPr>
                      <a:r>
                        <a:rPr lang="en-US" sz="1400"/>
                        <a:t>Binary Cross-Entropy, Categorical Cross-Entropy</a:t>
                      </a:r>
                    </a:p>
                  </a:txBody>
                  <a:tcPr marL="74442" marR="74442" marT="37221" marB="37221" anchor="ctr"/>
                </a:tc>
                <a:tc>
                  <a:txBody>
                    <a:bodyPr/>
                    <a:lstStyle/>
                    <a:p>
                      <a:pPr>
                        <a:buNone/>
                      </a:pPr>
                      <a:r>
                        <a:rPr lang="en-US" sz="1400" dirty="0"/>
                        <a:t>MSE, MAE (Mean Absolute Error)</a:t>
                      </a:r>
                    </a:p>
                  </a:txBody>
                  <a:tcPr marL="74442" marR="74442" marT="37221" marB="37221" anchor="ctr"/>
                </a:tc>
                <a:extLst>
                  <a:ext uri="{0D108BD9-81ED-4DB2-BD59-A6C34878D82A}">
                    <a16:rowId xmlns:a16="http://schemas.microsoft.com/office/drawing/2014/main" val="3660293257"/>
                  </a:ext>
                </a:extLst>
              </a:tr>
              <a:tr h="460327">
                <a:tc>
                  <a:txBody>
                    <a:bodyPr/>
                    <a:lstStyle/>
                    <a:p>
                      <a:pPr>
                        <a:buNone/>
                      </a:pPr>
                      <a:r>
                        <a:rPr lang="en-US" sz="1400"/>
                        <a:t>Simple Idea</a:t>
                      </a:r>
                    </a:p>
                  </a:txBody>
                  <a:tcPr marL="74442" marR="74442" marT="37221" marB="37221" anchor="ctr"/>
                </a:tc>
                <a:tc>
                  <a:txBody>
                    <a:bodyPr/>
                    <a:lstStyle/>
                    <a:p>
                      <a:pPr>
                        <a:buNone/>
                      </a:pPr>
                      <a:r>
                        <a:rPr lang="en-US" sz="1400"/>
                        <a:t>Which group does it belong to?</a:t>
                      </a:r>
                    </a:p>
                  </a:txBody>
                  <a:tcPr marL="74442" marR="74442" marT="37221" marB="37221" anchor="ctr"/>
                </a:tc>
                <a:tc>
                  <a:txBody>
                    <a:bodyPr/>
                    <a:lstStyle/>
                    <a:p>
                      <a:pPr>
                        <a:buNone/>
                      </a:pPr>
                      <a:r>
                        <a:rPr lang="en-US" sz="1400" dirty="0"/>
                        <a:t>What numerical value should it be?</a:t>
                      </a:r>
                    </a:p>
                  </a:txBody>
                  <a:tcPr marL="74442" marR="74442" marT="37221" marB="37221" anchor="ctr"/>
                </a:tc>
                <a:extLst>
                  <a:ext uri="{0D108BD9-81ED-4DB2-BD59-A6C34878D82A}">
                    <a16:rowId xmlns:a16="http://schemas.microsoft.com/office/drawing/2014/main" val="3356060003"/>
                  </a:ext>
                </a:extLst>
              </a:tr>
            </a:tbl>
          </a:graphicData>
        </a:graphic>
      </p:graphicFrame>
      <p:pic>
        <p:nvPicPr>
          <p:cNvPr id="9" name="Picture 8" descr="classification-vs-regression">
            <a:extLst>
              <a:ext uri="{FF2B5EF4-FFF2-40B4-BE49-F238E27FC236}">
                <a16:creationId xmlns:a16="http://schemas.microsoft.com/office/drawing/2014/main" id="{9FB10ACA-A9B4-6D45-5937-C31B47547D04}"/>
              </a:ext>
            </a:extLst>
          </p:cNvPr>
          <p:cNvPicPr>
            <a:picLocks noChangeAspect="1"/>
          </p:cNvPicPr>
          <p:nvPr/>
        </p:nvPicPr>
        <p:blipFill>
          <a:blip r:embed="rId3"/>
          <a:srcRect l="54064" t="16072" r="12247" b="14875"/>
          <a:stretch>
            <a:fillRect/>
          </a:stretch>
        </p:blipFill>
        <p:spPr>
          <a:xfrm>
            <a:off x="9448800" y="3934398"/>
            <a:ext cx="2438400" cy="2499066"/>
          </a:xfrm>
          <a:prstGeom prst="rect">
            <a:avLst/>
          </a:prstGeom>
        </p:spPr>
      </p:pic>
    </p:spTree>
    <p:extLst>
      <p:ext uri="{BB962C8B-B14F-4D97-AF65-F5344CB8AC3E}">
        <p14:creationId xmlns:p14="http://schemas.microsoft.com/office/powerpoint/2010/main" val="1559044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93" name="object 3"/>
          <p:cNvSpPr txBox="1"/>
          <p:nvPr/>
        </p:nvSpPr>
        <p:spPr>
          <a:xfrm>
            <a:off x="679805" y="950494"/>
            <a:ext cx="9988196" cy="993221"/>
          </a:xfrm>
          <a:prstGeom prst="rect">
            <a:avLst/>
          </a:prstGeom>
        </p:spPr>
        <p:txBody>
          <a:bodyPr vert="horz" wrap="square" lIns="0" tIns="64135" rIns="0" bIns="0" rtlCol="0">
            <a:spAutoFit/>
          </a:bodyPr>
          <a:lstStyle/>
          <a:p>
            <a:pPr marL="12700">
              <a:lnSpc>
                <a:spcPct val="100000"/>
              </a:lnSpc>
              <a:spcBef>
                <a:spcPts val="505"/>
              </a:spcBef>
            </a:pPr>
            <a:r>
              <a:rPr sz="2000" b="1" spc="155" dirty="0">
                <a:latin typeface="Calibri" panose="020F0502020204030204" pitchFamily="34" charset="0"/>
                <a:cs typeface="Calibri" panose="020F0502020204030204" pitchFamily="34" charset="0"/>
              </a:rPr>
              <a:t>Loss</a:t>
            </a:r>
            <a:r>
              <a:rPr sz="2000" b="1" spc="145" dirty="0">
                <a:latin typeface="Calibri" panose="020F0502020204030204" pitchFamily="34" charset="0"/>
                <a:cs typeface="Calibri" panose="020F0502020204030204" pitchFamily="34" charset="0"/>
              </a:rPr>
              <a:t> </a:t>
            </a:r>
            <a:r>
              <a:rPr sz="2000" b="1" spc="140" dirty="0">
                <a:latin typeface="Calibri" panose="020F0502020204030204" pitchFamily="34" charset="0"/>
                <a:cs typeface="Calibri" panose="020F0502020204030204" pitchFamily="34" charset="0"/>
              </a:rPr>
              <a:t>Function:</a:t>
            </a:r>
            <a:endParaRPr lang="en-US" sz="2000" b="1" dirty="0">
              <a:latin typeface="Calibri" panose="020F0502020204030204" pitchFamily="34" charset="0"/>
              <a:cs typeface="Calibri" panose="020F0502020204030204" pitchFamily="34" charset="0"/>
            </a:endParaRPr>
          </a:p>
          <a:p>
            <a:pPr marL="298450" indent="-285750">
              <a:lnSpc>
                <a:spcPct val="100000"/>
              </a:lnSpc>
              <a:spcBef>
                <a:spcPts val="505"/>
              </a:spcBef>
              <a:buFont typeface="Arial" panose="020B0604020202020204" pitchFamily="34" charset="0"/>
              <a:buChar char="•"/>
            </a:pPr>
            <a:r>
              <a:rPr sz="1600" spc="70" dirty="0">
                <a:solidFill>
                  <a:srgbClr val="6E6E74"/>
                </a:solidFill>
                <a:latin typeface="Calibri" panose="020F0502020204030204" pitchFamily="34" charset="0"/>
                <a:cs typeface="Calibri" panose="020F0502020204030204" pitchFamily="34" charset="0"/>
              </a:rPr>
              <a:t> </a:t>
            </a:r>
            <a:r>
              <a:rPr sz="1600" spc="150" dirty="0">
                <a:solidFill>
                  <a:srgbClr val="252525"/>
                </a:solidFill>
                <a:latin typeface="Calibri" panose="020F0502020204030204" pitchFamily="34" charset="0"/>
                <a:cs typeface="Calibri" panose="020F0502020204030204" pitchFamily="34" charset="0"/>
              </a:rPr>
              <a:t>A</a:t>
            </a:r>
            <a:r>
              <a:rPr sz="1600" spc="350" dirty="0">
                <a:solidFill>
                  <a:srgbClr val="252525"/>
                </a:solidFill>
                <a:latin typeface="Calibri" panose="020F0502020204030204" pitchFamily="34" charset="0"/>
                <a:cs typeface="Calibri" panose="020F0502020204030204" pitchFamily="34" charset="0"/>
              </a:rPr>
              <a:t> </a:t>
            </a:r>
            <a:r>
              <a:rPr sz="1600" dirty="0">
                <a:solidFill>
                  <a:srgbClr val="252525"/>
                </a:solidFill>
                <a:latin typeface="Calibri" panose="020F0502020204030204" pitchFamily="34" charset="0"/>
                <a:cs typeface="Calibri" panose="020F0502020204030204" pitchFamily="34" charset="0"/>
              </a:rPr>
              <a:t>loss</a:t>
            </a:r>
            <a:r>
              <a:rPr sz="1600" spc="360" dirty="0">
                <a:solidFill>
                  <a:srgbClr val="252525"/>
                </a:solidFill>
                <a:latin typeface="Calibri" panose="020F0502020204030204" pitchFamily="34" charset="0"/>
                <a:cs typeface="Calibri" panose="020F0502020204030204" pitchFamily="34" charset="0"/>
              </a:rPr>
              <a:t> </a:t>
            </a:r>
            <a:r>
              <a:rPr sz="1600" spc="45" dirty="0">
                <a:solidFill>
                  <a:srgbClr val="252525"/>
                </a:solidFill>
                <a:latin typeface="Calibri" panose="020F0502020204030204" pitchFamily="34" charset="0"/>
                <a:cs typeface="Calibri" panose="020F0502020204030204" pitchFamily="34" charset="0"/>
              </a:rPr>
              <a:t>function</a:t>
            </a:r>
            <a:r>
              <a:rPr sz="1600" spc="355" dirty="0">
                <a:solidFill>
                  <a:srgbClr val="252525"/>
                </a:solidFill>
                <a:latin typeface="Calibri" panose="020F0502020204030204" pitchFamily="34" charset="0"/>
                <a:cs typeface="Calibri" panose="020F0502020204030204" pitchFamily="34" charset="0"/>
              </a:rPr>
              <a:t> </a:t>
            </a:r>
            <a:r>
              <a:rPr sz="1600" spc="50" dirty="0">
                <a:solidFill>
                  <a:srgbClr val="252525"/>
                </a:solidFill>
                <a:latin typeface="Calibri" panose="020F0502020204030204" pitchFamily="34" charset="0"/>
                <a:cs typeface="Calibri" panose="020F0502020204030204" pitchFamily="34" charset="0"/>
              </a:rPr>
              <a:t>measures</a:t>
            </a:r>
            <a:r>
              <a:rPr sz="1600" spc="360" dirty="0">
                <a:solidFill>
                  <a:srgbClr val="252525"/>
                </a:solidFill>
                <a:latin typeface="Calibri" panose="020F0502020204030204" pitchFamily="34" charset="0"/>
                <a:cs typeface="Calibri" panose="020F0502020204030204" pitchFamily="34" charset="0"/>
              </a:rPr>
              <a:t> </a:t>
            </a:r>
            <a:r>
              <a:rPr sz="1600" spc="55" dirty="0">
                <a:solidFill>
                  <a:srgbClr val="252525"/>
                </a:solidFill>
                <a:latin typeface="Calibri" panose="020F0502020204030204" pitchFamily="34" charset="0"/>
                <a:cs typeface="Calibri" panose="020F0502020204030204" pitchFamily="34" charset="0"/>
              </a:rPr>
              <a:t>the</a:t>
            </a:r>
            <a:r>
              <a:rPr sz="1600" spc="365" dirty="0">
                <a:solidFill>
                  <a:srgbClr val="252525"/>
                </a:solidFill>
                <a:latin typeface="Calibri" panose="020F0502020204030204" pitchFamily="34" charset="0"/>
                <a:cs typeface="Calibri" panose="020F0502020204030204" pitchFamily="34" charset="0"/>
              </a:rPr>
              <a:t> </a:t>
            </a:r>
            <a:r>
              <a:rPr sz="1600" dirty="0">
                <a:solidFill>
                  <a:srgbClr val="252525"/>
                </a:solidFill>
                <a:latin typeface="Calibri" panose="020F0502020204030204" pitchFamily="34" charset="0"/>
                <a:cs typeface="Calibri" panose="020F0502020204030204" pitchFamily="34" charset="0"/>
              </a:rPr>
              <a:t>difference</a:t>
            </a:r>
            <a:r>
              <a:rPr sz="1600" spc="365" dirty="0">
                <a:solidFill>
                  <a:srgbClr val="252525"/>
                </a:solidFill>
                <a:latin typeface="Calibri" panose="020F0502020204030204" pitchFamily="34" charset="0"/>
                <a:cs typeface="Calibri" panose="020F0502020204030204" pitchFamily="34" charset="0"/>
              </a:rPr>
              <a:t> </a:t>
            </a:r>
            <a:r>
              <a:rPr sz="1600" dirty="0">
                <a:solidFill>
                  <a:srgbClr val="252525"/>
                </a:solidFill>
                <a:latin typeface="Calibri" panose="020F0502020204030204" pitchFamily="34" charset="0"/>
                <a:cs typeface="Calibri" panose="020F0502020204030204" pitchFamily="34" charset="0"/>
              </a:rPr>
              <a:t>between</a:t>
            </a:r>
            <a:r>
              <a:rPr sz="1600" spc="355" dirty="0">
                <a:solidFill>
                  <a:srgbClr val="252525"/>
                </a:solidFill>
                <a:latin typeface="Calibri" panose="020F0502020204030204" pitchFamily="34" charset="0"/>
                <a:cs typeface="Calibri" panose="020F0502020204030204" pitchFamily="34" charset="0"/>
              </a:rPr>
              <a:t> </a:t>
            </a:r>
            <a:r>
              <a:rPr sz="1600" spc="55" dirty="0">
                <a:solidFill>
                  <a:srgbClr val="252525"/>
                </a:solidFill>
                <a:latin typeface="Calibri" panose="020F0502020204030204" pitchFamily="34" charset="0"/>
                <a:cs typeface="Calibri" panose="020F0502020204030204" pitchFamily="34" charset="0"/>
              </a:rPr>
              <a:t>the</a:t>
            </a:r>
            <a:r>
              <a:rPr sz="1600" spc="375" dirty="0">
                <a:solidFill>
                  <a:srgbClr val="252525"/>
                </a:solidFill>
                <a:latin typeface="Calibri" panose="020F0502020204030204" pitchFamily="34" charset="0"/>
                <a:cs typeface="Calibri" panose="020F0502020204030204" pitchFamily="34" charset="0"/>
              </a:rPr>
              <a:t> </a:t>
            </a:r>
            <a:r>
              <a:rPr sz="1600" dirty="0">
                <a:solidFill>
                  <a:srgbClr val="252525"/>
                </a:solidFill>
                <a:latin typeface="Calibri" panose="020F0502020204030204" pitchFamily="34" charset="0"/>
                <a:cs typeface="Calibri" panose="020F0502020204030204" pitchFamily="34" charset="0"/>
              </a:rPr>
              <a:t>predicted</a:t>
            </a:r>
            <a:r>
              <a:rPr sz="1600" spc="365" dirty="0">
                <a:solidFill>
                  <a:srgbClr val="252525"/>
                </a:solidFill>
                <a:latin typeface="Calibri" panose="020F0502020204030204" pitchFamily="34" charset="0"/>
                <a:cs typeface="Calibri" panose="020F0502020204030204" pitchFamily="34" charset="0"/>
              </a:rPr>
              <a:t> </a:t>
            </a:r>
            <a:r>
              <a:rPr sz="1600" dirty="0">
                <a:solidFill>
                  <a:srgbClr val="252525"/>
                </a:solidFill>
                <a:latin typeface="Calibri" panose="020F0502020204030204" pitchFamily="34" charset="0"/>
                <a:cs typeface="Calibri" panose="020F0502020204030204" pitchFamily="34" charset="0"/>
              </a:rPr>
              <a:t>output</a:t>
            </a:r>
            <a:r>
              <a:rPr sz="1600" spc="375" dirty="0">
                <a:solidFill>
                  <a:srgbClr val="252525"/>
                </a:solidFill>
                <a:latin typeface="Calibri" panose="020F0502020204030204" pitchFamily="34" charset="0"/>
                <a:cs typeface="Calibri" panose="020F0502020204030204" pitchFamily="34" charset="0"/>
              </a:rPr>
              <a:t> </a:t>
            </a:r>
            <a:r>
              <a:rPr sz="1600" spc="70" dirty="0">
                <a:solidFill>
                  <a:srgbClr val="252525"/>
                </a:solidFill>
                <a:latin typeface="Calibri" panose="020F0502020204030204" pitchFamily="34" charset="0"/>
                <a:cs typeface="Calibri" panose="020F0502020204030204" pitchFamily="34" charset="0"/>
              </a:rPr>
              <a:t>and</a:t>
            </a:r>
            <a:r>
              <a:rPr sz="1600" spc="360" dirty="0">
                <a:solidFill>
                  <a:srgbClr val="252525"/>
                </a:solidFill>
                <a:latin typeface="Calibri" panose="020F0502020204030204" pitchFamily="34" charset="0"/>
                <a:cs typeface="Calibri" panose="020F0502020204030204" pitchFamily="34" charset="0"/>
              </a:rPr>
              <a:t> </a:t>
            </a:r>
            <a:r>
              <a:rPr sz="1600" spc="30" dirty="0">
                <a:solidFill>
                  <a:srgbClr val="252525"/>
                </a:solidFill>
                <a:latin typeface="Calibri" panose="020F0502020204030204" pitchFamily="34" charset="0"/>
                <a:cs typeface="Calibri" panose="020F0502020204030204" pitchFamily="34" charset="0"/>
              </a:rPr>
              <a:t>the </a:t>
            </a:r>
            <a:r>
              <a:rPr sz="1600" spc="65" dirty="0">
                <a:solidFill>
                  <a:srgbClr val="252525"/>
                </a:solidFill>
                <a:latin typeface="Calibri" panose="020F0502020204030204" pitchFamily="34" charset="0"/>
                <a:cs typeface="Calibri" panose="020F0502020204030204" pitchFamily="34" charset="0"/>
              </a:rPr>
              <a:t>actual</a:t>
            </a:r>
            <a:r>
              <a:rPr sz="1600" spc="125" dirty="0">
                <a:solidFill>
                  <a:srgbClr val="252525"/>
                </a:solidFill>
                <a:latin typeface="Calibri" panose="020F0502020204030204" pitchFamily="34" charset="0"/>
                <a:cs typeface="Calibri" panose="020F0502020204030204" pitchFamily="34" charset="0"/>
              </a:rPr>
              <a:t> </a:t>
            </a:r>
            <a:r>
              <a:rPr sz="1600" spc="60" dirty="0">
                <a:solidFill>
                  <a:srgbClr val="252525"/>
                </a:solidFill>
                <a:latin typeface="Calibri" panose="020F0502020204030204" pitchFamily="34" charset="0"/>
                <a:cs typeface="Calibri" panose="020F0502020204030204" pitchFamily="34" charset="0"/>
              </a:rPr>
              <a:t>target.</a:t>
            </a:r>
            <a:endParaRPr lang="en-US" sz="1600" spc="60" dirty="0">
              <a:solidFill>
                <a:srgbClr val="252525"/>
              </a:solidFill>
              <a:latin typeface="Calibri" panose="020F0502020204030204" pitchFamily="34" charset="0"/>
              <a:cs typeface="Calibri" panose="020F0502020204030204" pitchFamily="34" charset="0"/>
            </a:endParaRPr>
          </a:p>
          <a:p>
            <a:pPr marL="298450" indent="-285750">
              <a:lnSpc>
                <a:spcPct val="100000"/>
              </a:lnSpc>
              <a:spcBef>
                <a:spcPts val="505"/>
              </a:spcBef>
              <a:buFont typeface="Arial" panose="020B0604020202020204" pitchFamily="34" charset="0"/>
              <a:buChar char="•"/>
            </a:pPr>
            <a:r>
              <a:rPr sz="1600" spc="95" dirty="0">
                <a:solidFill>
                  <a:srgbClr val="252525"/>
                </a:solidFill>
                <a:latin typeface="Calibri" panose="020F0502020204030204" pitchFamily="34" charset="0"/>
                <a:cs typeface="Calibri" panose="020F0502020204030204" pitchFamily="34" charset="0"/>
              </a:rPr>
              <a:t>It</a:t>
            </a:r>
            <a:r>
              <a:rPr sz="1600" spc="204" dirty="0">
                <a:solidFill>
                  <a:srgbClr val="252525"/>
                </a:solidFill>
                <a:latin typeface="Calibri" panose="020F0502020204030204" pitchFamily="34" charset="0"/>
                <a:cs typeface="Calibri" panose="020F0502020204030204" pitchFamily="34" charset="0"/>
              </a:rPr>
              <a:t> </a:t>
            </a:r>
            <a:r>
              <a:rPr sz="1600" dirty="0">
                <a:solidFill>
                  <a:srgbClr val="252525"/>
                </a:solidFill>
                <a:latin typeface="Calibri" panose="020F0502020204030204" pitchFamily="34" charset="0"/>
                <a:cs typeface="Calibri" panose="020F0502020204030204" pitchFamily="34" charset="0"/>
              </a:rPr>
              <a:t>helps</a:t>
            </a:r>
            <a:r>
              <a:rPr sz="1600" spc="195" dirty="0">
                <a:solidFill>
                  <a:srgbClr val="252525"/>
                </a:solidFill>
                <a:latin typeface="Calibri" panose="020F0502020204030204" pitchFamily="34" charset="0"/>
                <a:cs typeface="Calibri" panose="020F0502020204030204" pitchFamily="34" charset="0"/>
              </a:rPr>
              <a:t> </a:t>
            </a:r>
            <a:r>
              <a:rPr sz="1600" spc="55" dirty="0">
                <a:solidFill>
                  <a:srgbClr val="252525"/>
                </a:solidFill>
                <a:latin typeface="Calibri" panose="020F0502020204030204" pitchFamily="34" charset="0"/>
                <a:cs typeface="Calibri" panose="020F0502020204030204" pitchFamily="34" charset="0"/>
              </a:rPr>
              <a:t>the</a:t>
            </a:r>
            <a:r>
              <a:rPr sz="1600" spc="204" dirty="0">
                <a:solidFill>
                  <a:srgbClr val="252525"/>
                </a:solidFill>
                <a:latin typeface="Calibri" panose="020F0502020204030204" pitchFamily="34" charset="0"/>
                <a:cs typeface="Calibri" panose="020F0502020204030204" pitchFamily="34" charset="0"/>
              </a:rPr>
              <a:t> </a:t>
            </a:r>
            <a:r>
              <a:rPr sz="1600" spc="65" dirty="0">
                <a:solidFill>
                  <a:srgbClr val="252525"/>
                </a:solidFill>
                <a:latin typeface="Calibri" panose="020F0502020204030204" pitchFamily="34" charset="0"/>
                <a:cs typeface="Calibri" panose="020F0502020204030204" pitchFamily="34" charset="0"/>
              </a:rPr>
              <a:t>neural</a:t>
            </a:r>
            <a:r>
              <a:rPr sz="1600" spc="200" dirty="0">
                <a:solidFill>
                  <a:srgbClr val="252525"/>
                </a:solidFill>
                <a:latin typeface="Calibri" panose="020F0502020204030204" pitchFamily="34" charset="0"/>
                <a:cs typeface="Calibri" panose="020F0502020204030204" pitchFamily="34" charset="0"/>
              </a:rPr>
              <a:t> </a:t>
            </a:r>
            <a:r>
              <a:rPr sz="1600" dirty="0">
                <a:solidFill>
                  <a:srgbClr val="252525"/>
                </a:solidFill>
                <a:latin typeface="Calibri" panose="020F0502020204030204" pitchFamily="34" charset="0"/>
                <a:cs typeface="Calibri" panose="020F0502020204030204" pitchFamily="34" charset="0"/>
              </a:rPr>
              <a:t>network</a:t>
            </a:r>
            <a:r>
              <a:rPr sz="1600" spc="204" dirty="0">
                <a:solidFill>
                  <a:srgbClr val="252525"/>
                </a:solidFill>
                <a:latin typeface="Calibri" panose="020F0502020204030204" pitchFamily="34" charset="0"/>
                <a:cs typeface="Calibri" panose="020F0502020204030204" pitchFamily="34" charset="0"/>
              </a:rPr>
              <a:t> </a:t>
            </a:r>
            <a:r>
              <a:rPr sz="1600" spc="55" dirty="0">
                <a:solidFill>
                  <a:srgbClr val="252525"/>
                </a:solidFill>
                <a:latin typeface="Calibri" panose="020F0502020204030204" pitchFamily="34" charset="0"/>
                <a:cs typeface="Calibri" panose="020F0502020204030204" pitchFamily="34" charset="0"/>
              </a:rPr>
              <a:t>adjust</a:t>
            </a:r>
            <a:r>
              <a:rPr sz="1600" spc="225" dirty="0">
                <a:solidFill>
                  <a:srgbClr val="252525"/>
                </a:solidFill>
                <a:latin typeface="Calibri" panose="020F0502020204030204" pitchFamily="34" charset="0"/>
                <a:cs typeface="Calibri" panose="020F0502020204030204" pitchFamily="34" charset="0"/>
              </a:rPr>
              <a:t> </a:t>
            </a:r>
            <a:r>
              <a:rPr sz="1600" dirty="0">
                <a:solidFill>
                  <a:srgbClr val="252525"/>
                </a:solidFill>
                <a:latin typeface="Calibri" panose="020F0502020204030204" pitchFamily="34" charset="0"/>
                <a:cs typeface="Calibri" panose="020F0502020204030204" pitchFamily="34" charset="0"/>
              </a:rPr>
              <a:t>weights</a:t>
            </a:r>
            <a:r>
              <a:rPr sz="1600" spc="225" dirty="0">
                <a:solidFill>
                  <a:srgbClr val="252525"/>
                </a:solidFill>
                <a:latin typeface="Calibri" panose="020F0502020204030204" pitchFamily="34" charset="0"/>
                <a:cs typeface="Calibri" panose="020F0502020204030204" pitchFamily="34" charset="0"/>
              </a:rPr>
              <a:t> </a:t>
            </a:r>
            <a:r>
              <a:rPr sz="1600" spc="55" dirty="0">
                <a:solidFill>
                  <a:srgbClr val="252525"/>
                </a:solidFill>
                <a:latin typeface="Calibri" panose="020F0502020204030204" pitchFamily="34" charset="0"/>
                <a:cs typeface="Calibri" panose="020F0502020204030204" pitchFamily="34" charset="0"/>
              </a:rPr>
              <a:t>during</a:t>
            </a:r>
            <a:r>
              <a:rPr sz="1600" spc="220" dirty="0">
                <a:solidFill>
                  <a:srgbClr val="252525"/>
                </a:solidFill>
                <a:latin typeface="Calibri" panose="020F0502020204030204" pitchFamily="34" charset="0"/>
                <a:cs typeface="Calibri" panose="020F0502020204030204" pitchFamily="34" charset="0"/>
              </a:rPr>
              <a:t> </a:t>
            </a:r>
            <a:r>
              <a:rPr sz="1600" spc="60" dirty="0">
                <a:solidFill>
                  <a:srgbClr val="252525"/>
                </a:solidFill>
                <a:latin typeface="Calibri" panose="020F0502020204030204" pitchFamily="34" charset="0"/>
                <a:cs typeface="Calibri" panose="020F0502020204030204" pitchFamily="34" charset="0"/>
              </a:rPr>
              <a:t>training</a:t>
            </a:r>
            <a:r>
              <a:rPr sz="1600" spc="215" dirty="0">
                <a:solidFill>
                  <a:srgbClr val="252525"/>
                </a:solidFill>
                <a:latin typeface="Calibri" panose="020F0502020204030204" pitchFamily="34" charset="0"/>
                <a:cs typeface="Calibri" panose="020F0502020204030204" pitchFamily="34" charset="0"/>
              </a:rPr>
              <a:t> </a:t>
            </a:r>
            <a:r>
              <a:rPr sz="1600" dirty="0">
                <a:solidFill>
                  <a:srgbClr val="252525"/>
                </a:solidFill>
                <a:latin typeface="Calibri" panose="020F0502020204030204" pitchFamily="34" charset="0"/>
                <a:cs typeface="Calibri" panose="020F0502020204030204" pitchFamily="34" charset="0"/>
              </a:rPr>
              <a:t>to</a:t>
            </a:r>
            <a:r>
              <a:rPr sz="1600" spc="195" dirty="0">
                <a:solidFill>
                  <a:srgbClr val="252525"/>
                </a:solidFill>
                <a:latin typeface="Calibri" panose="020F0502020204030204" pitchFamily="34" charset="0"/>
                <a:cs typeface="Calibri" panose="020F0502020204030204" pitchFamily="34" charset="0"/>
              </a:rPr>
              <a:t> </a:t>
            </a:r>
            <a:r>
              <a:rPr sz="1600" dirty="0">
                <a:solidFill>
                  <a:srgbClr val="252525"/>
                </a:solidFill>
                <a:latin typeface="Calibri" panose="020F0502020204030204" pitchFamily="34" charset="0"/>
                <a:cs typeface="Calibri" panose="020F0502020204030204" pitchFamily="34" charset="0"/>
              </a:rPr>
              <a:t>minimize</a:t>
            </a:r>
            <a:r>
              <a:rPr sz="1600" spc="210" dirty="0">
                <a:solidFill>
                  <a:srgbClr val="252525"/>
                </a:solidFill>
                <a:latin typeface="Calibri" panose="020F0502020204030204" pitchFamily="34" charset="0"/>
                <a:cs typeface="Calibri" panose="020F0502020204030204" pitchFamily="34" charset="0"/>
              </a:rPr>
              <a:t> </a:t>
            </a:r>
            <a:r>
              <a:rPr sz="1600" spc="-10" dirty="0">
                <a:solidFill>
                  <a:srgbClr val="252525"/>
                </a:solidFill>
                <a:latin typeface="Calibri" panose="020F0502020204030204" pitchFamily="34" charset="0"/>
                <a:cs typeface="Calibri" panose="020F0502020204030204" pitchFamily="34" charset="0"/>
              </a:rPr>
              <a:t>errors.</a:t>
            </a:r>
            <a:endParaRPr sz="1600" dirty="0">
              <a:latin typeface="Calibri" panose="020F0502020204030204" pitchFamily="34" charset="0"/>
              <a:cs typeface="Calibri" panose="020F0502020204030204" pitchFamily="34" charset="0"/>
            </a:endParaRPr>
          </a:p>
        </p:txBody>
      </p:sp>
      <p:sp>
        <p:nvSpPr>
          <p:cNvPr id="1049094" name="object 4"/>
          <p:cNvSpPr txBox="1"/>
          <p:nvPr/>
        </p:nvSpPr>
        <p:spPr>
          <a:xfrm>
            <a:off x="679804" y="2304110"/>
            <a:ext cx="3053995" cy="321242"/>
          </a:xfrm>
          <a:prstGeom prst="rect">
            <a:avLst/>
          </a:prstGeom>
        </p:spPr>
        <p:txBody>
          <a:bodyPr vert="horz" wrap="square" lIns="0" tIns="13335" rIns="0" bIns="0" rtlCol="0">
            <a:spAutoFit/>
          </a:bodyPr>
          <a:lstStyle/>
          <a:p>
            <a:pPr marL="12700">
              <a:lnSpc>
                <a:spcPct val="100000"/>
              </a:lnSpc>
              <a:spcBef>
                <a:spcPts val="105"/>
              </a:spcBef>
            </a:pPr>
            <a:r>
              <a:rPr sz="2000" b="1" spc="175" dirty="0">
                <a:latin typeface="Calibri" panose="020F0502020204030204" pitchFamily="34" charset="0"/>
                <a:cs typeface="Calibri" panose="020F0502020204030204" pitchFamily="34" charset="0"/>
              </a:rPr>
              <a:t>Cost</a:t>
            </a:r>
            <a:r>
              <a:rPr sz="2000" b="1" spc="130" dirty="0">
                <a:latin typeface="Calibri" panose="020F0502020204030204" pitchFamily="34" charset="0"/>
                <a:cs typeface="Calibri" panose="020F0502020204030204" pitchFamily="34" charset="0"/>
              </a:rPr>
              <a:t> </a:t>
            </a:r>
            <a:r>
              <a:rPr sz="2000" b="1" spc="140" dirty="0">
                <a:latin typeface="Calibri" panose="020F0502020204030204" pitchFamily="34" charset="0"/>
                <a:cs typeface="Calibri" panose="020F0502020204030204" pitchFamily="34" charset="0"/>
              </a:rPr>
              <a:t>Function:</a:t>
            </a:r>
            <a:endParaRPr sz="2000" dirty="0">
              <a:latin typeface="Calibri" panose="020F0502020204030204" pitchFamily="34" charset="0"/>
              <a:cs typeface="Calibri" panose="020F0502020204030204" pitchFamily="34" charset="0"/>
            </a:endParaRPr>
          </a:p>
        </p:txBody>
      </p:sp>
      <p:sp>
        <p:nvSpPr>
          <p:cNvPr id="1049095" name="object 5"/>
          <p:cNvSpPr txBox="1"/>
          <p:nvPr/>
        </p:nvSpPr>
        <p:spPr>
          <a:xfrm>
            <a:off x="705712" y="2598191"/>
            <a:ext cx="8285887" cy="993221"/>
          </a:xfrm>
          <a:prstGeom prst="rect">
            <a:avLst/>
          </a:prstGeom>
        </p:spPr>
        <p:txBody>
          <a:bodyPr vert="horz" wrap="square" lIns="0" tIns="64135" rIns="0" bIns="0" rtlCol="0">
            <a:spAutoFit/>
          </a:bodyPr>
          <a:lstStyle/>
          <a:p>
            <a:pPr marL="546735" indent="-285750">
              <a:lnSpc>
                <a:spcPct val="100000"/>
              </a:lnSpc>
              <a:spcBef>
                <a:spcPts val="505"/>
              </a:spcBef>
              <a:buFont typeface="Arial" panose="020B0604020202020204" pitchFamily="34" charset="0"/>
              <a:buChar char="•"/>
            </a:pPr>
            <a:r>
              <a:rPr sz="1600" spc="65" dirty="0">
                <a:solidFill>
                  <a:srgbClr val="252525"/>
                </a:solidFill>
                <a:latin typeface="Calibri" panose="020F0502020204030204" pitchFamily="34" charset="0"/>
                <a:cs typeface="Calibri" panose="020F0502020204030204" pitchFamily="34" charset="0"/>
              </a:rPr>
              <a:t>The</a:t>
            </a:r>
            <a:r>
              <a:rPr sz="1600" spc="185" dirty="0">
                <a:solidFill>
                  <a:srgbClr val="252525"/>
                </a:solidFill>
                <a:latin typeface="Calibri" panose="020F0502020204030204" pitchFamily="34" charset="0"/>
                <a:cs typeface="Calibri" panose="020F0502020204030204" pitchFamily="34" charset="0"/>
              </a:rPr>
              <a:t> </a:t>
            </a:r>
            <a:r>
              <a:rPr sz="1600" dirty="0">
                <a:solidFill>
                  <a:srgbClr val="252525"/>
                </a:solidFill>
                <a:latin typeface="Calibri" panose="020F0502020204030204" pitchFamily="34" charset="0"/>
                <a:cs typeface="Calibri" panose="020F0502020204030204" pitchFamily="34" charset="0"/>
              </a:rPr>
              <a:t>cost</a:t>
            </a:r>
            <a:r>
              <a:rPr sz="1600" spc="190" dirty="0">
                <a:solidFill>
                  <a:srgbClr val="252525"/>
                </a:solidFill>
                <a:latin typeface="Calibri" panose="020F0502020204030204" pitchFamily="34" charset="0"/>
                <a:cs typeface="Calibri" panose="020F0502020204030204" pitchFamily="34" charset="0"/>
              </a:rPr>
              <a:t> </a:t>
            </a:r>
            <a:r>
              <a:rPr sz="1600" dirty="0">
                <a:solidFill>
                  <a:srgbClr val="252525"/>
                </a:solidFill>
                <a:latin typeface="Calibri" panose="020F0502020204030204" pitchFamily="34" charset="0"/>
                <a:cs typeface="Calibri" panose="020F0502020204030204" pitchFamily="34" charset="0"/>
              </a:rPr>
              <a:t>function</a:t>
            </a:r>
            <a:r>
              <a:rPr sz="1600" spc="195" dirty="0">
                <a:solidFill>
                  <a:srgbClr val="252525"/>
                </a:solidFill>
                <a:latin typeface="Calibri" panose="020F0502020204030204" pitchFamily="34" charset="0"/>
                <a:cs typeface="Calibri" panose="020F0502020204030204" pitchFamily="34" charset="0"/>
              </a:rPr>
              <a:t> </a:t>
            </a:r>
            <a:r>
              <a:rPr sz="1600" spc="50" dirty="0">
                <a:solidFill>
                  <a:srgbClr val="252525"/>
                </a:solidFill>
                <a:latin typeface="Calibri" panose="020F0502020204030204" pitchFamily="34" charset="0"/>
                <a:cs typeface="Calibri" panose="020F0502020204030204" pitchFamily="34" charset="0"/>
              </a:rPr>
              <a:t>is</a:t>
            </a:r>
            <a:r>
              <a:rPr sz="1600" spc="185" dirty="0">
                <a:solidFill>
                  <a:srgbClr val="252525"/>
                </a:solidFill>
                <a:latin typeface="Calibri" panose="020F0502020204030204" pitchFamily="34" charset="0"/>
                <a:cs typeface="Calibri" panose="020F0502020204030204" pitchFamily="34" charset="0"/>
              </a:rPr>
              <a:t> </a:t>
            </a:r>
            <a:r>
              <a:rPr sz="1600" spc="55" dirty="0">
                <a:solidFill>
                  <a:srgbClr val="252525"/>
                </a:solidFill>
                <a:latin typeface="Calibri" panose="020F0502020204030204" pitchFamily="34" charset="0"/>
                <a:cs typeface="Calibri" panose="020F0502020204030204" pitchFamily="34" charset="0"/>
              </a:rPr>
              <a:t>the</a:t>
            </a:r>
            <a:r>
              <a:rPr sz="1600" spc="180" dirty="0">
                <a:solidFill>
                  <a:srgbClr val="252525"/>
                </a:solidFill>
                <a:latin typeface="Calibri" panose="020F0502020204030204" pitchFamily="34" charset="0"/>
                <a:cs typeface="Calibri" panose="020F0502020204030204" pitchFamily="34" charset="0"/>
              </a:rPr>
              <a:t> </a:t>
            </a:r>
            <a:r>
              <a:rPr sz="1600" spc="50" dirty="0">
                <a:solidFill>
                  <a:srgbClr val="252525"/>
                </a:solidFill>
                <a:latin typeface="Calibri" panose="020F0502020204030204" pitchFamily="34" charset="0"/>
                <a:cs typeface="Calibri" panose="020F0502020204030204" pitchFamily="34" charset="0"/>
              </a:rPr>
              <a:t>average</a:t>
            </a:r>
            <a:r>
              <a:rPr sz="1600" spc="204" dirty="0">
                <a:solidFill>
                  <a:srgbClr val="252525"/>
                </a:solidFill>
                <a:latin typeface="Calibri" panose="020F0502020204030204" pitchFamily="34" charset="0"/>
                <a:cs typeface="Calibri" panose="020F0502020204030204" pitchFamily="34" charset="0"/>
              </a:rPr>
              <a:t> </a:t>
            </a:r>
            <a:r>
              <a:rPr sz="1600" dirty="0">
                <a:solidFill>
                  <a:srgbClr val="252525"/>
                </a:solidFill>
                <a:latin typeface="Calibri" panose="020F0502020204030204" pitchFamily="34" charset="0"/>
                <a:cs typeface="Calibri" panose="020F0502020204030204" pitchFamily="34" charset="0"/>
              </a:rPr>
              <a:t>of</a:t>
            </a:r>
            <a:r>
              <a:rPr sz="1600" spc="185" dirty="0">
                <a:solidFill>
                  <a:srgbClr val="252525"/>
                </a:solidFill>
                <a:latin typeface="Calibri" panose="020F0502020204030204" pitchFamily="34" charset="0"/>
                <a:cs typeface="Calibri" panose="020F0502020204030204" pitchFamily="34" charset="0"/>
              </a:rPr>
              <a:t> </a:t>
            </a:r>
            <a:r>
              <a:rPr sz="1600" spc="55" dirty="0">
                <a:solidFill>
                  <a:srgbClr val="252525"/>
                </a:solidFill>
                <a:latin typeface="Calibri" panose="020F0502020204030204" pitchFamily="34" charset="0"/>
                <a:cs typeface="Calibri" panose="020F0502020204030204" pitchFamily="34" charset="0"/>
              </a:rPr>
              <a:t>the</a:t>
            </a:r>
            <a:r>
              <a:rPr sz="1600" spc="180" dirty="0">
                <a:solidFill>
                  <a:srgbClr val="252525"/>
                </a:solidFill>
                <a:latin typeface="Calibri" panose="020F0502020204030204" pitchFamily="34" charset="0"/>
                <a:cs typeface="Calibri" panose="020F0502020204030204" pitchFamily="34" charset="0"/>
              </a:rPr>
              <a:t> </a:t>
            </a:r>
            <a:r>
              <a:rPr sz="1600" dirty="0">
                <a:solidFill>
                  <a:srgbClr val="252525"/>
                </a:solidFill>
                <a:latin typeface="Calibri" panose="020F0502020204030204" pitchFamily="34" charset="0"/>
                <a:cs typeface="Calibri" panose="020F0502020204030204" pitchFamily="34" charset="0"/>
              </a:rPr>
              <a:t>loss</a:t>
            </a:r>
            <a:r>
              <a:rPr sz="1600" spc="170" dirty="0">
                <a:solidFill>
                  <a:srgbClr val="252525"/>
                </a:solidFill>
                <a:latin typeface="Calibri" panose="020F0502020204030204" pitchFamily="34" charset="0"/>
                <a:cs typeface="Calibri" panose="020F0502020204030204" pitchFamily="34" charset="0"/>
              </a:rPr>
              <a:t> </a:t>
            </a:r>
            <a:r>
              <a:rPr sz="1600" dirty="0">
                <a:solidFill>
                  <a:srgbClr val="252525"/>
                </a:solidFill>
                <a:latin typeface="Calibri" panose="020F0502020204030204" pitchFamily="34" charset="0"/>
                <a:cs typeface="Calibri" panose="020F0502020204030204" pitchFamily="34" charset="0"/>
              </a:rPr>
              <a:t>function</a:t>
            </a:r>
            <a:r>
              <a:rPr sz="1600" spc="200" dirty="0">
                <a:solidFill>
                  <a:srgbClr val="252525"/>
                </a:solidFill>
                <a:latin typeface="Calibri" panose="020F0502020204030204" pitchFamily="34" charset="0"/>
                <a:cs typeface="Calibri" panose="020F0502020204030204" pitchFamily="34" charset="0"/>
              </a:rPr>
              <a:t> </a:t>
            </a:r>
            <a:r>
              <a:rPr sz="1600" dirty="0">
                <a:solidFill>
                  <a:srgbClr val="252525"/>
                </a:solidFill>
                <a:latin typeface="Calibri" panose="020F0502020204030204" pitchFamily="34" charset="0"/>
                <a:cs typeface="Calibri" panose="020F0502020204030204" pitchFamily="34" charset="0"/>
              </a:rPr>
              <a:t>over</a:t>
            </a:r>
            <a:r>
              <a:rPr sz="1600" spc="190" dirty="0">
                <a:solidFill>
                  <a:srgbClr val="252525"/>
                </a:solidFill>
                <a:latin typeface="Calibri" panose="020F0502020204030204" pitchFamily="34" charset="0"/>
                <a:cs typeface="Calibri" panose="020F0502020204030204" pitchFamily="34" charset="0"/>
              </a:rPr>
              <a:t> </a:t>
            </a:r>
            <a:r>
              <a:rPr sz="1600" spc="60" dirty="0">
                <a:solidFill>
                  <a:srgbClr val="252525"/>
                </a:solidFill>
                <a:latin typeface="Calibri" panose="020F0502020204030204" pitchFamily="34" charset="0"/>
                <a:cs typeface="Calibri" panose="020F0502020204030204" pitchFamily="34" charset="0"/>
              </a:rPr>
              <a:t>the</a:t>
            </a:r>
            <a:r>
              <a:rPr sz="1600" spc="195" dirty="0">
                <a:solidFill>
                  <a:srgbClr val="252525"/>
                </a:solidFill>
                <a:latin typeface="Calibri" panose="020F0502020204030204" pitchFamily="34" charset="0"/>
                <a:cs typeface="Calibri" panose="020F0502020204030204" pitchFamily="34" charset="0"/>
              </a:rPr>
              <a:t> </a:t>
            </a:r>
            <a:r>
              <a:rPr sz="1600" dirty="0">
                <a:solidFill>
                  <a:srgbClr val="252525"/>
                </a:solidFill>
                <a:latin typeface="Calibri" panose="020F0502020204030204" pitchFamily="34" charset="0"/>
                <a:cs typeface="Calibri" panose="020F0502020204030204" pitchFamily="34" charset="0"/>
              </a:rPr>
              <a:t>entire</a:t>
            </a:r>
            <a:r>
              <a:rPr sz="1600" spc="180" dirty="0">
                <a:solidFill>
                  <a:srgbClr val="252525"/>
                </a:solidFill>
                <a:latin typeface="Calibri" panose="020F0502020204030204" pitchFamily="34" charset="0"/>
                <a:cs typeface="Calibri" panose="020F0502020204030204" pitchFamily="34" charset="0"/>
              </a:rPr>
              <a:t> </a:t>
            </a:r>
            <a:r>
              <a:rPr sz="1600" spc="55" dirty="0">
                <a:solidFill>
                  <a:srgbClr val="252525"/>
                </a:solidFill>
                <a:latin typeface="Calibri" panose="020F0502020204030204" pitchFamily="34" charset="0"/>
                <a:cs typeface="Calibri" panose="020F0502020204030204" pitchFamily="34" charset="0"/>
              </a:rPr>
              <a:t>dataset.</a:t>
            </a:r>
            <a:endParaRPr sz="1600" dirty="0">
              <a:latin typeface="Calibri" panose="020F0502020204030204" pitchFamily="34" charset="0"/>
              <a:cs typeface="Calibri" panose="020F0502020204030204" pitchFamily="34" charset="0"/>
            </a:endParaRPr>
          </a:p>
          <a:p>
            <a:pPr marL="546735" indent="-285750">
              <a:lnSpc>
                <a:spcPct val="100000"/>
              </a:lnSpc>
              <a:spcBef>
                <a:spcPts val="409"/>
              </a:spcBef>
              <a:buFont typeface="Arial" panose="020B0604020202020204" pitchFamily="34" charset="0"/>
              <a:buChar char="•"/>
            </a:pPr>
            <a:r>
              <a:rPr sz="1600" spc="95" dirty="0">
                <a:solidFill>
                  <a:srgbClr val="252525"/>
                </a:solidFill>
                <a:latin typeface="Calibri" panose="020F0502020204030204" pitchFamily="34" charset="0"/>
                <a:cs typeface="Calibri" panose="020F0502020204030204" pitchFamily="34" charset="0"/>
              </a:rPr>
              <a:t>It</a:t>
            </a:r>
            <a:r>
              <a:rPr sz="1600" spc="155" dirty="0">
                <a:solidFill>
                  <a:srgbClr val="252525"/>
                </a:solidFill>
                <a:latin typeface="Calibri" panose="020F0502020204030204" pitchFamily="34" charset="0"/>
                <a:cs typeface="Calibri" panose="020F0502020204030204" pitchFamily="34" charset="0"/>
              </a:rPr>
              <a:t> </a:t>
            </a:r>
            <a:r>
              <a:rPr sz="1600" dirty="0">
                <a:solidFill>
                  <a:srgbClr val="252525"/>
                </a:solidFill>
                <a:latin typeface="Calibri" panose="020F0502020204030204" pitchFamily="34" charset="0"/>
                <a:cs typeface="Calibri" panose="020F0502020204030204" pitchFamily="34" charset="0"/>
              </a:rPr>
              <a:t>provides</a:t>
            </a:r>
            <a:r>
              <a:rPr sz="1600" spc="180" dirty="0">
                <a:solidFill>
                  <a:srgbClr val="252525"/>
                </a:solidFill>
                <a:latin typeface="Calibri" panose="020F0502020204030204" pitchFamily="34" charset="0"/>
                <a:cs typeface="Calibri" panose="020F0502020204030204" pitchFamily="34" charset="0"/>
              </a:rPr>
              <a:t> </a:t>
            </a:r>
            <a:r>
              <a:rPr sz="1600" spc="90" dirty="0">
                <a:solidFill>
                  <a:srgbClr val="252525"/>
                </a:solidFill>
                <a:latin typeface="Calibri" panose="020F0502020204030204" pitchFamily="34" charset="0"/>
                <a:cs typeface="Calibri" panose="020F0502020204030204" pitchFamily="34" charset="0"/>
              </a:rPr>
              <a:t>a</a:t>
            </a:r>
            <a:r>
              <a:rPr sz="1600" spc="155" dirty="0">
                <a:solidFill>
                  <a:srgbClr val="252525"/>
                </a:solidFill>
                <a:latin typeface="Calibri" panose="020F0502020204030204" pitchFamily="34" charset="0"/>
                <a:cs typeface="Calibri" panose="020F0502020204030204" pitchFamily="34" charset="0"/>
              </a:rPr>
              <a:t> </a:t>
            </a:r>
            <a:r>
              <a:rPr sz="1600" spc="50" dirty="0">
                <a:solidFill>
                  <a:srgbClr val="252525"/>
                </a:solidFill>
                <a:latin typeface="Calibri" panose="020F0502020204030204" pitchFamily="34" charset="0"/>
                <a:cs typeface="Calibri" panose="020F0502020204030204" pitchFamily="34" charset="0"/>
              </a:rPr>
              <a:t>single</a:t>
            </a:r>
            <a:r>
              <a:rPr sz="1600" spc="150" dirty="0">
                <a:solidFill>
                  <a:srgbClr val="252525"/>
                </a:solidFill>
                <a:latin typeface="Calibri" panose="020F0502020204030204" pitchFamily="34" charset="0"/>
                <a:cs typeface="Calibri" panose="020F0502020204030204" pitchFamily="34" charset="0"/>
              </a:rPr>
              <a:t> </a:t>
            </a:r>
            <a:r>
              <a:rPr sz="1600" spc="55" dirty="0">
                <a:solidFill>
                  <a:srgbClr val="252525"/>
                </a:solidFill>
                <a:latin typeface="Calibri" panose="020F0502020204030204" pitchFamily="34" charset="0"/>
                <a:cs typeface="Calibri" panose="020F0502020204030204" pitchFamily="34" charset="0"/>
              </a:rPr>
              <a:t>scalar</a:t>
            </a:r>
            <a:r>
              <a:rPr sz="1600" spc="140" dirty="0">
                <a:solidFill>
                  <a:srgbClr val="252525"/>
                </a:solidFill>
                <a:latin typeface="Calibri" panose="020F0502020204030204" pitchFamily="34" charset="0"/>
                <a:cs typeface="Calibri" panose="020F0502020204030204" pitchFamily="34" charset="0"/>
              </a:rPr>
              <a:t> </a:t>
            </a:r>
            <a:r>
              <a:rPr sz="1600" spc="55" dirty="0">
                <a:solidFill>
                  <a:srgbClr val="252525"/>
                </a:solidFill>
                <a:latin typeface="Calibri" panose="020F0502020204030204" pitchFamily="34" charset="0"/>
                <a:cs typeface="Calibri" panose="020F0502020204030204" pitchFamily="34" charset="0"/>
              </a:rPr>
              <a:t>value</a:t>
            </a:r>
            <a:r>
              <a:rPr sz="1600" spc="155" dirty="0">
                <a:solidFill>
                  <a:srgbClr val="252525"/>
                </a:solidFill>
                <a:latin typeface="Calibri" panose="020F0502020204030204" pitchFamily="34" charset="0"/>
                <a:cs typeface="Calibri" panose="020F0502020204030204" pitchFamily="34" charset="0"/>
              </a:rPr>
              <a:t> </a:t>
            </a:r>
            <a:r>
              <a:rPr sz="1600" dirty="0">
                <a:solidFill>
                  <a:srgbClr val="252525"/>
                </a:solidFill>
                <a:latin typeface="Calibri" panose="020F0502020204030204" pitchFamily="34" charset="0"/>
                <a:cs typeface="Calibri" panose="020F0502020204030204" pitchFamily="34" charset="0"/>
              </a:rPr>
              <a:t>to</a:t>
            </a:r>
            <a:r>
              <a:rPr sz="1600" spc="150" dirty="0">
                <a:solidFill>
                  <a:srgbClr val="252525"/>
                </a:solidFill>
                <a:latin typeface="Calibri" panose="020F0502020204030204" pitchFamily="34" charset="0"/>
                <a:cs typeface="Calibri" panose="020F0502020204030204" pitchFamily="34" charset="0"/>
              </a:rPr>
              <a:t> </a:t>
            </a:r>
            <a:r>
              <a:rPr sz="1600" dirty="0">
                <a:solidFill>
                  <a:srgbClr val="252525"/>
                </a:solidFill>
                <a:latin typeface="Calibri" panose="020F0502020204030204" pitchFamily="34" charset="0"/>
                <a:cs typeface="Calibri" panose="020F0502020204030204" pitchFamily="34" charset="0"/>
              </a:rPr>
              <a:t>optimize</a:t>
            </a:r>
            <a:r>
              <a:rPr sz="1600" spc="175" dirty="0">
                <a:solidFill>
                  <a:srgbClr val="252525"/>
                </a:solidFill>
                <a:latin typeface="Calibri" panose="020F0502020204030204" pitchFamily="34" charset="0"/>
                <a:cs typeface="Calibri" panose="020F0502020204030204" pitchFamily="34" charset="0"/>
              </a:rPr>
              <a:t> </a:t>
            </a:r>
            <a:r>
              <a:rPr sz="1600" spc="55" dirty="0">
                <a:solidFill>
                  <a:srgbClr val="252525"/>
                </a:solidFill>
                <a:latin typeface="Calibri" panose="020F0502020204030204" pitchFamily="34" charset="0"/>
                <a:cs typeface="Calibri" panose="020F0502020204030204" pitchFamily="34" charset="0"/>
              </a:rPr>
              <a:t>the</a:t>
            </a:r>
            <a:r>
              <a:rPr sz="1600" spc="145" dirty="0">
                <a:solidFill>
                  <a:srgbClr val="252525"/>
                </a:solidFill>
                <a:latin typeface="Calibri" panose="020F0502020204030204" pitchFamily="34" charset="0"/>
                <a:cs typeface="Calibri" panose="020F0502020204030204" pitchFamily="34" charset="0"/>
              </a:rPr>
              <a:t> </a:t>
            </a:r>
            <a:r>
              <a:rPr sz="1600" spc="-10" dirty="0">
                <a:solidFill>
                  <a:srgbClr val="252525"/>
                </a:solidFill>
                <a:latin typeface="Calibri" panose="020F0502020204030204" pitchFamily="34" charset="0"/>
                <a:cs typeface="Calibri" panose="020F0502020204030204" pitchFamily="34" charset="0"/>
              </a:rPr>
              <a:t>model.</a:t>
            </a:r>
            <a:endParaRPr sz="1600" dirty="0">
              <a:latin typeface="Calibri" panose="020F0502020204030204" pitchFamily="34" charset="0"/>
              <a:cs typeface="Calibri" panose="020F0502020204030204" pitchFamily="34" charset="0"/>
            </a:endParaRPr>
          </a:p>
          <a:p>
            <a:pPr marL="12700">
              <a:lnSpc>
                <a:spcPct val="100000"/>
              </a:lnSpc>
              <a:spcBef>
                <a:spcPts val="625"/>
              </a:spcBef>
            </a:pPr>
            <a:r>
              <a:rPr sz="2000" b="1" spc="120" dirty="0">
                <a:latin typeface="Calibri" panose="020F0502020204030204" pitchFamily="34" charset="0"/>
                <a:cs typeface="Calibri" panose="020F0502020204030204" pitchFamily="34" charset="0"/>
              </a:rPr>
              <a:t>Types</a:t>
            </a:r>
            <a:r>
              <a:rPr sz="2000" b="1" spc="140" dirty="0">
                <a:latin typeface="Calibri" panose="020F0502020204030204" pitchFamily="34" charset="0"/>
                <a:cs typeface="Calibri" panose="020F0502020204030204" pitchFamily="34" charset="0"/>
              </a:rPr>
              <a:t> </a:t>
            </a:r>
            <a:r>
              <a:rPr sz="2000" b="1" spc="105" dirty="0">
                <a:latin typeface="Calibri" panose="020F0502020204030204" pitchFamily="34" charset="0"/>
                <a:cs typeface="Calibri" panose="020F0502020204030204" pitchFamily="34" charset="0"/>
              </a:rPr>
              <a:t>of</a:t>
            </a:r>
            <a:r>
              <a:rPr sz="2000" b="1" spc="145" dirty="0">
                <a:latin typeface="Calibri" panose="020F0502020204030204" pitchFamily="34" charset="0"/>
                <a:cs typeface="Calibri" panose="020F0502020204030204" pitchFamily="34" charset="0"/>
              </a:rPr>
              <a:t> Loss Functions</a:t>
            </a:r>
            <a:r>
              <a:rPr sz="2000" b="1" spc="135" dirty="0">
                <a:latin typeface="Calibri" panose="020F0502020204030204" pitchFamily="34" charset="0"/>
                <a:cs typeface="Calibri" panose="020F0502020204030204" pitchFamily="34" charset="0"/>
              </a:rPr>
              <a:t> in</a:t>
            </a:r>
            <a:r>
              <a:rPr sz="2000" b="1" spc="145" dirty="0">
                <a:latin typeface="Calibri" panose="020F0502020204030204" pitchFamily="34" charset="0"/>
                <a:cs typeface="Calibri" panose="020F0502020204030204" pitchFamily="34" charset="0"/>
              </a:rPr>
              <a:t> </a:t>
            </a:r>
            <a:r>
              <a:rPr sz="2000" b="1" spc="140" dirty="0">
                <a:latin typeface="Calibri" panose="020F0502020204030204" pitchFamily="34" charset="0"/>
                <a:cs typeface="Calibri" panose="020F0502020204030204" pitchFamily="34" charset="0"/>
              </a:rPr>
              <a:t>Neural</a:t>
            </a:r>
            <a:r>
              <a:rPr sz="2000" b="1" spc="135" dirty="0">
                <a:latin typeface="Calibri" panose="020F0502020204030204" pitchFamily="34" charset="0"/>
                <a:cs typeface="Calibri" panose="020F0502020204030204" pitchFamily="34" charset="0"/>
              </a:rPr>
              <a:t> </a:t>
            </a:r>
            <a:r>
              <a:rPr sz="2000" b="1" spc="120" dirty="0">
                <a:latin typeface="Calibri" panose="020F0502020204030204" pitchFamily="34" charset="0"/>
                <a:cs typeface="Calibri" panose="020F0502020204030204" pitchFamily="34" charset="0"/>
              </a:rPr>
              <a:t>Networks</a:t>
            </a:r>
            <a:endParaRPr sz="2000" dirty="0">
              <a:latin typeface="Calibri" panose="020F0502020204030204" pitchFamily="34" charset="0"/>
              <a:cs typeface="Calibri" panose="020F0502020204030204" pitchFamily="34" charset="0"/>
            </a:endParaRPr>
          </a:p>
        </p:txBody>
      </p:sp>
      <p:sp>
        <p:nvSpPr>
          <p:cNvPr id="1049096" name="Rectangle 13"/>
          <p:cNvSpPr/>
          <p:nvPr/>
        </p:nvSpPr>
        <p:spPr>
          <a:xfrm>
            <a:off x="0" y="0"/>
            <a:ext cx="12192000" cy="873760"/>
          </a:xfrm>
          <a:prstGeom prst="rect">
            <a:avLst/>
          </a:prstGeom>
          <a:solidFill>
            <a:srgbClr val="0E2841"/>
          </a:solidFill>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r>
              <a:rPr lang="en-US" sz="3200" b="1" dirty="0">
                <a:latin typeface="Calibri" panose="020F0502020204030204" pitchFamily="34" charset="0"/>
                <a:cs typeface="Calibri" panose="020F0502020204030204" pitchFamily="34" charset="0"/>
              </a:rPr>
              <a:t>3 (ii). Loss Function / Cost Functions </a:t>
            </a:r>
            <a:r>
              <a:rPr lang="en-US" sz="2400" b="1" dirty="0">
                <a:latin typeface="Calibri" panose="020F0502020204030204" pitchFamily="34" charset="0"/>
                <a:cs typeface="Calibri" panose="020F0502020204030204" pitchFamily="34" charset="0"/>
              </a:rPr>
              <a:t>(Con…)</a:t>
            </a:r>
            <a:endParaRPr lang="en-PK" sz="3200" b="1" dirty="0">
              <a:latin typeface="Calibri" panose="020F0502020204030204" pitchFamily="34" charset="0"/>
              <a:cs typeface="Calibri" panose="020F0502020204030204" pitchFamily="34" charset="0"/>
            </a:endParaRPr>
          </a:p>
        </p:txBody>
      </p:sp>
      <p:sp>
        <p:nvSpPr>
          <p:cNvPr id="1049097" name="Rectangle 4"/>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r>
              <a:rPr lang="en-US" sz="2400" dirty="0">
                <a:latin typeface="Calibri" panose="020F0502020204030204" pitchFamily="34" charset="0"/>
                <a:cs typeface="Calibri" panose="020F0502020204030204" pitchFamily="34" charset="0"/>
              </a:rPr>
              <a:t>27</a:t>
            </a:r>
            <a:endParaRPr lang="en-PK" sz="2400" dirty="0">
              <a:latin typeface="Calibri" panose="020F0502020204030204" pitchFamily="34" charset="0"/>
              <a:cs typeface="Calibri" panose="020F0502020204030204" pitchFamily="34" charset="0"/>
            </a:endParaRPr>
          </a:p>
        </p:txBody>
      </p:sp>
      <p:graphicFrame>
        <p:nvGraphicFramePr>
          <p:cNvPr id="4194305" name="object 6"/>
          <p:cNvGraphicFramePr>
            <a:graphicFrameLocks noGrp="1"/>
          </p:cNvGraphicFramePr>
          <p:nvPr>
            <p:extLst>
              <p:ext uri="{D42A27DB-BD31-4B8C-83A1-F6EECF244321}">
                <p14:modId xmlns:p14="http://schemas.microsoft.com/office/powerpoint/2010/main" val="1178947349"/>
              </p:ext>
            </p:extLst>
          </p:nvPr>
        </p:nvGraphicFramePr>
        <p:xfrm>
          <a:off x="993407" y="3775850"/>
          <a:ext cx="9826993" cy="2637019"/>
        </p:xfrm>
        <a:graphic>
          <a:graphicData uri="http://schemas.openxmlformats.org/drawingml/2006/table">
            <a:tbl>
              <a:tblPr firstRow="1" bandRow="1">
                <a:tableStyleId>{2D5ABB26-0587-4C30-8999-92F81FD0307C}</a:tableStyleId>
              </a:tblPr>
              <a:tblGrid>
                <a:gridCol w="3705333">
                  <a:extLst>
                    <a:ext uri="{9D8B030D-6E8A-4147-A177-3AD203B41FA5}">
                      <a16:colId xmlns:a16="http://schemas.microsoft.com/office/drawing/2014/main" val="20000"/>
                    </a:ext>
                  </a:extLst>
                </a:gridCol>
                <a:gridCol w="1606455">
                  <a:extLst>
                    <a:ext uri="{9D8B030D-6E8A-4147-A177-3AD203B41FA5}">
                      <a16:colId xmlns:a16="http://schemas.microsoft.com/office/drawing/2014/main" val="20001"/>
                    </a:ext>
                  </a:extLst>
                </a:gridCol>
                <a:gridCol w="4515205">
                  <a:extLst>
                    <a:ext uri="{9D8B030D-6E8A-4147-A177-3AD203B41FA5}">
                      <a16:colId xmlns:a16="http://schemas.microsoft.com/office/drawing/2014/main" val="20002"/>
                    </a:ext>
                  </a:extLst>
                </a:gridCol>
              </a:tblGrid>
              <a:tr h="347488">
                <a:tc>
                  <a:txBody>
                    <a:bodyPr/>
                    <a:lstStyle/>
                    <a:p>
                      <a:pPr marL="90805">
                        <a:lnSpc>
                          <a:spcPct val="100000"/>
                        </a:lnSpc>
                        <a:spcBef>
                          <a:spcPts val="330"/>
                        </a:spcBef>
                      </a:pPr>
                      <a:r>
                        <a:rPr dirty="0"/>
                        <a:t>Loss Function</a:t>
                      </a:r>
                    </a:p>
                  </a:txBody>
                  <a:tcPr marL="0" marR="0" marT="419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BEBEB"/>
                    </a:solidFill>
                  </a:tcPr>
                </a:tc>
                <a:tc>
                  <a:txBody>
                    <a:bodyPr/>
                    <a:lstStyle/>
                    <a:p>
                      <a:pPr marL="90805">
                        <a:lnSpc>
                          <a:spcPct val="100000"/>
                        </a:lnSpc>
                        <a:spcBef>
                          <a:spcPts val="330"/>
                        </a:spcBef>
                      </a:pPr>
                      <a:r>
                        <a:rPr dirty="0"/>
                        <a:t>Type</a:t>
                      </a:r>
                    </a:p>
                  </a:txBody>
                  <a:tcPr marL="0" marR="0" marT="419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BEBEB"/>
                    </a:solidFill>
                  </a:tcPr>
                </a:tc>
                <a:tc>
                  <a:txBody>
                    <a:bodyPr/>
                    <a:lstStyle/>
                    <a:p>
                      <a:pPr marL="91440">
                        <a:lnSpc>
                          <a:spcPct val="100000"/>
                        </a:lnSpc>
                        <a:spcBef>
                          <a:spcPts val="330"/>
                        </a:spcBef>
                      </a:pPr>
                      <a:r>
                        <a:rPr dirty="0"/>
                        <a:t>Use Case</a:t>
                      </a:r>
                    </a:p>
                  </a:txBody>
                  <a:tcPr marL="0" marR="0" marT="419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BEBEB"/>
                    </a:solidFill>
                  </a:tcPr>
                </a:tc>
                <a:extLst>
                  <a:ext uri="{0D108BD9-81ED-4DB2-BD59-A6C34878D82A}">
                    <a16:rowId xmlns:a16="http://schemas.microsoft.com/office/drawing/2014/main" val="10000"/>
                  </a:ext>
                </a:extLst>
              </a:tr>
              <a:tr h="415073">
                <a:tc>
                  <a:txBody>
                    <a:bodyPr/>
                    <a:lstStyle/>
                    <a:p>
                      <a:pPr marL="67945">
                        <a:lnSpc>
                          <a:spcPct val="100000"/>
                        </a:lnSpc>
                        <a:spcBef>
                          <a:spcPts val="1265"/>
                        </a:spcBef>
                      </a:pPr>
                      <a:r>
                        <a:rPr sz="1100" spc="95" dirty="0">
                          <a:solidFill>
                            <a:srgbClr val="006FC0"/>
                          </a:solidFill>
                          <a:latin typeface="Calibri" panose="020F0502020204030204" pitchFamily="34" charset="0"/>
                          <a:cs typeface="Calibri" panose="020F0502020204030204" pitchFamily="34" charset="0"/>
                        </a:rPr>
                        <a:t>Mean </a:t>
                      </a:r>
                      <a:r>
                        <a:rPr sz="1100" spc="60" dirty="0">
                          <a:solidFill>
                            <a:srgbClr val="006FC0"/>
                          </a:solidFill>
                          <a:latin typeface="Calibri" panose="020F0502020204030204" pitchFamily="34" charset="0"/>
                          <a:cs typeface="Calibri" panose="020F0502020204030204" pitchFamily="34" charset="0"/>
                        </a:rPr>
                        <a:t>Squared</a:t>
                      </a:r>
                      <a:r>
                        <a:rPr sz="1100" spc="130" dirty="0">
                          <a:solidFill>
                            <a:srgbClr val="006FC0"/>
                          </a:solidFill>
                          <a:latin typeface="Calibri" panose="020F0502020204030204" pitchFamily="34" charset="0"/>
                          <a:cs typeface="Calibri" panose="020F0502020204030204" pitchFamily="34" charset="0"/>
                        </a:rPr>
                        <a:t> </a:t>
                      </a:r>
                      <a:r>
                        <a:rPr sz="1100" spc="60" dirty="0">
                          <a:solidFill>
                            <a:srgbClr val="006FC0"/>
                          </a:solidFill>
                          <a:latin typeface="Calibri" panose="020F0502020204030204" pitchFamily="34" charset="0"/>
                          <a:cs typeface="Calibri" panose="020F0502020204030204" pitchFamily="34" charset="0"/>
                        </a:rPr>
                        <a:t>Error</a:t>
                      </a:r>
                      <a:r>
                        <a:rPr sz="1100" spc="110" dirty="0">
                          <a:solidFill>
                            <a:srgbClr val="006FC0"/>
                          </a:solidFill>
                          <a:latin typeface="Calibri" panose="020F0502020204030204" pitchFamily="34" charset="0"/>
                          <a:cs typeface="Calibri" panose="020F0502020204030204" pitchFamily="34" charset="0"/>
                        </a:rPr>
                        <a:t> </a:t>
                      </a:r>
                      <a:r>
                        <a:rPr sz="1100" spc="80" dirty="0">
                          <a:solidFill>
                            <a:srgbClr val="006FC0"/>
                          </a:solidFill>
                          <a:latin typeface="Calibri" panose="020F0502020204030204" pitchFamily="34" charset="0"/>
                          <a:cs typeface="Calibri" panose="020F0502020204030204" pitchFamily="34" charset="0"/>
                        </a:rPr>
                        <a:t>(MSE)</a:t>
                      </a:r>
                      <a:endParaRPr sz="1100" dirty="0">
                        <a:latin typeface="Calibri" panose="020F0502020204030204" pitchFamily="34" charset="0"/>
                        <a:cs typeface="Calibri" panose="020F0502020204030204" pitchFamily="34" charset="0"/>
                      </a:endParaRPr>
                    </a:p>
                  </a:txBody>
                  <a:tcPr marL="0" marR="0" marT="160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BEBEB"/>
                    </a:solidFill>
                  </a:tcPr>
                </a:tc>
                <a:tc>
                  <a:txBody>
                    <a:bodyPr/>
                    <a:lstStyle/>
                    <a:p>
                      <a:pPr marL="45720">
                        <a:lnSpc>
                          <a:spcPct val="100000"/>
                        </a:lnSpc>
                        <a:spcBef>
                          <a:spcPts val="1510"/>
                        </a:spcBef>
                      </a:pPr>
                      <a:r>
                        <a:rPr sz="1100" spc="-10" dirty="0">
                          <a:latin typeface="Calibri" panose="020F0502020204030204" pitchFamily="34" charset="0"/>
                          <a:cs typeface="Calibri" panose="020F0502020204030204" pitchFamily="34" charset="0"/>
                        </a:rPr>
                        <a:t>Regression</a:t>
                      </a:r>
                      <a:endParaRPr sz="1100" dirty="0">
                        <a:latin typeface="Calibri" panose="020F0502020204030204" pitchFamily="34" charset="0"/>
                        <a:cs typeface="Calibri" panose="020F0502020204030204" pitchFamily="34" charset="0"/>
                      </a:endParaRPr>
                    </a:p>
                  </a:txBody>
                  <a:tcPr marL="0" marR="0" marT="1917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BEBEB"/>
                    </a:solidFill>
                  </a:tcPr>
                </a:tc>
                <a:tc>
                  <a:txBody>
                    <a:bodyPr/>
                    <a:lstStyle/>
                    <a:p>
                      <a:pPr marL="152400">
                        <a:lnSpc>
                          <a:spcPct val="100000"/>
                        </a:lnSpc>
                        <a:spcBef>
                          <a:spcPts val="375"/>
                        </a:spcBef>
                        <a:tabLst>
                          <a:tab pos="1342390" algn="l"/>
                          <a:tab pos="2115185" algn="l"/>
                          <a:tab pos="3039110" algn="l"/>
                          <a:tab pos="3773804" algn="l"/>
                        </a:tabLst>
                      </a:pPr>
                      <a:r>
                        <a:rPr sz="1100" spc="50" dirty="0">
                          <a:latin typeface="Calibri" panose="020F0502020204030204" pitchFamily="34" charset="0"/>
                          <a:cs typeface="Calibri" panose="020F0502020204030204" pitchFamily="34" charset="0"/>
                        </a:rPr>
                        <a:t>Penalizes</a:t>
                      </a:r>
                      <a:r>
                        <a:rPr sz="1100" dirty="0">
                          <a:latin typeface="Calibri" panose="020F0502020204030204" pitchFamily="34" charset="0"/>
                          <a:cs typeface="Calibri" panose="020F0502020204030204" pitchFamily="34" charset="0"/>
                        </a:rPr>
                        <a:t>	</a:t>
                      </a:r>
                      <a:r>
                        <a:rPr sz="1100" spc="45" dirty="0">
                          <a:latin typeface="Calibri" panose="020F0502020204030204" pitchFamily="34" charset="0"/>
                          <a:cs typeface="Calibri" panose="020F0502020204030204" pitchFamily="34" charset="0"/>
                        </a:rPr>
                        <a:t>large</a:t>
                      </a:r>
                      <a:r>
                        <a:rPr sz="1100" dirty="0">
                          <a:latin typeface="Calibri" panose="020F0502020204030204" pitchFamily="34" charset="0"/>
                          <a:cs typeface="Calibri" panose="020F0502020204030204" pitchFamily="34" charset="0"/>
                        </a:rPr>
                        <a:t>	</a:t>
                      </a:r>
                      <a:r>
                        <a:rPr sz="1100" spc="-10" dirty="0">
                          <a:latin typeface="Calibri" panose="020F0502020204030204" pitchFamily="34" charset="0"/>
                          <a:cs typeface="Calibri" panose="020F0502020204030204" pitchFamily="34" charset="0"/>
                        </a:rPr>
                        <a:t>errors,</a:t>
                      </a:r>
                      <a:r>
                        <a:rPr sz="1100" dirty="0">
                          <a:latin typeface="Calibri" panose="020F0502020204030204" pitchFamily="34" charset="0"/>
                          <a:cs typeface="Calibri" panose="020F0502020204030204" pitchFamily="34" charset="0"/>
                        </a:rPr>
                        <a:t>	</a:t>
                      </a:r>
                      <a:r>
                        <a:rPr sz="1100" spc="-20" dirty="0">
                          <a:latin typeface="Calibri" panose="020F0502020204030204" pitchFamily="34" charset="0"/>
                          <a:cs typeface="Calibri" panose="020F0502020204030204" pitchFamily="34" charset="0"/>
                        </a:rPr>
                        <a:t>used</a:t>
                      </a:r>
                      <a:r>
                        <a:rPr sz="1100" dirty="0">
                          <a:latin typeface="Calibri" panose="020F0502020204030204" pitchFamily="34" charset="0"/>
                          <a:cs typeface="Calibri" panose="020F0502020204030204" pitchFamily="34" charset="0"/>
                        </a:rPr>
                        <a:t>	</a:t>
                      </a:r>
                      <a:r>
                        <a:rPr sz="1100" spc="-25" dirty="0">
                          <a:latin typeface="Calibri" panose="020F0502020204030204" pitchFamily="34" charset="0"/>
                          <a:cs typeface="Calibri" panose="020F0502020204030204" pitchFamily="34" charset="0"/>
                        </a:rPr>
                        <a:t>for</a:t>
                      </a:r>
                      <a:endParaRPr sz="1100" dirty="0">
                        <a:latin typeface="Calibri" panose="020F0502020204030204" pitchFamily="34" charset="0"/>
                        <a:cs typeface="Calibri" panose="020F0502020204030204" pitchFamily="34" charset="0"/>
                      </a:endParaRPr>
                    </a:p>
                    <a:p>
                      <a:pPr marL="152400">
                        <a:lnSpc>
                          <a:spcPct val="100000"/>
                        </a:lnSpc>
                      </a:pPr>
                      <a:r>
                        <a:rPr sz="1100" dirty="0">
                          <a:latin typeface="Calibri" panose="020F0502020204030204" pitchFamily="34" charset="0"/>
                          <a:cs typeface="Calibri" panose="020F0502020204030204" pitchFamily="34" charset="0"/>
                        </a:rPr>
                        <a:t>continuous</a:t>
                      </a:r>
                      <a:r>
                        <a:rPr sz="1100" spc="465" dirty="0">
                          <a:latin typeface="Calibri" panose="020F0502020204030204" pitchFamily="34" charset="0"/>
                          <a:cs typeface="Calibri" panose="020F0502020204030204" pitchFamily="34" charset="0"/>
                        </a:rPr>
                        <a:t> </a:t>
                      </a:r>
                      <a:r>
                        <a:rPr sz="1100" spc="45" dirty="0">
                          <a:latin typeface="Calibri" panose="020F0502020204030204" pitchFamily="34" charset="0"/>
                          <a:cs typeface="Calibri" panose="020F0502020204030204" pitchFamily="34" charset="0"/>
                        </a:rPr>
                        <a:t>values</a:t>
                      </a:r>
                      <a:endParaRPr sz="1100" dirty="0">
                        <a:latin typeface="Calibri" panose="020F0502020204030204" pitchFamily="34" charset="0"/>
                        <a:cs typeface="Calibri" panose="020F0502020204030204" pitchFamily="34" charset="0"/>
                      </a:endParaRPr>
                    </a:p>
                  </a:txBody>
                  <a:tcPr marL="0" marR="0" marT="476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BEBEB"/>
                    </a:solidFill>
                  </a:tcPr>
                </a:tc>
                <a:extLst>
                  <a:ext uri="{0D108BD9-81ED-4DB2-BD59-A6C34878D82A}">
                    <a16:rowId xmlns:a16="http://schemas.microsoft.com/office/drawing/2014/main" val="10001"/>
                  </a:ext>
                </a:extLst>
              </a:tr>
              <a:tr h="405374">
                <a:tc>
                  <a:txBody>
                    <a:bodyPr/>
                    <a:lstStyle/>
                    <a:p>
                      <a:pPr marL="91440">
                        <a:lnSpc>
                          <a:spcPct val="100000"/>
                        </a:lnSpc>
                        <a:spcBef>
                          <a:spcPts val="1410"/>
                        </a:spcBef>
                      </a:pPr>
                      <a:r>
                        <a:rPr sz="1100" spc="95" dirty="0">
                          <a:solidFill>
                            <a:srgbClr val="006FC0"/>
                          </a:solidFill>
                          <a:latin typeface="Calibri" panose="020F0502020204030204" pitchFamily="34" charset="0"/>
                          <a:cs typeface="Calibri" panose="020F0502020204030204" pitchFamily="34" charset="0"/>
                        </a:rPr>
                        <a:t>Mean</a:t>
                      </a:r>
                      <a:r>
                        <a:rPr sz="1100" spc="215" dirty="0">
                          <a:solidFill>
                            <a:srgbClr val="006FC0"/>
                          </a:solidFill>
                          <a:latin typeface="Calibri" panose="020F0502020204030204" pitchFamily="34" charset="0"/>
                          <a:cs typeface="Calibri" panose="020F0502020204030204" pitchFamily="34" charset="0"/>
                        </a:rPr>
                        <a:t> </a:t>
                      </a:r>
                      <a:r>
                        <a:rPr sz="1100" dirty="0">
                          <a:solidFill>
                            <a:srgbClr val="006FC0"/>
                          </a:solidFill>
                          <a:latin typeface="Calibri" panose="020F0502020204030204" pitchFamily="34" charset="0"/>
                          <a:cs typeface="Calibri" panose="020F0502020204030204" pitchFamily="34" charset="0"/>
                        </a:rPr>
                        <a:t>Absolute</a:t>
                      </a:r>
                      <a:r>
                        <a:rPr sz="1100" spc="215" dirty="0">
                          <a:solidFill>
                            <a:srgbClr val="006FC0"/>
                          </a:solidFill>
                          <a:latin typeface="Calibri" panose="020F0502020204030204" pitchFamily="34" charset="0"/>
                          <a:cs typeface="Calibri" panose="020F0502020204030204" pitchFamily="34" charset="0"/>
                        </a:rPr>
                        <a:t> </a:t>
                      </a:r>
                      <a:r>
                        <a:rPr sz="1100" spc="60" dirty="0">
                          <a:solidFill>
                            <a:srgbClr val="006FC0"/>
                          </a:solidFill>
                          <a:latin typeface="Calibri" panose="020F0502020204030204" pitchFamily="34" charset="0"/>
                          <a:cs typeface="Calibri" panose="020F0502020204030204" pitchFamily="34" charset="0"/>
                        </a:rPr>
                        <a:t>Error</a:t>
                      </a:r>
                      <a:r>
                        <a:rPr sz="1100" spc="250" dirty="0">
                          <a:solidFill>
                            <a:srgbClr val="006FC0"/>
                          </a:solidFill>
                          <a:latin typeface="Calibri" panose="020F0502020204030204" pitchFamily="34" charset="0"/>
                          <a:cs typeface="Calibri" panose="020F0502020204030204" pitchFamily="34" charset="0"/>
                        </a:rPr>
                        <a:t> </a:t>
                      </a:r>
                      <a:r>
                        <a:rPr sz="1100" spc="70" dirty="0">
                          <a:solidFill>
                            <a:srgbClr val="006FC0"/>
                          </a:solidFill>
                          <a:latin typeface="Calibri" panose="020F0502020204030204" pitchFamily="34" charset="0"/>
                          <a:cs typeface="Calibri" panose="020F0502020204030204" pitchFamily="34" charset="0"/>
                        </a:rPr>
                        <a:t>(MAE)</a:t>
                      </a:r>
                      <a:endParaRPr sz="1100" dirty="0">
                        <a:latin typeface="Calibri" panose="020F0502020204030204" pitchFamily="34" charset="0"/>
                        <a:cs typeface="Calibri" panose="020F0502020204030204" pitchFamily="34" charset="0"/>
                      </a:endParaRPr>
                    </a:p>
                  </a:txBody>
                  <a:tcPr marL="0" marR="0" marT="1790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BEBEB"/>
                    </a:solidFill>
                  </a:tcPr>
                </a:tc>
                <a:tc>
                  <a:txBody>
                    <a:bodyPr/>
                    <a:lstStyle/>
                    <a:p>
                      <a:pPr marL="45720">
                        <a:lnSpc>
                          <a:spcPct val="100000"/>
                        </a:lnSpc>
                        <a:spcBef>
                          <a:spcPts val="1135"/>
                        </a:spcBef>
                      </a:pPr>
                      <a:r>
                        <a:rPr sz="1100" spc="-10" dirty="0">
                          <a:latin typeface="Calibri" panose="020F0502020204030204" pitchFamily="34" charset="0"/>
                          <a:cs typeface="Calibri" panose="020F0502020204030204" pitchFamily="34" charset="0"/>
                        </a:rPr>
                        <a:t>Regression</a:t>
                      </a:r>
                      <a:endParaRPr sz="1100" dirty="0">
                        <a:latin typeface="Calibri" panose="020F0502020204030204" pitchFamily="34" charset="0"/>
                        <a:cs typeface="Calibri" panose="020F0502020204030204" pitchFamily="34" charset="0"/>
                      </a:endParaRPr>
                    </a:p>
                  </a:txBody>
                  <a:tcPr marL="0" marR="0" marT="14414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BEBEB"/>
                    </a:solidFill>
                  </a:tcPr>
                </a:tc>
                <a:tc>
                  <a:txBody>
                    <a:bodyPr/>
                    <a:lstStyle/>
                    <a:p>
                      <a:pPr marL="152400">
                        <a:lnSpc>
                          <a:spcPct val="100000"/>
                        </a:lnSpc>
                        <a:spcBef>
                          <a:spcPts val="1135"/>
                        </a:spcBef>
                      </a:pPr>
                      <a:r>
                        <a:rPr sz="1100" dirty="0">
                          <a:latin typeface="Calibri" panose="020F0502020204030204" pitchFamily="34" charset="0"/>
                          <a:cs typeface="Calibri" panose="020F0502020204030204" pitchFamily="34" charset="0"/>
                        </a:rPr>
                        <a:t>More</a:t>
                      </a:r>
                      <a:r>
                        <a:rPr sz="1100" spc="250" dirty="0">
                          <a:latin typeface="Calibri" panose="020F0502020204030204" pitchFamily="34" charset="0"/>
                          <a:cs typeface="Calibri" panose="020F0502020204030204" pitchFamily="34" charset="0"/>
                        </a:rPr>
                        <a:t> </a:t>
                      </a:r>
                      <a:r>
                        <a:rPr sz="1100" dirty="0">
                          <a:latin typeface="Calibri" panose="020F0502020204030204" pitchFamily="34" charset="0"/>
                          <a:cs typeface="Calibri" panose="020F0502020204030204" pitchFamily="34" charset="0"/>
                        </a:rPr>
                        <a:t>robust</a:t>
                      </a:r>
                      <a:r>
                        <a:rPr sz="1100" spc="260" dirty="0">
                          <a:latin typeface="Calibri" panose="020F0502020204030204" pitchFamily="34" charset="0"/>
                          <a:cs typeface="Calibri" panose="020F0502020204030204" pitchFamily="34" charset="0"/>
                        </a:rPr>
                        <a:t> </a:t>
                      </a:r>
                      <a:r>
                        <a:rPr sz="1100" dirty="0">
                          <a:latin typeface="Calibri" panose="020F0502020204030204" pitchFamily="34" charset="0"/>
                          <a:cs typeface="Calibri" panose="020F0502020204030204" pitchFamily="34" charset="0"/>
                        </a:rPr>
                        <a:t>to</a:t>
                      </a:r>
                      <a:r>
                        <a:rPr sz="1100" spc="245" dirty="0">
                          <a:latin typeface="Calibri" panose="020F0502020204030204" pitchFamily="34" charset="0"/>
                          <a:cs typeface="Calibri" panose="020F0502020204030204" pitchFamily="34" charset="0"/>
                        </a:rPr>
                        <a:t> </a:t>
                      </a:r>
                      <a:r>
                        <a:rPr sz="1100" dirty="0">
                          <a:latin typeface="Calibri" panose="020F0502020204030204" pitchFamily="34" charset="0"/>
                          <a:cs typeface="Calibri" panose="020F0502020204030204" pitchFamily="34" charset="0"/>
                        </a:rPr>
                        <a:t>outliers</a:t>
                      </a:r>
                      <a:r>
                        <a:rPr sz="1100" spc="229" dirty="0">
                          <a:latin typeface="Calibri" panose="020F0502020204030204" pitchFamily="34" charset="0"/>
                          <a:cs typeface="Calibri" panose="020F0502020204030204" pitchFamily="34" charset="0"/>
                        </a:rPr>
                        <a:t> </a:t>
                      </a:r>
                      <a:r>
                        <a:rPr sz="1100" spc="85" dirty="0">
                          <a:latin typeface="Calibri" panose="020F0502020204030204" pitchFamily="34" charset="0"/>
                          <a:cs typeface="Calibri" panose="020F0502020204030204" pitchFamily="34" charset="0"/>
                        </a:rPr>
                        <a:t>than</a:t>
                      </a:r>
                      <a:r>
                        <a:rPr sz="1100" spc="250" dirty="0">
                          <a:latin typeface="Calibri" panose="020F0502020204030204" pitchFamily="34" charset="0"/>
                          <a:cs typeface="Calibri" panose="020F0502020204030204" pitchFamily="34" charset="0"/>
                        </a:rPr>
                        <a:t> </a:t>
                      </a:r>
                      <a:r>
                        <a:rPr sz="1100" spc="180" dirty="0">
                          <a:latin typeface="Calibri" panose="020F0502020204030204" pitchFamily="34" charset="0"/>
                          <a:cs typeface="Calibri" panose="020F0502020204030204" pitchFamily="34" charset="0"/>
                        </a:rPr>
                        <a:t>MSE</a:t>
                      </a:r>
                      <a:endParaRPr sz="1100" dirty="0">
                        <a:latin typeface="Calibri" panose="020F0502020204030204" pitchFamily="34" charset="0"/>
                        <a:cs typeface="Calibri" panose="020F0502020204030204" pitchFamily="34" charset="0"/>
                      </a:endParaRPr>
                    </a:p>
                  </a:txBody>
                  <a:tcPr marL="0" marR="0" marT="14414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BEBEB"/>
                    </a:solidFill>
                  </a:tcPr>
                </a:tc>
                <a:extLst>
                  <a:ext uri="{0D108BD9-81ED-4DB2-BD59-A6C34878D82A}">
                    <a16:rowId xmlns:a16="http://schemas.microsoft.com/office/drawing/2014/main" val="10002"/>
                  </a:ext>
                </a:extLst>
              </a:tr>
              <a:tr h="405374">
                <a:tc>
                  <a:txBody>
                    <a:bodyPr/>
                    <a:lstStyle/>
                    <a:p>
                      <a:pPr marL="111125">
                        <a:lnSpc>
                          <a:spcPct val="100000"/>
                        </a:lnSpc>
                        <a:spcBef>
                          <a:spcPts val="1445"/>
                        </a:spcBef>
                      </a:pPr>
                      <a:r>
                        <a:rPr sz="1100" spc="75" dirty="0">
                          <a:solidFill>
                            <a:srgbClr val="006FC0"/>
                          </a:solidFill>
                          <a:latin typeface="Calibri" panose="020F0502020204030204" pitchFamily="34" charset="0"/>
                          <a:cs typeface="Calibri" panose="020F0502020204030204" pitchFamily="34" charset="0"/>
                        </a:rPr>
                        <a:t>Binary</a:t>
                      </a:r>
                      <a:r>
                        <a:rPr sz="1100" spc="120" dirty="0">
                          <a:solidFill>
                            <a:srgbClr val="006FC0"/>
                          </a:solidFill>
                          <a:latin typeface="Calibri" panose="020F0502020204030204" pitchFamily="34" charset="0"/>
                          <a:cs typeface="Calibri" panose="020F0502020204030204" pitchFamily="34" charset="0"/>
                        </a:rPr>
                        <a:t> </a:t>
                      </a:r>
                      <a:r>
                        <a:rPr sz="1100" spc="55" dirty="0">
                          <a:solidFill>
                            <a:srgbClr val="006FC0"/>
                          </a:solidFill>
                          <a:latin typeface="Calibri" panose="020F0502020204030204" pitchFamily="34" charset="0"/>
                          <a:cs typeface="Calibri" panose="020F0502020204030204" pitchFamily="34" charset="0"/>
                        </a:rPr>
                        <a:t>Cross-</a:t>
                      </a:r>
                      <a:r>
                        <a:rPr sz="1100" spc="50" dirty="0">
                          <a:solidFill>
                            <a:srgbClr val="006FC0"/>
                          </a:solidFill>
                          <a:latin typeface="Calibri" panose="020F0502020204030204" pitchFamily="34" charset="0"/>
                          <a:cs typeface="Calibri" panose="020F0502020204030204" pitchFamily="34" charset="0"/>
                        </a:rPr>
                        <a:t>Entropy</a:t>
                      </a:r>
                      <a:endParaRPr sz="1100" dirty="0">
                        <a:latin typeface="Calibri" panose="020F0502020204030204" pitchFamily="34" charset="0"/>
                        <a:cs typeface="Calibri" panose="020F0502020204030204" pitchFamily="34" charset="0"/>
                      </a:endParaRPr>
                    </a:p>
                  </a:txBody>
                  <a:tcPr marL="0" marR="0" marT="1835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BEBEB"/>
                    </a:solidFill>
                  </a:tcPr>
                </a:tc>
                <a:tc>
                  <a:txBody>
                    <a:bodyPr/>
                    <a:lstStyle/>
                    <a:p>
                      <a:pPr marL="45720">
                        <a:lnSpc>
                          <a:spcPct val="100000"/>
                        </a:lnSpc>
                        <a:spcBef>
                          <a:spcPts val="1520"/>
                        </a:spcBef>
                      </a:pPr>
                      <a:r>
                        <a:rPr sz="1100" spc="55" dirty="0">
                          <a:latin typeface="Calibri" panose="020F0502020204030204" pitchFamily="34" charset="0"/>
                          <a:cs typeface="Calibri" panose="020F0502020204030204" pitchFamily="34" charset="0"/>
                        </a:rPr>
                        <a:t>Classification</a:t>
                      </a:r>
                      <a:endParaRPr sz="1100" dirty="0">
                        <a:latin typeface="Calibri" panose="020F0502020204030204" pitchFamily="34" charset="0"/>
                        <a:cs typeface="Calibri" panose="020F0502020204030204" pitchFamily="34" charset="0"/>
                      </a:endParaRPr>
                    </a:p>
                  </a:txBody>
                  <a:tcPr marL="0" marR="0" marT="1930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BEBEB"/>
                    </a:solidFill>
                  </a:tcPr>
                </a:tc>
                <a:tc>
                  <a:txBody>
                    <a:bodyPr/>
                    <a:lstStyle/>
                    <a:p>
                      <a:pPr marL="88900">
                        <a:lnSpc>
                          <a:spcPct val="100000"/>
                        </a:lnSpc>
                        <a:spcBef>
                          <a:spcPts val="994"/>
                        </a:spcBef>
                      </a:pPr>
                      <a:r>
                        <a:rPr sz="1100" spc="60" dirty="0">
                          <a:latin typeface="Calibri" panose="020F0502020204030204" pitchFamily="34" charset="0"/>
                          <a:cs typeface="Calibri" panose="020F0502020204030204" pitchFamily="34" charset="0"/>
                        </a:rPr>
                        <a:t>For</a:t>
                      </a:r>
                      <a:r>
                        <a:rPr sz="1100" spc="195" dirty="0">
                          <a:latin typeface="Calibri" panose="020F0502020204030204" pitchFamily="34" charset="0"/>
                          <a:cs typeface="Calibri" panose="020F0502020204030204" pitchFamily="34" charset="0"/>
                        </a:rPr>
                        <a:t> </a:t>
                      </a:r>
                      <a:r>
                        <a:rPr sz="1100" dirty="0">
                          <a:latin typeface="Calibri" panose="020F0502020204030204" pitchFamily="34" charset="0"/>
                          <a:cs typeface="Calibri" panose="020F0502020204030204" pitchFamily="34" charset="0"/>
                        </a:rPr>
                        <a:t>binary</a:t>
                      </a:r>
                      <a:r>
                        <a:rPr sz="1100" spc="215" dirty="0">
                          <a:latin typeface="Calibri" panose="020F0502020204030204" pitchFamily="34" charset="0"/>
                          <a:cs typeface="Calibri" panose="020F0502020204030204" pitchFamily="34" charset="0"/>
                        </a:rPr>
                        <a:t> </a:t>
                      </a:r>
                      <a:r>
                        <a:rPr sz="1100" spc="45" dirty="0">
                          <a:latin typeface="Calibri" panose="020F0502020204030204" pitchFamily="34" charset="0"/>
                          <a:cs typeface="Calibri" panose="020F0502020204030204" pitchFamily="34" charset="0"/>
                        </a:rPr>
                        <a:t>classification</a:t>
                      </a:r>
                      <a:r>
                        <a:rPr sz="1100" spc="180" dirty="0">
                          <a:latin typeface="Calibri" panose="020F0502020204030204" pitchFamily="34" charset="0"/>
                          <a:cs typeface="Calibri" panose="020F0502020204030204" pitchFamily="34" charset="0"/>
                        </a:rPr>
                        <a:t> </a:t>
                      </a:r>
                      <a:r>
                        <a:rPr sz="1100" spc="55" dirty="0">
                          <a:latin typeface="Calibri" panose="020F0502020204030204" pitchFamily="34" charset="0"/>
                          <a:cs typeface="Calibri" panose="020F0502020204030204" pitchFamily="34" charset="0"/>
                        </a:rPr>
                        <a:t>(e.g.,</a:t>
                      </a:r>
                      <a:r>
                        <a:rPr sz="1100" spc="254" dirty="0">
                          <a:latin typeface="Calibri" panose="020F0502020204030204" pitchFamily="34" charset="0"/>
                          <a:cs typeface="Calibri" panose="020F0502020204030204" pitchFamily="34" charset="0"/>
                        </a:rPr>
                        <a:t> </a:t>
                      </a:r>
                      <a:r>
                        <a:rPr sz="1100" dirty="0">
                          <a:latin typeface="Calibri" panose="020F0502020204030204" pitchFamily="34" charset="0"/>
                          <a:cs typeface="Calibri" panose="020F0502020204030204" pitchFamily="34" charset="0"/>
                        </a:rPr>
                        <a:t>Yes/No,</a:t>
                      </a:r>
                      <a:r>
                        <a:rPr sz="1100" spc="195" dirty="0">
                          <a:latin typeface="Calibri" panose="020F0502020204030204" pitchFamily="34" charset="0"/>
                          <a:cs typeface="Calibri" panose="020F0502020204030204" pitchFamily="34" charset="0"/>
                        </a:rPr>
                        <a:t> </a:t>
                      </a:r>
                      <a:r>
                        <a:rPr sz="1100" spc="-20" dirty="0">
                          <a:latin typeface="Calibri" panose="020F0502020204030204" pitchFamily="34" charset="0"/>
                          <a:cs typeface="Calibri" panose="020F0502020204030204" pitchFamily="34" charset="0"/>
                        </a:rPr>
                        <a:t>0/1)</a:t>
                      </a:r>
                      <a:endParaRPr sz="1100" dirty="0">
                        <a:latin typeface="Calibri" panose="020F0502020204030204" pitchFamily="34" charset="0"/>
                        <a:cs typeface="Calibri" panose="020F0502020204030204" pitchFamily="34" charset="0"/>
                      </a:endParaRPr>
                    </a:p>
                  </a:txBody>
                  <a:tcPr marL="0" marR="0" marT="12636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BEBEB"/>
                    </a:solidFill>
                  </a:tcPr>
                </a:tc>
                <a:extLst>
                  <a:ext uri="{0D108BD9-81ED-4DB2-BD59-A6C34878D82A}">
                    <a16:rowId xmlns:a16="http://schemas.microsoft.com/office/drawing/2014/main" val="10003"/>
                  </a:ext>
                </a:extLst>
              </a:tr>
              <a:tr h="582142">
                <a:tc>
                  <a:txBody>
                    <a:bodyPr/>
                    <a:lstStyle/>
                    <a:p>
                      <a:pPr marL="100965">
                        <a:lnSpc>
                          <a:spcPct val="100000"/>
                        </a:lnSpc>
                        <a:spcBef>
                          <a:spcPts val="935"/>
                        </a:spcBef>
                      </a:pPr>
                      <a:r>
                        <a:rPr sz="1100" spc="60" dirty="0">
                          <a:solidFill>
                            <a:srgbClr val="006FC0"/>
                          </a:solidFill>
                          <a:latin typeface="Calibri" panose="020F0502020204030204" pitchFamily="34" charset="0"/>
                          <a:cs typeface="Calibri" panose="020F0502020204030204" pitchFamily="34" charset="0"/>
                        </a:rPr>
                        <a:t>Categorical</a:t>
                      </a:r>
                      <a:r>
                        <a:rPr sz="1100" spc="135" dirty="0">
                          <a:solidFill>
                            <a:srgbClr val="006FC0"/>
                          </a:solidFill>
                          <a:latin typeface="Calibri" panose="020F0502020204030204" pitchFamily="34" charset="0"/>
                          <a:cs typeface="Calibri" panose="020F0502020204030204" pitchFamily="34" charset="0"/>
                        </a:rPr>
                        <a:t> </a:t>
                      </a:r>
                      <a:r>
                        <a:rPr sz="1100" spc="55" dirty="0">
                          <a:solidFill>
                            <a:srgbClr val="006FC0"/>
                          </a:solidFill>
                          <a:latin typeface="Calibri" panose="020F0502020204030204" pitchFamily="34" charset="0"/>
                          <a:cs typeface="Calibri" panose="020F0502020204030204" pitchFamily="34" charset="0"/>
                        </a:rPr>
                        <a:t>Cross-</a:t>
                      </a:r>
                      <a:r>
                        <a:rPr sz="1100" spc="45" dirty="0">
                          <a:solidFill>
                            <a:srgbClr val="006FC0"/>
                          </a:solidFill>
                          <a:latin typeface="Calibri" panose="020F0502020204030204" pitchFamily="34" charset="0"/>
                          <a:cs typeface="Calibri" panose="020F0502020204030204" pitchFamily="34" charset="0"/>
                        </a:rPr>
                        <a:t>Entropy</a:t>
                      </a:r>
                      <a:endParaRPr sz="1100" dirty="0">
                        <a:latin typeface="Calibri" panose="020F0502020204030204" pitchFamily="34" charset="0"/>
                        <a:cs typeface="Calibri" panose="020F0502020204030204" pitchFamily="34" charset="0"/>
                      </a:endParaRPr>
                    </a:p>
                  </a:txBody>
                  <a:tcPr marL="0" marR="0" marT="11874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BEBEB"/>
                    </a:solidFill>
                  </a:tcPr>
                </a:tc>
                <a:tc>
                  <a:txBody>
                    <a:bodyPr/>
                    <a:lstStyle/>
                    <a:p>
                      <a:pPr marL="66675">
                        <a:lnSpc>
                          <a:spcPct val="100000"/>
                        </a:lnSpc>
                        <a:spcBef>
                          <a:spcPts val="1330"/>
                        </a:spcBef>
                      </a:pPr>
                      <a:r>
                        <a:rPr sz="1100" spc="55" dirty="0">
                          <a:latin typeface="Calibri" panose="020F0502020204030204" pitchFamily="34" charset="0"/>
                          <a:cs typeface="Calibri" panose="020F0502020204030204" pitchFamily="34" charset="0"/>
                        </a:rPr>
                        <a:t>Classification</a:t>
                      </a:r>
                      <a:endParaRPr sz="1100" dirty="0">
                        <a:latin typeface="Calibri" panose="020F0502020204030204" pitchFamily="34" charset="0"/>
                        <a:cs typeface="Calibri" panose="020F0502020204030204" pitchFamily="34" charset="0"/>
                      </a:endParaRPr>
                    </a:p>
                  </a:txBody>
                  <a:tcPr marL="0" marR="0" marT="1689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BEBEB"/>
                    </a:solidFill>
                  </a:tcPr>
                </a:tc>
                <a:tc>
                  <a:txBody>
                    <a:bodyPr/>
                    <a:lstStyle/>
                    <a:p>
                      <a:pPr marL="152400" marR="138430">
                        <a:lnSpc>
                          <a:spcPct val="100000"/>
                        </a:lnSpc>
                        <a:spcBef>
                          <a:spcPts val="150"/>
                        </a:spcBef>
                        <a:tabLst>
                          <a:tab pos="743585" algn="l"/>
                          <a:tab pos="2042160" algn="l"/>
                          <a:tab pos="3528695" algn="l"/>
                        </a:tabLst>
                      </a:pPr>
                      <a:r>
                        <a:rPr sz="1100" spc="35" dirty="0">
                          <a:latin typeface="Calibri" panose="020F0502020204030204" pitchFamily="34" charset="0"/>
                          <a:cs typeface="Calibri" panose="020F0502020204030204" pitchFamily="34" charset="0"/>
                        </a:rPr>
                        <a:t>For</a:t>
                      </a:r>
                      <a:r>
                        <a:rPr sz="1100" dirty="0">
                          <a:latin typeface="Calibri" panose="020F0502020204030204" pitchFamily="34" charset="0"/>
                          <a:cs typeface="Calibri" panose="020F0502020204030204" pitchFamily="34" charset="0"/>
                        </a:rPr>
                        <a:t>	</a:t>
                      </a:r>
                      <a:r>
                        <a:rPr sz="1100" spc="55" dirty="0">
                          <a:latin typeface="Calibri" panose="020F0502020204030204" pitchFamily="34" charset="0"/>
                          <a:cs typeface="Calibri" panose="020F0502020204030204" pitchFamily="34" charset="0"/>
                        </a:rPr>
                        <a:t>multi-</a:t>
                      </a:r>
                      <a:r>
                        <a:rPr sz="1100" spc="30" dirty="0">
                          <a:latin typeface="Calibri" panose="020F0502020204030204" pitchFamily="34" charset="0"/>
                          <a:cs typeface="Calibri" panose="020F0502020204030204" pitchFamily="34" charset="0"/>
                        </a:rPr>
                        <a:t>class</a:t>
                      </a:r>
                      <a:r>
                        <a:rPr sz="1100" dirty="0">
                          <a:latin typeface="Calibri" panose="020F0502020204030204" pitchFamily="34" charset="0"/>
                          <a:cs typeface="Calibri" panose="020F0502020204030204" pitchFamily="34" charset="0"/>
                        </a:rPr>
                        <a:t>	</a:t>
                      </a:r>
                      <a:r>
                        <a:rPr sz="1100" spc="-10" dirty="0">
                          <a:latin typeface="Calibri" panose="020F0502020204030204" pitchFamily="34" charset="0"/>
                          <a:cs typeface="Calibri" panose="020F0502020204030204" pitchFamily="34" charset="0"/>
                        </a:rPr>
                        <a:t>classification</a:t>
                      </a:r>
                      <a:r>
                        <a:rPr sz="1100" dirty="0">
                          <a:latin typeface="Calibri" panose="020F0502020204030204" pitchFamily="34" charset="0"/>
                          <a:cs typeface="Calibri" panose="020F0502020204030204" pitchFamily="34" charset="0"/>
                        </a:rPr>
                        <a:t>	</a:t>
                      </a:r>
                      <a:r>
                        <a:rPr sz="1100" spc="45" dirty="0">
                          <a:latin typeface="Calibri" panose="020F0502020204030204" pitchFamily="34" charset="0"/>
                          <a:cs typeface="Calibri" panose="020F0502020204030204" pitchFamily="34" charset="0"/>
                        </a:rPr>
                        <a:t>(e.g., </a:t>
                      </a:r>
                      <a:r>
                        <a:rPr sz="1100" spc="65" dirty="0">
                          <a:latin typeface="Calibri" panose="020F0502020204030204" pitchFamily="34" charset="0"/>
                          <a:cs typeface="Calibri" panose="020F0502020204030204" pitchFamily="34" charset="0"/>
                        </a:rPr>
                        <a:t>Image</a:t>
                      </a:r>
                      <a:r>
                        <a:rPr sz="1100" spc="125" dirty="0">
                          <a:latin typeface="Calibri" panose="020F0502020204030204" pitchFamily="34" charset="0"/>
                          <a:cs typeface="Calibri" panose="020F0502020204030204" pitchFamily="34" charset="0"/>
                        </a:rPr>
                        <a:t> </a:t>
                      </a:r>
                      <a:r>
                        <a:rPr sz="1100" spc="-10" dirty="0">
                          <a:latin typeface="Calibri" panose="020F0502020204030204" pitchFamily="34" charset="0"/>
                          <a:cs typeface="Calibri" panose="020F0502020204030204" pitchFamily="34" charset="0"/>
                        </a:rPr>
                        <a:t>Recognition)</a:t>
                      </a:r>
                      <a:endParaRPr sz="1100" dirty="0">
                        <a:latin typeface="Calibri" panose="020F0502020204030204" pitchFamily="34" charset="0"/>
                        <a:cs typeface="Calibri" panose="020F0502020204030204" pitchFamily="34" charset="0"/>
                      </a:endParaRPr>
                    </a:p>
                  </a:txBody>
                  <a:tcPr marL="0" marR="0" marT="190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BEBEB"/>
                    </a:solidFill>
                  </a:tcPr>
                </a:tc>
                <a:extLst>
                  <a:ext uri="{0D108BD9-81ED-4DB2-BD59-A6C34878D82A}">
                    <a16:rowId xmlns:a16="http://schemas.microsoft.com/office/drawing/2014/main" val="10004"/>
                  </a:ext>
                </a:extLst>
              </a:tr>
              <a:tr h="481568">
                <a:tc>
                  <a:txBody>
                    <a:bodyPr/>
                    <a:lstStyle/>
                    <a:p>
                      <a:pPr marL="175895">
                        <a:lnSpc>
                          <a:spcPct val="100000"/>
                        </a:lnSpc>
                        <a:spcBef>
                          <a:spcPts val="1225"/>
                        </a:spcBef>
                      </a:pPr>
                      <a:r>
                        <a:rPr sz="1100" spc="70" dirty="0">
                          <a:solidFill>
                            <a:srgbClr val="006FC0"/>
                          </a:solidFill>
                          <a:latin typeface="Calibri" panose="020F0502020204030204" pitchFamily="34" charset="0"/>
                          <a:cs typeface="Calibri" panose="020F0502020204030204" pitchFamily="34" charset="0"/>
                        </a:rPr>
                        <a:t>Huber</a:t>
                      </a:r>
                      <a:r>
                        <a:rPr sz="1100" spc="114" dirty="0">
                          <a:solidFill>
                            <a:srgbClr val="006FC0"/>
                          </a:solidFill>
                          <a:latin typeface="Calibri" panose="020F0502020204030204" pitchFamily="34" charset="0"/>
                          <a:cs typeface="Calibri" panose="020F0502020204030204" pitchFamily="34" charset="0"/>
                        </a:rPr>
                        <a:t> </a:t>
                      </a:r>
                      <a:r>
                        <a:rPr sz="1100" spc="35" dirty="0">
                          <a:solidFill>
                            <a:srgbClr val="006FC0"/>
                          </a:solidFill>
                          <a:latin typeface="Calibri" panose="020F0502020204030204" pitchFamily="34" charset="0"/>
                          <a:cs typeface="Calibri" panose="020F0502020204030204" pitchFamily="34" charset="0"/>
                        </a:rPr>
                        <a:t>Loss</a:t>
                      </a:r>
                      <a:endParaRPr sz="1100">
                        <a:latin typeface="Calibri" panose="020F0502020204030204" pitchFamily="34" charset="0"/>
                        <a:cs typeface="Calibri" panose="020F0502020204030204" pitchFamily="34" charset="0"/>
                      </a:endParaRPr>
                    </a:p>
                  </a:txBody>
                  <a:tcPr marL="0" marR="0" marT="1555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BEBEB"/>
                    </a:solidFill>
                  </a:tcPr>
                </a:tc>
                <a:tc>
                  <a:txBody>
                    <a:bodyPr/>
                    <a:lstStyle/>
                    <a:p>
                      <a:pPr marL="45720">
                        <a:lnSpc>
                          <a:spcPct val="100000"/>
                        </a:lnSpc>
                        <a:spcBef>
                          <a:spcPts val="1775"/>
                        </a:spcBef>
                      </a:pPr>
                      <a:r>
                        <a:rPr sz="1100" spc="35" dirty="0">
                          <a:latin typeface="Calibri" panose="020F0502020204030204" pitchFamily="34" charset="0"/>
                          <a:cs typeface="Calibri" panose="020F0502020204030204" pitchFamily="34" charset="0"/>
                        </a:rPr>
                        <a:t>Regression</a:t>
                      </a:r>
                      <a:endParaRPr sz="1100" dirty="0">
                        <a:latin typeface="Calibri" panose="020F0502020204030204" pitchFamily="34" charset="0"/>
                        <a:cs typeface="Calibri" panose="020F0502020204030204" pitchFamily="34" charset="0"/>
                      </a:endParaRPr>
                    </a:p>
                  </a:txBody>
                  <a:tcPr marL="0" marR="0" marT="2254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BEBEB"/>
                    </a:solidFill>
                  </a:tcPr>
                </a:tc>
                <a:tc>
                  <a:txBody>
                    <a:bodyPr/>
                    <a:lstStyle/>
                    <a:p>
                      <a:pPr marL="88900" marR="137160" lvl="0" indent="0" algn="l" defTabSz="914400" rtl="0" eaLnBrk="1" fontAlgn="auto" latinLnBrk="0" hangingPunct="1">
                        <a:lnSpc>
                          <a:spcPct val="100000"/>
                        </a:lnSpc>
                        <a:spcBef>
                          <a:spcPts val="204"/>
                        </a:spcBef>
                        <a:spcAft>
                          <a:spcPts val="0"/>
                        </a:spcAft>
                        <a:buClrTx/>
                        <a:buSzTx/>
                        <a:buFontTx/>
                        <a:buNone/>
                        <a:tabLst>
                          <a:tab pos="1230630" algn="l"/>
                          <a:tab pos="1913889" algn="l"/>
                          <a:tab pos="2483485" algn="l"/>
                          <a:tab pos="3242945" algn="l"/>
                        </a:tabLst>
                      </a:pPr>
                      <a:r>
                        <a:rPr lang="en-US" sz="1200" kern="1200" dirty="0">
                          <a:solidFill>
                            <a:schemeClr val="tx1"/>
                          </a:solidFill>
                          <a:latin typeface="Calibri" panose="020F0502020204030204" pitchFamily="34" charset="0"/>
                          <a:ea typeface="+mn-ea"/>
                          <a:cs typeface="Calibri" panose="020F0502020204030204" pitchFamily="34" charset="0"/>
                        </a:rPr>
                        <a:t>Combines	MSE	and	MAE,	handles outliers well</a:t>
                      </a:r>
                    </a:p>
                  </a:txBody>
                  <a:tcPr marL="0" marR="0" marT="2603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BEBEB"/>
                    </a:solidFill>
                  </a:tcPr>
                </a:tc>
                <a:extLst>
                  <a:ext uri="{0D108BD9-81ED-4DB2-BD59-A6C34878D82A}">
                    <a16:rowId xmlns:a16="http://schemas.microsoft.com/office/drawing/2014/main" val="10005"/>
                  </a:ext>
                </a:extLst>
              </a:tr>
            </a:tbl>
          </a:graphicData>
        </a:graphic>
      </p:graphicFrame>
      <p:pic>
        <p:nvPicPr>
          <p:cNvPr id="2" name="Picture 1" descr="How to Make Your Machine Learning Models Robust to Outliers - KDnuggets">
            <a:extLst>
              <a:ext uri="{FF2B5EF4-FFF2-40B4-BE49-F238E27FC236}">
                <a16:creationId xmlns:a16="http://schemas.microsoft.com/office/drawing/2014/main" id="{80B4E3CA-B3F9-A32B-BA99-D01BBD40E217}"/>
              </a:ext>
            </a:extLst>
          </p:cNvPr>
          <p:cNvPicPr>
            <a:picLocks noChangeAspect="1"/>
          </p:cNvPicPr>
          <p:nvPr/>
        </p:nvPicPr>
        <p:blipFill>
          <a:blip r:embed="rId2"/>
          <a:stretch>
            <a:fillRect/>
          </a:stretch>
        </p:blipFill>
        <p:spPr>
          <a:xfrm>
            <a:off x="9677400" y="1471392"/>
            <a:ext cx="2405868" cy="1804401"/>
          </a:xfrm>
          <a:prstGeom prst="rect">
            <a:avLst/>
          </a:prstGeom>
        </p:spPr>
      </p:pic>
      <p:sp>
        <p:nvSpPr>
          <p:cNvPr id="3" name="Rectangle: Rounded Corners 2">
            <a:extLst>
              <a:ext uri="{FF2B5EF4-FFF2-40B4-BE49-F238E27FC236}">
                <a16:creationId xmlns:a16="http://schemas.microsoft.com/office/drawing/2014/main" id="{3939BA70-089A-1212-9D41-E00E0A60AEEB}"/>
              </a:ext>
            </a:extLst>
          </p:cNvPr>
          <p:cNvSpPr/>
          <p:nvPr/>
        </p:nvSpPr>
        <p:spPr>
          <a:xfrm>
            <a:off x="11734800" y="1295400"/>
            <a:ext cx="381000" cy="381000"/>
          </a:xfrm>
          <a:prstGeom prst="roundRect">
            <a:avLst/>
          </a:prstGeom>
          <a:solidFill>
            <a:schemeClr val="bg1"/>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98" name="object 3"/>
          <p:cNvSpPr txBox="1"/>
          <p:nvPr/>
        </p:nvSpPr>
        <p:spPr>
          <a:xfrm>
            <a:off x="745396" y="1055649"/>
            <a:ext cx="4681408" cy="1091902"/>
          </a:xfrm>
          <a:prstGeom prst="rect">
            <a:avLst/>
          </a:prstGeom>
        </p:spPr>
        <p:txBody>
          <a:bodyPr vert="horz" wrap="square" lIns="0" tIns="26670" rIns="0" bIns="0" rtlCol="0">
            <a:spAutoFit/>
          </a:bodyPr>
          <a:lstStyle/>
          <a:p>
            <a:pPr marL="12700" marR="6350" algn="just">
              <a:lnSpc>
                <a:spcPct val="150000"/>
              </a:lnSpc>
              <a:spcBef>
                <a:spcPts val="210"/>
              </a:spcBef>
            </a:pPr>
            <a:r>
              <a:rPr lang="en-US" sz="1600" i="1" dirty="0">
                <a:hlinkClick r:id="rId3" tooltip="Backpropagation in Neural Network"/>
              </a:rPr>
              <a:t>Backpropagation</a:t>
            </a:r>
            <a:r>
              <a:rPr lang="en-US" sz="1600" dirty="0"/>
              <a:t> is an algorithm used to reduce the loss by adjusting the weights based on the error from the output layer to the input layer.</a:t>
            </a:r>
          </a:p>
        </p:txBody>
      </p:sp>
      <p:sp>
        <p:nvSpPr>
          <p:cNvPr id="1049099" name="Rectangle 6"/>
          <p:cNvSpPr/>
          <p:nvPr/>
        </p:nvSpPr>
        <p:spPr>
          <a:xfrm>
            <a:off x="0" y="0"/>
            <a:ext cx="12192000" cy="873760"/>
          </a:xfrm>
          <a:prstGeom prst="rect">
            <a:avLst/>
          </a:prstGeom>
          <a:solidFill>
            <a:srgbClr val="0E2841"/>
          </a:solidFill>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r>
              <a:rPr lang="en-US" sz="3200" b="1" dirty="0">
                <a:latin typeface="Calibri" panose="020F0502020204030204" pitchFamily="34" charset="0"/>
                <a:cs typeface="Calibri" panose="020F0502020204030204" pitchFamily="34" charset="0"/>
              </a:rPr>
              <a:t>3 (iii). Backpropagation – Intuition</a:t>
            </a:r>
            <a:endParaRPr lang="en-PK" sz="3200" b="1" dirty="0">
              <a:latin typeface="Calibri" panose="020F0502020204030204" pitchFamily="34" charset="0"/>
              <a:cs typeface="Calibri" panose="020F0502020204030204" pitchFamily="34" charset="0"/>
            </a:endParaRPr>
          </a:p>
        </p:txBody>
      </p:sp>
      <p:pic>
        <p:nvPicPr>
          <p:cNvPr id="2097180" name="Picture 2" descr="Backpropagation: The Backbone of Neural Network Training | by LM Po | Medium"/>
          <p:cNvPicPr>
            <a:picLocks noChangeAspect="1" noChangeArrowheads="1"/>
          </p:cNvPicPr>
          <p:nvPr/>
        </p:nvPicPr>
        <p:blipFill rotWithShape="1">
          <a:blip r:embed="rId4"/>
          <a:srcRect l="9846" r="9869"/>
          <a:stretch>
            <a:fillRect/>
          </a:stretch>
        </p:blipFill>
        <p:spPr bwMode="auto">
          <a:xfrm>
            <a:off x="7041409" y="1055649"/>
            <a:ext cx="4681408" cy="2652807"/>
          </a:xfrm>
          <a:prstGeom prst="rect">
            <a:avLst/>
          </a:prstGeom>
          <a:noFill/>
        </p:spPr>
      </p:pic>
      <p:sp>
        <p:nvSpPr>
          <p:cNvPr id="1049101" name="Rectangle 4"/>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r>
              <a:rPr lang="en-US" sz="2400" dirty="0">
                <a:latin typeface="Calibri" panose="020F0502020204030204" pitchFamily="34" charset="0"/>
                <a:cs typeface="Calibri" panose="020F0502020204030204" pitchFamily="34" charset="0"/>
              </a:rPr>
              <a:t>28</a:t>
            </a:r>
            <a:endParaRPr lang="en-PK" sz="2400" dirty="0">
              <a:latin typeface="Calibri" panose="020F0502020204030204" pitchFamily="34" charset="0"/>
              <a:cs typeface="Calibri" panose="020F0502020204030204" pitchFamily="34" charset="0"/>
            </a:endParaRPr>
          </a:p>
        </p:txBody>
      </p:sp>
      <p:sp>
        <p:nvSpPr>
          <p:cNvPr id="1049102" name="TextBox 4"/>
          <p:cNvSpPr txBox="1"/>
          <p:nvPr/>
        </p:nvSpPr>
        <p:spPr>
          <a:xfrm>
            <a:off x="7661263" y="3841481"/>
            <a:ext cx="3441700" cy="430887"/>
          </a:xfrm>
          <a:prstGeom prst="rect">
            <a:avLst/>
          </a:prstGeom>
          <a:noFill/>
        </p:spPr>
        <p:txBody>
          <a:bodyPr wrap="square">
            <a:spAutoFit/>
          </a:bodyPr>
          <a:lstStyle/>
          <a:p>
            <a:pPr algn="ctr">
              <a:buNone/>
            </a:pPr>
            <a:r>
              <a:rPr lang="en-US" sz="1100" i="1" dirty="0">
                <a:latin typeface="Calibri" panose="020F0502020204030204" pitchFamily="34" charset="0"/>
                <a:cs typeface="Calibri" panose="020F0502020204030204" pitchFamily="34" charset="0"/>
                <a:hlinkClick r:id="rId5"/>
              </a:rPr>
              <a:t>Rumelhart, Hinton &amp; Williams (1986)</a:t>
            </a:r>
          </a:p>
          <a:p>
            <a:pPr algn="ctr">
              <a:buNone/>
            </a:pPr>
            <a:r>
              <a:rPr lang="en-US" sz="1100" i="1" dirty="0">
                <a:latin typeface="Calibri" panose="020F0502020204030204" pitchFamily="34" charset="0"/>
                <a:cs typeface="Calibri" panose="020F0502020204030204" pitchFamily="34" charset="0"/>
                <a:hlinkClick r:id="rId5"/>
              </a:rPr>
              <a:t>Learning Representations by Back-Propagating Errors</a:t>
            </a:r>
            <a:endParaRPr lang="en-US" sz="1100" i="1" dirty="0">
              <a:latin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6C6400D0-A91C-1913-755D-88BE294F3ED9}"/>
              </a:ext>
            </a:extLst>
          </p:cNvPr>
          <p:cNvSpPr txBox="1"/>
          <p:nvPr/>
        </p:nvSpPr>
        <p:spPr>
          <a:xfrm>
            <a:off x="6413500" y="4431546"/>
            <a:ext cx="5638800" cy="1997919"/>
          </a:xfrm>
          <a:prstGeom prst="rect">
            <a:avLst/>
          </a:prstGeom>
          <a:noFill/>
        </p:spPr>
        <p:txBody>
          <a:bodyPr wrap="square">
            <a:spAutoFit/>
          </a:bodyPr>
          <a:lstStyle/>
          <a:p>
            <a:pPr marL="342900" lvl="0" indent="-342900">
              <a:lnSpc>
                <a:spcPct val="150000"/>
              </a:lnSpc>
              <a:buFont typeface="Arial" panose="020B0604020202020204" pitchFamily="34" charset="0"/>
              <a:buChar char="•"/>
            </a:pPr>
            <a:r>
              <a:rPr lang="en-US" sz="1400" b="1" dirty="0">
                <a:latin typeface="Calibri" panose="020F0502020204030204" pitchFamily="34" charset="0"/>
                <a:cs typeface="Calibri" panose="020F0502020204030204" pitchFamily="34" charset="0"/>
              </a:rPr>
              <a:t>Gradient of Loss: </a:t>
            </a:r>
            <a:r>
              <a:rPr lang="en-US" sz="1400" dirty="0">
                <a:latin typeface="Calibri" panose="020F0502020204030204" pitchFamily="34" charset="0"/>
                <a:cs typeface="Calibri" panose="020F0502020204030204" pitchFamily="34" charset="0"/>
              </a:rPr>
              <a:t>Shows how much the loss changes when a model parameter changes, and in which direction. </a:t>
            </a:r>
          </a:p>
          <a:p>
            <a:pPr marL="342900" lvl="0" indent="-342900">
              <a:lnSpc>
                <a:spcPct val="150000"/>
              </a:lnSpc>
              <a:buFont typeface="Arial" panose="020B0604020202020204" pitchFamily="34" charset="0"/>
              <a:buChar char="•"/>
            </a:pPr>
            <a:r>
              <a:rPr lang="en-US" sz="1400" b="1" dirty="0">
                <a:latin typeface="Calibri" panose="020F0502020204030204" pitchFamily="34" charset="0"/>
                <a:cs typeface="Calibri" panose="020F0502020204030204" pitchFamily="34" charset="0"/>
              </a:rPr>
              <a:t>Gradient Descent: </a:t>
            </a:r>
            <a:r>
              <a:rPr lang="en-US" sz="1400" dirty="0">
                <a:latin typeface="Calibri" panose="020F0502020204030204" pitchFamily="34" charset="0"/>
                <a:cs typeface="Calibri" panose="020F0502020204030204" pitchFamily="34" charset="0"/>
              </a:rPr>
              <a:t>Uses the gradient to update the model parameters step by step to reduce the loss. </a:t>
            </a:r>
          </a:p>
          <a:p>
            <a:pPr marL="342900" lvl="0" indent="-342900">
              <a:lnSpc>
                <a:spcPct val="150000"/>
              </a:lnSpc>
              <a:buFont typeface="Arial" panose="020B0604020202020204" pitchFamily="34" charset="0"/>
              <a:buChar char="•"/>
            </a:pPr>
            <a:r>
              <a:rPr lang="en-US" sz="1400" b="1" dirty="0">
                <a:latin typeface="Calibri" panose="020F0502020204030204" pitchFamily="34" charset="0"/>
                <a:cs typeface="Calibri" panose="020F0502020204030204" pitchFamily="34" charset="0"/>
              </a:rPr>
              <a:t>Partial Derivatives: </a:t>
            </a:r>
            <a:r>
              <a:rPr lang="en-US" sz="1400" dirty="0">
                <a:latin typeface="Calibri" panose="020F0502020204030204" pitchFamily="34" charset="0"/>
                <a:cs typeface="Calibri" panose="020F0502020204030204" pitchFamily="34" charset="0"/>
              </a:rPr>
              <a:t>Measure how the loss changes with respect to one parameter at a time, while keeping the others fixed.</a:t>
            </a:r>
          </a:p>
        </p:txBody>
      </p:sp>
      <p:sp>
        <p:nvSpPr>
          <p:cNvPr id="9" name="TextBox 8">
            <a:extLst>
              <a:ext uri="{FF2B5EF4-FFF2-40B4-BE49-F238E27FC236}">
                <a16:creationId xmlns:a16="http://schemas.microsoft.com/office/drawing/2014/main" id="{648D154D-9AFC-CFAC-C342-A1B592A14B9E}"/>
              </a:ext>
            </a:extLst>
          </p:cNvPr>
          <p:cNvSpPr txBox="1"/>
          <p:nvPr/>
        </p:nvSpPr>
        <p:spPr>
          <a:xfrm>
            <a:off x="609600" y="2180778"/>
            <a:ext cx="4953000" cy="3108543"/>
          </a:xfrm>
          <a:prstGeom prst="rect">
            <a:avLst/>
          </a:prstGeom>
          <a:noFill/>
        </p:spPr>
        <p:txBody>
          <a:bodyPr wrap="square">
            <a:spAutoFit/>
          </a:bodyPr>
          <a:lstStyle/>
          <a:p>
            <a:pPr lvl="0"/>
            <a:r>
              <a:rPr lang="en-US" sz="2000" b="1" dirty="0">
                <a:latin typeface="Calibri" panose="020F0502020204030204" pitchFamily="34" charset="0"/>
                <a:cs typeface="Calibri" panose="020F0502020204030204" pitchFamily="34" charset="0"/>
              </a:rPr>
              <a:t>Key Steps:</a:t>
            </a:r>
          </a:p>
          <a:p>
            <a:pPr marL="342900" lvl="0" indent="-342900">
              <a:buFont typeface="Arial" panose="020B0604020202020204" pitchFamily="34" charset="0"/>
              <a:buChar char="•"/>
            </a:pPr>
            <a:r>
              <a:rPr lang="en-US" sz="1600" b="1" dirty="0">
                <a:latin typeface="Calibri" panose="020F0502020204030204" pitchFamily="34" charset="0"/>
                <a:cs typeface="Calibri" panose="020F0502020204030204" pitchFamily="34" charset="0"/>
              </a:rPr>
              <a:t>Forward Pass</a:t>
            </a:r>
            <a:r>
              <a:rPr lang="en-US" sz="1600" dirty="0">
                <a:latin typeface="Calibri" panose="020F0502020204030204" pitchFamily="34" charset="0"/>
                <a:cs typeface="Calibri" panose="020F0502020204030204" pitchFamily="34" charset="0"/>
              </a:rPr>
              <a:t> → Pass the input through the network to get the output. </a:t>
            </a:r>
          </a:p>
          <a:p>
            <a:pPr marL="342900" lvl="0" indent="-342900">
              <a:buFont typeface="Arial" panose="020B0604020202020204" pitchFamily="34" charset="0"/>
              <a:buChar char="•"/>
            </a:pPr>
            <a:r>
              <a:rPr lang="en-US" sz="1600" b="1" dirty="0">
                <a:latin typeface="Calibri" panose="020F0502020204030204" pitchFamily="34" charset="0"/>
                <a:cs typeface="Calibri" panose="020F0502020204030204" pitchFamily="34" charset="0"/>
              </a:rPr>
              <a:t>Calculate Loss</a:t>
            </a:r>
            <a:r>
              <a:rPr lang="en-US" sz="1600" dirty="0">
                <a:latin typeface="Calibri" panose="020F0502020204030204" pitchFamily="34" charset="0"/>
                <a:cs typeface="Calibri" panose="020F0502020204030204" pitchFamily="34" charset="0"/>
              </a:rPr>
              <a:t> → Compare the predicted output with the actual output. </a:t>
            </a:r>
          </a:p>
          <a:p>
            <a:pPr marL="342900" lvl="0" indent="-342900">
              <a:buFont typeface="Arial" panose="020B0604020202020204" pitchFamily="34" charset="0"/>
              <a:buChar char="•"/>
            </a:pPr>
            <a:r>
              <a:rPr lang="en-US" sz="1600" b="1" dirty="0">
                <a:latin typeface="Calibri" panose="020F0502020204030204" pitchFamily="34" charset="0"/>
                <a:cs typeface="Calibri" panose="020F0502020204030204" pitchFamily="34" charset="0"/>
              </a:rPr>
              <a:t>Calculate Gradients</a:t>
            </a:r>
            <a:r>
              <a:rPr lang="en-US" sz="1600" dirty="0">
                <a:latin typeface="Calibri" panose="020F0502020204030204" pitchFamily="34" charset="0"/>
                <a:cs typeface="Calibri" panose="020F0502020204030204" pitchFamily="34" charset="0"/>
              </a:rPr>
              <a:t> → Find how each weight affects the loss using the </a:t>
            </a:r>
            <a:r>
              <a:rPr lang="en-US" sz="1600" b="1" dirty="0">
                <a:latin typeface="Calibri" panose="020F0502020204030204" pitchFamily="34" charset="0"/>
                <a:cs typeface="Calibri" panose="020F0502020204030204" pitchFamily="34" charset="0"/>
              </a:rPr>
              <a:t>chain rule</a:t>
            </a:r>
            <a:r>
              <a:rPr lang="en-US" sz="1600" dirty="0">
                <a:latin typeface="Calibri" panose="020F0502020204030204" pitchFamily="34" charset="0"/>
                <a:cs typeface="Calibri" panose="020F0502020204030204" pitchFamily="34" charset="0"/>
              </a:rPr>
              <a:t>. </a:t>
            </a:r>
          </a:p>
          <a:p>
            <a:pPr marL="342900" lvl="0" indent="-342900">
              <a:buFont typeface="Arial" panose="020B0604020202020204" pitchFamily="34" charset="0"/>
              <a:buChar char="•"/>
            </a:pPr>
            <a:r>
              <a:rPr lang="en-US" sz="1600" b="1" dirty="0">
                <a:latin typeface="Calibri" panose="020F0502020204030204" pitchFamily="34" charset="0"/>
                <a:cs typeface="Calibri" panose="020F0502020204030204" pitchFamily="34" charset="0"/>
              </a:rPr>
              <a:t>Propagate Backward</a:t>
            </a:r>
            <a:r>
              <a:rPr lang="en-US" sz="1600" dirty="0">
                <a:latin typeface="Calibri" panose="020F0502020204030204" pitchFamily="34" charset="0"/>
                <a:cs typeface="Calibri" panose="020F0502020204030204" pitchFamily="34" charset="0"/>
              </a:rPr>
              <a:t> → Send the gradients backward through the layers. </a:t>
            </a:r>
          </a:p>
          <a:p>
            <a:pPr marL="342900" lvl="0" indent="-342900">
              <a:buFont typeface="Arial" panose="020B0604020202020204" pitchFamily="34" charset="0"/>
              <a:buChar char="•"/>
            </a:pPr>
            <a:r>
              <a:rPr lang="en-US" sz="1600" b="1" dirty="0">
                <a:latin typeface="Calibri" panose="020F0502020204030204" pitchFamily="34" charset="0"/>
                <a:cs typeface="Calibri" panose="020F0502020204030204" pitchFamily="34" charset="0"/>
              </a:rPr>
              <a:t>Update Weights</a:t>
            </a:r>
            <a:r>
              <a:rPr lang="en-US" sz="1600" dirty="0">
                <a:latin typeface="Calibri" panose="020F0502020204030204" pitchFamily="34" charset="0"/>
                <a:cs typeface="Calibri" panose="020F0502020204030204" pitchFamily="34" charset="0"/>
              </a:rPr>
              <a:t> → Adjust the weights using </a:t>
            </a:r>
            <a:r>
              <a:rPr lang="en-US" sz="1600" b="1" dirty="0">
                <a:latin typeface="Calibri" panose="020F0502020204030204" pitchFamily="34" charset="0"/>
                <a:cs typeface="Calibri" panose="020F0502020204030204" pitchFamily="34" charset="0"/>
              </a:rPr>
              <a:t>gradient descent</a:t>
            </a:r>
            <a:r>
              <a:rPr lang="en-US" sz="1600" dirty="0">
                <a:latin typeface="Calibri" panose="020F0502020204030204" pitchFamily="34" charset="0"/>
                <a:cs typeface="Calibri" panose="020F0502020204030204" pitchFamily="34" charset="0"/>
              </a:rPr>
              <a:t>. </a:t>
            </a:r>
          </a:p>
          <a:p>
            <a:pPr marL="342900" lvl="0" indent="-342900">
              <a:buFont typeface="Arial" panose="020B0604020202020204" pitchFamily="34" charset="0"/>
              <a:buChar char="•"/>
            </a:pPr>
            <a:r>
              <a:rPr lang="en-US" sz="1600" b="1" dirty="0">
                <a:latin typeface="Calibri" panose="020F0502020204030204" pitchFamily="34" charset="0"/>
                <a:cs typeface="Calibri" panose="020F0502020204030204" pitchFamily="34" charset="0"/>
              </a:rPr>
              <a:t>Repeat</a:t>
            </a:r>
            <a:r>
              <a:rPr lang="en-US" sz="1600" dirty="0">
                <a:latin typeface="Calibri" panose="020F0502020204030204" pitchFamily="34" charset="0"/>
                <a:cs typeface="Calibri" panose="020F0502020204030204" pitchFamily="34" charset="0"/>
              </a:rPr>
              <a:t> → Continue this process to reduce the loss. </a:t>
            </a:r>
          </a:p>
        </p:txBody>
      </p:sp>
      <p:sp>
        <p:nvSpPr>
          <p:cNvPr id="11" name="TextBox 10">
            <a:extLst>
              <a:ext uri="{FF2B5EF4-FFF2-40B4-BE49-F238E27FC236}">
                <a16:creationId xmlns:a16="http://schemas.microsoft.com/office/drawing/2014/main" id="{0C544F59-DB55-AE99-46B7-699265488D04}"/>
              </a:ext>
            </a:extLst>
          </p:cNvPr>
          <p:cNvSpPr txBox="1"/>
          <p:nvPr/>
        </p:nvSpPr>
        <p:spPr>
          <a:xfrm>
            <a:off x="609600" y="5253621"/>
            <a:ext cx="5334000" cy="1323439"/>
          </a:xfrm>
          <a:prstGeom prst="rect">
            <a:avLst/>
          </a:prstGeom>
          <a:noFill/>
        </p:spPr>
        <p:txBody>
          <a:bodyPr wrap="square">
            <a:spAutoFit/>
          </a:bodyPr>
          <a:lstStyle/>
          <a:p>
            <a:r>
              <a:rPr lang="en-US" sz="1600" b="1" dirty="0">
                <a:latin typeface="Calibri" panose="020F0502020204030204" pitchFamily="34" charset="0"/>
                <a:cs typeface="Calibri" panose="020F0502020204030204" pitchFamily="34" charset="0"/>
              </a:rPr>
              <a:t>Important Notes</a:t>
            </a:r>
          </a:p>
          <a:p>
            <a:pPr marL="342900" lvl="0" indent="-342900">
              <a:buFont typeface="Arial" panose="020B0604020202020204" pitchFamily="34" charset="0"/>
              <a:buChar char="•"/>
            </a:pPr>
            <a:r>
              <a:rPr lang="en-US" sz="1600" dirty="0">
                <a:latin typeface="Calibri" panose="020F0502020204030204" pitchFamily="34" charset="0"/>
                <a:cs typeface="Calibri" panose="020F0502020204030204" pitchFamily="34" charset="0"/>
              </a:rPr>
              <a:t>Backpropagation adjusts weights using partial derivatives of the loss. </a:t>
            </a:r>
          </a:p>
          <a:p>
            <a:pPr marL="342900" lvl="0" indent="-342900">
              <a:buFont typeface="Arial" panose="020B0604020202020204" pitchFamily="34" charset="0"/>
              <a:buChar char="•"/>
            </a:pPr>
            <a:r>
              <a:rPr lang="en-US" sz="1600" dirty="0">
                <a:latin typeface="Calibri" panose="020F0502020204030204" pitchFamily="34" charset="0"/>
                <a:cs typeface="Calibri" panose="020F0502020204030204" pitchFamily="34" charset="0"/>
              </a:rPr>
              <a:t>It propagates the error backward through the network to efficiently update the weights.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03" name="object 3"/>
          <p:cNvSpPr txBox="1"/>
          <p:nvPr/>
        </p:nvSpPr>
        <p:spPr>
          <a:xfrm>
            <a:off x="695425" y="982206"/>
            <a:ext cx="5410200" cy="1521570"/>
          </a:xfrm>
          <a:prstGeom prst="rect">
            <a:avLst/>
          </a:prstGeom>
        </p:spPr>
        <p:txBody>
          <a:bodyPr vert="horz" wrap="square" lIns="0" tIns="76835" rIns="0" bIns="0" rtlCol="0">
            <a:spAutoFit/>
          </a:bodyPr>
          <a:lstStyle/>
          <a:p>
            <a:pPr marL="12700">
              <a:lnSpc>
                <a:spcPct val="100000"/>
              </a:lnSpc>
              <a:spcBef>
                <a:spcPts val="605"/>
              </a:spcBef>
            </a:pPr>
            <a:r>
              <a:rPr sz="2400" b="1" spc="160" dirty="0">
                <a:latin typeface="Calibri" panose="020F0502020204030204" pitchFamily="34" charset="0"/>
                <a:cs typeface="Calibri" panose="020F0502020204030204" pitchFamily="34" charset="0"/>
              </a:rPr>
              <a:t>Optimization</a:t>
            </a:r>
            <a:r>
              <a:rPr sz="2400" b="1" spc="250" dirty="0">
                <a:latin typeface="Calibri" panose="020F0502020204030204" pitchFamily="34" charset="0"/>
                <a:cs typeface="Calibri" panose="020F0502020204030204" pitchFamily="34" charset="0"/>
              </a:rPr>
              <a:t> </a:t>
            </a:r>
            <a:r>
              <a:rPr sz="2400" b="1" spc="135" dirty="0">
                <a:latin typeface="Calibri" panose="020F0502020204030204" pitchFamily="34" charset="0"/>
                <a:cs typeface="Calibri" panose="020F0502020204030204" pitchFamily="34" charset="0"/>
              </a:rPr>
              <a:t>Algorithms:</a:t>
            </a:r>
            <a:endParaRPr sz="2400" dirty="0">
              <a:latin typeface="Calibri" panose="020F0502020204030204" pitchFamily="34" charset="0"/>
              <a:cs typeface="Calibri" panose="020F0502020204030204" pitchFamily="34" charset="0"/>
            </a:endParaRPr>
          </a:p>
          <a:p>
            <a:pPr marL="572770" indent="-285750">
              <a:lnSpc>
                <a:spcPct val="100000"/>
              </a:lnSpc>
              <a:spcBef>
                <a:spcPts val="330"/>
              </a:spcBef>
              <a:buFont typeface="Arial" panose="020B0604020202020204" pitchFamily="34" charset="0"/>
              <a:buChar char="•"/>
            </a:pPr>
            <a:r>
              <a:rPr sz="1600" spc="60" dirty="0">
                <a:solidFill>
                  <a:srgbClr val="252525"/>
                </a:solidFill>
                <a:latin typeface="Calibri" panose="020F0502020204030204" pitchFamily="34" charset="0"/>
                <a:cs typeface="Calibri" panose="020F0502020204030204" pitchFamily="34" charset="0"/>
              </a:rPr>
              <a:t>Optimization</a:t>
            </a:r>
            <a:r>
              <a:rPr sz="1600" spc="210" dirty="0">
                <a:solidFill>
                  <a:srgbClr val="252525"/>
                </a:solidFill>
                <a:latin typeface="Calibri" panose="020F0502020204030204" pitchFamily="34" charset="0"/>
                <a:cs typeface="Calibri" panose="020F0502020204030204" pitchFamily="34" charset="0"/>
              </a:rPr>
              <a:t> </a:t>
            </a:r>
            <a:r>
              <a:rPr sz="1600" spc="50" dirty="0">
                <a:solidFill>
                  <a:srgbClr val="252525"/>
                </a:solidFill>
                <a:latin typeface="Calibri" panose="020F0502020204030204" pitchFamily="34" charset="0"/>
                <a:cs typeface="Calibri" panose="020F0502020204030204" pitchFamily="34" charset="0"/>
              </a:rPr>
              <a:t>algorithms</a:t>
            </a:r>
            <a:r>
              <a:rPr sz="1600" spc="190" dirty="0">
                <a:solidFill>
                  <a:srgbClr val="252525"/>
                </a:solidFill>
                <a:latin typeface="Calibri" panose="020F0502020204030204" pitchFamily="34" charset="0"/>
                <a:cs typeface="Calibri" panose="020F0502020204030204" pitchFamily="34" charset="0"/>
              </a:rPr>
              <a:t> </a:t>
            </a:r>
            <a:r>
              <a:rPr sz="1600" spc="55" dirty="0">
                <a:solidFill>
                  <a:srgbClr val="252525"/>
                </a:solidFill>
                <a:latin typeface="Calibri" panose="020F0502020204030204" pitchFamily="34" charset="0"/>
                <a:cs typeface="Calibri" panose="020F0502020204030204" pitchFamily="34" charset="0"/>
              </a:rPr>
              <a:t>adjust</a:t>
            </a:r>
            <a:r>
              <a:rPr sz="1600" spc="200" dirty="0">
                <a:solidFill>
                  <a:srgbClr val="252525"/>
                </a:solidFill>
                <a:latin typeface="Calibri" panose="020F0502020204030204" pitchFamily="34" charset="0"/>
                <a:cs typeface="Calibri" panose="020F0502020204030204" pitchFamily="34" charset="0"/>
              </a:rPr>
              <a:t> </a:t>
            </a:r>
            <a:r>
              <a:rPr sz="1600" dirty="0">
                <a:solidFill>
                  <a:srgbClr val="252525"/>
                </a:solidFill>
                <a:latin typeface="Calibri" panose="020F0502020204030204" pitchFamily="34" charset="0"/>
                <a:cs typeface="Calibri" panose="020F0502020204030204" pitchFamily="34" charset="0"/>
              </a:rPr>
              <a:t>model</a:t>
            </a:r>
            <a:r>
              <a:rPr sz="1600" spc="185" dirty="0">
                <a:solidFill>
                  <a:srgbClr val="252525"/>
                </a:solidFill>
                <a:latin typeface="Calibri" panose="020F0502020204030204" pitchFamily="34" charset="0"/>
                <a:cs typeface="Calibri" panose="020F0502020204030204" pitchFamily="34" charset="0"/>
              </a:rPr>
              <a:t> </a:t>
            </a:r>
            <a:r>
              <a:rPr sz="1600" spc="50" dirty="0">
                <a:solidFill>
                  <a:srgbClr val="252525"/>
                </a:solidFill>
                <a:latin typeface="Calibri" panose="020F0502020204030204" pitchFamily="34" charset="0"/>
                <a:cs typeface="Calibri" panose="020F0502020204030204" pitchFamily="34" charset="0"/>
              </a:rPr>
              <a:t>parameters</a:t>
            </a:r>
            <a:r>
              <a:rPr sz="1600" spc="200" dirty="0">
                <a:solidFill>
                  <a:srgbClr val="252525"/>
                </a:solidFill>
                <a:latin typeface="Calibri" panose="020F0502020204030204" pitchFamily="34" charset="0"/>
                <a:cs typeface="Calibri" panose="020F0502020204030204" pitchFamily="34" charset="0"/>
              </a:rPr>
              <a:t> </a:t>
            </a:r>
            <a:r>
              <a:rPr sz="1600" dirty="0">
                <a:solidFill>
                  <a:srgbClr val="252525"/>
                </a:solidFill>
                <a:latin typeface="Calibri" panose="020F0502020204030204" pitchFamily="34" charset="0"/>
                <a:cs typeface="Calibri" panose="020F0502020204030204" pitchFamily="34" charset="0"/>
              </a:rPr>
              <a:t>(weights)</a:t>
            </a:r>
            <a:r>
              <a:rPr sz="1600" spc="204" dirty="0">
                <a:solidFill>
                  <a:srgbClr val="252525"/>
                </a:solidFill>
                <a:latin typeface="Calibri" panose="020F0502020204030204" pitchFamily="34" charset="0"/>
                <a:cs typeface="Calibri" panose="020F0502020204030204" pitchFamily="34" charset="0"/>
              </a:rPr>
              <a:t> </a:t>
            </a:r>
            <a:r>
              <a:rPr sz="1600" dirty="0">
                <a:solidFill>
                  <a:srgbClr val="252525"/>
                </a:solidFill>
                <a:latin typeface="Calibri" panose="020F0502020204030204" pitchFamily="34" charset="0"/>
                <a:cs typeface="Calibri" panose="020F0502020204030204" pitchFamily="34" charset="0"/>
              </a:rPr>
              <a:t>to</a:t>
            </a:r>
            <a:r>
              <a:rPr sz="1600" spc="170" dirty="0">
                <a:solidFill>
                  <a:srgbClr val="252525"/>
                </a:solidFill>
                <a:latin typeface="Calibri" panose="020F0502020204030204" pitchFamily="34" charset="0"/>
                <a:cs typeface="Calibri" panose="020F0502020204030204" pitchFamily="34" charset="0"/>
              </a:rPr>
              <a:t> </a:t>
            </a:r>
            <a:r>
              <a:rPr sz="1600" dirty="0">
                <a:solidFill>
                  <a:srgbClr val="252525"/>
                </a:solidFill>
                <a:latin typeface="Calibri" panose="020F0502020204030204" pitchFamily="34" charset="0"/>
                <a:cs typeface="Calibri" panose="020F0502020204030204" pitchFamily="34" charset="0"/>
              </a:rPr>
              <a:t>minimize</a:t>
            </a:r>
            <a:r>
              <a:rPr sz="1600" spc="200" dirty="0">
                <a:solidFill>
                  <a:srgbClr val="252525"/>
                </a:solidFill>
                <a:latin typeface="Calibri" panose="020F0502020204030204" pitchFamily="34" charset="0"/>
                <a:cs typeface="Calibri" panose="020F0502020204030204" pitchFamily="34" charset="0"/>
              </a:rPr>
              <a:t> </a:t>
            </a:r>
            <a:r>
              <a:rPr sz="1600" spc="55" dirty="0">
                <a:solidFill>
                  <a:srgbClr val="252525"/>
                </a:solidFill>
                <a:latin typeface="Calibri" panose="020F0502020204030204" pitchFamily="34" charset="0"/>
                <a:cs typeface="Calibri" panose="020F0502020204030204" pitchFamily="34" charset="0"/>
              </a:rPr>
              <a:t>the</a:t>
            </a:r>
            <a:r>
              <a:rPr sz="1600" spc="170" dirty="0">
                <a:solidFill>
                  <a:srgbClr val="252525"/>
                </a:solidFill>
                <a:latin typeface="Calibri" panose="020F0502020204030204" pitchFamily="34" charset="0"/>
                <a:cs typeface="Calibri" panose="020F0502020204030204" pitchFamily="34" charset="0"/>
              </a:rPr>
              <a:t> </a:t>
            </a:r>
            <a:r>
              <a:rPr sz="1600" dirty="0">
                <a:solidFill>
                  <a:srgbClr val="252525"/>
                </a:solidFill>
                <a:latin typeface="Calibri" panose="020F0502020204030204" pitchFamily="34" charset="0"/>
                <a:cs typeface="Calibri" panose="020F0502020204030204" pitchFamily="34" charset="0"/>
              </a:rPr>
              <a:t>loss</a:t>
            </a:r>
            <a:r>
              <a:rPr sz="1600" spc="160" dirty="0">
                <a:solidFill>
                  <a:srgbClr val="252525"/>
                </a:solidFill>
                <a:latin typeface="Calibri" panose="020F0502020204030204" pitchFamily="34" charset="0"/>
                <a:cs typeface="Calibri" panose="020F0502020204030204" pitchFamily="34" charset="0"/>
              </a:rPr>
              <a:t> </a:t>
            </a:r>
            <a:r>
              <a:rPr sz="1600" spc="40" dirty="0">
                <a:solidFill>
                  <a:srgbClr val="252525"/>
                </a:solidFill>
                <a:latin typeface="Calibri" panose="020F0502020204030204" pitchFamily="34" charset="0"/>
                <a:cs typeface="Calibri" panose="020F0502020204030204" pitchFamily="34" charset="0"/>
              </a:rPr>
              <a:t>function.</a:t>
            </a:r>
            <a:endParaRPr sz="1600" dirty="0">
              <a:latin typeface="Calibri" panose="020F0502020204030204" pitchFamily="34" charset="0"/>
              <a:cs typeface="Calibri" panose="020F0502020204030204" pitchFamily="34" charset="0"/>
            </a:endParaRPr>
          </a:p>
          <a:p>
            <a:pPr marL="572770" indent="-285750">
              <a:lnSpc>
                <a:spcPct val="100000"/>
              </a:lnSpc>
              <a:spcBef>
                <a:spcPts val="409"/>
              </a:spcBef>
              <a:buFont typeface="Arial" panose="020B0604020202020204" pitchFamily="34" charset="0"/>
              <a:buChar char="•"/>
            </a:pPr>
            <a:r>
              <a:rPr sz="1600" spc="60" dirty="0">
                <a:solidFill>
                  <a:srgbClr val="252525"/>
                </a:solidFill>
                <a:latin typeface="Calibri" panose="020F0502020204030204" pitchFamily="34" charset="0"/>
                <a:cs typeface="Calibri" panose="020F0502020204030204" pitchFamily="34" charset="0"/>
              </a:rPr>
              <a:t>Efficient</a:t>
            </a:r>
            <a:r>
              <a:rPr sz="1600" spc="220" dirty="0">
                <a:solidFill>
                  <a:srgbClr val="252525"/>
                </a:solidFill>
                <a:latin typeface="Calibri" panose="020F0502020204030204" pitchFamily="34" charset="0"/>
                <a:cs typeface="Calibri" panose="020F0502020204030204" pitchFamily="34" charset="0"/>
              </a:rPr>
              <a:t> </a:t>
            </a:r>
            <a:r>
              <a:rPr sz="1600" spc="10" dirty="0">
                <a:solidFill>
                  <a:srgbClr val="252525"/>
                </a:solidFill>
                <a:latin typeface="Calibri" panose="020F0502020204030204" pitchFamily="34" charset="0"/>
                <a:cs typeface="Calibri" panose="020F0502020204030204" pitchFamily="34" charset="0"/>
              </a:rPr>
              <a:t>optimization</a:t>
            </a:r>
            <a:r>
              <a:rPr sz="1600" spc="195" dirty="0">
                <a:solidFill>
                  <a:srgbClr val="252525"/>
                </a:solidFill>
                <a:latin typeface="Calibri" panose="020F0502020204030204" pitchFamily="34" charset="0"/>
                <a:cs typeface="Calibri" panose="020F0502020204030204" pitchFamily="34" charset="0"/>
              </a:rPr>
              <a:t> </a:t>
            </a:r>
            <a:r>
              <a:rPr sz="1600" spc="45" dirty="0">
                <a:solidFill>
                  <a:srgbClr val="252525"/>
                </a:solidFill>
                <a:latin typeface="Calibri" panose="020F0502020204030204" pitchFamily="34" charset="0"/>
                <a:cs typeface="Calibri" panose="020F0502020204030204" pitchFamily="34" charset="0"/>
              </a:rPr>
              <a:t>ensures</a:t>
            </a:r>
            <a:r>
              <a:rPr sz="1600" spc="190" dirty="0">
                <a:solidFill>
                  <a:srgbClr val="252525"/>
                </a:solidFill>
                <a:latin typeface="Calibri" panose="020F0502020204030204" pitchFamily="34" charset="0"/>
                <a:cs typeface="Calibri" panose="020F0502020204030204" pitchFamily="34" charset="0"/>
              </a:rPr>
              <a:t> </a:t>
            </a:r>
            <a:r>
              <a:rPr sz="1600" spc="50" dirty="0">
                <a:solidFill>
                  <a:srgbClr val="252525"/>
                </a:solidFill>
                <a:latin typeface="Calibri" panose="020F0502020204030204" pitchFamily="34" charset="0"/>
                <a:cs typeface="Calibri" panose="020F0502020204030204" pitchFamily="34" charset="0"/>
              </a:rPr>
              <a:t>faster</a:t>
            </a:r>
            <a:r>
              <a:rPr sz="1600" spc="204" dirty="0">
                <a:solidFill>
                  <a:srgbClr val="252525"/>
                </a:solidFill>
                <a:latin typeface="Calibri" panose="020F0502020204030204" pitchFamily="34" charset="0"/>
                <a:cs typeface="Calibri" panose="020F0502020204030204" pitchFamily="34" charset="0"/>
              </a:rPr>
              <a:t> </a:t>
            </a:r>
            <a:r>
              <a:rPr sz="1600" spc="10" dirty="0">
                <a:solidFill>
                  <a:srgbClr val="252525"/>
                </a:solidFill>
                <a:latin typeface="Calibri" panose="020F0502020204030204" pitchFamily="34" charset="0"/>
                <a:cs typeface="Calibri" panose="020F0502020204030204" pitchFamily="34" charset="0"/>
              </a:rPr>
              <a:t>convergence</a:t>
            </a:r>
            <a:r>
              <a:rPr sz="1600" spc="215" dirty="0">
                <a:solidFill>
                  <a:srgbClr val="252525"/>
                </a:solidFill>
                <a:latin typeface="Calibri" panose="020F0502020204030204" pitchFamily="34" charset="0"/>
                <a:cs typeface="Calibri" panose="020F0502020204030204" pitchFamily="34" charset="0"/>
              </a:rPr>
              <a:t> </a:t>
            </a:r>
            <a:r>
              <a:rPr sz="1600" spc="65" dirty="0">
                <a:solidFill>
                  <a:srgbClr val="252525"/>
                </a:solidFill>
                <a:latin typeface="Calibri" panose="020F0502020204030204" pitchFamily="34" charset="0"/>
                <a:cs typeface="Calibri" panose="020F0502020204030204" pitchFamily="34" charset="0"/>
              </a:rPr>
              <a:t>and</a:t>
            </a:r>
            <a:r>
              <a:rPr sz="1600" spc="195" dirty="0">
                <a:solidFill>
                  <a:srgbClr val="252525"/>
                </a:solidFill>
                <a:latin typeface="Calibri" panose="020F0502020204030204" pitchFamily="34" charset="0"/>
                <a:cs typeface="Calibri" panose="020F0502020204030204" pitchFamily="34" charset="0"/>
              </a:rPr>
              <a:t> </a:t>
            </a:r>
            <a:r>
              <a:rPr sz="1600" spc="10" dirty="0">
                <a:solidFill>
                  <a:srgbClr val="252525"/>
                </a:solidFill>
                <a:latin typeface="Calibri" panose="020F0502020204030204" pitchFamily="34" charset="0"/>
                <a:cs typeface="Calibri" panose="020F0502020204030204" pitchFamily="34" charset="0"/>
              </a:rPr>
              <a:t>better</a:t>
            </a:r>
            <a:r>
              <a:rPr sz="1600" spc="190" dirty="0">
                <a:solidFill>
                  <a:srgbClr val="252525"/>
                </a:solidFill>
                <a:latin typeface="Calibri" panose="020F0502020204030204" pitchFamily="34" charset="0"/>
                <a:cs typeface="Calibri" panose="020F0502020204030204" pitchFamily="34" charset="0"/>
              </a:rPr>
              <a:t> </a:t>
            </a:r>
            <a:r>
              <a:rPr sz="1600" spc="10" dirty="0">
                <a:solidFill>
                  <a:srgbClr val="252525"/>
                </a:solidFill>
                <a:latin typeface="Calibri" panose="020F0502020204030204" pitchFamily="34" charset="0"/>
                <a:cs typeface="Calibri" panose="020F0502020204030204" pitchFamily="34" charset="0"/>
              </a:rPr>
              <a:t>model</a:t>
            </a:r>
            <a:r>
              <a:rPr sz="1600" spc="210" dirty="0">
                <a:solidFill>
                  <a:srgbClr val="252525"/>
                </a:solidFill>
                <a:latin typeface="Calibri" panose="020F0502020204030204" pitchFamily="34" charset="0"/>
                <a:cs typeface="Calibri" panose="020F0502020204030204" pitchFamily="34" charset="0"/>
              </a:rPr>
              <a:t> </a:t>
            </a:r>
            <a:r>
              <a:rPr sz="1600" spc="-10" dirty="0">
                <a:solidFill>
                  <a:srgbClr val="252525"/>
                </a:solidFill>
                <a:latin typeface="Calibri" panose="020F0502020204030204" pitchFamily="34" charset="0"/>
                <a:cs typeface="Calibri" panose="020F0502020204030204" pitchFamily="34" charset="0"/>
              </a:rPr>
              <a:t>performance.</a:t>
            </a:r>
            <a:endParaRPr sz="1600" dirty="0">
              <a:latin typeface="Calibri" panose="020F0502020204030204" pitchFamily="34" charset="0"/>
              <a:cs typeface="Calibri" panose="020F0502020204030204" pitchFamily="34" charset="0"/>
            </a:endParaRPr>
          </a:p>
        </p:txBody>
      </p:sp>
      <p:graphicFrame>
        <p:nvGraphicFramePr>
          <p:cNvPr id="4194306" name="object 5"/>
          <p:cNvGraphicFramePr>
            <a:graphicFrameLocks noGrp="1"/>
          </p:cNvGraphicFramePr>
          <p:nvPr>
            <p:extLst>
              <p:ext uri="{D42A27DB-BD31-4B8C-83A1-F6EECF244321}">
                <p14:modId xmlns:p14="http://schemas.microsoft.com/office/powerpoint/2010/main" val="3117161227"/>
              </p:ext>
            </p:extLst>
          </p:nvPr>
        </p:nvGraphicFramePr>
        <p:xfrm>
          <a:off x="695425" y="2711161"/>
          <a:ext cx="9439175" cy="3723637"/>
        </p:xfrm>
        <a:graphic>
          <a:graphicData uri="http://schemas.openxmlformats.org/drawingml/2006/table">
            <a:tbl>
              <a:tblPr firstRow="1" bandRow="1">
                <a:tableStyleId>{2D5ABB26-0587-4C30-8999-92F81FD0307C}</a:tableStyleId>
              </a:tblPr>
              <a:tblGrid>
                <a:gridCol w="3408422">
                  <a:extLst>
                    <a:ext uri="{9D8B030D-6E8A-4147-A177-3AD203B41FA5}">
                      <a16:colId xmlns:a16="http://schemas.microsoft.com/office/drawing/2014/main" val="20000"/>
                    </a:ext>
                  </a:extLst>
                </a:gridCol>
                <a:gridCol w="1077753">
                  <a:extLst>
                    <a:ext uri="{9D8B030D-6E8A-4147-A177-3AD203B41FA5}">
                      <a16:colId xmlns:a16="http://schemas.microsoft.com/office/drawing/2014/main" val="20001"/>
                    </a:ext>
                  </a:extLst>
                </a:gridCol>
                <a:gridCol w="4953000">
                  <a:extLst>
                    <a:ext uri="{9D8B030D-6E8A-4147-A177-3AD203B41FA5}">
                      <a16:colId xmlns:a16="http://schemas.microsoft.com/office/drawing/2014/main" val="20002"/>
                    </a:ext>
                  </a:extLst>
                </a:gridCol>
              </a:tblGrid>
              <a:tr h="441959">
                <a:tc>
                  <a:txBody>
                    <a:bodyPr/>
                    <a:lstStyle/>
                    <a:p>
                      <a:pPr marL="76200">
                        <a:lnSpc>
                          <a:spcPct val="100000"/>
                        </a:lnSpc>
                        <a:spcBef>
                          <a:spcPts val="254"/>
                        </a:spcBef>
                      </a:pPr>
                      <a:r>
                        <a:rPr sz="1800" b="1" spc="140" dirty="0">
                          <a:solidFill>
                            <a:srgbClr val="006FC0"/>
                          </a:solidFill>
                          <a:latin typeface="Calibri" panose="020F0502020204030204" pitchFamily="34" charset="0"/>
                          <a:cs typeface="Calibri" panose="020F0502020204030204" pitchFamily="34" charset="0"/>
                        </a:rPr>
                        <a:t>Algorithm</a:t>
                      </a:r>
                      <a:endParaRPr sz="1800" dirty="0">
                        <a:latin typeface="Calibri" panose="020F0502020204030204" pitchFamily="34" charset="0"/>
                        <a:cs typeface="Calibri" panose="020F0502020204030204" pitchFamily="34" charset="0"/>
                      </a:endParaRPr>
                    </a:p>
                  </a:txBody>
                  <a:tcPr marL="0" marR="0" marT="3238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BEBEB"/>
                    </a:solidFill>
                  </a:tcPr>
                </a:tc>
                <a:tc>
                  <a:txBody>
                    <a:bodyPr/>
                    <a:lstStyle/>
                    <a:p>
                      <a:pPr marL="76835">
                        <a:lnSpc>
                          <a:spcPct val="100000"/>
                        </a:lnSpc>
                        <a:spcBef>
                          <a:spcPts val="254"/>
                        </a:spcBef>
                      </a:pPr>
                      <a:r>
                        <a:rPr sz="2000" b="1" spc="125" dirty="0">
                          <a:solidFill>
                            <a:srgbClr val="006FC0"/>
                          </a:solidFill>
                          <a:latin typeface="Calibri" panose="020F0502020204030204" pitchFamily="34" charset="0"/>
                          <a:cs typeface="Calibri" panose="020F0502020204030204" pitchFamily="34" charset="0"/>
                        </a:rPr>
                        <a:t>Type</a:t>
                      </a:r>
                      <a:endParaRPr sz="2000">
                        <a:latin typeface="Calibri" panose="020F0502020204030204" pitchFamily="34" charset="0"/>
                        <a:cs typeface="Calibri" panose="020F0502020204030204" pitchFamily="34" charset="0"/>
                      </a:endParaRPr>
                    </a:p>
                  </a:txBody>
                  <a:tcPr marL="0" marR="0" marT="3238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BEBEB"/>
                    </a:solidFill>
                  </a:tcPr>
                </a:tc>
                <a:tc>
                  <a:txBody>
                    <a:bodyPr/>
                    <a:lstStyle/>
                    <a:p>
                      <a:pPr marL="76835">
                        <a:lnSpc>
                          <a:spcPct val="100000"/>
                        </a:lnSpc>
                        <a:spcBef>
                          <a:spcPts val="254"/>
                        </a:spcBef>
                      </a:pPr>
                      <a:r>
                        <a:rPr sz="2000" b="1" spc="155" dirty="0">
                          <a:solidFill>
                            <a:srgbClr val="006FC0"/>
                          </a:solidFill>
                          <a:latin typeface="Calibri" panose="020F0502020204030204" pitchFamily="34" charset="0"/>
                          <a:cs typeface="Calibri" panose="020F0502020204030204" pitchFamily="34" charset="0"/>
                        </a:rPr>
                        <a:t>Characteristics</a:t>
                      </a:r>
                      <a:endParaRPr sz="2000" dirty="0">
                        <a:latin typeface="Calibri" panose="020F0502020204030204" pitchFamily="34" charset="0"/>
                        <a:cs typeface="Calibri" panose="020F0502020204030204" pitchFamily="34" charset="0"/>
                      </a:endParaRPr>
                    </a:p>
                  </a:txBody>
                  <a:tcPr marL="0" marR="0" marT="3238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BEBEB"/>
                    </a:solidFill>
                  </a:tcPr>
                </a:tc>
                <a:extLst>
                  <a:ext uri="{0D108BD9-81ED-4DB2-BD59-A6C34878D82A}">
                    <a16:rowId xmlns:a16="http://schemas.microsoft.com/office/drawing/2014/main" val="10000"/>
                  </a:ext>
                </a:extLst>
              </a:tr>
              <a:tr h="547188">
                <a:tc>
                  <a:txBody>
                    <a:bodyPr/>
                    <a:lstStyle/>
                    <a:p>
                      <a:pPr marL="91440" marR="678815">
                        <a:lnSpc>
                          <a:spcPct val="100000"/>
                        </a:lnSpc>
                        <a:spcBef>
                          <a:spcPts val="434"/>
                        </a:spcBef>
                      </a:pPr>
                      <a:r>
                        <a:rPr sz="1400" spc="65" dirty="0">
                          <a:solidFill>
                            <a:srgbClr val="006FC0"/>
                          </a:solidFill>
                          <a:latin typeface="Calibri" panose="020F0502020204030204" pitchFamily="34" charset="0"/>
                          <a:cs typeface="Calibri" panose="020F0502020204030204" pitchFamily="34" charset="0"/>
                        </a:rPr>
                        <a:t>Stochastic</a:t>
                      </a:r>
                      <a:r>
                        <a:rPr sz="1400" spc="130" dirty="0">
                          <a:solidFill>
                            <a:srgbClr val="006FC0"/>
                          </a:solidFill>
                          <a:latin typeface="Calibri" panose="020F0502020204030204" pitchFamily="34" charset="0"/>
                          <a:cs typeface="Calibri" panose="020F0502020204030204" pitchFamily="34" charset="0"/>
                        </a:rPr>
                        <a:t> </a:t>
                      </a:r>
                      <a:r>
                        <a:rPr sz="1400" spc="80" dirty="0">
                          <a:solidFill>
                            <a:srgbClr val="006FC0"/>
                          </a:solidFill>
                          <a:latin typeface="Calibri" panose="020F0502020204030204" pitchFamily="34" charset="0"/>
                          <a:cs typeface="Calibri" panose="020F0502020204030204" pitchFamily="34" charset="0"/>
                        </a:rPr>
                        <a:t>Gradient </a:t>
                      </a:r>
                      <a:r>
                        <a:rPr sz="1400" spc="65" dirty="0">
                          <a:solidFill>
                            <a:srgbClr val="006FC0"/>
                          </a:solidFill>
                          <a:latin typeface="Calibri" panose="020F0502020204030204" pitchFamily="34" charset="0"/>
                          <a:cs typeface="Calibri" panose="020F0502020204030204" pitchFamily="34" charset="0"/>
                        </a:rPr>
                        <a:t>Descent</a:t>
                      </a:r>
                      <a:r>
                        <a:rPr lang="en-US" sz="1400" spc="120" dirty="0">
                          <a:solidFill>
                            <a:srgbClr val="006FC0"/>
                          </a:solidFill>
                          <a:latin typeface="Calibri" panose="020F0502020204030204" pitchFamily="34" charset="0"/>
                          <a:cs typeface="Calibri" panose="020F0502020204030204" pitchFamily="34" charset="0"/>
                        </a:rPr>
                        <a:t> </a:t>
                      </a:r>
                      <a:r>
                        <a:rPr sz="1400" spc="90" dirty="0">
                          <a:solidFill>
                            <a:srgbClr val="006FC0"/>
                          </a:solidFill>
                          <a:latin typeface="Calibri" panose="020F0502020204030204" pitchFamily="34" charset="0"/>
                          <a:cs typeface="Calibri" panose="020F0502020204030204" pitchFamily="34" charset="0"/>
                        </a:rPr>
                        <a:t>(SGD)</a:t>
                      </a:r>
                      <a:r>
                        <a:rPr lang="en-US" sz="1400" spc="90" dirty="0">
                          <a:solidFill>
                            <a:srgbClr val="006FC0"/>
                          </a:solidFill>
                          <a:latin typeface="Calibri" panose="020F0502020204030204" pitchFamily="34" charset="0"/>
                          <a:cs typeface="Calibri" panose="020F0502020204030204" pitchFamily="34" charset="0"/>
                        </a:rPr>
                        <a:t> </a:t>
                      </a:r>
                      <a:r>
                        <a:rPr lang="en-US" sz="900" spc="90" dirty="0">
                          <a:solidFill>
                            <a:srgbClr val="006FC0"/>
                          </a:solidFill>
                          <a:latin typeface="Calibri" panose="020F0502020204030204" pitchFamily="34" charset="0"/>
                          <a:cs typeface="Calibri" panose="020F0502020204030204" pitchFamily="34" charset="0"/>
                          <a:hlinkClick r:id="rId2" tooltip="Stochastic Gradient Descent"/>
                        </a:rPr>
                        <a:t>https://scikit-learn.org/stable/modules/sgd.html</a:t>
                      </a:r>
                      <a:endParaRPr sz="1400" dirty="0">
                        <a:latin typeface="Calibri" panose="020F0502020204030204" pitchFamily="34" charset="0"/>
                        <a:cs typeface="Calibri" panose="020F0502020204030204" pitchFamily="34" charset="0"/>
                      </a:endParaRPr>
                    </a:p>
                  </a:txBody>
                  <a:tcPr marL="0" marR="0" marT="5524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BEBEB"/>
                    </a:solidFill>
                  </a:tcPr>
                </a:tc>
                <a:tc>
                  <a:txBody>
                    <a:bodyPr/>
                    <a:lstStyle/>
                    <a:p>
                      <a:pPr marL="111760">
                        <a:lnSpc>
                          <a:spcPct val="100000"/>
                        </a:lnSpc>
                        <a:spcBef>
                          <a:spcPts val="1430"/>
                        </a:spcBef>
                      </a:pPr>
                      <a:r>
                        <a:rPr sz="1400" spc="65" dirty="0">
                          <a:latin typeface="Calibri" panose="020F0502020204030204" pitchFamily="34" charset="0"/>
                          <a:cs typeface="Calibri" panose="020F0502020204030204" pitchFamily="34" charset="0"/>
                        </a:rPr>
                        <a:t>First-</a:t>
                      </a:r>
                      <a:r>
                        <a:rPr sz="1400" spc="-10" dirty="0">
                          <a:latin typeface="Calibri" panose="020F0502020204030204" pitchFamily="34" charset="0"/>
                          <a:cs typeface="Calibri" panose="020F0502020204030204" pitchFamily="34" charset="0"/>
                        </a:rPr>
                        <a:t>order</a:t>
                      </a:r>
                      <a:endParaRPr sz="1400" dirty="0">
                        <a:latin typeface="Calibri" panose="020F0502020204030204" pitchFamily="34" charset="0"/>
                        <a:cs typeface="Calibri" panose="020F0502020204030204" pitchFamily="34" charset="0"/>
                      </a:endParaRPr>
                    </a:p>
                  </a:txBody>
                  <a:tcPr marL="0" marR="0" marT="1816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BEBEB"/>
                    </a:solidFill>
                  </a:tcPr>
                </a:tc>
                <a:tc>
                  <a:txBody>
                    <a:bodyPr/>
                    <a:lstStyle/>
                    <a:p>
                      <a:pPr marL="118110" marR="200660">
                        <a:lnSpc>
                          <a:spcPct val="100000"/>
                        </a:lnSpc>
                        <a:spcBef>
                          <a:spcPts val="990"/>
                        </a:spcBef>
                      </a:pPr>
                      <a:r>
                        <a:rPr sz="1400" spc="75" dirty="0">
                          <a:latin typeface="Calibri" panose="020F0502020204030204" pitchFamily="34" charset="0"/>
                          <a:cs typeface="Calibri" panose="020F0502020204030204" pitchFamily="34" charset="0"/>
                        </a:rPr>
                        <a:t>Updates</a:t>
                      </a:r>
                      <a:r>
                        <a:rPr sz="1400" spc="200" dirty="0">
                          <a:latin typeface="Calibri" panose="020F0502020204030204" pitchFamily="34" charset="0"/>
                          <a:cs typeface="Calibri" panose="020F0502020204030204" pitchFamily="34" charset="0"/>
                        </a:rPr>
                        <a:t> </a:t>
                      </a:r>
                      <a:r>
                        <a:rPr sz="1400" spc="45" dirty="0">
                          <a:latin typeface="Calibri" panose="020F0502020204030204" pitchFamily="34" charset="0"/>
                          <a:cs typeface="Calibri" panose="020F0502020204030204" pitchFamily="34" charset="0"/>
                        </a:rPr>
                        <a:t>weights</a:t>
                      </a:r>
                      <a:r>
                        <a:rPr sz="1400" spc="200" dirty="0">
                          <a:latin typeface="Calibri" panose="020F0502020204030204" pitchFamily="34" charset="0"/>
                          <a:cs typeface="Calibri" panose="020F0502020204030204" pitchFamily="34" charset="0"/>
                        </a:rPr>
                        <a:t> </a:t>
                      </a:r>
                      <a:r>
                        <a:rPr sz="1400" spc="60" dirty="0">
                          <a:latin typeface="Calibri" panose="020F0502020204030204" pitchFamily="34" charset="0"/>
                          <a:cs typeface="Calibri" panose="020F0502020204030204" pitchFamily="34" charset="0"/>
                        </a:rPr>
                        <a:t>using</a:t>
                      </a:r>
                      <a:r>
                        <a:rPr sz="1400" spc="185" dirty="0">
                          <a:latin typeface="Calibri" panose="020F0502020204030204" pitchFamily="34" charset="0"/>
                          <a:cs typeface="Calibri" panose="020F0502020204030204" pitchFamily="34" charset="0"/>
                        </a:rPr>
                        <a:t> </a:t>
                      </a:r>
                      <a:r>
                        <a:rPr sz="1400" spc="90" dirty="0">
                          <a:latin typeface="Calibri" panose="020F0502020204030204" pitchFamily="34" charset="0"/>
                          <a:cs typeface="Calibri" panose="020F0502020204030204" pitchFamily="34" charset="0"/>
                        </a:rPr>
                        <a:t>a</a:t>
                      </a:r>
                      <a:r>
                        <a:rPr sz="1400" spc="190" dirty="0">
                          <a:latin typeface="Calibri" panose="020F0502020204030204" pitchFamily="34" charset="0"/>
                          <a:cs typeface="Calibri" panose="020F0502020204030204" pitchFamily="34" charset="0"/>
                        </a:rPr>
                        <a:t> </a:t>
                      </a:r>
                      <a:r>
                        <a:rPr sz="1400" spc="50" dirty="0">
                          <a:latin typeface="Calibri" panose="020F0502020204030204" pitchFamily="34" charset="0"/>
                          <a:cs typeface="Calibri" panose="020F0502020204030204" pitchFamily="34" charset="0"/>
                        </a:rPr>
                        <a:t>single</a:t>
                      </a:r>
                      <a:r>
                        <a:rPr sz="1400" spc="200" dirty="0">
                          <a:latin typeface="Calibri" panose="020F0502020204030204" pitchFamily="34" charset="0"/>
                          <a:cs typeface="Calibri" panose="020F0502020204030204" pitchFamily="34" charset="0"/>
                        </a:rPr>
                        <a:t> </a:t>
                      </a:r>
                      <a:r>
                        <a:rPr sz="1400" spc="70" dirty="0">
                          <a:latin typeface="Calibri" panose="020F0502020204030204" pitchFamily="34" charset="0"/>
                          <a:cs typeface="Calibri" panose="020F0502020204030204" pitchFamily="34" charset="0"/>
                        </a:rPr>
                        <a:t>data</a:t>
                      </a:r>
                      <a:r>
                        <a:rPr sz="1400" spc="200"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point,</a:t>
                      </a:r>
                      <a:r>
                        <a:rPr sz="1400" spc="204" dirty="0">
                          <a:latin typeface="Calibri" panose="020F0502020204030204" pitchFamily="34" charset="0"/>
                          <a:cs typeface="Calibri" panose="020F0502020204030204" pitchFamily="34" charset="0"/>
                        </a:rPr>
                        <a:t> </a:t>
                      </a:r>
                      <a:r>
                        <a:rPr sz="1400" spc="40" dirty="0">
                          <a:latin typeface="Calibri" panose="020F0502020204030204" pitchFamily="34" charset="0"/>
                          <a:cs typeface="Calibri" panose="020F0502020204030204" pitchFamily="34" charset="0"/>
                        </a:rPr>
                        <a:t>faster </a:t>
                      </a:r>
                      <a:r>
                        <a:rPr sz="1400" spc="50" dirty="0">
                          <a:latin typeface="Calibri" panose="020F0502020204030204" pitchFamily="34" charset="0"/>
                          <a:cs typeface="Calibri" panose="020F0502020204030204" pitchFamily="34" charset="0"/>
                        </a:rPr>
                        <a:t>but</a:t>
                      </a:r>
                      <a:r>
                        <a:rPr sz="1400" spc="100" dirty="0">
                          <a:latin typeface="Calibri" panose="020F0502020204030204" pitchFamily="34" charset="0"/>
                          <a:cs typeface="Calibri" panose="020F0502020204030204" pitchFamily="34" charset="0"/>
                        </a:rPr>
                        <a:t> </a:t>
                      </a:r>
                      <a:r>
                        <a:rPr sz="1400" spc="-10" dirty="0">
                          <a:latin typeface="Calibri" panose="020F0502020204030204" pitchFamily="34" charset="0"/>
                          <a:cs typeface="Calibri" panose="020F0502020204030204" pitchFamily="34" charset="0"/>
                        </a:rPr>
                        <a:t>noisy</a:t>
                      </a:r>
                      <a:endParaRPr sz="1400" dirty="0">
                        <a:latin typeface="Calibri" panose="020F0502020204030204" pitchFamily="34" charset="0"/>
                        <a:cs typeface="Calibri" panose="020F0502020204030204" pitchFamily="34" charset="0"/>
                      </a:endParaRPr>
                    </a:p>
                  </a:txBody>
                  <a:tcPr marL="0" marR="0" marT="12573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BEBEB"/>
                    </a:solidFill>
                  </a:tcPr>
                </a:tc>
                <a:extLst>
                  <a:ext uri="{0D108BD9-81ED-4DB2-BD59-A6C34878D82A}">
                    <a16:rowId xmlns:a16="http://schemas.microsoft.com/office/drawing/2014/main" val="10001"/>
                  </a:ext>
                </a:extLst>
              </a:tr>
              <a:tr h="533400">
                <a:tc>
                  <a:txBody>
                    <a:bodyPr/>
                    <a:lstStyle/>
                    <a:p>
                      <a:pPr marL="91440">
                        <a:lnSpc>
                          <a:spcPct val="100000"/>
                        </a:lnSpc>
                        <a:spcBef>
                          <a:spcPts val="1225"/>
                        </a:spcBef>
                      </a:pPr>
                      <a:r>
                        <a:rPr sz="1400" spc="60" dirty="0">
                          <a:solidFill>
                            <a:srgbClr val="006FC0"/>
                          </a:solidFill>
                          <a:latin typeface="Calibri" panose="020F0502020204030204" pitchFamily="34" charset="0"/>
                          <a:cs typeface="Calibri" panose="020F0502020204030204" pitchFamily="34" charset="0"/>
                        </a:rPr>
                        <a:t>Momentum-</a:t>
                      </a:r>
                      <a:r>
                        <a:rPr sz="1400" dirty="0">
                          <a:solidFill>
                            <a:srgbClr val="006FC0"/>
                          </a:solidFill>
                          <a:latin typeface="Calibri" panose="020F0502020204030204" pitchFamily="34" charset="0"/>
                          <a:cs typeface="Calibri" panose="020F0502020204030204" pitchFamily="34" charset="0"/>
                        </a:rPr>
                        <a:t>based</a:t>
                      </a:r>
                      <a:r>
                        <a:rPr sz="1400" spc="375" dirty="0">
                          <a:solidFill>
                            <a:srgbClr val="006FC0"/>
                          </a:solidFill>
                          <a:latin typeface="Calibri" panose="020F0502020204030204" pitchFamily="34" charset="0"/>
                          <a:cs typeface="Calibri" panose="020F0502020204030204" pitchFamily="34" charset="0"/>
                        </a:rPr>
                        <a:t> </a:t>
                      </a:r>
                      <a:r>
                        <a:rPr sz="1400" spc="215" dirty="0">
                          <a:solidFill>
                            <a:srgbClr val="006FC0"/>
                          </a:solidFill>
                          <a:latin typeface="Calibri" panose="020F0502020204030204" pitchFamily="34" charset="0"/>
                          <a:cs typeface="Calibri" panose="020F0502020204030204" pitchFamily="34" charset="0"/>
                        </a:rPr>
                        <a:t>SGD</a:t>
                      </a:r>
                      <a:r>
                        <a:rPr lang="en-US" sz="1400" spc="215" dirty="0">
                          <a:solidFill>
                            <a:srgbClr val="006FC0"/>
                          </a:solidFill>
                          <a:latin typeface="Calibri" panose="020F0502020204030204" pitchFamily="34" charset="0"/>
                          <a:cs typeface="Calibri" panose="020F0502020204030204" pitchFamily="34" charset="0"/>
                        </a:rPr>
                        <a:t> </a:t>
                      </a:r>
                      <a:r>
                        <a:rPr lang="en-US" sz="900" dirty="0">
                          <a:latin typeface="Calibri" panose="020F0502020204030204" pitchFamily="34" charset="0"/>
                          <a:cs typeface="Calibri" panose="020F0502020204030204" pitchFamily="34" charset="0"/>
                          <a:hlinkClick r:id="rId3" tooltip="Generalized Stochastic Gradient Descent with Momentum Methods for Smooth Optimization"/>
                        </a:rPr>
                        <a:t>https://arxiv.org/abs/2602.23444</a:t>
                      </a:r>
                      <a:endParaRPr sz="1400" dirty="0">
                        <a:latin typeface="Calibri" panose="020F0502020204030204" pitchFamily="34" charset="0"/>
                        <a:cs typeface="Calibri" panose="020F0502020204030204" pitchFamily="34" charset="0"/>
                      </a:endParaRPr>
                    </a:p>
                  </a:txBody>
                  <a:tcPr marL="0" marR="0" marT="1555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BEBEB"/>
                    </a:solidFill>
                  </a:tcPr>
                </a:tc>
                <a:tc>
                  <a:txBody>
                    <a:bodyPr/>
                    <a:lstStyle/>
                    <a:p>
                      <a:pPr marL="113664">
                        <a:lnSpc>
                          <a:spcPct val="100000"/>
                        </a:lnSpc>
                        <a:spcBef>
                          <a:spcPts val="1570"/>
                        </a:spcBef>
                      </a:pPr>
                      <a:r>
                        <a:rPr sz="1400" spc="70" dirty="0">
                          <a:latin typeface="Calibri" panose="020F0502020204030204" pitchFamily="34" charset="0"/>
                          <a:cs typeface="Calibri" panose="020F0502020204030204" pitchFamily="34" charset="0"/>
                        </a:rPr>
                        <a:t>First-</a:t>
                      </a:r>
                      <a:r>
                        <a:rPr sz="1400" spc="-10" dirty="0">
                          <a:latin typeface="Calibri" panose="020F0502020204030204" pitchFamily="34" charset="0"/>
                          <a:cs typeface="Calibri" panose="020F0502020204030204" pitchFamily="34" charset="0"/>
                        </a:rPr>
                        <a:t>order</a:t>
                      </a:r>
                      <a:endParaRPr sz="1400" dirty="0">
                        <a:latin typeface="Calibri" panose="020F0502020204030204" pitchFamily="34" charset="0"/>
                        <a:cs typeface="Calibri" panose="020F0502020204030204" pitchFamily="34" charset="0"/>
                      </a:endParaRPr>
                    </a:p>
                  </a:txBody>
                  <a:tcPr marL="0" marR="0" marT="1993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BEBEB"/>
                    </a:solidFill>
                  </a:tcPr>
                </a:tc>
                <a:tc>
                  <a:txBody>
                    <a:bodyPr/>
                    <a:lstStyle/>
                    <a:p>
                      <a:pPr marL="118110" marR="201295">
                        <a:lnSpc>
                          <a:spcPct val="100000"/>
                        </a:lnSpc>
                        <a:spcBef>
                          <a:spcPts val="375"/>
                        </a:spcBef>
                      </a:pPr>
                      <a:r>
                        <a:rPr sz="1400" spc="60" dirty="0">
                          <a:latin typeface="Calibri" panose="020F0502020204030204" pitchFamily="34" charset="0"/>
                          <a:cs typeface="Calibri" panose="020F0502020204030204" pitchFamily="34" charset="0"/>
                        </a:rPr>
                        <a:t>Adds</a:t>
                      </a:r>
                      <a:r>
                        <a:rPr sz="1400" spc="250" dirty="0">
                          <a:latin typeface="Calibri" panose="020F0502020204030204" pitchFamily="34" charset="0"/>
                          <a:cs typeface="Calibri" panose="020F0502020204030204" pitchFamily="34" charset="0"/>
                        </a:rPr>
                        <a:t> </a:t>
                      </a:r>
                      <a:r>
                        <a:rPr sz="1400" spc="55" dirty="0">
                          <a:latin typeface="Calibri" panose="020F0502020204030204" pitchFamily="34" charset="0"/>
                          <a:cs typeface="Calibri" panose="020F0502020204030204" pitchFamily="34" charset="0"/>
                        </a:rPr>
                        <a:t>momentum</a:t>
                      </a:r>
                      <a:r>
                        <a:rPr sz="1400" spc="225"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to</a:t>
                      </a:r>
                      <a:r>
                        <a:rPr sz="1400" spc="254"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reduce</a:t>
                      </a:r>
                      <a:r>
                        <a:rPr sz="1400" spc="240"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oscillations</a:t>
                      </a:r>
                      <a:r>
                        <a:rPr sz="1400" spc="250" dirty="0">
                          <a:latin typeface="Calibri" panose="020F0502020204030204" pitchFamily="34" charset="0"/>
                          <a:cs typeface="Calibri" panose="020F0502020204030204" pitchFamily="34" charset="0"/>
                        </a:rPr>
                        <a:t> </a:t>
                      </a:r>
                      <a:r>
                        <a:rPr sz="1400" spc="65" dirty="0">
                          <a:latin typeface="Calibri" panose="020F0502020204030204" pitchFamily="34" charset="0"/>
                          <a:cs typeface="Calibri" panose="020F0502020204030204" pitchFamily="34" charset="0"/>
                        </a:rPr>
                        <a:t>and</a:t>
                      </a:r>
                      <a:r>
                        <a:rPr sz="1400" spc="240" dirty="0">
                          <a:latin typeface="Calibri" panose="020F0502020204030204" pitchFamily="34" charset="0"/>
                          <a:cs typeface="Calibri" panose="020F0502020204030204" pitchFamily="34" charset="0"/>
                        </a:rPr>
                        <a:t> </a:t>
                      </a:r>
                      <a:r>
                        <a:rPr sz="1400" spc="-10" dirty="0">
                          <a:latin typeface="Calibri" panose="020F0502020204030204" pitchFamily="34" charset="0"/>
                          <a:cs typeface="Calibri" panose="020F0502020204030204" pitchFamily="34" charset="0"/>
                        </a:rPr>
                        <a:t>speed </a:t>
                      </a:r>
                      <a:r>
                        <a:rPr sz="1400" spc="50" dirty="0">
                          <a:latin typeface="Calibri" panose="020F0502020204030204" pitchFamily="34" charset="0"/>
                          <a:cs typeface="Calibri" panose="020F0502020204030204" pitchFamily="34" charset="0"/>
                        </a:rPr>
                        <a:t>up</a:t>
                      </a:r>
                      <a:r>
                        <a:rPr sz="1400" spc="110" dirty="0">
                          <a:latin typeface="Calibri" panose="020F0502020204030204" pitchFamily="34" charset="0"/>
                          <a:cs typeface="Calibri" panose="020F0502020204030204" pitchFamily="34" charset="0"/>
                        </a:rPr>
                        <a:t> </a:t>
                      </a:r>
                      <a:r>
                        <a:rPr sz="1400" spc="-10" dirty="0">
                          <a:latin typeface="Calibri" panose="020F0502020204030204" pitchFamily="34" charset="0"/>
                          <a:cs typeface="Calibri" panose="020F0502020204030204" pitchFamily="34" charset="0"/>
                        </a:rPr>
                        <a:t>convergence</a:t>
                      </a:r>
                      <a:endParaRPr sz="1400" dirty="0">
                        <a:latin typeface="Calibri" panose="020F0502020204030204" pitchFamily="34" charset="0"/>
                        <a:cs typeface="Calibri" panose="020F0502020204030204" pitchFamily="34" charset="0"/>
                      </a:endParaRPr>
                    </a:p>
                  </a:txBody>
                  <a:tcPr marL="0" marR="0" marT="476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BEBEB"/>
                    </a:solidFill>
                  </a:tcPr>
                </a:tc>
                <a:extLst>
                  <a:ext uri="{0D108BD9-81ED-4DB2-BD59-A6C34878D82A}">
                    <a16:rowId xmlns:a16="http://schemas.microsoft.com/office/drawing/2014/main" val="10002"/>
                  </a:ext>
                </a:extLst>
              </a:tr>
              <a:tr h="647700">
                <a:tc>
                  <a:txBody>
                    <a:bodyPr/>
                    <a:lstStyle/>
                    <a:p>
                      <a:pPr marL="66675" marR="613410">
                        <a:lnSpc>
                          <a:spcPct val="100000"/>
                        </a:lnSpc>
                        <a:spcBef>
                          <a:spcPts val="409"/>
                        </a:spcBef>
                      </a:pPr>
                      <a:r>
                        <a:rPr sz="1400" spc="100" dirty="0">
                          <a:solidFill>
                            <a:srgbClr val="006FC0"/>
                          </a:solidFill>
                          <a:latin typeface="Calibri" panose="020F0502020204030204" pitchFamily="34" charset="0"/>
                          <a:cs typeface="Calibri" panose="020F0502020204030204" pitchFamily="34" charset="0"/>
                        </a:rPr>
                        <a:t>Adam </a:t>
                      </a:r>
                      <a:r>
                        <a:rPr sz="1400" spc="35" dirty="0">
                          <a:solidFill>
                            <a:srgbClr val="006FC0"/>
                          </a:solidFill>
                          <a:latin typeface="Calibri" panose="020F0502020204030204" pitchFamily="34" charset="0"/>
                          <a:cs typeface="Calibri" panose="020F0502020204030204" pitchFamily="34" charset="0"/>
                        </a:rPr>
                        <a:t>(Adaptive </a:t>
                      </a:r>
                      <a:r>
                        <a:rPr sz="1400" spc="70" dirty="0">
                          <a:solidFill>
                            <a:srgbClr val="006FC0"/>
                          </a:solidFill>
                          <a:latin typeface="Calibri" panose="020F0502020204030204" pitchFamily="34" charset="0"/>
                          <a:cs typeface="Calibri" panose="020F0502020204030204" pitchFamily="34" charset="0"/>
                        </a:rPr>
                        <a:t>Moment</a:t>
                      </a:r>
                      <a:r>
                        <a:rPr sz="1400" spc="100" dirty="0">
                          <a:solidFill>
                            <a:srgbClr val="006FC0"/>
                          </a:solidFill>
                          <a:latin typeface="Calibri" panose="020F0502020204030204" pitchFamily="34" charset="0"/>
                          <a:cs typeface="Calibri" panose="020F0502020204030204" pitchFamily="34" charset="0"/>
                        </a:rPr>
                        <a:t> </a:t>
                      </a:r>
                      <a:r>
                        <a:rPr sz="1400" spc="50" dirty="0">
                          <a:solidFill>
                            <a:srgbClr val="006FC0"/>
                          </a:solidFill>
                          <a:latin typeface="Calibri" panose="020F0502020204030204" pitchFamily="34" charset="0"/>
                          <a:cs typeface="Calibri" panose="020F0502020204030204" pitchFamily="34" charset="0"/>
                        </a:rPr>
                        <a:t>Estimation)</a:t>
                      </a:r>
                      <a:r>
                        <a:rPr lang="en-US" sz="1400" spc="50" dirty="0">
                          <a:solidFill>
                            <a:srgbClr val="006FC0"/>
                          </a:solidFill>
                          <a:latin typeface="Calibri" panose="020F0502020204030204" pitchFamily="34" charset="0"/>
                          <a:cs typeface="Calibri" panose="020F0502020204030204" pitchFamily="34" charset="0"/>
                        </a:rPr>
                        <a:t> </a:t>
                      </a:r>
                    </a:p>
                    <a:p>
                      <a:pPr marL="66675" marR="613410">
                        <a:lnSpc>
                          <a:spcPct val="100000"/>
                        </a:lnSpc>
                        <a:spcBef>
                          <a:spcPts val="409"/>
                        </a:spcBef>
                      </a:pPr>
                      <a:r>
                        <a:rPr lang="en-US" sz="900" kern="1200" dirty="0">
                          <a:solidFill>
                            <a:schemeClr val="tx1"/>
                          </a:solidFill>
                          <a:latin typeface="Calibri" panose="020F0502020204030204" pitchFamily="34" charset="0"/>
                          <a:ea typeface="+mn-ea"/>
                          <a:cs typeface="Calibri" panose="020F0502020204030204" pitchFamily="34" charset="0"/>
                          <a:hlinkClick r:id="rId4" tooltip="Adam: A Method for Stochastic Optimization"/>
                        </a:rPr>
                        <a:t>https://arxiv.org/abs/1412.6980</a:t>
                      </a:r>
                      <a:endParaRPr sz="900" kern="1200" dirty="0">
                        <a:solidFill>
                          <a:schemeClr val="tx1"/>
                        </a:solidFill>
                        <a:latin typeface="Calibri" panose="020F0502020204030204" pitchFamily="34" charset="0"/>
                        <a:ea typeface="+mn-ea"/>
                        <a:cs typeface="Calibri" panose="020F0502020204030204" pitchFamily="34" charset="0"/>
                      </a:endParaRPr>
                    </a:p>
                  </a:txBody>
                  <a:tcPr marL="0" marR="0" marT="5206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BEBEB"/>
                    </a:solidFill>
                  </a:tcPr>
                </a:tc>
                <a:tc>
                  <a:txBody>
                    <a:bodyPr/>
                    <a:lstStyle/>
                    <a:p>
                      <a:pPr marL="111760">
                        <a:lnSpc>
                          <a:spcPct val="100000"/>
                        </a:lnSpc>
                        <a:spcBef>
                          <a:spcPts val="1620"/>
                        </a:spcBef>
                      </a:pPr>
                      <a:r>
                        <a:rPr sz="1400" spc="45" dirty="0">
                          <a:latin typeface="Calibri" panose="020F0502020204030204" pitchFamily="34" charset="0"/>
                          <a:cs typeface="Calibri" panose="020F0502020204030204" pitchFamily="34" charset="0"/>
                        </a:rPr>
                        <a:t>Adaptive</a:t>
                      </a:r>
                      <a:endParaRPr sz="1400" dirty="0">
                        <a:latin typeface="Calibri" panose="020F0502020204030204" pitchFamily="34" charset="0"/>
                        <a:cs typeface="Calibri" panose="020F0502020204030204" pitchFamily="34" charset="0"/>
                      </a:endParaRPr>
                    </a:p>
                  </a:txBody>
                  <a:tcPr marL="0" marR="0" marT="2057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BEBEB"/>
                    </a:solidFill>
                  </a:tcPr>
                </a:tc>
                <a:tc>
                  <a:txBody>
                    <a:bodyPr/>
                    <a:lstStyle/>
                    <a:p>
                      <a:pPr marL="118110" marR="200660">
                        <a:lnSpc>
                          <a:spcPct val="100000"/>
                        </a:lnSpc>
                        <a:spcBef>
                          <a:spcPts val="345"/>
                        </a:spcBef>
                        <a:tabLst>
                          <a:tab pos="1217295" algn="l"/>
                          <a:tab pos="2462530" algn="l"/>
                          <a:tab pos="2993390" algn="l"/>
                          <a:tab pos="3980815" algn="l"/>
                        </a:tabLst>
                      </a:pPr>
                      <a:r>
                        <a:rPr sz="1400" spc="50" dirty="0">
                          <a:latin typeface="Calibri" panose="020F0502020204030204" pitchFamily="34" charset="0"/>
                          <a:cs typeface="Calibri" panose="020F0502020204030204" pitchFamily="34" charset="0"/>
                        </a:rPr>
                        <a:t>Combines</a:t>
                      </a:r>
                      <a:r>
                        <a:rPr sz="1400" dirty="0">
                          <a:latin typeface="Calibri" panose="020F0502020204030204" pitchFamily="34" charset="0"/>
                          <a:cs typeface="Calibri" panose="020F0502020204030204" pitchFamily="34" charset="0"/>
                        </a:rPr>
                        <a:t>	</a:t>
                      </a:r>
                      <a:r>
                        <a:rPr sz="1400" spc="45" dirty="0">
                          <a:latin typeface="Calibri" panose="020F0502020204030204" pitchFamily="34" charset="0"/>
                          <a:cs typeface="Calibri" panose="020F0502020204030204" pitchFamily="34" charset="0"/>
                        </a:rPr>
                        <a:t>momentum</a:t>
                      </a:r>
                      <a:r>
                        <a:rPr sz="1400" dirty="0">
                          <a:latin typeface="Calibri" panose="020F0502020204030204" pitchFamily="34" charset="0"/>
                          <a:cs typeface="Calibri" panose="020F0502020204030204" pitchFamily="34" charset="0"/>
                        </a:rPr>
                        <a:t>	</a:t>
                      </a:r>
                      <a:r>
                        <a:rPr sz="1400" spc="45" dirty="0">
                          <a:latin typeface="Calibri" panose="020F0502020204030204" pitchFamily="34" charset="0"/>
                          <a:cs typeface="Calibri" panose="020F0502020204030204" pitchFamily="34" charset="0"/>
                        </a:rPr>
                        <a:t>and</a:t>
                      </a:r>
                      <a:r>
                        <a:rPr sz="1400" dirty="0">
                          <a:latin typeface="Calibri" panose="020F0502020204030204" pitchFamily="34" charset="0"/>
                          <a:cs typeface="Calibri" panose="020F0502020204030204" pitchFamily="34" charset="0"/>
                        </a:rPr>
                        <a:t>	</a:t>
                      </a:r>
                      <a:r>
                        <a:rPr sz="1400" spc="40" dirty="0">
                          <a:latin typeface="Calibri" panose="020F0502020204030204" pitchFamily="34" charset="0"/>
                          <a:cs typeface="Calibri" panose="020F0502020204030204" pitchFamily="34" charset="0"/>
                        </a:rPr>
                        <a:t>adaptive</a:t>
                      </a:r>
                      <a:r>
                        <a:rPr sz="1400" dirty="0">
                          <a:latin typeface="Calibri" panose="020F0502020204030204" pitchFamily="34" charset="0"/>
                          <a:cs typeface="Calibri" panose="020F0502020204030204" pitchFamily="34" charset="0"/>
                        </a:rPr>
                        <a:t>	</a:t>
                      </a:r>
                      <a:r>
                        <a:rPr sz="1400" spc="50" dirty="0">
                          <a:latin typeface="Calibri" panose="020F0502020204030204" pitchFamily="34" charset="0"/>
                          <a:cs typeface="Calibri" panose="020F0502020204030204" pitchFamily="34" charset="0"/>
                        </a:rPr>
                        <a:t>learning </a:t>
                      </a:r>
                      <a:r>
                        <a:rPr sz="1400" spc="65" dirty="0">
                          <a:latin typeface="Calibri" panose="020F0502020204030204" pitchFamily="34" charset="0"/>
                          <a:cs typeface="Calibri" panose="020F0502020204030204" pitchFamily="34" charset="0"/>
                        </a:rPr>
                        <a:t>rates,</a:t>
                      </a:r>
                      <a:r>
                        <a:rPr sz="1400" spc="200"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widely</a:t>
                      </a:r>
                      <a:r>
                        <a:rPr sz="1400" spc="220" dirty="0">
                          <a:latin typeface="Calibri" panose="020F0502020204030204" pitchFamily="34" charset="0"/>
                          <a:cs typeface="Calibri" panose="020F0502020204030204" pitchFamily="34" charset="0"/>
                        </a:rPr>
                        <a:t> </a:t>
                      </a:r>
                      <a:r>
                        <a:rPr sz="1400" spc="-20" dirty="0">
                          <a:latin typeface="Calibri" panose="020F0502020204030204" pitchFamily="34" charset="0"/>
                          <a:cs typeface="Calibri" panose="020F0502020204030204" pitchFamily="34" charset="0"/>
                        </a:rPr>
                        <a:t>used</a:t>
                      </a:r>
                      <a:endParaRPr sz="1400">
                        <a:latin typeface="Calibri" panose="020F0502020204030204" pitchFamily="34" charset="0"/>
                        <a:cs typeface="Calibri" panose="020F0502020204030204" pitchFamily="34" charset="0"/>
                      </a:endParaRPr>
                    </a:p>
                  </a:txBody>
                  <a:tcPr marL="0" marR="0" marT="438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BEBEB"/>
                    </a:solidFill>
                  </a:tcPr>
                </a:tc>
                <a:extLst>
                  <a:ext uri="{0D108BD9-81ED-4DB2-BD59-A6C34878D82A}">
                    <a16:rowId xmlns:a16="http://schemas.microsoft.com/office/drawing/2014/main" val="10003"/>
                  </a:ext>
                </a:extLst>
              </a:tr>
              <a:tr h="630556">
                <a:tc>
                  <a:txBody>
                    <a:bodyPr/>
                    <a:lstStyle/>
                    <a:p>
                      <a:pPr marL="91440">
                        <a:lnSpc>
                          <a:spcPct val="100000"/>
                        </a:lnSpc>
                        <a:spcBef>
                          <a:spcPts val="5"/>
                        </a:spcBef>
                      </a:pPr>
                      <a:endParaRPr lang="en-US" sz="1400" spc="0" dirty="0">
                        <a:solidFill>
                          <a:schemeClr val="tx1"/>
                        </a:solidFill>
                        <a:latin typeface="Calibri" panose="020F0502020204030204" pitchFamily="34" charset="0"/>
                        <a:cs typeface="Calibri" panose="020F0502020204030204" pitchFamily="34" charset="0"/>
                      </a:endParaRPr>
                    </a:p>
                    <a:p>
                      <a:pPr marL="91440">
                        <a:lnSpc>
                          <a:spcPct val="100000"/>
                        </a:lnSpc>
                        <a:spcBef>
                          <a:spcPts val="5"/>
                        </a:spcBef>
                      </a:pPr>
                      <a:r>
                        <a:rPr sz="1400" spc="80" dirty="0">
                          <a:solidFill>
                            <a:srgbClr val="006FC0"/>
                          </a:solidFill>
                          <a:latin typeface="Calibri" panose="020F0502020204030204" pitchFamily="34" charset="0"/>
                          <a:cs typeface="Calibri" panose="020F0502020204030204" pitchFamily="34" charset="0"/>
                        </a:rPr>
                        <a:t>RMSprop</a:t>
                      </a:r>
                      <a:r>
                        <a:rPr lang="en-US" sz="1400" spc="80" dirty="0">
                          <a:solidFill>
                            <a:srgbClr val="006FC0"/>
                          </a:solidFill>
                          <a:latin typeface="Calibri" panose="020F0502020204030204" pitchFamily="34" charset="0"/>
                          <a:cs typeface="Calibri" panose="020F0502020204030204" pitchFamily="34" charset="0"/>
                        </a:rPr>
                        <a:t> </a:t>
                      </a:r>
                    </a:p>
                    <a:p>
                      <a:pPr marL="91440">
                        <a:lnSpc>
                          <a:spcPct val="100000"/>
                        </a:lnSpc>
                        <a:spcBef>
                          <a:spcPts val="5"/>
                        </a:spcBef>
                      </a:pPr>
                      <a:r>
                        <a:rPr lang="en-US" sz="1050" spc="80" dirty="0">
                          <a:solidFill>
                            <a:srgbClr val="006FC0"/>
                          </a:solidFill>
                          <a:latin typeface="Calibri" panose="020F0502020204030204" pitchFamily="34" charset="0"/>
                          <a:cs typeface="Calibri" panose="020F0502020204030204" pitchFamily="34" charset="0"/>
                          <a:hlinkClick r:id="rId5" tooltip="RMSProp Optimizer in Deep Learning"/>
                        </a:rPr>
                        <a:t>https://www.geeksforgeeks.org/deep-learning/rmsprop-optimizer-in-deep-learning/</a:t>
                      </a:r>
                      <a:endParaRPr sz="1050" dirty="0">
                        <a:latin typeface="Calibri" panose="020F0502020204030204" pitchFamily="34" charset="0"/>
                        <a:cs typeface="Calibri" panose="020F0502020204030204" pitchFamily="34" charset="0"/>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BEBEB"/>
                    </a:solidFill>
                  </a:tcPr>
                </a:tc>
                <a:tc>
                  <a:txBody>
                    <a:bodyPr/>
                    <a:lstStyle/>
                    <a:p>
                      <a:pPr>
                        <a:lnSpc>
                          <a:spcPct val="100000"/>
                        </a:lnSpc>
                        <a:spcBef>
                          <a:spcPts val="155"/>
                        </a:spcBef>
                      </a:pPr>
                      <a:endParaRPr sz="1400" dirty="0">
                        <a:latin typeface="Calibri" panose="020F0502020204030204" pitchFamily="34" charset="0"/>
                        <a:cs typeface="Calibri" panose="020F0502020204030204" pitchFamily="34" charset="0"/>
                      </a:endParaRPr>
                    </a:p>
                    <a:p>
                      <a:pPr marL="111760">
                        <a:lnSpc>
                          <a:spcPct val="100000"/>
                        </a:lnSpc>
                      </a:pPr>
                      <a:r>
                        <a:rPr sz="1400" spc="45" dirty="0">
                          <a:latin typeface="Calibri" panose="020F0502020204030204" pitchFamily="34" charset="0"/>
                          <a:cs typeface="Calibri" panose="020F0502020204030204" pitchFamily="34" charset="0"/>
                        </a:rPr>
                        <a:t>Adaptive</a:t>
                      </a:r>
                      <a:endParaRPr sz="1400" dirty="0">
                        <a:latin typeface="Calibri" panose="020F0502020204030204" pitchFamily="34" charset="0"/>
                        <a:cs typeface="Calibri" panose="020F0502020204030204" pitchFamily="34" charset="0"/>
                      </a:endParaRPr>
                    </a:p>
                  </a:txBody>
                  <a:tcPr marL="0" marR="0" marT="1968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BEBEB"/>
                    </a:solidFill>
                  </a:tcPr>
                </a:tc>
                <a:tc>
                  <a:txBody>
                    <a:bodyPr/>
                    <a:lstStyle/>
                    <a:p>
                      <a:pPr marL="92710" marR="202565">
                        <a:lnSpc>
                          <a:spcPct val="100000"/>
                        </a:lnSpc>
                        <a:spcBef>
                          <a:spcPts val="1025"/>
                        </a:spcBef>
                        <a:tabLst>
                          <a:tab pos="999490" algn="l"/>
                          <a:tab pos="1981200" algn="l"/>
                          <a:tab pos="2651760" algn="l"/>
                          <a:tab pos="3104515" algn="l"/>
                          <a:tab pos="3726179" algn="l"/>
                        </a:tabLst>
                      </a:pPr>
                      <a:r>
                        <a:rPr sz="1400" spc="55" dirty="0">
                          <a:latin typeface="Calibri" panose="020F0502020204030204" pitchFamily="34" charset="0"/>
                          <a:cs typeface="Calibri" panose="020F0502020204030204" pitchFamily="34" charset="0"/>
                        </a:rPr>
                        <a:t>Adjusts</a:t>
                      </a:r>
                      <a:r>
                        <a:rPr sz="1400" dirty="0">
                          <a:latin typeface="Calibri" panose="020F0502020204030204" pitchFamily="34" charset="0"/>
                          <a:cs typeface="Calibri" panose="020F0502020204030204" pitchFamily="34" charset="0"/>
                        </a:rPr>
                        <a:t>	</a:t>
                      </a:r>
                      <a:r>
                        <a:rPr sz="1400" spc="50" dirty="0">
                          <a:latin typeface="Calibri" panose="020F0502020204030204" pitchFamily="34" charset="0"/>
                          <a:cs typeface="Calibri" panose="020F0502020204030204" pitchFamily="34" charset="0"/>
                        </a:rPr>
                        <a:t>learning</a:t>
                      </a:r>
                      <a:r>
                        <a:rPr sz="1400" dirty="0">
                          <a:latin typeface="Calibri" panose="020F0502020204030204" pitchFamily="34" charset="0"/>
                          <a:cs typeface="Calibri" panose="020F0502020204030204" pitchFamily="34" charset="0"/>
                        </a:rPr>
                        <a:t>	</a:t>
                      </a:r>
                      <a:r>
                        <a:rPr sz="1400" spc="45" dirty="0">
                          <a:latin typeface="Calibri" panose="020F0502020204030204" pitchFamily="34" charset="0"/>
                          <a:cs typeface="Calibri" panose="020F0502020204030204" pitchFamily="34" charset="0"/>
                        </a:rPr>
                        <a:t>rates</a:t>
                      </a:r>
                      <a:r>
                        <a:rPr sz="1400" dirty="0">
                          <a:latin typeface="Calibri" panose="020F0502020204030204" pitchFamily="34" charset="0"/>
                          <a:cs typeface="Calibri" panose="020F0502020204030204" pitchFamily="34" charset="0"/>
                        </a:rPr>
                        <a:t>	</a:t>
                      </a:r>
                      <a:r>
                        <a:rPr sz="1400" spc="-25" dirty="0">
                          <a:latin typeface="Calibri" panose="020F0502020204030204" pitchFamily="34" charset="0"/>
                          <a:cs typeface="Calibri" panose="020F0502020204030204" pitchFamily="34" charset="0"/>
                        </a:rPr>
                        <a:t>for</a:t>
                      </a:r>
                      <a:r>
                        <a:rPr sz="1400" dirty="0">
                          <a:latin typeface="Calibri" panose="020F0502020204030204" pitchFamily="34" charset="0"/>
                          <a:cs typeface="Calibri" panose="020F0502020204030204" pitchFamily="34" charset="0"/>
                        </a:rPr>
                        <a:t>	</a:t>
                      </a:r>
                      <a:r>
                        <a:rPr sz="1400" spc="30" dirty="0">
                          <a:latin typeface="Calibri" panose="020F0502020204030204" pitchFamily="34" charset="0"/>
                          <a:cs typeface="Calibri" panose="020F0502020204030204" pitchFamily="34" charset="0"/>
                        </a:rPr>
                        <a:t>each</a:t>
                      </a:r>
                      <a:r>
                        <a:rPr sz="1400" dirty="0">
                          <a:latin typeface="Calibri" panose="020F0502020204030204" pitchFamily="34" charset="0"/>
                          <a:cs typeface="Calibri" panose="020F0502020204030204" pitchFamily="34" charset="0"/>
                        </a:rPr>
                        <a:t>	</a:t>
                      </a:r>
                      <a:r>
                        <a:rPr sz="1400" spc="45" dirty="0">
                          <a:latin typeface="Calibri" panose="020F0502020204030204" pitchFamily="34" charset="0"/>
                          <a:cs typeface="Calibri" panose="020F0502020204030204" pitchFamily="34" charset="0"/>
                        </a:rPr>
                        <a:t>parameter, </a:t>
                      </a:r>
                      <a:r>
                        <a:rPr sz="1400" dirty="0">
                          <a:latin typeface="Calibri" panose="020F0502020204030204" pitchFamily="34" charset="0"/>
                          <a:cs typeface="Calibri" panose="020F0502020204030204" pitchFamily="34" charset="0"/>
                        </a:rPr>
                        <a:t>effective</a:t>
                      </a:r>
                      <a:r>
                        <a:rPr sz="1400" spc="265"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for</a:t>
                      </a:r>
                      <a:r>
                        <a:rPr sz="1400" spc="245"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deep</a:t>
                      </a:r>
                      <a:r>
                        <a:rPr sz="1400" spc="254" dirty="0">
                          <a:latin typeface="Calibri" panose="020F0502020204030204" pitchFamily="34" charset="0"/>
                          <a:cs typeface="Calibri" panose="020F0502020204030204" pitchFamily="34" charset="0"/>
                        </a:rPr>
                        <a:t> </a:t>
                      </a:r>
                      <a:r>
                        <a:rPr sz="1400" spc="-10" dirty="0">
                          <a:latin typeface="Calibri" panose="020F0502020204030204" pitchFamily="34" charset="0"/>
                          <a:cs typeface="Calibri" panose="020F0502020204030204" pitchFamily="34" charset="0"/>
                        </a:rPr>
                        <a:t>networks</a:t>
                      </a:r>
                      <a:endParaRPr sz="1400" dirty="0">
                        <a:latin typeface="Calibri" panose="020F0502020204030204" pitchFamily="34" charset="0"/>
                        <a:cs typeface="Calibri" panose="020F0502020204030204" pitchFamily="34" charset="0"/>
                      </a:endParaRPr>
                    </a:p>
                  </a:txBody>
                  <a:tcPr marL="0" marR="0" marT="1301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BEBEB"/>
                    </a:solidFill>
                  </a:tcPr>
                </a:tc>
                <a:extLst>
                  <a:ext uri="{0D108BD9-81ED-4DB2-BD59-A6C34878D82A}">
                    <a16:rowId xmlns:a16="http://schemas.microsoft.com/office/drawing/2014/main" val="10004"/>
                  </a:ext>
                </a:extLst>
              </a:tr>
              <a:tr h="423546">
                <a:tc>
                  <a:txBody>
                    <a:bodyPr/>
                    <a:lstStyle/>
                    <a:p>
                      <a:pPr marL="140970">
                        <a:lnSpc>
                          <a:spcPct val="100000"/>
                        </a:lnSpc>
                        <a:spcBef>
                          <a:spcPts val="1330"/>
                        </a:spcBef>
                      </a:pPr>
                      <a:r>
                        <a:rPr sz="1400" spc="65" dirty="0">
                          <a:solidFill>
                            <a:srgbClr val="006FC0"/>
                          </a:solidFill>
                          <a:latin typeface="Calibri" panose="020F0502020204030204" pitchFamily="34" charset="0"/>
                          <a:cs typeface="Calibri" panose="020F0502020204030204" pitchFamily="34" charset="0"/>
                        </a:rPr>
                        <a:t>Adagrad</a:t>
                      </a:r>
                      <a:r>
                        <a:rPr lang="en-US" sz="1400" spc="65" dirty="0">
                          <a:solidFill>
                            <a:srgbClr val="006FC0"/>
                          </a:solidFill>
                          <a:latin typeface="Calibri" panose="020F0502020204030204" pitchFamily="34" charset="0"/>
                          <a:cs typeface="Calibri" panose="020F0502020204030204" pitchFamily="34" charset="0"/>
                        </a:rPr>
                        <a:t>  </a:t>
                      </a:r>
                    </a:p>
                    <a:p>
                      <a:pPr marL="140970">
                        <a:lnSpc>
                          <a:spcPct val="100000"/>
                        </a:lnSpc>
                        <a:spcBef>
                          <a:spcPts val="1330"/>
                        </a:spcBef>
                      </a:pPr>
                      <a:r>
                        <a:rPr lang="en-US" sz="900" spc="65" dirty="0">
                          <a:solidFill>
                            <a:srgbClr val="006FC0"/>
                          </a:solidFill>
                          <a:latin typeface="Calibri" panose="020F0502020204030204" pitchFamily="34" charset="0"/>
                          <a:cs typeface="Calibri" panose="020F0502020204030204" pitchFamily="34" charset="0"/>
                          <a:hlinkClick r:id="rId6" tooltip="AdaGrad-Diff: A New Version of the Adaptive Gradient Algorithm"/>
                        </a:rPr>
                        <a:t>https://arxiv.org/abs/2602.13112</a:t>
                      </a:r>
                      <a:endParaRPr lang="en-US" sz="1400" dirty="0">
                        <a:latin typeface="Calibri" panose="020F0502020204030204" pitchFamily="34" charset="0"/>
                        <a:cs typeface="Calibri" panose="020F0502020204030204" pitchFamily="34" charset="0"/>
                      </a:endParaRPr>
                    </a:p>
                  </a:txBody>
                  <a:tcPr marL="0" marR="0" marT="1689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BEBEB"/>
                    </a:solidFill>
                  </a:tcPr>
                </a:tc>
                <a:tc>
                  <a:txBody>
                    <a:bodyPr/>
                    <a:lstStyle/>
                    <a:p>
                      <a:pPr marL="111760">
                        <a:lnSpc>
                          <a:spcPct val="100000"/>
                        </a:lnSpc>
                        <a:spcBef>
                          <a:spcPts val="1250"/>
                        </a:spcBef>
                      </a:pPr>
                      <a:r>
                        <a:rPr sz="1400" spc="45" dirty="0">
                          <a:latin typeface="Calibri" panose="020F0502020204030204" pitchFamily="34" charset="0"/>
                          <a:cs typeface="Calibri" panose="020F0502020204030204" pitchFamily="34" charset="0"/>
                        </a:rPr>
                        <a:t>Adaptive</a:t>
                      </a:r>
                      <a:endParaRPr sz="1400">
                        <a:latin typeface="Calibri" panose="020F0502020204030204" pitchFamily="34" charset="0"/>
                        <a:cs typeface="Calibri" panose="020F0502020204030204" pitchFamily="34" charset="0"/>
                      </a:endParaRPr>
                    </a:p>
                  </a:txBody>
                  <a:tcPr marL="0" marR="0" marT="158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BEBEB"/>
                    </a:solidFill>
                  </a:tcPr>
                </a:tc>
                <a:tc>
                  <a:txBody>
                    <a:bodyPr/>
                    <a:lstStyle/>
                    <a:p>
                      <a:pPr marL="92710" marR="201930">
                        <a:lnSpc>
                          <a:spcPct val="100000"/>
                        </a:lnSpc>
                        <a:spcBef>
                          <a:spcPts val="475"/>
                        </a:spcBef>
                      </a:pPr>
                      <a:r>
                        <a:rPr sz="1400" spc="65" dirty="0">
                          <a:latin typeface="Calibri" panose="020F0502020204030204" pitchFamily="34" charset="0"/>
                          <a:cs typeface="Calibri" panose="020F0502020204030204" pitchFamily="34" charset="0"/>
                        </a:rPr>
                        <a:t>Adapts</a:t>
                      </a:r>
                      <a:r>
                        <a:rPr sz="1400" spc="135" dirty="0">
                          <a:latin typeface="Calibri" panose="020F0502020204030204" pitchFamily="34" charset="0"/>
                          <a:cs typeface="Calibri" panose="020F0502020204030204" pitchFamily="34" charset="0"/>
                        </a:rPr>
                        <a:t>  </a:t>
                      </a:r>
                      <a:r>
                        <a:rPr sz="1400" spc="65" dirty="0">
                          <a:latin typeface="Calibri" panose="020F0502020204030204" pitchFamily="34" charset="0"/>
                          <a:cs typeface="Calibri" panose="020F0502020204030204" pitchFamily="34" charset="0"/>
                        </a:rPr>
                        <a:t>learning</a:t>
                      </a:r>
                      <a:r>
                        <a:rPr sz="1400" spc="140" dirty="0">
                          <a:latin typeface="Calibri" panose="020F0502020204030204" pitchFamily="34" charset="0"/>
                          <a:cs typeface="Calibri" panose="020F0502020204030204" pitchFamily="34" charset="0"/>
                        </a:rPr>
                        <a:t>  </a:t>
                      </a:r>
                      <a:r>
                        <a:rPr sz="1400" spc="60" dirty="0">
                          <a:latin typeface="Calibri" panose="020F0502020204030204" pitchFamily="34" charset="0"/>
                          <a:cs typeface="Calibri" panose="020F0502020204030204" pitchFamily="34" charset="0"/>
                        </a:rPr>
                        <a:t>rate</a:t>
                      </a:r>
                      <a:r>
                        <a:rPr sz="1400" spc="145"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based</a:t>
                      </a:r>
                      <a:r>
                        <a:rPr sz="1400" spc="140"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on</a:t>
                      </a:r>
                      <a:r>
                        <a:rPr sz="1400" spc="140" dirty="0">
                          <a:latin typeface="Calibri" panose="020F0502020204030204" pitchFamily="34" charset="0"/>
                          <a:cs typeface="Calibri" panose="020F0502020204030204" pitchFamily="34" charset="0"/>
                        </a:rPr>
                        <a:t>  </a:t>
                      </a:r>
                      <a:r>
                        <a:rPr sz="1400" spc="60" dirty="0">
                          <a:latin typeface="Calibri" panose="020F0502020204030204" pitchFamily="34" charset="0"/>
                          <a:cs typeface="Calibri" panose="020F0502020204030204" pitchFamily="34" charset="0"/>
                        </a:rPr>
                        <a:t>past</a:t>
                      </a:r>
                      <a:r>
                        <a:rPr sz="1400" spc="145" dirty="0">
                          <a:latin typeface="Calibri" panose="020F0502020204030204" pitchFamily="34" charset="0"/>
                          <a:cs typeface="Calibri" panose="020F0502020204030204" pitchFamily="34" charset="0"/>
                        </a:rPr>
                        <a:t>  </a:t>
                      </a:r>
                      <a:r>
                        <a:rPr sz="1400" spc="50" dirty="0">
                          <a:latin typeface="Calibri" panose="020F0502020204030204" pitchFamily="34" charset="0"/>
                          <a:cs typeface="Calibri" panose="020F0502020204030204" pitchFamily="34" charset="0"/>
                        </a:rPr>
                        <a:t>gradients, suitable</a:t>
                      </a:r>
                      <a:r>
                        <a:rPr sz="1400" spc="195"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for</a:t>
                      </a:r>
                      <a:r>
                        <a:rPr sz="1400" spc="225"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sparse</a:t>
                      </a:r>
                      <a:r>
                        <a:rPr sz="1400" spc="204" dirty="0">
                          <a:latin typeface="Calibri" panose="020F0502020204030204" pitchFamily="34" charset="0"/>
                          <a:cs typeface="Calibri" panose="020F0502020204030204" pitchFamily="34" charset="0"/>
                        </a:rPr>
                        <a:t> </a:t>
                      </a:r>
                      <a:r>
                        <a:rPr sz="1400" spc="50" dirty="0">
                          <a:latin typeface="Calibri" panose="020F0502020204030204" pitchFamily="34" charset="0"/>
                          <a:cs typeface="Calibri" panose="020F0502020204030204" pitchFamily="34" charset="0"/>
                        </a:rPr>
                        <a:t>data</a:t>
                      </a:r>
                      <a:endParaRPr sz="1400" dirty="0">
                        <a:latin typeface="Calibri" panose="020F0502020204030204" pitchFamily="34" charset="0"/>
                        <a:cs typeface="Calibri" panose="020F0502020204030204" pitchFamily="34" charset="0"/>
                      </a:endParaRPr>
                    </a:p>
                  </a:txBody>
                  <a:tcPr marL="0" marR="0" marT="603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BEBEB"/>
                    </a:solidFill>
                  </a:tcPr>
                </a:tc>
                <a:extLst>
                  <a:ext uri="{0D108BD9-81ED-4DB2-BD59-A6C34878D82A}">
                    <a16:rowId xmlns:a16="http://schemas.microsoft.com/office/drawing/2014/main" val="10005"/>
                  </a:ext>
                </a:extLst>
              </a:tr>
            </a:tbl>
          </a:graphicData>
        </a:graphic>
      </p:graphicFrame>
      <p:sp>
        <p:nvSpPr>
          <p:cNvPr id="1049104" name="Rectangle 8"/>
          <p:cNvSpPr/>
          <p:nvPr/>
        </p:nvSpPr>
        <p:spPr>
          <a:xfrm>
            <a:off x="0" y="0"/>
            <a:ext cx="12192000" cy="873760"/>
          </a:xfrm>
          <a:prstGeom prst="rect">
            <a:avLst/>
          </a:prstGeom>
          <a:solidFill>
            <a:srgbClr val="0E2841"/>
          </a:solidFill>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r>
              <a:rPr lang="en-US" sz="3200" b="1" dirty="0">
                <a:latin typeface="Calibri" panose="020F0502020204030204" pitchFamily="34" charset="0"/>
                <a:cs typeface="Calibri" panose="020F0502020204030204" pitchFamily="34" charset="0"/>
              </a:rPr>
              <a:t>3 (iv). Optimization Algorithms</a:t>
            </a:r>
            <a:endParaRPr lang="en-PK" sz="3200" b="1" dirty="0">
              <a:latin typeface="Calibri" panose="020F0502020204030204" pitchFamily="34" charset="0"/>
              <a:cs typeface="Calibri" panose="020F0502020204030204" pitchFamily="34" charset="0"/>
            </a:endParaRPr>
          </a:p>
        </p:txBody>
      </p:sp>
      <p:sp>
        <p:nvSpPr>
          <p:cNvPr id="1049105" name="Rectangle 4"/>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r>
              <a:rPr lang="en-US" sz="2400" dirty="0">
                <a:latin typeface="Calibri" panose="020F0502020204030204" pitchFamily="34" charset="0"/>
                <a:cs typeface="Calibri" panose="020F0502020204030204" pitchFamily="34" charset="0"/>
              </a:rPr>
              <a:t>29</a:t>
            </a:r>
            <a:endParaRPr lang="en-PK" sz="2400" dirty="0">
              <a:latin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C719579B-8FE6-27A8-D09A-44B05A8E16A0}"/>
              </a:ext>
            </a:extLst>
          </p:cNvPr>
          <p:cNvSpPr txBox="1"/>
          <p:nvPr/>
        </p:nvSpPr>
        <p:spPr>
          <a:xfrm>
            <a:off x="4800600" y="2272943"/>
            <a:ext cx="6216650" cy="461665"/>
          </a:xfrm>
          <a:prstGeom prst="rect">
            <a:avLst/>
          </a:prstGeom>
          <a:noFill/>
        </p:spPr>
        <p:txBody>
          <a:bodyPr wrap="square">
            <a:spAutoFit/>
          </a:bodyPr>
          <a:lstStyle/>
          <a:p>
            <a:pPr marL="55880">
              <a:lnSpc>
                <a:spcPct val="100000"/>
              </a:lnSpc>
            </a:pPr>
            <a:r>
              <a:rPr lang="en-US" sz="2400" b="1" spc="165" dirty="0">
                <a:latin typeface="Calibri" panose="020F0502020204030204" pitchFamily="34" charset="0"/>
                <a:cs typeface="Calibri" panose="020F0502020204030204" pitchFamily="34" charset="0"/>
              </a:rPr>
              <a:t>Popular</a:t>
            </a:r>
            <a:r>
              <a:rPr lang="en-US" sz="2400" b="1" spc="195" dirty="0">
                <a:latin typeface="Calibri" panose="020F0502020204030204" pitchFamily="34" charset="0"/>
                <a:cs typeface="Calibri" panose="020F0502020204030204" pitchFamily="34" charset="0"/>
              </a:rPr>
              <a:t> </a:t>
            </a:r>
            <a:r>
              <a:rPr lang="en-US" sz="2400" b="1" spc="155" dirty="0">
                <a:latin typeface="Calibri" panose="020F0502020204030204" pitchFamily="34" charset="0"/>
                <a:cs typeface="Calibri" panose="020F0502020204030204" pitchFamily="34" charset="0"/>
              </a:rPr>
              <a:t>Optimization</a:t>
            </a:r>
            <a:r>
              <a:rPr lang="en-US" sz="2400" b="1" spc="185" dirty="0">
                <a:latin typeface="Calibri" panose="020F0502020204030204" pitchFamily="34" charset="0"/>
                <a:cs typeface="Calibri" panose="020F0502020204030204" pitchFamily="34" charset="0"/>
              </a:rPr>
              <a:t> </a:t>
            </a:r>
            <a:r>
              <a:rPr lang="en-US" sz="2400" b="1" spc="145" dirty="0">
                <a:latin typeface="Calibri" panose="020F0502020204030204" pitchFamily="34" charset="0"/>
                <a:cs typeface="Calibri" panose="020F0502020204030204" pitchFamily="34" charset="0"/>
              </a:rPr>
              <a:t>Algorithms</a:t>
            </a:r>
            <a:endParaRPr lang="en-US" sz="2400" dirty="0">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CC646431-72A4-DA61-BAEF-1F777C2EC291}"/>
              </a:ext>
            </a:extLst>
          </p:cNvPr>
          <p:cNvSpPr txBox="1"/>
          <p:nvPr/>
        </p:nvSpPr>
        <p:spPr>
          <a:xfrm>
            <a:off x="8686800" y="992889"/>
            <a:ext cx="3502125" cy="1077218"/>
          </a:xfrm>
          <a:prstGeom prst="rect">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wrap="square">
            <a:spAutoFit/>
          </a:bodyPr>
          <a:lstStyle/>
          <a:p>
            <a:pPr lvl="0" algn="just"/>
            <a:r>
              <a:rPr lang="en-US" sz="1600" b="1" dirty="0">
                <a:solidFill>
                  <a:schemeClr val="tx1"/>
                </a:solidFill>
                <a:latin typeface="Calibri" panose="020F0502020204030204" pitchFamily="34" charset="0"/>
                <a:cs typeface="Calibri" panose="020F0502020204030204" pitchFamily="34" charset="0"/>
              </a:rPr>
              <a:t>First-order derivative</a:t>
            </a:r>
            <a:r>
              <a:rPr lang="en-US" sz="1600" dirty="0">
                <a:solidFill>
                  <a:schemeClr val="tx1"/>
                </a:solidFill>
                <a:latin typeface="Calibri" panose="020F0502020204030204" pitchFamily="34" charset="0"/>
                <a:cs typeface="Calibri" panose="020F0502020204030204" pitchFamily="34" charset="0"/>
              </a:rPr>
              <a:t> tells us the direction in which to change.</a:t>
            </a:r>
          </a:p>
          <a:p>
            <a:pPr lvl="0" algn="just"/>
            <a:r>
              <a:rPr lang="en-US" sz="1600" b="1" dirty="0">
                <a:solidFill>
                  <a:schemeClr val="tx1"/>
                </a:solidFill>
                <a:latin typeface="Calibri" panose="020F0502020204030204" pitchFamily="34" charset="0"/>
                <a:cs typeface="Calibri" panose="020F0502020204030204" pitchFamily="34" charset="0"/>
              </a:rPr>
              <a:t>Adaptive</a:t>
            </a:r>
            <a:r>
              <a:rPr lang="en-US" sz="1600" dirty="0">
                <a:solidFill>
                  <a:schemeClr val="tx1"/>
                </a:solidFill>
                <a:latin typeface="Calibri" panose="020F0502020204030204" pitchFamily="34" charset="0"/>
                <a:cs typeface="Calibri" panose="020F0502020204030204" pitchFamily="34" charset="0"/>
              </a:rPr>
              <a:t> automatically adjusts how much to change.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23" name="object 23"/>
          <p:cNvSpPr txBox="1"/>
          <p:nvPr/>
        </p:nvSpPr>
        <p:spPr>
          <a:xfrm>
            <a:off x="609600" y="1342227"/>
            <a:ext cx="4314659" cy="1318951"/>
          </a:xfrm>
          <a:prstGeom prst="rect">
            <a:avLst/>
          </a:prstGeom>
        </p:spPr>
        <p:txBody>
          <a:bodyPr vert="horz" wrap="square" lIns="0" tIns="13335" rIns="0" bIns="0" rtlCol="0">
            <a:spAutoFit/>
          </a:bodyPr>
          <a:lstStyle/>
          <a:p>
            <a:pPr marL="12700">
              <a:spcBef>
                <a:spcPts val="105"/>
              </a:spcBef>
            </a:pPr>
            <a:r>
              <a:rPr lang="en-US" sz="2400" b="1" dirty="0">
                <a:latin typeface="Calibri" panose="020F0502020204030204" pitchFamily="34" charset="0"/>
                <a:cs typeface="Calibri" panose="020F0502020204030204" pitchFamily="34" charset="0"/>
              </a:rPr>
              <a:t>Loss Optimization</a:t>
            </a:r>
            <a:endParaRPr lang="en-US" sz="2400" b="1" spc="70" dirty="0">
              <a:latin typeface="Calibri" panose="020F0502020204030204" pitchFamily="34" charset="0"/>
              <a:cs typeface="Calibri" panose="020F0502020204030204" pitchFamily="34" charset="0"/>
            </a:endParaRPr>
          </a:p>
          <a:p>
            <a:pPr marL="355600" indent="-342900">
              <a:spcBef>
                <a:spcPts val="105"/>
              </a:spcBef>
              <a:buFont typeface="Arial" panose="020B0604020202020204" pitchFamily="34" charset="0"/>
              <a:buChar char="•"/>
            </a:pPr>
            <a:r>
              <a:rPr sz="2000" spc="70" dirty="0">
                <a:latin typeface="Calibri" panose="020F0502020204030204" pitchFamily="34" charset="0"/>
                <a:cs typeface="Calibri" panose="020F0502020204030204" pitchFamily="34" charset="0"/>
              </a:rPr>
              <a:t>We</a:t>
            </a:r>
            <a:r>
              <a:rPr sz="2000" spc="110" dirty="0">
                <a:latin typeface="Calibri" panose="020F0502020204030204" pitchFamily="34" charset="0"/>
                <a:cs typeface="Calibri" panose="020F0502020204030204" pitchFamily="34" charset="0"/>
              </a:rPr>
              <a:t> </a:t>
            </a:r>
            <a:r>
              <a:rPr sz="2000" spc="80" dirty="0">
                <a:latin typeface="Calibri" panose="020F0502020204030204" pitchFamily="34" charset="0"/>
                <a:cs typeface="Calibri" panose="020F0502020204030204" pitchFamily="34" charset="0"/>
              </a:rPr>
              <a:t>want</a:t>
            </a:r>
            <a:r>
              <a:rPr sz="2000" spc="105" dirty="0">
                <a:latin typeface="Calibri" panose="020F0502020204030204" pitchFamily="34" charset="0"/>
                <a:cs typeface="Calibri" panose="020F0502020204030204" pitchFamily="34" charset="0"/>
              </a:rPr>
              <a:t> </a:t>
            </a:r>
            <a:r>
              <a:rPr sz="2000" dirty="0">
                <a:latin typeface="Calibri" panose="020F0502020204030204" pitchFamily="34" charset="0"/>
                <a:cs typeface="Calibri" panose="020F0502020204030204" pitchFamily="34" charset="0"/>
              </a:rPr>
              <a:t>to</a:t>
            </a:r>
            <a:r>
              <a:rPr sz="2000" spc="114" dirty="0">
                <a:latin typeface="Calibri" panose="020F0502020204030204" pitchFamily="34" charset="0"/>
                <a:cs typeface="Calibri" panose="020F0502020204030204" pitchFamily="34" charset="0"/>
              </a:rPr>
              <a:t> </a:t>
            </a:r>
            <a:r>
              <a:rPr sz="2000" spc="65" dirty="0">
                <a:latin typeface="Calibri" panose="020F0502020204030204" pitchFamily="34" charset="0"/>
                <a:cs typeface="Calibri" panose="020F0502020204030204" pitchFamily="34" charset="0"/>
              </a:rPr>
              <a:t>find</a:t>
            </a:r>
            <a:r>
              <a:rPr sz="2000" spc="100" dirty="0">
                <a:latin typeface="Calibri" panose="020F0502020204030204" pitchFamily="34" charset="0"/>
                <a:cs typeface="Calibri" panose="020F0502020204030204" pitchFamily="34" charset="0"/>
              </a:rPr>
              <a:t> </a:t>
            </a:r>
            <a:r>
              <a:rPr sz="2000" spc="80" dirty="0">
                <a:latin typeface="Calibri" panose="020F0502020204030204" pitchFamily="34" charset="0"/>
                <a:cs typeface="Calibri" panose="020F0502020204030204" pitchFamily="34" charset="0"/>
              </a:rPr>
              <a:t>the</a:t>
            </a:r>
            <a:r>
              <a:rPr sz="2000" spc="114" dirty="0">
                <a:latin typeface="Calibri" panose="020F0502020204030204" pitchFamily="34" charset="0"/>
                <a:cs typeface="Calibri" panose="020F0502020204030204" pitchFamily="34" charset="0"/>
              </a:rPr>
              <a:t> </a:t>
            </a:r>
            <a:r>
              <a:rPr sz="2000" spc="45" dirty="0">
                <a:latin typeface="Calibri" panose="020F0502020204030204" pitchFamily="34" charset="0"/>
                <a:cs typeface="Calibri" panose="020F0502020204030204" pitchFamily="34" charset="0"/>
              </a:rPr>
              <a:t>network</a:t>
            </a:r>
            <a:r>
              <a:rPr sz="2000" spc="85" dirty="0">
                <a:latin typeface="Calibri" panose="020F0502020204030204" pitchFamily="34" charset="0"/>
                <a:cs typeface="Calibri" panose="020F0502020204030204" pitchFamily="34" charset="0"/>
              </a:rPr>
              <a:t> </a:t>
            </a:r>
            <a:r>
              <a:rPr sz="2000" spc="65" dirty="0">
                <a:latin typeface="Calibri" panose="020F0502020204030204" pitchFamily="34" charset="0"/>
                <a:cs typeface="Calibri" panose="020F0502020204030204" pitchFamily="34" charset="0"/>
              </a:rPr>
              <a:t>weights</a:t>
            </a:r>
            <a:r>
              <a:rPr sz="2000" spc="85" dirty="0">
                <a:latin typeface="Calibri" panose="020F0502020204030204" pitchFamily="34" charset="0"/>
                <a:cs typeface="Calibri" panose="020F0502020204030204" pitchFamily="34" charset="0"/>
              </a:rPr>
              <a:t> </a:t>
            </a:r>
            <a:r>
              <a:rPr sz="2000" spc="105" dirty="0">
                <a:latin typeface="Calibri" panose="020F0502020204030204" pitchFamily="34" charset="0"/>
                <a:cs typeface="Calibri" panose="020F0502020204030204" pitchFamily="34" charset="0"/>
              </a:rPr>
              <a:t>that</a:t>
            </a:r>
            <a:r>
              <a:rPr sz="2000" spc="135" dirty="0">
                <a:latin typeface="Calibri" panose="020F0502020204030204" pitchFamily="34" charset="0"/>
                <a:cs typeface="Calibri" panose="020F0502020204030204" pitchFamily="34" charset="0"/>
              </a:rPr>
              <a:t> </a:t>
            </a:r>
            <a:r>
              <a:rPr sz="2000" spc="125" dirty="0">
                <a:latin typeface="Calibri" panose="020F0502020204030204" pitchFamily="34" charset="0"/>
                <a:cs typeface="Calibri" panose="020F0502020204030204" pitchFamily="34" charset="0"/>
              </a:rPr>
              <a:t>achieve</a:t>
            </a:r>
            <a:r>
              <a:rPr sz="2000" spc="135" dirty="0">
                <a:latin typeface="Calibri" panose="020F0502020204030204" pitchFamily="34" charset="0"/>
                <a:cs typeface="Calibri" panose="020F0502020204030204" pitchFamily="34" charset="0"/>
              </a:rPr>
              <a:t> </a:t>
            </a:r>
            <a:r>
              <a:rPr sz="2000" spc="125" dirty="0">
                <a:latin typeface="Calibri" panose="020F0502020204030204" pitchFamily="34" charset="0"/>
                <a:cs typeface="Calibri" panose="020F0502020204030204" pitchFamily="34" charset="0"/>
              </a:rPr>
              <a:t>the</a:t>
            </a:r>
            <a:r>
              <a:rPr sz="2000" spc="145" dirty="0">
                <a:latin typeface="Calibri" panose="020F0502020204030204" pitchFamily="34" charset="0"/>
                <a:cs typeface="Calibri" panose="020F0502020204030204" pitchFamily="34" charset="0"/>
              </a:rPr>
              <a:t> </a:t>
            </a:r>
            <a:r>
              <a:rPr sz="2000" spc="105" dirty="0">
                <a:latin typeface="Calibri" panose="020F0502020204030204" pitchFamily="34" charset="0"/>
                <a:cs typeface="Calibri" panose="020F0502020204030204" pitchFamily="34" charset="0"/>
              </a:rPr>
              <a:t>lowest</a:t>
            </a:r>
            <a:r>
              <a:rPr sz="2000" spc="125" dirty="0">
                <a:latin typeface="Calibri" panose="020F0502020204030204" pitchFamily="34" charset="0"/>
                <a:cs typeface="Calibri" panose="020F0502020204030204" pitchFamily="34" charset="0"/>
              </a:rPr>
              <a:t> </a:t>
            </a:r>
            <a:r>
              <a:rPr sz="2000" spc="65" dirty="0">
                <a:latin typeface="Calibri" panose="020F0502020204030204" pitchFamily="34" charset="0"/>
                <a:cs typeface="Calibri" panose="020F0502020204030204" pitchFamily="34" charset="0"/>
              </a:rPr>
              <a:t>loss</a:t>
            </a:r>
            <a:endParaRPr sz="2000" dirty="0">
              <a:latin typeface="Calibri" panose="020F0502020204030204" pitchFamily="34" charset="0"/>
              <a:cs typeface="Calibri" panose="020F0502020204030204" pitchFamily="34" charset="0"/>
            </a:endParaRPr>
          </a:p>
        </p:txBody>
      </p:sp>
      <p:sp>
        <p:nvSpPr>
          <p:cNvPr id="1049124" name="Rectangle 4"/>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r>
              <a:rPr lang="en-US" sz="2400" dirty="0">
                <a:latin typeface="Calibri" panose="020F0502020204030204" pitchFamily="34" charset="0"/>
                <a:cs typeface="Calibri" panose="020F0502020204030204" pitchFamily="34" charset="0"/>
              </a:rPr>
              <a:t>30</a:t>
            </a:r>
            <a:endParaRPr lang="en-PK" sz="2400" dirty="0">
              <a:latin typeface="Calibri" panose="020F0502020204030204" pitchFamily="34" charset="0"/>
              <a:cs typeface="Calibri" panose="020F0502020204030204" pitchFamily="34" charset="0"/>
            </a:endParaRPr>
          </a:p>
        </p:txBody>
      </p:sp>
      <p:sp>
        <p:nvSpPr>
          <p:cNvPr id="1049126" name="Rectangle 29"/>
          <p:cNvSpPr/>
          <p:nvPr/>
        </p:nvSpPr>
        <p:spPr>
          <a:xfrm>
            <a:off x="0" y="0"/>
            <a:ext cx="12192000" cy="873760"/>
          </a:xfrm>
          <a:prstGeom prst="rect">
            <a:avLst/>
          </a:prstGeom>
          <a:solidFill>
            <a:srgbClr val="0E2841"/>
          </a:solidFill>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r>
              <a:rPr lang="en-US" sz="3200" b="1" dirty="0">
                <a:latin typeface="Calibri" panose="020F0502020204030204" pitchFamily="34" charset="0"/>
                <a:cs typeface="Calibri" panose="020F0502020204030204" pitchFamily="34" charset="0"/>
              </a:rPr>
              <a:t>3 (iv). Optimization Algorithms </a:t>
            </a:r>
            <a:r>
              <a:rPr lang="en-US" sz="2400" b="1" dirty="0">
                <a:latin typeface="Calibri" panose="020F0502020204030204" pitchFamily="34" charset="0"/>
                <a:cs typeface="Calibri" panose="020F0502020204030204" pitchFamily="34" charset="0"/>
              </a:rPr>
              <a:t>(Con…)</a:t>
            </a:r>
            <a:endParaRPr lang="en-PK" sz="3200" b="1" dirty="0">
              <a:latin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5CE0E1A8-5DB9-4638-02D1-4F5ED0B309EB}"/>
              </a:ext>
            </a:extLst>
          </p:cNvPr>
          <p:cNvPicPr>
            <a:picLocks noChangeAspect="1"/>
          </p:cNvPicPr>
          <p:nvPr/>
        </p:nvPicPr>
        <p:blipFill>
          <a:blip r:embed="rId2"/>
          <a:stretch>
            <a:fillRect/>
          </a:stretch>
        </p:blipFill>
        <p:spPr>
          <a:xfrm>
            <a:off x="584200" y="2735096"/>
            <a:ext cx="6743733" cy="3771986"/>
          </a:xfrm>
          <a:prstGeom prst="rect">
            <a:avLst/>
          </a:prstGeom>
        </p:spPr>
      </p:pic>
      <p:sp>
        <p:nvSpPr>
          <p:cNvPr id="7" name="TextBox 6">
            <a:extLst>
              <a:ext uri="{FF2B5EF4-FFF2-40B4-BE49-F238E27FC236}">
                <a16:creationId xmlns:a16="http://schemas.microsoft.com/office/drawing/2014/main" id="{C88B9C7B-4E9D-8F91-9689-E6E55BBC61F5}"/>
              </a:ext>
            </a:extLst>
          </p:cNvPr>
          <p:cNvSpPr txBox="1"/>
          <p:nvPr/>
        </p:nvSpPr>
        <p:spPr>
          <a:xfrm>
            <a:off x="7772400" y="1338254"/>
            <a:ext cx="4314659" cy="4339650"/>
          </a:xfrm>
          <a:prstGeom prst="rect">
            <a:avLst/>
          </a:prstGeom>
          <a:noFill/>
        </p:spPr>
        <p:txBody>
          <a:bodyPr wrap="square">
            <a:spAutoFit/>
          </a:bodyPr>
          <a:lstStyle/>
          <a:p>
            <a:r>
              <a:rPr lang="en-US" b="1" dirty="0">
                <a:latin typeface="Calibri" panose="020F0502020204030204" pitchFamily="34" charset="0"/>
                <a:cs typeface="Calibri" panose="020F0502020204030204" pitchFamily="34" charset="0"/>
              </a:rPr>
              <a:t>3D Loss Surface</a:t>
            </a:r>
          </a:p>
          <a:p>
            <a:pPr marL="285750" lvl="0" indent="-285750">
              <a:buFont typeface="Arial" panose="020B0604020202020204" pitchFamily="34" charset="0"/>
              <a:buChar char="•"/>
            </a:pPr>
            <a:r>
              <a:rPr lang="en-US" b="1" dirty="0">
                <a:latin typeface="Calibri" panose="020F0502020204030204" pitchFamily="34" charset="0"/>
                <a:cs typeface="Calibri" panose="020F0502020204030204" pitchFamily="34" charset="0"/>
              </a:rPr>
              <a:t>Weight 1 &amp; Weight 2:</a:t>
            </a:r>
            <a:r>
              <a:rPr lang="en-US" dirty="0">
                <a:latin typeface="Calibri" panose="020F0502020204030204" pitchFamily="34" charset="0"/>
                <a:cs typeface="Calibri" panose="020F0502020204030204" pitchFamily="34" charset="0"/>
              </a:rPr>
              <a:t> Represent two model weights. </a:t>
            </a:r>
          </a:p>
          <a:p>
            <a:pPr marL="285750" lvl="0" indent="-285750">
              <a:buFont typeface="Arial" panose="020B0604020202020204" pitchFamily="34" charset="0"/>
              <a:buChar char="•"/>
            </a:pPr>
            <a:r>
              <a:rPr lang="en-US" b="1" dirty="0">
                <a:latin typeface="Calibri" panose="020F0502020204030204" pitchFamily="34" charset="0"/>
                <a:cs typeface="Calibri" panose="020F0502020204030204" pitchFamily="34" charset="0"/>
              </a:rPr>
              <a:t>Loss: </a:t>
            </a:r>
            <a:r>
              <a:rPr lang="en-US" dirty="0">
                <a:latin typeface="Calibri" panose="020F0502020204030204" pitchFamily="34" charset="0"/>
                <a:cs typeface="Calibri" panose="020F0502020204030204" pitchFamily="34" charset="0"/>
              </a:rPr>
              <a:t>Shows the model's error</a:t>
            </a:r>
          </a:p>
          <a:p>
            <a:pPr marL="742950" lvl="1" indent="-285750">
              <a:buFont typeface="Arial" panose="020B0604020202020204" pitchFamily="34" charset="0"/>
              <a:buChar char="•"/>
            </a:pPr>
            <a:r>
              <a:rPr lang="en-US" sz="1600" b="1" i="1" dirty="0">
                <a:latin typeface="Calibri" panose="020F0502020204030204" pitchFamily="34" charset="0"/>
                <a:cs typeface="Calibri" panose="020F0502020204030204" pitchFamily="34" charset="0"/>
              </a:rPr>
              <a:t>High Loss:</a:t>
            </a:r>
            <a:r>
              <a:rPr lang="en-US" sz="1600" dirty="0">
                <a:latin typeface="Calibri" panose="020F0502020204030204" pitchFamily="34" charset="0"/>
                <a:cs typeface="Calibri" panose="020F0502020204030204" pitchFamily="34" charset="0"/>
              </a:rPr>
              <a:t>  Predictions are far from the actual values, so more learning is needed. </a:t>
            </a:r>
          </a:p>
          <a:p>
            <a:pPr marL="742950" lvl="1" indent="-285750">
              <a:buFont typeface="Arial" panose="020B0604020202020204" pitchFamily="34" charset="0"/>
              <a:buChar char="•"/>
            </a:pPr>
            <a:r>
              <a:rPr lang="en-US" sz="1600" b="1" i="1" dirty="0">
                <a:latin typeface="Calibri" panose="020F0502020204030204" pitchFamily="34" charset="0"/>
                <a:cs typeface="Calibri" panose="020F0502020204030204" pitchFamily="34" charset="0"/>
              </a:rPr>
              <a:t>Minimal Loss:</a:t>
            </a:r>
            <a:r>
              <a:rPr lang="en-US" sz="1600" dirty="0">
                <a:latin typeface="Calibri" panose="020F0502020204030204" pitchFamily="34" charset="0"/>
                <a:cs typeface="Calibri" panose="020F0502020204030204" pitchFamily="34" charset="0"/>
              </a:rPr>
              <a:t>  Predictions are close to the actual values, so little adjustment is needed.</a:t>
            </a:r>
          </a:p>
          <a:p>
            <a:pPr marL="285750" lvl="0" indent="-285750">
              <a:buFont typeface="Arial" panose="020B0604020202020204" pitchFamily="34" charset="0"/>
              <a:buChar char="•"/>
            </a:pPr>
            <a:r>
              <a:rPr lang="en-US" b="1" dirty="0">
                <a:latin typeface="Calibri" panose="020F0502020204030204" pitchFamily="34" charset="0"/>
                <a:cs typeface="Calibri" panose="020F0502020204030204" pitchFamily="34" charset="0"/>
              </a:rPr>
              <a:t>Peaks:</a:t>
            </a:r>
            <a:r>
              <a:rPr lang="en-US" dirty="0">
                <a:latin typeface="Calibri" panose="020F0502020204030204" pitchFamily="34" charset="0"/>
                <a:cs typeface="Calibri" panose="020F0502020204030204" pitchFamily="34" charset="0"/>
              </a:rPr>
              <a:t> Represent areas of high loss. </a:t>
            </a:r>
          </a:p>
          <a:p>
            <a:pPr marL="285750" lvl="0" indent="-285750">
              <a:buFont typeface="Arial" panose="020B0604020202020204" pitchFamily="34" charset="0"/>
              <a:buChar char="•"/>
            </a:pPr>
            <a:r>
              <a:rPr lang="en-US" b="1" dirty="0">
                <a:latin typeface="Calibri" panose="020F0502020204030204" pitchFamily="34" charset="0"/>
                <a:cs typeface="Calibri" panose="020F0502020204030204" pitchFamily="34" charset="0"/>
              </a:rPr>
              <a:t>Valleys:</a:t>
            </a:r>
            <a:r>
              <a:rPr lang="en-US" dirty="0">
                <a:latin typeface="Calibri" panose="020F0502020204030204" pitchFamily="34" charset="0"/>
                <a:cs typeface="Calibri" panose="020F0502020204030204" pitchFamily="34" charset="0"/>
              </a:rPr>
              <a:t> Represent areas of low loss. </a:t>
            </a:r>
          </a:p>
          <a:p>
            <a:pPr marL="285750" lvl="0" indent="-285750">
              <a:buFont typeface="Arial" panose="020B0604020202020204" pitchFamily="34" charset="0"/>
              <a:buChar char="•"/>
            </a:pPr>
            <a:r>
              <a:rPr lang="en-US" b="1" dirty="0">
                <a:latin typeface="Calibri" panose="020F0502020204030204" pitchFamily="34" charset="0"/>
                <a:cs typeface="Calibri" panose="020F0502020204030204" pitchFamily="34" charset="0"/>
              </a:rPr>
              <a:t>Crosses (×):</a:t>
            </a:r>
            <a:r>
              <a:rPr lang="en-US" dirty="0">
                <a:latin typeface="Calibri" panose="020F0502020204030204" pitchFamily="34" charset="0"/>
                <a:cs typeface="Calibri" panose="020F0502020204030204" pitchFamily="34" charset="0"/>
              </a:rPr>
              <a:t> Show the steps taken during training toward lower loss. </a:t>
            </a:r>
          </a:p>
          <a:p>
            <a:pPr marL="285750" lvl="0" indent="-285750">
              <a:buFont typeface="Arial" panose="020B0604020202020204" pitchFamily="34" charset="0"/>
              <a:buChar char="•"/>
            </a:pPr>
            <a:r>
              <a:rPr lang="en-US" b="1" dirty="0">
                <a:latin typeface="Calibri" panose="020F0502020204030204" pitchFamily="34" charset="0"/>
                <a:cs typeface="Calibri" panose="020F0502020204030204" pitchFamily="34" charset="0"/>
              </a:rPr>
              <a:t>Minimum:</a:t>
            </a:r>
            <a:r>
              <a:rPr lang="en-US" dirty="0">
                <a:latin typeface="Calibri" panose="020F0502020204030204" pitchFamily="34" charset="0"/>
                <a:cs typeface="Calibri" panose="020F0502020204030204" pitchFamily="34" charset="0"/>
              </a:rPr>
              <a:t> The point with the lowest loss.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30" name="object 3"/>
          <p:cNvSpPr txBox="1"/>
          <p:nvPr/>
        </p:nvSpPr>
        <p:spPr>
          <a:xfrm>
            <a:off x="304800" y="1011252"/>
            <a:ext cx="3200401" cy="5432256"/>
          </a:xfrm>
          <a:prstGeom prst="rect">
            <a:avLst/>
          </a:prstGeom>
        </p:spPr>
        <p:txBody>
          <a:bodyPr vert="horz" wrap="square" lIns="0" tIns="15240" rIns="0" bIns="0" rtlCol="0">
            <a:spAutoFit/>
          </a:bodyPr>
          <a:lstStyle/>
          <a:p>
            <a:pPr marL="194310" indent="-181610">
              <a:lnSpc>
                <a:spcPts val="2170"/>
              </a:lnSpc>
              <a:spcBef>
                <a:spcPts val="120"/>
              </a:spcBef>
              <a:buClr>
                <a:srgbClr val="6E6E74"/>
              </a:buClr>
              <a:buSzPct val="78378"/>
              <a:buFont typeface="Arial"/>
              <a:buChar char="•"/>
              <a:tabLst>
                <a:tab pos="194310" algn="l"/>
                <a:tab pos="684530" algn="l"/>
                <a:tab pos="1448435" algn="l"/>
                <a:tab pos="1791335" algn="l"/>
                <a:tab pos="2726690" algn="l"/>
                <a:tab pos="3916045" algn="l"/>
                <a:tab pos="4431030" algn="l"/>
                <a:tab pos="5590540" algn="l"/>
                <a:tab pos="6080125" algn="l"/>
                <a:tab pos="7562850" algn="l"/>
              </a:tabLst>
            </a:pPr>
            <a:r>
              <a:rPr sz="1400" spc="-25" dirty="0">
                <a:latin typeface="Calibri" panose="020F0502020204030204" pitchFamily="34" charset="0"/>
                <a:cs typeface="Calibri" panose="020F0502020204030204" pitchFamily="34" charset="0"/>
              </a:rPr>
              <a:t>To</a:t>
            </a:r>
            <a:r>
              <a:rPr lang="en-US" sz="1400" spc="-25" dirty="0">
                <a:latin typeface="Calibri" panose="020F0502020204030204" pitchFamily="34" charset="0"/>
                <a:cs typeface="Calibri" panose="020F0502020204030204" pitchFamily="34" charset="0"/>
              </a:rPr>
              <a:t> </a:t>
            </a:r>
            <a:r>
              <a:rPr sz="1400" spc="85" dirty="0">
                <a:latin typeface="Calibri" panose="020F0502020204030204" pitchFamily="34" charset="0"/>
                <a:cs typeface="Calibri" panose="020F0502020204030204" pitchFamily="34" charset="0"/>
              </a:rPr>
              <a:t>train</a:t>
            </a:r>
            <a:r>
              <a:rPr lang="en-US" sz="1400" spc="85" dirty="0">
                <a:latin typeface="Calibri" panose="020F0502020204030204" pitchFamily="34" charset="0"/>
                <a:cs typeface="Calibri" panose="020F0502020204030204" pitchFamily="34" charset="0"/>
              </a:rPr>
              <a:t> </a:t>
            </a:r>
            <a:r>
              <a:rPr sz="1400" spc="85" dirty="0">
                <a:latin typeface="Calibri" panose="020F0502020204030204" pitchFamily="34" charset="0"/>
                <a:cs typeface="Calibri" panose="020F0502020204030204" pitchFamily="34" charset="0"/>
              </a:rPr>
              <a:t>a</a:t>
            </a:r>
            <a:r>
              <a:rPr lang="en-US" sz="1400" spc="85" dirty="0">
                <a:latin typeface="Calibri" panose="020F0502020204030204" pitchFamily="34" charset="0"/>
                <a:cs typeface="Calibri" panose="020F0502020204030204" pitchFamily="34" charset="0"/>
              </a:rPr>
              <a:t> </a:t>
            </a:r>
            <a:r>
              <a:rPr sz="1400" spc="80" dirty="0">
                <a:latin typeface="Calibri" panose="020F0502020204030204" pitchFamily="34" charset="0"/>
                <a:cs typeface="Calibri" panose="020F0502020204030204" pitchFamily="34" charset="0"/>
              </a:rPr>
              <a:t>neural</a:t>
            </a:r>
            <a:r>
              <a:rPr lang="en-US" sz="1400" spc="80" dirty="0">
                <a:latin typeface="Calibri" panose="020F0502020204030204" pitchFamily="34" charset="0"/>
                <a:cs typeface="Calibri" panose="020F0502020204030204" pitchFamily="34" charset="0"/>
              </a:rPr>
              <a:t> </a:t>
            </a:r>
            <a:r>
              <a:rPr sz="1400" spc="55" dirty="0">
                <a:latin typeface="Calibri" panose="020F0502020204030204" pitchFamily="34" charset="0"/>
                <a:cs typeface="Calibri" panose="020F0502020204030204" pitchFamily="34" charset="0"/>
              </a:rPr>
              <a:t>network,</a:t>
            </a:r>
            <a:r>
              <a:rPr lang="en-US" sz="1400" spc="55" dirty="0">
                <a:latin typeface="Calibri" panose="020F0502020204030204" pitchFamily="34" charset="0"/>
                <a:cs typeface="Calibri" panose="020F0502020204030204" pitchFamily="34" charset="0"/>
              </a:rPr>
              <a:t> </a:t>
            </a:r>
            <a:r>
              <a:rPr sz="1400" spc="-25" dirty="0">
                <a:latin typeface="Calibri" panose="020F0502020204030204" pitchFamily="34" charset="0"/>
                <a:cs typeface="Calibri" panose="020F0502020204030204" pitchFamily="34" charset="0"/>
              </a:rPr>
              <a:t>we</a:t>
            </a:r>
            <a:r>
              <a:rPr lang="en-US" sz="1400" spc="-25" dirty="0">
                <a:latin typeface="Calibri" panose="020F0502020204030204" pitchFamily="34" charset="0"/>
                <a:cs typeface="Calibri" panose="020F0502020204030204" pitchFamily="34" charset="0"/>
              </a:rPr>
              <a:t> </a:t>
            </a:r>
            <a:r>
              <a:rPr sz="1400" spc="45" dirty="0">
                <a:latin typeface="Calibri" panose="020F0502020204030204" pitchFamily="34" charset="0"/>
                <a:cs typeface="Calibri" panose="020F0502020204030204" pitchFamily="34" charset="0"/>
              </a:rPr>
              <a:t>optimize</a:t>
            </a:r>
            <a:r>
              <a:rPr lang="en-US" sz="1400" spc="45" dirty="0">
                <a:latin typeface="Calibri" panose="020F0502020204030204" pitchFamily="34" charset="0"/>
                <a:cs typeface="Calibri" panose="020F0502020204030204" pitchFamily="34" charset="0"/>
              </a:rPr>
              <a:t> </a:t>
            </a:r>
            <a:r>
              <a:rPr sz="1400" spc="50" dirty="0">
                <a:latin typeface="Calibri" panose="020F0502020204030204" pitchFamily="34" charset="0"/>
                <a:cs typeface="Calibri" panose="020F0502020204030204" pitchFamily="34" charset="0"/>
              </a:rPr>
              <a:t>its</a:t>
            </a:r>
            <a:r>
              <a:rPr lang="en-US" sz="1400" spc="50" dirty="0">
                <a:latin typeface="Calibri" panose="020F0502020204030204" pitchFamily="34" charset="0"/>
                <a:cs typeface="Calibri" panose="020F0502020204030204" pitchFamily="34" charset="0"/>
              </a:rPr>
              <a:t> </a:t>
            </a:r>
            <a:r>
              <a:rPr sz="1400" spc="70" dirty="0">
                <a:latin typeface="Calibri" panose="020F0502020204030204" pitchFamily="34" charset="0"/>
                <a:cs typeface="Calibri" panose="020F0502020204030204" pitchFamily="34" charset="0"/>
              </a:rPr>
              <a:t>parameters</a:t>
            </a:r>
            <a:r>
              <a:rPr lang="en-US" sz="1400" spc="70" dirty="0">
                <a:latin typeface="Calibri" panose="020F0502020204030204" pitchFamily="34" charset="0"/>
                <a:cs typeface="Calibri" panose="020F0502020204030204" pitchFamily="34" charset="0"/>
              </a:rPr>
              <a:t> </a:t>
            </a:r>
            <a:r>
              <a:rPr sz="1400" spc="80" dirty="0">
                <a:latin typeface="Calibri" panose="020F0502020204030204" pitchFamily="34" charset="0"/>
                <a:cs typeface="Calibri" panose="020F0502020204030204" pitchFamily="34" charset="0"/>
              </a:rPr>
              <a:t>using</a:t>
            </a:r>
            <a:r>
              <a:rPr lang="en-US" sz="1400" dirty="0">
                <a:latin typeface="Calibri" panose="020F0502020204030204" pitchFamily="34" charset="0"/>
                <a:cs typeface="Calibri" panose="020F0502020204030204" pitchFamily="34" charset="0"/>
              </a:rPr>
              <a:t> </a:t>
            </a:r>
            <a:r>
              <a:rPr sz="1400" spc="70" dirty="0">
                <a:solidFill>
                  <a:srgbClr val="006FC0"/>
                </a:solidFill>
                <a:latin typeface="Calibri" panose="020F0502020204030204" pitchFamily="34" charset="0"/>
                <a:cs typeface="Calibri" panose="020F0502020204030204" pitchFamily="34" charset="0"/>
              </a:rPr>
              <a:t>backpropagation</a:t>
            </a:r>
            <a:r>
              <a:rPr sz="1400" spc="120" dirty="0">
                <a:solidFill>
                  <a:srgbClr val="006FC0"/>
                </a:solidFill>
                <a:latin typeface="Calibri" panose="020F0502020204030204" pitchFamily="34" charset="0"/>
                <a:cs typeface="Calibri" panose="020F0502020204030204" pitchFamily="34" charset="0"/>
              </a:rPr>
              <a:t> </a:t>
            </a:r>
            <a:r>
              <a:rPr sz="1400" spc="100" dirty="0">
                <a:latin typeface="Calibri" panose="020F0502020204030204" pitchFamily="34" charset="0"/>
                <a:cs typeface="Calibri" panose="020F0502020204030204" pitchFamily="34" charset="0"/>
              </a:rPr>
              <a:t>and</a:t>
            </a:r>
            <a:r>
              <a:rPr sz="1400" spc="135" dirty="0">
                <a:latin typeface="Calibri" panose="020F0502020204030204" pitchFamily="34" charset="0"/>
                <a:cs typeface="Calibri" panose="020F0502020204030204" pitchFamily="34" charset="0"/>
              </a:rPr>
              <a:t> </a:t>
            </a:r>
            <a:r>
              <a:rPr sz="1400" spc="85" dirty="0">
                <a:solidFill>
                  <a:srgbClr val="006FC0"/>
                </a:solidFill>
                <a:latin typeface="Calibri" panose="020F0502020204030204" pitchFamily="34" charset="0"/>
                <a:cs typeface="Calibri" panose="020F0502020204030204" pitchFamily="34" charset="0"/>
              </a:rPr>
              <a:t>gradient</a:t>
            </a:r>
            <a:r>
              <a:rPr sz="1400" spc="120" dirty="0">
                <a:solidFill>
                  <a:srgbClr val="006FC0"/>
                </a:solidFill>
                <a:latin typeface="Calibri" panose="020F0502020204030204" pitchFamily="34" charset="0"/>
                <a:cs typeface="Calibri" panose="020F0502020204030204" pitchFamily="34" charset="0"/>
              </a:rPr>
              <a:t> </a:t>
            </a:r>
            <a:r>
              <a:rPr sz="1400" spc="65" dirty="0">
                <a:solidFill>
                  <a:srgbClr val="006FC0"/>
                </a:solidFill>
                <a:latin typeface="Calibri" panose="020F0502020204030204" pitchFamily="34" charset="0"/>
                <a:cs typeface="Calibri" panose="020F0502020204030204" pitchFamily="34" charset="0"/>
              </a:rPr>
              <a:t>descent.</a:t>
            </a:r>
            <a:endParaRPr sz="1400" dirty="0">
              <a:latin typeface="Calibri" panose="020F0502020204030204" pitchFamily="34" charset="0"/>
              <a:cs typeface="Calibri" panose="020F0502020204030204" pitchFamily="34" charset="0"/>
            </a:endParaRPr>
          </a:p>
          <a:p>
            <a:pPr marL="12700">
              <a:lnSpc>
                <a:spcPct val="100000"/>
              </a:lnSpc>
              <a:spcBef>
                <a:spcPts val="1445"/>
              </a:spcBef>
            </a:pPr>
            <a:r>
              <a:rPr b="1" spc="135" dirty="0">
                <a:solidFill>
                  <a:srgbClr val="252525"/>
                </a:solidFill>
                <a:latin typeface="Calibri" panose="020F0502020204030204" pitchFamily="34" charset="0"/>
                <a:cs typeface="Calibri" panose="020F0502020204030204" pitchFamily="34" charset="0"/>
              </a:rPr>
              <a:t>Steps:</a:t>
            </a:r>
            <a:endParaRPr dirty="0">
              <a:latin typeface="Calibri" panose="020F0502020204030204" pitchFamily="34" charset="0"/>
              <a:cs typeface="Calibri" panose="020F0502020204030204" pitchFamily="34" charset="0"/>
            </a:endParaRPr>
          </a:p>
          <a:p>
            <a:pPr marL="743585" lvl="1" indent="-456565">
              <a:lnSpc>
                <a:spcPct val="100000"/>
              </a:lnSpc>
              <a:spcBef>
                <a:spcPts val="310"/>
              </a:spcBef>
              <a:buClr>
                <a:srgbClr val="6E6E74"/>
              </a:buClr>
              <a:buAutoNum type="arabicPeriod"/>
              <a:tabLst>
                <a:tab pos="743585" algn="l"/>
              </a:tabLst>
            </a:pPr>
            <a:r>
              <a:rPr sz="1400" b="1" spc="114" dirty="0">
                <a:solidFill>
                  <a:srgbClr val="252525"/>
                </a:solidFill>
                <a:latin typeface="Calibri" panose="020F0502020204030204" pitchFamily="34" charset="0"/>
                <a:cs typeface="Calibri" panose="020F0502020204030204" pitchFamily="34" charset="0"/>
              </a:rPr>
              <a:t>Initialize</a:t>
            </a:r>
            <a:r>
              <a:rPr sz="1400" b="1" spc="110" dirty="0">
                <a:solidFill>
                  <a:srgbClr val="252525"/>
                </a:solidFill>
                <a:latin typeface="Calibri" panose="020F0502020204030204" pitchFamily="34" charset="0"/>
                <a:cs typeface="Calibri" panose="020F0502020204030204" pitchFamily="34" charset="0"/>
              </a:rPr>
              <a:t> </a:t>
            </a:r>
            <a:r>
              <a:rPr sz="1400" b="1" spc="130" dirty="0">
                <a:solidFill>
                  <a:srgbClr val="252525"/>
                </a:solidFill>
                <a:latin typeface="Calibri" panose="020F0502020204030204" pitchFamily="34" charset="0"/>
                <a:cs typeface="Calibri" panose="020F0502020204030204" pitchFamily="34" charset="0"/>
              </a:rPr>
              <a:t>weights</a:t>
            </a:r>
            <a:r>
              <a:rPr sz="1400" b="1" spc="125" dirty="0">
                <a:solidFill>
                  <a:srgbClr val="252525"/>
                </a:solidFill>
                <a:latin typeface="Calibri" panose="020F0502020204030204" pitchFamily="34" charset="0"/>
                <a:cs typeface="Calibri" panose="020F0502020204030204" pitchFamily="34" charset="0"/>
              </a:rPr>
              <a:t> </a:t>
            </a:r>
            <a:r>
              <a:rPr sz="1400" b="1" spc="229" dirty="0">
                <a:solidFill>
                  <a:srgbClr val="252525"/>
                </a:solidFill>
                <a:latin typeface="Calibri" panose="020F0502020204030204" pitchFamily="34" charset="0"/>
                <a:cs typeface="Calibri" panose="020F0502020204030204" pitchFamily="34" charset="0"/>
              </a:rPr>
              <a:t>&amp;</a:t>
            </a:r>
            <a:r>
              <a:rPr sz="1400" b="1" spc="140" dirty="0">
                <a:solidFill>
                  <a:srgbClr val="252525"/>
                </a:solidFill>
                <a:latin typeface="Calibri" panose="020F0502020204030204" pitchFamily="34" charset="0"/>
                <a:cs typeface="Calibri" panose="020F0502020204030204" pitchFamily="34" charset="0"/>
              </a:rPr>
              <a:t> </a:t>
            </a:r>
            <a:r>
              <a:rPr sz="1400" b="1" spc="85" dirty="0">
                <a:solidFill>
                  <a:srgbClr val="252525"/>
                </a:solidFill>
                <a:latin typeface="Calibri" panose="020F0502020204030204" pitchFamily="34" charset="0"/>
                <a:cs typeface="Calibri" panose="020F0502020204030204" pitchFamily="34" charset="0"/>
              </a:rPr>
              <a:t>biases</a:t>
            </a:r>
            <a:endParaRPr sz="1400" dirty="0">
              <a:latin typeface="Calibri" panose="020F0502020204030204" pitchFamily="34" charset="0"/>
              <a:cs typeface="Calibri" panose="020F0502020204030204" pitchFamily="34" charset="0"/>
            </a:endParaRPr>
          </a:p>
          <a:p>
            <a:pPr marL="743585" lvl="1" indent="-456565">
              <a:lnSpc>
                <a:spcPct val="100000"/>
              </a:lnSpc>
              <a:spcBef>
                <a:spcPts val="790"/>
              </a:spcBef>
              <a:buClr>
                <a:srgbClr val="6E6E74"/>
              </a:buClr>
              <a:buAutoNum type="arabicPeriod"/>
              <a:tabLst>
                <a:tab pos="743585" algn="l"/>
              </a:tabLst>
            </a:pPr>
            <a:r>
              <a:rPr sz="1400" b="1" spc="155" dirty="0">
                <a:solidFill>
                  <a:srgbClr val="252525"/>
                </a:solidFill>
                <a:latin typeface="Calibri" panose="020F0502020204030204" pitchFamily="34" charset="0"/>
                <a:cs typeface="Calibri" panose="020F0502020204030204" pitchFamily="34" charset="0"/>
              </a:rPr>
              <a:t>Forward</a:t>
            </a:r>
            <a:r>
              <a:rPr sz="1400" b="1" spc="225" dirty="0">
                <a:solidFill>
                  <a:srgbClr val="252525"/>
                </a:solidFill>
                <a:latin typeface="Calibri" panose="020F0502020204030204" pitchFamily="34" charset="0"/>
                <a:cs typeface="Calibri" panose="020F0502020204030204" pitchFamily="34" charset="0"/>
              </a:rPr>
              <a:t> </a:t>
            </a:r>
            <a:r>
              <a:rPr sz="1400" b="1" spc="110" dirty="0">
                <a:solidFill>
                  <a:srgbClr val="252525"/>
                </a:solidFill>
                <a:latin typeface="Calibri" panose="020F0502020204030204" pitchFamily="34" charset="0"/>
                <a:cs typeface="Calibri" panose="020F0502020204030204" pitchFamily="34" charset="0"/>
              </a:rPr>
              <a:t>pass</a:t>
            </a:r>
            <a:r>
              <a:rPr sz="1400" b="1" spc="235" dirty="0">
                <a:solidFill>
                  <a:srgbClr val="252525"/>
                </a:solidFill>
                <a:latin typeface="Calibri" panose="020F0502020204030204" pitchFamily="34" charset="0"/>
                <a:cs typeface="Calibri" panose="020F0502020204030204" pitchFamily="34" charset="0"/>
              </a:rPr>
              <a:t> </a:t>
            </a:r>
            <a:r>
              <a:rPr sz="1400" dirty="0">
                <a:solidFill>
                  <a:srgbClr val="252525"/>
                </a:solidFill>
                <a:latin typeface="Calibri" panose="020F0502020204030204" pitchFamily="34" charset="0"/>
                <a:cs typeface="Calibri" panose="020F0502020204030204" pitchFamily="34" charset="0"/>
              </a:rPr>
              <a:t>(compute</a:t>
            </a:r>
            <a:r>
              <a:rPr sz="1400" spc="195" dirty="0">
                <a:solidFill>
                  <a:srgbClr val="252525"/>
                </a:solidFill>
                <a:latin typeface="Calibri" panose="020F0502020204030204" pitchFamily="34" charset="0"/>
                <a:cs typeface="Calibri" panose="020F0502020204030204" pitchFamily="34" charset="0"/>
              </a:rPr>
              <a:t> </a:t>
            </a:r>
            <a:r>
              <a:rPr sz="1400" spc="-10" dirty="0">
                <a:solidFill>
                  <a:srgbClr val="252525"/>
                </a:solidFill>
                <a:latin typeface="Calibri" panose="020F0502020204030204" pitchFamily="34" charset="0"/>
                <a:cs typeface="Calibri" panose="020F0502020204030204" pitchFamily="34" charset="0"/>
              </a:rPr>
              <a:t>predictions)</a:t>
            </a:r>
            <a:endParaRPr sz="1400" dirty="0">
              <a:latin typeface="Calibri" panose="020F0502020204030204" pitchFamily="34" charset="0"/>
              <a:cs typeface="Calibri" panose="020F0502020204030204" pitchFamily="34" charset="0"/>
            </a:endParaRPr>
          </a:p>
          <a:p>
            <a:pPr marL="743585" lvl="1" indent="-456565">
              <a:lnSpc>
                <a:spcPts val="2120"/>
              </a:lnSpc>
              <a:spcBef>
                <a:spcPts val="805"/>
              </a:spcBef>
              <a:buClr>
                <a:srgbClr val="6E6E74"/>
              </a:buClr>
              <a:buAutoNum type="arabicPeriod"/>
              <a:tabLst>
                <a:tab pos="743585" algn="l"/>
                <a:tab pos="1998345" algn="l"/>
                <a:tab pos="2600325" algn="l"/>
                <a:tab pos="2870200" algn="l"/>
                <a:tab pos="3958590" algn="l"/>
                <a:tab pos="4544060" algn="l"/>
                <a:tab pos="4996180" algn="l"/>
                <a:tab pos="6348730" algn="l"/>
                <a:tab pos="6838950" algn="l"/>
                <a:tab pos="7489825" algn="l"/>
              </a:tabLst>
            </a:pPr>
            <a:r>
              <a:rPr sz="1400" b="1" spc="145" dirty="0">
                <a:solidFill>
                  <a:srgbClr val="252525"/>
                </a:solidFill>
                <a:latin typeface="Calibri" panose="020F0502020204030204" pitchFamily="34" charset="0"/>
                <a:cs typeface="Calibri" panose="020F0502020204030204" pitchFamily="34" charset="0"/>
              </a:rPr>
              <a:t>Compute</a:t>
            </a:r>
            <a:r>
              <a:rPr lang="en-US" sz="1400" b="1" spc="145" dirty="0">
                <a:solidFill>
                  <a:srgbClr val="252525"/>
                </a:solidFill>
                <a:latin typeface="Calibri" panose="020F0502020204030204" pitchFamily="34" charset="0"/>
                <a:cs typeface="Calibri" panose="020F0502020204030204" pitchFamily="34" charset="0"/>
              </a:rPr>
              <a:t> </a:t>
            </a:r>
            <a:r>
              <a:rPr sz="1400" b="1" spc="60" dirty="0">
                <a:solidFill>
                  <a:srgbClr val="252525"/>
                </a:solidFill>
                <a:latin typeface="Calibri" panose="020F0502020204030204" pitchFamily="34" charset="0"/>
                <a:cs typeface="Calibri" panose="020F0502020204030204" pitchFamily="34" charset="0"/>
              </a:rPr>
              <a:t>loss</a:t>
            </a:r>
            <a:r>
              <a:rPr lang="en-US" sz="1400" b="1" spc="60" dirty="0">
                <a:solidFill>
                  <a:srgbClr val="252525"/>
                </a:solidFill>
                <a:latin typeface="Calibri" panose="020F0502020204030204" pitchFamily="34" charset="0"/>
                <a:cs typeface="Calibri" panose="020F0502020204030204" pitchFamily="34" charset="0"/>
              </a:rPr>
              <a:t> </a:t>
            </a:r>
            <a:r>
              <a:rPr lang="en-US" sz="1400" spc="60" dirty="0">
                <a:solidFill>
                  <a:srgbClr val="252525"/>
                </a:solidFill>
                <a:latin typeface="Calibri" panose="020F0502020204030204" pitchFamily="34" charset="0"/>
                <a:cs typeface="Calibri" panose="020F0502020204030204" pitchFamily="34" charset="0"/>
              </a:rPr>
              <a:t>– </a:t>
            </a:r>
            <a:r>
              <a:rPr sz="1400" spc="85" dirty="0">
                <a:solidFill>
                  <a:srgbClr val="252525"/>
                </a:solidFill>
                <a:latin typeface="Calibri" panose="020F0502020204030204" pitchFamily="34" charset="0"/>
                <a:cs typeface="Calibri" panose="020F0502020204030204" pitchFamily="34" charset="0"/>
              </a:rPr>
              <a:t>Measure</a:t>
            </a:r>
            <a:r>
              <a:rPr lang="en-US" sz="1400" spc="85" dirty="0">
                <a:solidFill>
                  <a:srgbClr val="252525"/>
                </a:solidFill>
                <a:latin typeface="Calibri" panose="020F0502020204030204" pitchFamily="34" charset="0"/>
                <a:cs typeface="Calibri" panose="020F0502020204030204" pitchFamily="34" charset="0"/>
              </a:rPr>
              <a:t> </a:t>
            </a:r>
            <a:r>
              <a:rPr sz="1400" spc="-25" dirty="0">
                <a:solidFill>
                  <a:srgbClr val="252525"/>
                </a:solidFill>
                <a:latin typeface="Calibri" panose="020F0502020204030204" pitchFamily="34" charset="0"/>
                <a:cs typeface="Calibri" panose="020F0502020204030204" pitchFamily="34" charset="0"/>
              </a:rPr>
              <a:t>how</a:t>
            </a:r>
            <a:r>
              <a:rPr lang="en-US" sz="1400" spc="-25" dirty="0">
                <a:solidFill>
                  <a:srgbClr val="252525"/>
                </a:solidFill>
                <a:latin typeface="Calibri" panose="020F0502020204030204" pitchFamily="34" charset="0"/>
                <a:cs typeface="Calibri" panose="020F0502020204030204" pitchFamily="34" charset="0"/>
              </a:rPr>
              <a:t> </a:t>
            </a:r>
            <a:r>
              <a:rPr sz="1400" spc="50" dirty="0">
                <a:solidFill>
                  <a:srgbClr val="252525"/>
                </a:solidFill>
                <a:latin typeface="Calibri" panose="020F0502020204030204" pitchFamily="34" charset="0"/>
                <a:cs typeface="Calibri" panose="020F0502020204030204" pitchFamily="34" charset="0"/>
              </a:rPr>
              <a:t>far</a:t>
            </a:r>
            <a:r>
              <a:rPr lang="en-US" sz="1400" spc="50" dirty="0">
                <a:solidFill>
                  <a:srgbClr val="252525"/>
                </a:solidFill>
                <a:latin typeface="Calibri" panose="020F0502020204030204" pitchFamily="34" charset="0"/>
                <a:cs typeface="Calibri" panose="020F0502020204030204" pitchFamily="34" charset="0"/>
              </a:rPr>
              <a:t> </a:t>
            </a:r>
            <a:r>
              <a:rPr sz="1400" spc="-10" dirty="0">
                <a:solidFill>
                  <a:srgbClr val="252525"/>
                </a:solidFill>
                <a:latin typeface="Calibri" panose="020F0502020204030204" pitchFamily="34" charset="0"/>
                <a:cs typeface="Calibri" panose="020F0502020204030204" pitchFamily="34" charset="0"/>
              </a:rPr>
              <a:t>predictions</a:t>
            </a:r>
            <a:r>
              <a:rPr lang="en-US" sz="1400" spc="-10" dirty="0">
                <a:solidFill>
                  <a:srgbClr val="252525"/>
                </a:solidFill>
                <a:latin typeface="Calibri" panose="020F0502020204030204" pitchFamily="34" charset="0"/>
                <a:cs typeface="Calibri" panose="020F0502020204030204" pitchFamily="34" charset="0"/>
              </a:rPr>
              <a:t> </a:t>
            </a:r>
            <a:r>
              <a:rPr sz="1400" spc="45" dirty="0">
                <a:solidFill>
                  <a:srgbClr val="252525"/>
                </a:solidFill>
                <a:latin typeface="Calibri" panose="020F0502020204030204" pitchFamily="34" charset="0"/>
                <a:cs typeface="Calibri" panose="020F0502020204030204" pitchFamily="34" charset="0"/>
              </a:rPr>
              <a:t>are</a:t>
            </a:r>
            <a:r>
              <a:rPr lang="en-US" sz="1400" spc="45" dirty="0">
                <a:solidFill>
                  <a:srgbClr val="252525"/>
                </a:solidFill>
                <a:latin typeface="Calibri" panose="020F0502020204030204" pitchFamily="34" charset="0"/>
                <a:cs typeface="Calibri" panose="020F0502020204030204" pitchFamily="34" charset="0"/>
              </a:rPr>
              <a:t> </a:t>
            </a:r>
            <a:r>
              <a:rPr sz="1400" spc="-20" dirty="0">
                <a:solidFill>
                  <a:srgbClr val="252525"/>
                </a:solidFill>
                <a:latin typeface="Calibri" panose="020F0502020204030204" pitchFamily="34" charset="0"/>
                <a:cs typeface="Calibri" panose="020F0502020204030204" pitchFamily="34" charset="0"/>
              </a:rPr>
              <a:t>from</a:t>
            </a:r>
            <a:r>
              <a:rPr lang="en-US" sz="1400" spc="-20" dirty="0">
                <a:solidFill>
                  <a:srgbClr val="252525"/>
                </a:solidFill>
                <a:latin typeface="Calibri" panose="020F0502020204030204" pitchFamily="34" charset="0"/>
                <a:cs typeface="Calibri" panose="020F0502020204030204" pitchFamily="34" charset="0"/>
              </a:rPr>
              <a:t> </a:t>
            </a:r>
            <a:r>
              <a:rPr sz="1400" spc="80" dirty="0">
                <a:solidFill>
                  <a:srgbClr val="252525"/>
                </a:solidFill>
                <a:latin typeface="Calibri" panose="020F0502020204030204" pitchFamily="34" charset="0"/>
                <a:cs typeface="Calibri" panose="020F0502020204030204" pitchFamily="34" charset="0"/>
              </a:rPr>
              <a:t>actual</a:t>
            </a:r>
            <a:r>
              <a:rPr lang="en-US" sz="1400" spc="80" dirty="0">
                <a:solidFill>
                  <a:srgbClr val="252525"/>
                </a:solidFill>
                <a:latin typeface="Calibri" panose="020F0502020204030204" pitchFamily="34" charset="0"/>
                <a:cs typeface="Calibri" panose="020F0502020204030204" pitchFamily="34" charset="0"/>
              </a:rPr>
              <a:t> </a:t>
            </a:r>
            <a:r>
              <a:rPr sz="1400" spc="75" dirty="0">
                <a:solidFill>
                  <a:srgbClr val="252525"/>
                </a:solidFill>
                <a:latin typeface="Calibri" panose="020F0502020204030204" pitchFamily="34" charset="0"/>
                <a:cs typeface="Calibri" panose="020F0502020204030204" pitchFamily="34" charset="0"/>
              </a:rPr>
              <a:t>values.</a:t>
            </a:r>
            <a:endParaRPr sz="1400" dirty="0">
              <a:latin typeface="Calibri" panose="020F0502020204030204" pitchFamily="34" charset="0"/>
              <a:cs typeface="Calibri" panose="020F0502020204030204" pitchFamily="34" charset="0"/>
            </a:endParaRPr>
          </a:p>
          <a:p>
            <a:pPr marL="743585" lvl="1" indent="-456565">
              <a:lnSpc>
                <a:spcPct val="100000"/>
              </a:lnSpc>
              <a:spcBef>
                <a:spcPts val="790"/>
              </a:spcBef>
              <a:buClr>
                <a:srgbClr val="6E6E74"/>
              </a:buClr>
              <a:buAutoNum type="arabicPeriod" startAt="4"/>
              <a:tabLst>
                <a:tab pos="743585" algn="l"/>
              </a:tabLst>
            </a:pPr>
            <a:r>
              <a:rPr sz="1400" b="1" spc="140" dirty="0">
                <a:solidFill>
                  <a:srgbClr val="252525"/>
                </a:solidFill>
                <a:latin typeface="Calibri" panose="020F0502020204030204" pitchFamily="34" charset="0"/>
                <a:cs typeface="Calibri" panose="020F0502020204030204" pitchFamily="34" charset="0"/>
              </a:rPr>
              <a:t>Backpropagation</a:t>
            </a:r>
            <a:r>
              <a:rPr sz="1400" b="1" spc="100" dirty="0">
                <a:solidFill>
                  <a:srgbClr val="252525"/>
                </a:solidFill>
                <a:latin typeface="Calibri" panose="020F0502020204030204" pitchFamily="34" charset="0"/>
                <a:cs typeface="Calibri" panose="020F0502020204030204" pitchFamily="34" charset="0"/>
              </a:rPr>
              <a:t> </a:t>
            </a:r>
            <a:r>
              <a:rPr sz="1400" spc="110" dirty="0">
                <a:solidFill>
                  <a:srgbClr val="252525"/>
                </a:solidFill>
                <a:latin typeface="Calibri" panose="020F0502020204030204" pitchFamily="34" charset="0"/>
                <a:cs typeface="Calibri" panose="020F0502020204030204" pitchFamily="34" charset="0"/>
              </a:rPr>
              <a:t>–</a:t>
            </a:r>
            <a:r>
              <a:rPr sz="1400" spc="120" dirty="0">
                <a:solidFill>
                  <a:srgbClr val="252525"/>
                </a:solidFill>
                <a:latin typeface="Calibri" panose="020F0502020204030204" pitchFamily="34" charset="0"/>
                <a:cs typeface="Calibri" panose="020F0502020204030204" pitchFamily="34" charset="0"/>
              </a:rPr>
              <a:t> </a:t>
            </a:r>
            <a:r>
              <a:rPr sz="1400" spc="110" dirty="0">
                <a:solidFill>
                  <a:srgbClr val="252525"/>
                </a:solidFill>
                <a:latin typeface="Calibri" panose="020F0502020204030204" pitchFamily="34" charset="0"/>
                <a:cs typeface="Calibri" panose="020F0502020204030204" pitchFamily="34" charset="0"/>
              </a:rPr>
              <a:t>Calculate</a:t>
            </a:r>
            <a:r>
              <a:rPr sz="1400" spc="100" dirty="0">
                <a:solidFill>
                  <a:srgbClr val="252525"/>
                </a:solidFill>
                <a:latin typeface="Calibri" panose="020F0502020204030204" pitchFamily="34" charset="0"/>
                <a:cs typeface="Calibri" panose="020F0502020204030204" pitchFamily="34" charset="0"/>
              </a:rPr>
              <a:t> </a:t>
            </a:r>
            <a:r>
              <a:rPr sz="1400" spc="75" dirty="0">
                <a:solidFill>
                  <a:srgbClr val="252525"/>
                </a:solidFill>
                <a:latin typeface="Calibri" panose="020F0502020204030204" pitchFamily="34" charset="0"/>
                <a:cs typeface="Calibri" panose="020F0502020204030204" pitchFamily="34" charset="0"/>
              </a:rPr>
              <a:t>gradients</a:t>
            </a:r>
            <a:r>
              <a:rPr sz="1400" spc="95" dirty="0">
                <a:solidFill>
                  <a:srgbClr val="252525"/>
                </a:solidFill>
                <a:latin typeface="Calibri" panose="020F0502020204030204" pitchFamily="34" charset="0"/>
                <a:cs typeface="Calibri" panose="020F0502020204030204" pitchFamily="34" charset="0"/>
              </a:rPr>
              <a:t> </a:t>
            </a:r>
            <a:r>
              <a:rPr sz="1400" dirty="0">
                <a:solidFill>
                  <a:srgbClr val="252525"/>
                </a:solidFill>
                <a:latin typeface="Calibri" panose="020F0502020204030204" pitchFamily="34" charset="0"/>
                <a:cs typeface="Calibri" panose="020F0502020204030204" pitchFamily="34" charset="0"/>
              </a:rPr>
              <a:t>to</a:t>
            </a:r>
            <a:r>
              <a:rPr sz="1400" spc="120" dirty="0">
                <a:solidFill>
                  <a:srgbClr val="252525"/>
                </a:solidFill>
                <a:latin typeface="Calibri" panose="020F0502020204030204" pitchFamily="34" charset="0"/>
                <a:cs typeface="Calibri" panose="020F0502020204030204" pitchFamily="34" charset="0"/>
              </a:rPr>
              <a:t> </a:t>
            </a:r>
            <a:r>
              <a:rPr sz="1400" spc="80" dirty="0">
                <a:solidFill>
                  <a:srgbClr val="252525"/>
                </a:solidFill>
                <a:latin typeface="Calibri" panose="020F0502020204030204" pitchFamily="34" charset="0"/>
                <a:cs typeface="Calibri" panose="020F0502020204030204" pitchFamily="34" charset="0"/>
              </a:rPr>
              <a:t>adjust</a:t>
            </a:r>
            <a:r>
              <a:rPr sz="1400" spc="105" dirty="0">
                <a:solidFill>
                  <a:srgbClr val="252525"/>
                </a:solidFill>
                <a:latin typeface="Calibri" panose="020F0502020204030204" pitchFamily="34" charset="0"/>
                <a:cs typeface="Calibri" panose="020F0502020204030204" pitchFamily="34" charset="0"/>
              </a:rPr>
              <a:t> </a:t>
            </a:r>
            <a:r>
              <a:rPr sz="1400" spc="70" dirty="0">
                <a:solidFill>
                  <a:srgbClr val="252525"/>
                </a:solidFill>
                <a:latin typeface="Calibri" panose="020F0502020204030204" pitchFamily="34" charset="0"/>
                <a:cs typeface="Calibri" panose="020F0502020204030204" pitchFamily="34" charset="0"/>
              </a:rPr>
              <a:t>parameters.</a:t>
            </a:r>
            <a:endParaRPr sz="1400" dirty="0">
              <a:latin typeface="Calibri" panose="020F0502020204030204" pitchFamily="34" charset="0"/>
              <a:cs typeface="Calibri" panose="020F0502020204030204" pitchFamily="34" charset="0"/>
            </a:endParaRPr>
          </a:p>
          <a:p>
            <a:pPr marL="743585" lvl="1" indent="-456565">
              <a:lnSpc>
                <a:spcPct val="100000"/>
              </a:lnSpc>
              <a:spcBef>
                <a:spcPts val="795"/>
              </a:spcBef>
              <a:buClr>
                <a:srgbClr val="6E6E74"/>
              </a:buClr>
              <a:buAutoNum type="arabicPeriod" startAt="4"/>
              <a:tabLst>
                <a:tab pos="743585" algn="l"/>
              </a:tabLst>
            </a:pPr>
            <a:r>
              <a:rPr sz="1400" b="1" spc="155" dirty="0">
                <a:solidFill>
                  <a:srgbClr val="252525"/>
                </a:solidFill>
                <a:latin typeface="Calibri" panose="020F0502020204030204" pitchFamily="34" charset="0"/>
                <a:cs typeface="Calibri" panose="020F0502020204030204" pitchFamily="34" charset="0"/>
              </a:rPr>
              <a:t>Update</a:t>
            </a:r>
            <a:r>
              <a:rPr sz="1400" b="1" spc="140" dirty="0">
                <a:solidFill>
                  <a:srgbClr val="252525"/>
                </a:solidFill>
                <a:latin typeface="Calibri" panose="020F0502020204030204" pitchFamily="34" charset="0"/>
                <a:cs typeface="Calibri" panose="020F0502020204030204" pitchFamily="34" charset="0"/>
              </a:rPr>
              <a:t> </a:t>
            </a:r>
            <a:r>
              <a:rPr sz="1400" b="1" spc="130" dirty="0">
                <a:solidFill>
                  <a:srgbClr val="252525"/>
                </a:solidFill>
                <a:latin typeface="Calibri" panose="020F0502020204030204" pitchFamily="34" charset="0"/>
                <a:cs typeface="Calibri" panose="020F0502020204030204" pitchFamily="34" charset="0"/>
              </a:rPr>
              <a:t>weights</a:t>
            </a:r>
            <a:r>
              <a:rPr sz="1400" b="1" spc="120" dirty="0">
                <a:solidFill>
                  <a:srgbClr val="252525"/>
                </a:solidFill>
                <a:latin typeface="Calibri" panose="020F0502020204030204" pitchFamily="34" charset="0"/>
                <a:cs typeface="Calibri" panose="020F0502020204030204" pitchFamily="34" charset="0"/>
              </a:rPr>
              <a:t> </a:t>
            </a:r>
            <a:r>
              <a:rPr sz="1400" spc="85" dirty="0">
                <a:solidFill>
                  <a:srgbClr val="252525"/>
                </a:solidFill>
                <a:latin typeface="Calibri" panose="020F0502020204030204" pitchFamily="34" charset="0"/>
                <a:cs typeface="Calibri" panose="020F0502020204030204" pitchFamily="34" charset="0"/>
              </a:rPr>
              <a:t>using</a:t>
            </a:r>
            <a:r>
              <a:rPr sz="1400" spc="105" dirty="0">
                <a:solidFill>
                  <a:srgbClr val="252525"/>
                </a:solidFill>
                <a:latin typeface="Calibri" panose="020F0502020204030204" pitchFamily="34" charset="0"/>
                <a:cs typeface="Calibri" panose="020F0502020204030204" pitchFamily="34" charset="0"/>
              </a:rPr>
              <a:t> </a:t>
            </a:r>
            <a:r>
              <a:rPr sz="1400" spc="75" dirty="0">
                <a:solidFill>
                  <a:srgbClr val="252525"/>
                </a:solidFill>
                <a:latin typeface="Calibri" panose="020F0502020204030204" pitchFamily="34" charset="0"/>
                <a:cs typeface="Calibri" panose="020F0502020204030204" pitchFamily="34" charset="0"/>
              </a:rPr>
              <a:t>gradient</a:t>
            </a:r>
            <a:r>
              <a:rPr sz="1400" spc="85" dirty="0">
                <a:solidFill>
                  <a:srgbClr val="252525"/>
                </a:solidFill>
                <a:latin typeface="Calibri" panose="020F0502020204030204" pitchFamily="34" charset="0"/>
                <a:cs typeface="Calibri" panose="020F0502020204030204" pitchFamily="34" charset="0"/>
              </a:rPr>
              <a:t> </a:t>
            </a:r>
            <a:r>
              <a:rPr sz="1400" spc="-10" dirty="0">
                <a:solidFill>
                  <a:srgbClr val="252525"/>
                </a:solidFill>
                <a:latin typeface="Calibri" panose="020F0502020204030204" pitchFamily="34" charset="0"/>
                <a:cs typeface="Calibri" panose="020F0502020204030204" pitchFamily="34" charset="0"/>
              </a:rPr>
              <a:t>descent</a:t>
            </a:r>
            <a:endParaRPr sz="1400" dirty="0">
              <a:latin typeface="Calibri" panose="020F0502020204030204" pitchFamily="34" charset="0"/>
              <a:cs typeface="Calibri" panose="020F0502020204030204" pitchFamily="34" charset="0"/>
            </a:endParaRPr>
          </a:p>
          <a:p>
            <a:pPr marL="743585" lvl="1" indent="-456565">
              <a:lnSpc>
                <a:spcPct val="100000"/>
              </a:lnSpc>
              <a:spcBef>
                <a:spcPts val="805"/>
              </a:spcBef>
              <a:buClr>
                <a:srgbClr val="6E6E74"/>
              </a:buClr>
              <a:buAutoNum type="arabicPeriod" startAt="4"/>
              <a:tabLst>
                <a:tab pos="743585" algn="l"/>
              </a:tabLst>
            </a:pPr>
            <a:r>
              <a:rPr sz="1400" b="1" spc="140" dirty="0">
                <a:solidFill>
                  <a:srgbClr val="252525"/>
                </a:solidFill>
                <a:latin typeface="Calibri" panose="020F0502020204030204" pitchFamily="34" charset="0"/>
                <a:cs typeface="Calibri" panose="020F0502020204030204" pitchFamily="34" charset="0"/>
              </a:rPr>
              <a:t>Repeat</a:t>
            </a:r>
            <a:r>
              <a:rPr sz="1400" b="1" spc="110" dirty="0">
                <a:solidFill>
                  <a:srgbClr val="252525"/>
                </a:solidFill>
                <a:latin typeface="Calibri" panose="020F0502020204030204" pitchFamily="34" charset="0"/>
                <a:cs typeface="Calibri" panose="020F0502020204030204" pitchFamily="34" charset="0"/>
              </a:rPr>
              <a:t> </a:t>
            </a:r>
            <a:r>
              <a:rPr sz="1400" spc="90" dirty="0">
                <a:solidFill>
                  <a:srgbClr val="252525"/>
                </a:solidFill>
                <a:latin typeface="Calibri" panose="020F0502020204030204" pitchFamily="34" charset="0"/>
                <a:cs typeface="Calibri" panose="020F0502020204030204" pitchFamily="34" charset="0"/>
              </a:rPr>
              <a:t>until</a:t>
            </a:r>
            <a:r>
              <a:rPr sz="1400" spc="95" dirty="0">
                <a:solidFill>
                  <a:srgbClr val="252525"/>
                </a:solidFill>
                <a:latin typeface="Calibri" panose="020F0502020204030204" pitchFamily="34" charset="0"/>
                <a:cs typeface="Calibri" panose="020F0502020204030204" pitchFamily="34" charset="0"/>
              </a:rPr>
              <a:t> </a:t>
            </a:r>
            <a:r>
              <a:rPr sz="1400" spc="-10" dirty="0">
                <a:solidFill>
                  <a:srgbClr val="252525"/>
                </a:solidFill>
                <a:latin typeface="Calibri" panose="020F0502020204030204" pitchFamily="34" charset="0"/>
                <a:cs typeface="Calibri" panose="020F0502020204030204" pitchFamily="34" charset="0"/>
              </a:rPr>
              <a:t>convergence</a:t>
            </a:r>
            <a:endParaRPr sz="1400" dirty="0">
              <a:latin typeface="Calibri" panose="020F0502020204030204" pitchFamily="34" charset="0"/>
              <a:cs typeface="Calibri" panose="020F0502020204030204" pitchFamily="34" charset="0"/>
            </a:endParaRPr>
          </a:p>
          <a:p>
            <a:pPr marL="743585" lvl="1" indent="-456565">
              <a:lnSpc>
                <a:spcPct val="100000"/>
              </a:lnSpc>
              <a:spcBef>
                <a:spcPts val="795"/>
              </a:spcBef>
              <a:buClr>
                <a:srgbClr val="6E6E74"/>
              </a:buClr>
              <a:buAutoNum type="arabicPeriod" startAt="4"/>
              <a:tabLst>
                <a:tab pos="743585" algn="l"/>
              </a:tabLst>
            </a:pPr>
            <a:r>
              <a:rPr sz="1400" b="1" spc="155" dirty="0">
                <a:solidFill>
                  <a:srgbClr val="252525"/>
                </a:solidFill>
                <a:latin typeface="Calibri" panose="020F0502020204030204" pitchFamily="34" charset="0"/>
                <a:cs typeface="Calibri" panose="020F0502020204030204" pitchFamily="34" charset="0"/>
              </a:rPr>
              <a:t>Evaluate</a:t>
            </a:r>
            <a:r>
              <a:rPr sz="1400" b="1" spc="100" dirty="0">
                <a:solidFill>
                  <a:srgbClr val="252525"/>
                </a:solidFill>
                <a:latin typeface="Calibri" panose="020F0502020204030204" pitchFamily="34" charset="0"/>
                <a:cs typeface="Calibri" panose="020F0502020204030204" pitchFamily="34" charset="0"/>
              </a:rPr>
              <a:t> </a:t>
            </a:r>
            <a:r>
              <a:rPr sz="1400" spc="95" dirty="0">
                <a:solidFill>
                  <a:srgbClr val="252525"/>
                </a:solidFill>
                <a:latin typeface="Calibri" panose="020F0502020204030204" pitchFamily="34" charset="0"/>
                <a:cs typeface="Calibri" panose="020F0502020204030204" pitchFamily="34" charset="0"/>
              </a:rPr>
              <a:t>and</a:t>
            </a:r>
            <a:r>
              <a:rPr sz="1400" spc="110" dirty="0">
                <a:solidFill>
                  <a:srgbClr val="252525"/>
                </a:solidFill>
                <a:latin typeface="Calibri" panose="020F0502020204030204" pitchFamily="34" charset="0"/>
                <a:cs typeface="Calibri" panose="020F0502020204030204" pitchFamily="34" charset="0"/>
              </a:rPr>
              <a:t> </a:t>
            </a:r>
            <a:r>
              <a:rPr sz="1400" spc="80" dirty="0">
                <a:solidFill>
                  <a:srgbClr val="252525"/>
                </a:solidFill>
                <a:latin typeface="Calibri" panose="020F0502020204030204" pitchFamily="34" charset="0"/>
                <a:cs typeface="Calibri" panose="020F0502020204030204" pitchFamily="34" charset="0"/>
              </a:rPr>
              <a:t>adjust</a:t>
            </a:r>
            <a:r>
              <a:rPr sz="1400" spc="100" dirty="0">
                <a:solidFill>
                  <a:srgbClr val="252525"/>
                </a:solidFill>
                <a:latin typeface="Calibri" panose="020F0502020204030204" pitchFamily="34" charset="0"/>
                <a:cs typeface="Calibri" panose="020F0502020204030204" pitchFamily="34" charset="0"/>
              </a:rPr>
              <a:t> </a:t>
            </a:r>
            <a:r>
              <a:rPr sz="1400" spc="55" dirty="0">
                <a:solidFill>
                  <a:srgbClr val="252525"/>
                </a:solidFill>
                <a:latin typeface="Calibri" panose="020F0502020204030204" pitchFamily="34" charset="0"/>
                <a:cs typeface="Calibri" panose="020F0502020204030204" pitchFamily="34" charset="0"/>
              </a:rPr>
              <a:t>hyperparameters</a:t>
            </a:r>
            <a:endParaRPr sz="1400" dirty="0">
              <a:latin typeface="Calibri" panose="020F0502020204030204" pitchFamily="34" charset="0"/>
              <a:cs typeface="Calibri" panose="020F0502020204030204" pitchFamily="34" charset="0"/>
            </a:endParaRPr>
          </a:p>
        </p:txBody>
      </p:sp>
      <p:sp>
        <p:nvSpPr>
          <p:cNvPr id="1049131" name="Rectangle 5"/>
          <p:cNvSpPr/>
          <p:nvPr/>
        </p:nvSpPr>
        <p:spPr>
          <a:xfrm>
            <a:off x="0" y="0"/>
            <a:ext cx="12192000" cy="873760"/>
          </a:xfrm>
          <a:prstGeom prst="rect">
            <a:avLst/>
          </a:prstGeom>
          <a:solidFill>
            <a:srgbClr val="0E2841"/>
          </a:solidFill>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r>
              <a:rPr lang="en-US" sz="3200" b="1" dirty="0">
                <a:latin typeface="Calibri" panose="020F0502020204030204" pitchFamily="34" charset="0"/>
                <a:cs typeface="Calibri" panose="020F0502020204030204" pitchFamily="34" charset="0"/>
              </a:rPr>
              <a:t>3 (v). Neural Networks Training Process – Overview</a:t>
            </a:r>
            <a:endParaRPr lang="en-PK" sz="3200" b="1" dirty="0">
              <a:latin typeface="Calibri" panose="020F0502020204030204" pitchFamily="34" charset="0"/>
              <a:cs typeface="Calibri" panose="020F0502020204030204" pitchFamily="34" charset="0"/>
            </a:endParaRPr>
          </a:p>
        </p:txBody>
      </p:sp>
      <p:sp>
        <p:nvSpPr>
          <p:cNvPr id="1049132" name="Rectangle 4"/>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r>
              <a:rPr lang="en-US" sz="2400" dirty="0">
                <a:latin typeface="Calibri" panose="020F0502020204030204" pitchFamily="34" charset="0"/>
                <a:cs typeface="Calibri" panose="020F0502020204030204" pitchFamily="34" charset="0"/>
              </a:rPr>
              <a:t>31</a:t>
            </a:r>
            <a:endParaRPr lang="en-PK" sz="2400" dirty="0">
              <a:latin typeface="Calibri" panose="020F0502020204030204" pitchFamily="34" charset="0"/>
              <a:cs typeface="Calibri" panose="020F0502020204030204" pitchFamily="34" charset="0"/>
            </a:endParaRPr>
          </a:p>
        </p:txBody>
      </p:sp>
      <p:pic>
        <p:nvPicPr>
          <p:cNvPr id="2097182" name="object 4" descr="Overview of a Neural Network's Learning Process | by Rukshan ..."/>
          <p:cNvPicPr>
            <a:picLocks/>
          </p:cNvPicPr>
          <p:nvPr/>
        </p:nvPicPr>
        <p:blipFill>
          <a:blip r:embed="rId2" cstate="print"/>
          <a:stretch>
            <a:fillRect/>
          </a:stretch>
        </p:blipFill>
        <p:spPr>
          <a:xfrm>
            <a:off x="3788928" y="1561856"/>
            <a:ext cx="8229600" cy="4654620"/>
          </a:xfrm>
          <a:prstGeom prst="rect">
            <a:avLst/>
          </a:prstGeom>
        </p:spPr>
      </p:pic>
      <mc:AlternateContent xmlns:mc="http://schemas.openxmlformats.org/markup-compatibility/2006" xmlns:p14="http://schemas.microsoft.com/office/powerpoint/2010/main">
        <mc:Choice Requires="p14">
          <p:contentPart p14:bwMode="auto" r:id="rId3">
            <p14:nvContentPartPr>
              <p14:cNvPr id="1050078" name="Ink 1050077"/>
              <p14:cNvContentPartPr/>
              <p14:nvPr/>
            </p14:nvContentPartPr>
            <p14:xfrm>
              <a:off x="6727902" y="3501032"/>
              <a:ext cx="0" cy="0"/>
            </p14:xfrm>
          </p:contentPart>
        </mc:Choice>
        <mc:Fallback xmlns="">
          <p:sp>
            <p:nvSpPr>
              <p:cNvPr id="1050078" name=""/>
              <p:cNvSpPr/>
              <p:nvPr/>
            </p:nvSpPr>
            <p:spPr>
              <a:xfrm>
                <a:off x="6727902" y="3501032"/>
                <a:ext cx="0" cy="0"/>
              </a:xfrm>
            </p:spPr>
          </p:sp>
        </mc:Fallback>
      </mc:AlternateContent>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B232C0-A6C1-A0B5-7C0A-42771D1D6DEE}"/>
            </a:ext>
          </a:extLst>
        </p:cNvPr>
        <p:cNvGrpSpPr/>
        <p:nvPr/>
      </p:nvGrpSpPr>
      <p:grpSpPr>
        <a:xfrm>
          <a:off x="0" y="0"/>
          <a:ext cx="0" cy="0"/>
          <a:chOff x="0" y="0"/>
          <a:chExt cx="0" cy="0"/>
        </a:xfrm>
      </p:grpSpPr>
      <p:sp>
        <p:nvSpPr>
          <p:cNvPr id="1049131" name="Rectangle 5">
            <a:extLst>
              <a:ext uri="{FF2B5EF4-FFF2-40B4-BE49-F238E27FC236}">
                <a16:creationId xmlns:a16="http://schemas.microsoft.com/office/drawing/2014/main" id="{FA79B54F-C24A-C8A5-E50A-198AE1F7DED5}"/>
              </a:ext>
            </a:extLst>
          </p:cNvPr>
          <p:cNvSpPr/>
          <p:nvPr/>
        </p:nvSpPr>
        <p:spPr>
          <a:xfrm>
            <a:off x="0" y="0"/>
            <a:ext cx="12192000" cy="873760"/>
          </a:xfrm>
          <a:prstGeom prst="rect">
            <a:avLst/>
          </a:prstGeom>
          <a:solidFill>
            <a:srgbClr val="0E2841"/>
          </a:solidFill>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r>
              <a:rPr lang="en-US" sz="3200" b="1" dirty="0">
                <a:latin typeface="Calibri" panose="020F0502020204030204" pitchFamily="34" charset="0"/>
                <a:cs typeface="Calibri" panose="020F0502020204030204" pitchFamily="34" charset="0"/>
              </a:rPr>
              <a:t>3 (v). Neural Networks Training Process – Overview </a:t>
            </a:r>
            <a:r>
              <a:rPr lang="en-US" sz="2400" b="1" dirty="0">
                <a:latin typeface="Calibri" panose="020F0502020204030204" pitchFamily="34" charset="0"/>
                <a:cs typeface="Calibri" panose="020F0502020204030204" pitchFamily="34" charset="0"/>
              </a:rPr>
              <a:t>(Con…)</a:t>
            </a:r>
            <a:endParaRPr lang="en-PK" sz="3200" b="1" dirty="0">
              <a:latin typeface="Calibri" panose="020F0502020204030204" pitchFamily="34" charset="0"/>
              <a:cs typeface="Calibri" panose="020F0502020204030204" pitchFamily="34" charset="0"/>
            </a:endParaRPr>
          </a:p>
        </p:txBody>
      </p:sp>
      <p:sp>
        <p:nvSpPr>
          <p:cNvPr id="1049132" name="Rectangle 4">
            <a:extLst>
              <a:ext uri="{FF2B5EF4-FFF2-40B4-BE49-F238E27FC236}">
                <a16:creationId xmlns:a16="http://schemas.microsoft.com/office/drawing/2014/main" id="{54F276B7-EF00-DE1E-443E-378AFA8D84E8}"/>
              </a:ext>
            </a:extLst>
          </p:cNvPr>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r>
              <a:rPr lang="en-US" sz="2400" dirty="0">
                <a:latin typeface="Calibri" panose="020F0502020204030204" pitchFamily="34" charset="0"/>
                <a:cs typeface="Calibri" panose="020F0502020204030204" pitchFamily="34" charset="0"/>
              </a:rPr>
              <a:t>32</a:t>
            </a:r>
            <a:endParaRPr lang="en-PK" sz="2400" dirty="0">
              <a:latin typeface="Calibri" panose="020F0502020204030204" pitchFamily="34" charset="0"/>
              <a:cs typeface="Calibri" panose="020F0502020204030204" pitchFamily="34" charset="0"/>
            </a:endParaRPr>
          </a:p>
        </p:txBody>
      </p:sp>
      <p:pic>
        <p:nvPicPr>
          <p:cNvPr id="2097182" name="object 4" descr="Overview of a Neural Network's Learning Process | by Rukshan ...">
            <a:extLst>
              <a:ext uri="{FF2B5EF4-FFF2-40B4-BE49-F238E27FC236}">
                <a16:creationId xmlns:a16="http://schemas.microsoft.com/office/drawing/2014/main" id="{CF74E259-A362-FB72-56ED-61BFB1873F2A}"/>
              </a:ext>
            </a:extLst>
          </p:cNvPr>
          <p:cNvPicPr>
            <a:picLocks/>
          </p:cNvPicPr>
          <p:nvPr/>
        </p:nvPicPr>
        <p:blipFill>
          <a:blip r:embed="rId2" cstate="print"/>
          <a:stretch>
            <a:fillRect/>
          </a:stretch>
        </p:blipFill>
        <p:spPr>
          <a:xfrm>
            <a:off x="4793747" y="1708068"/>
            <a:ext cx="7010400" cy="4031442"/>
          </a:xfrm>
          <a:prstGeom prst="rect">
            <a:avLst/>
          </a:prstGeom>
        </p:spPr>
      </p:pic>
      <mc:AlternateContent xmlns:mc="http://schemas.openxmlformats.org/markup-compatibility/2006" xmlns:p14="http://schemas.microsoft.com/office/powerpoint/2010/main">
        <mc:Choice Requires="p14">
          <p:contentPart p14:bwMode="auto" r:id="rId3">
            <p14:nvContentPartPr>
              <p14:cNvPr id="1050078" name="Ink 1050077">
                <a:extLst>
                  <a:ext uri="{FF2B5EF4-FFF2-40B4-BE49-F238E27FC236}">
                    <a16:creationId xmlns:a16="http://schemas.microsoft.com/office/drawing/2014/main" id="{BD41418C-1813-9810-0895-7EA952F1CAA1}"/>
                  </a:ext>
                </a:extLst>
              </p14:cNvPr>
              <p14:cNvContentPartPr/>
              <p14:nvPr/>
            </p14:nvContentPartPr>
            <p14:xfrm>
              <a:off x="6727902" y="3501032"/>
              <a:ext cx="0" cy="0"/>
            </p14:xfrm>
          </p:contentPart>
        </mc:Choice>
        <mc:Fallback xmlns="">
          <p:pic>
            <p:nvPicPr>
              <p:cNvPr id="1050078" name="Ink 1050077">
                <a:extLst>
                  <a:ext uri="{FF2B5EF4-FFF2-40B4-BE49-F238E27FC236}">
                    <a16:creationId xmlns:a16="http://schemas.microsoft.com/office/drawing/2014/main" id="{BD41418C-1813-9810-0895-7EA952F1CAA1}"/>
                  </a:ext>
                </a:extLst>
              </p:cNvPr>
              <p:cNvPicPr/>
              <p:nvPr/>
            </p:nvPicPr>
            <p:blipFill>
              <a:blip r:embed="rId4"/>
              <a:stretch>
                <a:fillRect/>
              </a:stretch>
            </p:blipFill>
            <p:spPr>
              <a:xfrm>
                <a:off x="6727902" y="3501032"/>
                <a:ext cx="0" cy="0"/>
              </a:xfrm>
              <a:prstGeom prst="rect">
                <a:avLst/>
              </a:prstGeom>
            </p:spPr>
          </p:pic>
        </mc:Fallback>
      </mc:AlternateContent>
      <p:sp>
        <p:nvSpPr>
          <p:cNvPr id="3" name="TextBox 2">
            <a:extLst>
              <a:ext uri="{FF2B5EF4-FFF2-40B4-BE49-F238E27FC236}">
                <a16:creationId xmlns:a16="http://schemas.microsoft.com/office/drawing/2014/main" id="{7C9C8A98-CD23-50E9-F018-1225E189B1CB}"/>
              </a:ext>
            </a:extLst>
          </p:cNvPr>
          <p:cNvSpPr txBox="1"/>
          <p:nvPr/>
        </p:nvSpPr>
        <p:spPr>
          <a:xfrm>
            <a:off x="387853" y="1474237"/>
            <a:ext cx="4066478" cy="3416320"/>
          </a:xfrm>
          <a:prstGeom prst="rect">
            <a:avLst/>
          </a:prstGeom>
          <a:noFill/>
        </p:spPr>
        <p:txBody>
          <a:bodyPr wrap="square">
            <a:spAutoFit/>
          </a:bodyPr>
          <a:lstStyle/>
          <a:p>
            <a:pPr marL="342900" lvl="0" indent="-342900" algn="just">
              <a:buFont typeface="Arial" panose="020B0604020202020204" pitchFamily="34" charset="0"/>
              <a:buChar char="•"/>
            </a:pPr>
            <a:r>
              <a:rPr lang="en-US" b="1" dirty="0">
                <a:latin typeface="Calibri" panose="020F0502020204030204" pitchFamily="34" charset="0"/>
                <a:cs typeface="Calibri" panose="020F0502020204030204" pitchFamily="34" charset="0"/>
              </a:rPr>
              <a:t>x : Input</a:t>
            </a:r>
            <a:r>
              <a:rPr lang="en-US" dirty="0">
                <a:latin typeface="Calibri" panose="020F0502020204030204" pitchFamily="34" charset="0"/>
                <a:cs typeface="Calibri" panose="020F0502020204030204" pitchFamily="34" charset="0"/>
              </a:rPr>
              <a:t> — the information given to the neural network. </a:t>
            </a:r>
          </a:p>
          <a:p>
            <a:pPr marL="342900" lvl="0" indent="-342900" algn="just">
              <a:buFont typeface="Arial" panose="020B0604020202020204" pitchFamily="34" charset="0"/>
              <a:buChar char="•"/>
            </a:pPr>
            <a:r>
              <a:rPr lang="en-US" b="1" dirty="0">
                <a:latin typeface="Calibri" panose="020F0502020204030204" pitchFamily="34" charset="0"/>
                <a:cs typeface="Calibri" panose="020F0502020204030204" pitchFamily="34" charset="0"/>
              </a:rPr>
              <a:t>x₁, x₂ : Input features</a:t>
            </a:r>
            <a:r>
              <a:rPr lang="en-US" dirty="0">
                <a:latin typeface="Calibri" panose="020F0502020204030204" pitchFamily="34" charset="0"/>
                <a:cs typeface="Calibri" panose="020F0502020204030204" pitchFamily="34" charset="0"/>
              </a:rPr>
              <a:t> — two input values/features given to the network. </a:t>
            </a:r>
          </a:p>
          <a:p>
            <a:pPr marL="342900" lvl="0" indent="-342900" algn="just">
              <a:buFont typeface="Arial" panose="020B0604020202020204" pitchFamily="34" charset="0"/>
              <a:buChar char="•"/>
            </a:pPr>
            <a:r>
              <a:rPr lang="en-US" b="1" dirty="0">
                <a:latin typeface="Calibri" panose="020F0502020204030204" pitchFamily="34" charset="0"/>
                <a:cs typeface="Calibri" panose="020F0502020204030204" pitchFamily="34" charset="0"/>
              </a:rPr>
              <a:t>1 : Bias input</a:t>
            </a:r>
            <a:r>
              <a:rPr lang="en-US" dirty="0">
                <a:latin typeface="Calibri" panose="020F0502020204030204" pitchFamily="34" charset="0"/>
                <a:cs typeface="Calibri" panose="020F0502020204030204" pitchFamily="34" charset="0"/>
              </a:rPr>
              <a:t> — a constant value used to help the neuron adjust its output. </a:t>
            </a:r>
          </a:p>
          <a:p>
            <a:pPr marL="342900" lvl="0" indent="-342900" algn="just">
              <a:buFont typeface="Arial" panose="020B0604020202020204" pitchFamily="34" charset="0"/>
              <a:buChar char="•"/>
            </a:pPr>
            <a:r>
              <a:rPr lang="en-US" b="1" dirty="0">
                <a:latin typeface="Calibri" panose="020F0502020204030204" pitchFamily="34" charset="0"/>
                <a:cs typeface="Calibri" panose="020F0502020204030204" pitchFamily="34" charset="0"/>
              </a:rPr>
              <a:t>z : Weighted sum</a:t>
            </a:r>
            <a:r>
              <a:rPr lang="en-US" dirty="0">
                <a:latin typeface="Calibri" panose="020F0502020204030204" pitchFamily="34" charset="0"/>
                <a:cs typeface="Calibri" panose="020F0502020204030204" pitchFamily="34" charset="0"/>
              </a:rPr>
              <a:t> — the value calculated from inputs, weights, and bias. </a:t>
            </a:r>
          </a:p>
          <a:p>
            <a:pPr marL="342900" lvl="0" indent="-342900" algn="just">
              <a:buFont typeface="Arial" panose="020B0604020202020204" pitchFamily="34" charset="0"/>
              <a:buChar char="•"/>
            </a:pPr>
            <a:r>
              <a:rPr lang="en-US" b="1" dirty="0">
                <a:latin typeface="Calibri" panose="020F0502020204030204" pitchFamily="34" charset="0"/>
                <a:cs typeface="Calibri" panose="020F0502020204030204" pitchFamily="34" charset="0"/>
              </a:rPr>
              <a:t>f : Activation function</a:t>
            </a:r>
            <a:r>
              <a:rPr lang="en-US" dirty="0">
                <a:latin typeface="Calibri" panose="020F0502020204030204" pitchFamily="34" charset="0"/>
                <a:cs typeface="Calibri" panose="020F0502020204030204" pitchFamily="34" charset="0"/>
              </a:rPr>
              <a:t> — transforms </a:t>
            </a:r>
            <a:r>
              <a:rPr lang="en-US" b="1" dirty="0">
                <a:latin typeface="Calibri" panose="020F0502020204030204" pitchFamily="34" charset="0"/>
                <a:cs typeface="Calibri" panose="020F0502020204030204" pitchFamily="34" charset="0"/>
              </a:rPr>
              <a:t>z</a:t>
            </a:r>
            <a:r>
              <a:rPr lang="en-US" dirty="0">
                <a:latin typeface="Calibri" panose="020F0502020204030204" pitchFamily="34" charset="0"/>
                <a:cs typeface="Calibri" panose="020F0502020204030204" pitchFamily="34" charset="0"/>
              </a:rPr>
              <a:t> and produces the neuron's output.</a:t>
            </a:r>
          </a:p>
        </p:txBody>
      </p:sp>
    </p:spTree>
    <p:extLst>
      <p:ext uri="{BB962C8B-B14F-4D97-AF65-F5344CB8AC3E}">
        <p14:creationId xmlns:p14="http://schemas.microsoft.com/office/powerpoint/2010/main" val="174718627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1D395B">
            <a:alpha val="98824"/>
          </a:srgbClr>
        </a:solidFill>
        <a:effectLst/>
      </p:bgPr>
    </p:bg>
    <p:spTree>
      <p:nvGrpSpPr>
        <p:cNvPr id="1" name=""/>
        <p:cNvGrpSpPr/>
        <p:nvPr/>
      </p:nvGrpSpPr>
      <p:grpSpPr>
        <a:xfrm>
          <a:off x="0" y="0"/>
          <a:ext cx="0" cy="0"/>
          <a:chOff x="0" y="0"/>
          <a:chExt cx="0" cy="0"/>
        </a:xfrm>
      </p:grpSpPr>
      <p:sp>
        <p:nvSpPr>
          <p:cNvPr id="1049133" name="TextBox 3"/>
          <p:cNvSpPr txBox="1"/>
          <p:nvPr/>
        </p:nvSpPr>
        <p:spPr>
          <a:xfrm>
            <a:off x="992587" y="2849460"/>
            <a:ext cx="10006250" cy="2250441"/>
          </a:xfrm>
          <a:prstGeom prst="rect">
            <a:avLst/>
          </a:prstGeom>
          <a:noFill/>
        </p:spPr>
        <p:txBody>
          <a:bodyPr wrap="square" rtlCol="0">
            <a:spAutoFit/>
          </a:bodyPr>
          <a:lstStyle/>
          <a:p>
            <a:pPr algn="ctr"/>
            <a:r>
              <a:rPr lang="en-US" sz="7200" dirty="0">
                <a:solidFill>
                  <a:schemeClr val="bg1"/>
                </a:solidFill>
                <a:effectLst>
                  <a:glow rad="139700">
                    <a:schemeClr val="accent1">
                      <a:satMod val="175000"/>
                      <a:alpha val="40000"/>
                    </a:schemeClr>
                  </a:glow>
                </a:effectLst>
                <a:latin typeface="Calibri" panose="020F0502020204030204" pitchFamily="34" charset="0"/>
                <a:cs typeface="Calibri" panose="020F0502020204030204" pitchFamily="34" charset="0"/>
              </a:rPr>
              <a:t>4. Representation Learning</a:t>
            </a:r>
          </a:p>
        </p:txBody>
      </p:sp>
      <p:sp>
        <p:nvSpPr>
          <p:cNvPr id="1049134" name="Rectangle 4"/>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r>
              <a:rPr lang="en-GB" sz="2000" dirty="0">
                <a:latin typeface="Calibri" panose="020F0502020204030204" pitchFamily="34" charset="0"/>
                <a:cs typeface="Calibri" panose="020F0502020204030204" pitchFamily="34" charset="0"/>
              </a:rPr>
              <a:t>33</a:t>
            </a:r>
            <a:endParaRPr lang="en-PK" sz="4400" dirty="0">
              <a:latin typeface="Calibri" panose="020F0502020204030204" pitchFamily="34" charset="0"/>
              <a:cs typeface="Calibri" panose="020F0502020204030204" pitchFamily="34" charset="0"/>
            </a:endParaRPr>
          </a:p>
        </p:txBody>
      </p:sp>
      <p:sp>
        <p:nvSpPr>
          <p:cNvPr id="1049135" name="Rectangle 4"/>
          <p:cNvSpPr/>
          <p:nvPr/>
        </p:nvSpPr>
        <p:spPr>
          <a:xfrm>
            <a:off x="0" y="0"/>
            <a:ext cx="12192000" cy="631371"/>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endParaRPr lang="en-PK" sz="4000" b="1" dirty="0">
              <a:latin typeface="Calibri" panose="020F0502020204030204" pitchFamily="34" charset="0"/>
              <a:cs typeface="Calibri" panose="020F0502020204030204" pitchFamily="34"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36" name="object 3"/>
          <p:cNvSpPr txBox="1"/>
          <p:nvPr/>
        </p:nvSpPr>
        <p:spPr>
          <a:xfrm>
            <a:off x="342897" y="1240432"/>
            <a:ext cx="4068337" cy="3201517"/>
          </a:xfrm>
          <a:prstGeom prst="rect">
            <a:avLst/>
          </a:prstGeom>
        </p:spPr>
        <p:txBody>
          <a:bodyPr vert="horz" wrap="square" lIns="0" tIns="76835" rIns="0" bIns="0" rtlCol="0">
            <a:spAutoFit/>
          </a:bodyPr>
          <a:lstStyle/>
          <a:p>
            <a:pPr marL="629920" indent="-342900">
              <a:lnSpc>
                <a:spcPct val="100000"/>
              </a:lnSpc>
              <a:spcBef>
                <a:spcPts val="330"/>
              </a:spcBef>
              <a:buFont typeface="Arial" panose="020B0604020202020204" pitchFamily="34" charset="0"/>
              <a:buChar char="•"/>
            </a:pPr>
            <a:r>
              <a:rPr lang="en-US" dirty="0">
                <a:latin typeface="Calibri" panose="020F0502020204030204" pitchFamily="34" charset="0"/>
                <a:ea typeface="Cambria" panose="02040503050406030204" pitchFamily="18" charset="0"/>
                <a:cs typeface="Calibri" panose="020F0502020204030204" pitchFamily="34" charset="0"/>
              </a:rPr>
              <a:t>Representation learning is when a neural network learns how to describe data in a useful way by itself.</a:t>
            </a:r>
          </a:p>
          <a:p>
            <a:pPr marL="629920" indent="-342900">
              <a:lnSpc>
                <a:spcPct val="100000"/>
              </a:lnSpc>
              <a:spcBef>
                <a:spcPts val="330"/>
              </a:spcBef>
              <a:buFont typeface="Arial" panose="020B0604020202020204" pitchFamily="34" charset="0"/>
              <a:buChar char="•"/>
            </a:pPr>
            <a:r>
              <a:rPr lang="en-US" dirty="0">
                <a:latin typeface="Calibri" panose="020F0502020204030204" pitchFamily="34" charset="0"/>
                <a:ea typeface="Cambria" panose="02040503050406030204" pitchFamily="18" charset="0"/>
                <a:cs typeface="Calibri" panose="020F0502020204030204" pitchFamily="34" charset="0"/>
              </a:rPr>
              <a:t>Instead of humans manually choosing all the important features, the network discovers them from the data.</a:t>
            </a:r>
          </a:p>
          <a:p>
            <a:pPr marL="629920" indent="-342900">
              <a:spcBef>
                <a:spcPts val="330"/>
              </a:spcBef>
              <a:buFont typeface="Arial" panose="020B0604020202020204" pitchFamily="34" charset="0"/>
              <a:buChar char="•"/>
            </a:pPr>
            <a:r>
              <a:rPr lang="en-US" dirty="0">
                <a:latin typeface="Calibri" panose="020F0502020204030204" pitchFamily="34" charset="0"/>
                <a:cs typeface="Calibri" panose="020F0502020204030204" pitchFamily="34" charset="0"/>
              </a:rPr>
              <a:t>We do not manually tell the network to learn features. It discovers them during training.</a:t>
            </a:r>
          </a:p>
        </p:txBody>
      </p:sp>
      <p:sp>
        <p:nvSpPr>
          <p:cNvPr id="1049137" name="Rectangle 10"/>
          <p:cNvSpPr/>
          <p:nvPr/>
        </p:nvSpPr>
        <p:spPr>
          <a:xfrm>
            <a:off x="0" y="0"/>
            <a:ext cx="12192000" cy="873760"/>
          </a:xfrm>
          <a:prstGeom prst="rect">
            <a:avLst/>
          </a:prstGeom>
          <a:solidFill>
            <a:srgbClr val="0E2841"/>
          </a:solidFill>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r>
              <a:rPr lang="en-US" sz="3200" b="1" dirty="0">
                <a:latin typeface="Calibri" panose="020F0502020204030204" pitchFamily="34" charset="0"/>
                <a:cs typeface="Calibri" panose="020F0502020204030204" pitchFamily="34" charset="0"/>
              </a:rPr>
              <a:t>4. Representation Learning</a:t>
            </a:r>
            <a:endParaRPr lang="en-PK" sz="3200" b="1" dirty="0">
              <a:latin typeface="Calibri" panose="020F0502020204030204" pitchFamily="34" charset="0"/>
              <a:cs typeface="Calibri" panose="020F0502020204030204" pitchFamily="34" charset="0"/>
            </a:endParaRPr>
          </a:p>
        </p:txBody>
      </p:sp>
      <p:sp>
        <p:nvSpPr>
          <p:cNvPr id="1049138" name="Rectangle 4"/>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r>
              <a:rPr lang="en-US" sz="2400" dirty="0">
                <a:latin typeface="Calibri" panose="020F0502020204030204" pitchFamily="34" charset="0"/>
                <a:cs typeface="Calibri" panose="020F0502020204030204" pitchFamily="34" charset="0"/>
              </a:rPr>
              <a:t>34</a:t>
            </a:r>
            <a:endParaRPr lang="en-PK" sz="2400" dirty="0">
              <a:latin typeface="Calibri" panose="020F0502020204030204" pitchFamily="34" charset="0"/>
              <a:cs typeface="Calibri" panose="020F0502020204030204" pitchFamily="34" charset="0"/>
            </a:endParaRPr>
          </a:p>
        </p:txBody>
      </p:sp>
      <p:sp>
        <p:nvSpPr>
          <p:cNvPr id="1049139" name="TextBox 3"/>
          <p:cNvSpPr txBox="1"/>
          <p:nvPr/>
        </p:nvSpPr>
        <p:spPr>
          <a:xfrm>
            <a:off x="4711700" y="1394428"/>
            <a:ext cx="6180566" cy="369332"/>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r>
              <a:rPr lang="en-US" dirty="0">
                <a:latin typeface="Calibri" panose="020F0502020204030204" pitchFamily="34" charset="0"/>
                <a:cs typeface="Calibri" panose="020F0502020204030204" pitchFamily="34" charset="0"/>
              </a:rPr>
              <a:t>The network learns what information is important for the task.</a:t>
            </a:r>
          </a:p>
        </p:txBody>
      </p:sp>
      <p:pic>
        <p:nvPicPr>
          <p:cNvPr id="3" name="Picture 2">
            <a:extLst>
              <a:ext uri="{FF2B5EF4-FFF2-40B4-BE49-F238E27FC236}">
                <a16:creationId xmlns:a16="http://schemas.microsoft.com/office/drawing/2014/main" id="{A9CD3E03-921E-E0CA-C286-F1F054816CC1}"/>
              </a:ext>
            </a:extLst>
          </p:cNvPr>
          <p:cNvPicPr>
            <a:picLocks noChangeAspect="1"/>
          </p:cNvPicPr>
          <p:nvPr/>
        </p:nvPicPr>
        <p:blipFill>
          <a:blip r:embed="rId2"/>
          <a:stretch>
            <a:fillRect/>
          </a:stretch>
        </p:blipFill>
        <p:spPr>
          <a:xfrm>
            <a:off x="4724400" y="2221684"/>
            <a:ext cx="7204759" cy="3933067"/>
          </a:xfrm>
          <a:prstGeom prst="rect">
            <a:avLst/>
          </a:prstGeom>
        </p:spPr>
      </p:pic>
      <p:sp>
        <p:nvSpPr>
          <p:cNvPr id="5" name="TextBox 13">
            <a:extLst>
              <a:ext uri="{FF2B5EF4-FFF2-40B4-BE49-F238E27FC236}">
                <a16:creationId xmlns:a16="http://schemas.microsoft.com/office/drawing/2014/main" id="{0A65AC65-D2E4-5BAD-EDA3-E774184A4CF4}"/>
              </a:ext>
            </a:extLst>
          </p:cNvPr>
          <p:cNvSpPr txBox="1"/>
          <p:nvPr/>
        </p:nvSpPr>
        <p:spPr>
          <a:xfrm>
            <a:off x="478998" y="4572756"/>
            <a:ext cx="4245402" cy="1877437"/>
          </a:xfrm>
          <a:prstGeom prst="rect">
            <a:avLst/>
          </a:prstGeom>
          <a:noFill/>
        </p:spPr>
        <p:txBody>
          <a:bodyPr wrap="square">
            <a:spAutoFit/>
          </a:bodyPr>
          <a:lstStyle/>
          <a:p>
            <a:pPr>
              <a:buNone/>
            </a:pPr>
            <a:r>
              <a:rPr lang="en-US" sz="1600" b="1" dirty="0">
                <a:latin typeface="Calibri" panose="020F0502020204030204" pitchFamily="34" charset="0"/>
                <a:cs typeface="Calibri" panose="020F0502020204030204" pitchFamily="34" charset="0"/>
              </a:rPr>
              <a:t>Why is it important?</a:t>
            </a:r>
          </a:p>
          <a:p>
            <a:pPr>
              <a:buNone/>
            </a:pPr>
            <a:r>
              <a:rPr lang="en-US" sz="1600" dirty="0">
                <a:latin typeface="Calibri" panose="020F0502020204030204" pitchFamily="34" charset="0"/>
                <a:cs typeface="Calibri" panose="020F0502020204030204" pitchFamily="34" charset="0"/>
              </a:rPr>
              <a:t>Representation learning helps neural networks:</a:t>
            </a:r>
          </a:p>
          <a:p>
            <a:pPr marL="342900" lvl="0" indent="-342900">
              <a:buFont typeface="Arial" panose="020B0604020202020204" pitchFamily="34" charset="0"/>
              <a:buChar char="•"/>
            </a:pPr>
            <a:r>
              <a:rPr lang="en-US" sz="1600" dirty="0">
                <a:latin typeface="Calibri" panose="020F0502020204030204" pitchFamily="34" charset="0"/>
                <a:cs typeface="Calibri" panose="020F0502020204030204" pitchFamily="34" charset="0"/>
              </a:rPr>
              <a:t>automatically learn useful features </a:t>
            </a:r>
          </a:p>
          <a:p>
            <a:pPr marL="342900" lvl="0" indent="-342900">
              <a:buFont typeface="Arial" panose="020B0604020202020204" pitchFamily="34" charset="0"/>
              <a:buChar char="•"/>
            </a:pPr>
            <a:r>
              <a:rPr lang="en-US" sz="1600" dirty="0">
                <a:latin typeface="Calibri" panose="020F0502020204030204" pitchFamily="34" charset="0"/>
                <a:cs typeface="Calibri" panose="020F0502020204030204" pitchFamily="34" charset="0"/>
              </a:rPr>
              <a:t>work with complex data </a:t>
            </a:r>
          </a:p>
          <a:p>
            <a:pPr marL="342900" lvl="0" indent="-342900">
              <a:buFont typeface="Arial" panose="020B0604020202020204" pitchFamily="34" charset="0"/>
              <a:buChar char="•"/>
            </a:pPr>
            <a:r>
              <a:rPr lang="en-US" sz="1600" dirty="0">
                <a:latin typeface="Calibri" panose="020F0502020204030204" pitchFamily="34" charset="0"/>
                <a:cs typeface="Calibri" panose="020F0502020204030204" pitchFamily="34" charset="0"/>
              </a:rPr>
              <a:t>find similarities between data </a:t>
            </a:r>
          </a:p>
          <a:p>
            <a:pPr marL="342900" lvl="0" indent="-342900">
              <a:buFont typeface="Arial" panose="020B0604020202020204" pitchFamily="34" charset="0"/>
              <a:buChar char="•"/>
            </a:pPr>
            <a:r>
              <a:rPr lang="en-US" sz="1600" dirty="0">
                <a:latin typeface="Calibri" panose="020F0502020204030204" pitchFamily="34" charset="0"/>
                <a:cs typeface="Calibri" panose="020F0502020204030204" pitchFamily="34" charset="0"/>
              </a:rPr>
              <a:t>reduce the need for manual feature engineering</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42" name="object 3"/>
          <p:cNvSpPr txBox="1"/>
          <p:nvPr/>
        </p:nvSpPr>
        <p:spPr>
          <a:xfrm>
            <a:off x="152400" y="1196063"/>
            <a:ext cx="4052099" cy="3932487"/>
          </a:xfrm>
          <a:prstGeom prst="rect">
            <a:avLst/>
          </a:prstGeom>
        </p:spPr>
        <p:txBody>
          <a:bodyPr vert="horz" wrap="square" lIns="0" tIns="76835" rIns="0" bIns="0" rtlCol="0">
            <a:spAutoFit/>
          </a:bodyPr>
          <a:lstStyle/>
          <a:p>
            <a:pPr marL="287020" algn="just">
              <a:lnSpc>
                <a:spcPct val="100000"/>
              </a:lnSpc>
              <a:spcBef>
                <a:spcPts val="330"/>
              </a:spcBef>
            </a:pPr>
            <a:r>
              <a:rPr lang="en-US" dirty="0">
                <a:latin typeface="Calibri" panose="020F0502020204030204" pitchFamily="34" charset="0"/>
                <a:ea typeface="Cambria" panose="02040503050406030204" pitchFamily="18" charset="0"/>
                <a:cs typeface="Calibri" panose="020F0502020204030204" pitchFamily="34" charset="0"/>
              </a:rPr>
              <a:t>A feature is a useful property of the input. Neural networks can learn features at different levels.</a:t>
            </a:r>
          </a:p>
          <a:p>
            <a:pPr marL="287020" algn="just">
              <a:lnSpc>
                <a:spcPct val="100000"/>
              </a:lnSpc>
              <a:spcBef>
                <a:spcPts val="330"/>
              </a:spcBef>
            </a:pPr>
            <a:r>
              <a:rPr lang="en-US" b="1" dirty="0">
                <a:latin typeface="Calibri" panose="020F0502020204030204" pitchFamily="34" charset="0"/>
                <a:cs typeface="Calibri" panose="020F0502020204030204" pitchFamily="34" charset="0"/>
              </a:rPr>
              <a:t>Example: Image</a:t>
            </a:r>
          </a:p>
          <a:p>
            <a:pPr marL="629920" indent="-342900" algn="just">
              <a:lnSpc>
                <a:spcPct val="100000"/>
              </a:lnSpc>
              <a:spcBef>
                <a:spcPts val="330"/>
              </a:spcBef>
              <a:buFont typeface="Arial" panose="020B0604020202020204" pitchFamily="34" charset="0"/>
              <a:buChar char="•"/>
            </a:pPr>
            <a:r>
              <a:rPr lang="en-US" b="1" dirty="0">
                <a:latin typeface="Calibri" panose="020F0502020204030204" pitchFamily="34" charset="0"/>
                <a:cs typeface="Calibri" panose="020F0502020204030204" pitchFamily="34" charset="0"/>
              </a:rPr>
              <a:t>Early layers</a:t>
            </a:r>
          </a:p>
          <a:p>
            <a:pPr marL="1087120" lvl="1" indent="-342900" algn="just">
              <a:spcBef>
                <a:spcPts val="330"/>
              </a:spcBef>
              <a:buFont typeface="Arial" panose="020B0604020202020204" pitchFamily="34" charset="0"/>
              <a:buChar char="•"/>
            </a:pPr>
            <a:r>
              <a:rPr lang="en-US" sz="1400" dirty="0">
                <a:latin typeface="Calibri" panose="020F0502020204030204" pitchFamily="34" charset="0"/>
                <a:cs typeface="Calibri" panose="020F0502020204030204" pitchFamily="34" charset="0"/>
              </a:rPr>
              <a:t>Learn simple patterns e.g., Edges, Lines, Colors , Corners </a:t>
            </a:r>
          </a:p>
          <a:p>
            <a:pPr marL="629920" indent="-342900" algn="just">
              <a:lnSpc>
                <a:spcPct val="100000"/>
              </a:lnSpc>
              <a:spcBef>
                <a:spcPts val="330"/>
              </a:spcBef>
              <a:buFont typeface="Arial" panose="020B0604020202020204" pitchFamily="34" charset="0"/>
              <a:buChar char="•"/>
            </a:pPr>
            <a:r>
              <a:rPr lang="en-US" b="1" dirty="0">
                <a:latin typeface="Calibri" panose="020F0502020204030204" pitchFamily="34" charset="0"/>
                <a:cs typeface="Calibri" panose="020F0502020204030204" pitchFamily="34" charset="0"/>
              </a:rPr>
              <a:t>Middle layers</a:t>
            </a:r>
          </a:p>
          <a:p>
            <a:pPr marL="1087120" lvl="1" indent="-342900" algn="just">
              <a:spcBef>
                <a:spcPts val="330"/>
              </a:spcBef>
              <a:buFont typeface="Arial" panose="020B0604020202020204" pitchFamily="34" charset="0"/>
              <a:buChar char="•"/>
            </a:pPr>
            <a:r>
              <a:rPr lang="en-US" sz="1400" dirty="0">
                <a:latin typeface="Calibri" panose="020F0502020204030204" pitchFamily="34" charset="0"/>
                <a:cs typeface="Calibri" panose="020F0502020204030204" pitchFamily="34" charset="0"/>
              </a:rPr>
              <a:t>Learn combinations e.g., Shapes, Textures, Parts of objects </a:t>
            </a:r>
          </a:p>
          <a:p>
            <a:pPr marL="629920" indent="-342900" algn="just">
              <a:lnSpc>
                <a:spcPct val="100000"/>
              </a:lnSpc>
              <a:spcBef>
                <a:spcPts val="330"/>
              </a:spcBef>
              <a:buFont typeface="Arial" panose="020B0604020202020204" pitchFamily="34" charset="0"/>
              <a:buChar char="•"/>
            </a:pPr>
            <a:r>
              <a:rPr lang="en-US" b="1" dirty="0">
                <a:latin typeface="Calibri" panose="020F0502020204030204" pitchFamily="34" charset="0"/>
                <a:cs typeface="Calibri" panose="020F0502020204030204" pitchFamily="34" charset="0"/>
              </a:rPr>
              <a:t>Deep layers</a:t>
            </a:r>
          </a:p>
          <a:p>
            <a:pPr marL="1087120" lvl="1" indent="-342900" algn="just">
              <a:spcBef>
                <a:spcPts val="330"/>
              </a:spcBef>
              <a:buFont typeface="Arial" panose="020B0604020202020204" pitchFamily="34" charset="0"/>
              <a:buChar char="•"/>
            </a:pPr>
            <a:r>
              <a:rPr lang="en-US" sz="1400" dirty="0">
                <a:latin typeface="Calibri" panose="020F0502020204030204" pitchFamily="34" charset="0"/>
                <a:cs typeface="Calibri" panose="020F0502020204030204" pitchFamily="34" charset="0"/>
              </a:rPr>
              <a:t>Learn more meaningful concepts e.g., Eyes, Faces, Wheels, Objects.</a:t>
            </a:r>
          </a:p>
          <a:p>
            <a:pPr marL="287020" algn="just">
              <a:lnSpc>
                <a:spcPct val="100000"/>
              </a:lnSpc>
              <a:spcBef>
                <a:spcPts val="330"/>
              </a:spcBef>
            </a:pPr>
            <a:endParaRPr dirty="0">
              <a:latin typeface="Calibri" panose="020F0502020204030204" pitchFamily="34" charset="0"/>
              <a:ea typeface="Cambria" panose="02040503050406030204" pitchFamily="18" charset="0"/>
              <a:cs typeface="Calibri" panose="020F0502020204030204" pitchFamily="34" charset="0"/>
            </a:endParaRPr>
          </a:p>
        </p:txBody>
      </p:sp>
      <p:sp>
        <p:nvSpPr>
          <p:cNvPr id="1049143" name="Rectangle 10"/>
          <p:cNvSpPr/>
          <p:nvPr/>
        </p:nvSpPr>
        <p:spPr>
          <a:xfrm>
            <a:off x="0" y="0"/>
            <a:ext cx="12192000" cy="873760"/>
          </a:xfrm>
          <a:prstGeom prst="rect">
            <a:avLst/>
          </a:prstGeom>
          <a:solidFill>
            <a:srgbClr val="0E2841"/>
          </a:solidFill>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r>
              <a:rPr lang="en-US" sz="3200" b="1" dirty="0">
                <a:latin typeface="Calibri" panose="020F0502020204030204" pitchFamily="34" charset="0"/>
                <a:cs typeface="Calibri" panose="020F0502020204030204" pitchFamily="34" charset="0"/>
              </a:rPr>
              <a:t>4 (</a:t>
            </a:r>
            <a:r>
              <a:rPr lang="en-US" sz="3200" b="1" dirty="0" err="1">
                <a:latin typeface="Calibri" panose="020F0502020204030204" pitchFamily="34" charset="0"/>
                <a:cs typeface="Calibri" panose="020F0502020204030204" pitchFamily="34" charset="0"/>
              </a:rPr>
              <a:t>i</a:t>
            </a:r>
            <a:r>
              <a:rPr lang="en-US" sz="3200" b="1" dirty="0">
                <a:latin typeface="Calibri" panose="020F0502020204030204" pitchFamily="34" charset="0"/>
                <a:cs typeface="Calibri" panose="020F0502020204030204" pitchFamily="34" charset="0"/>
              </a:rPr>
              <a:t>). Learned Features</a:t>
            </a:r>
            <a:endParaRPr lang="en-PK" sz="3200" b="1" dirty="0">
              <a:latin typeface="Calibri" panose="020F0502020204030204" pitchFamily="34" charset="0"/>
              <a:cs typeface="Calibri" panose="020F0502020204030204" pitchFamily="34" charset="0"/>
            </a:endParaRPr>
          </a:p>
        </p:txBody>
      </p:sp>
      <p:sp>
        <p:nvSpPr>
          <p:cNvPr id="1049144" name="Rectangle 4"/>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r>
              <a:rPr lang="en-US" sz="2400" dirty="0">
                <a:latin typeface="Calibri" panose="020F0502020204030204" pitchFamily="34" charset="0"/>
                <a:cs typeface="Calibri" panose="020F0502020204030204" pitchFamily="34" charset="0"/>
              </a:rPr>
              <a:t>35</a:t>
            </a:r>
            <a:endParaRPr lang="en-PK" sz="2400" dirty="0">
              <a:latin typeface="Calibri" panose="020F0502020204030204" pitchFamily="34" charset="0"/>
              <a:cs typeface="Calibri" panose="020F0502020204030204" pitchFamily="34" charset="0"/>
            </a:endParaRPr>
          </a:p>
        </p:txBody>
      </p:sp>
      <p:sp>
        <p:nvSpPr>
          <p:cNvPr id="1049146" name="TextBox 4"/>
          <p:cNvSpPr txBox="1"/>
          <p:nvPr/>
        </p:nvSpPr>
        <p:spPr>
          <a:xfrm>
            <a:off x="5410200" y="1109872"/>
            <a:ext cx="4862050" cy="707886"/>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r>
              <a:rPr lang="en-US" sz="2000" dirty="0">
                <a:latin typeface="Calibri" panose="020F0502020204030204" pitchFamily="34" charset="0"/>
                <a:cs typeface="Calibri" panose="020F0502020204030204" pitchFamily="34" charset="0"/>
              </a:rPr>
              <a:t>Simple features are learned first; more complex features are built from them.</a:t>
            </a:r>
          </a:p>
        </p:txBody>
      </p:sp>
      <p:pic>
        <p:nvPicPr>
          <p:cNvPr id="3" name="Picture 2">
            <a:extLst>
              <a:ext uri="{FF2B5EF4-FFF2-40B4-BE49-F238E27FC236}">
                <a16:creationId xmlns:a16="http://schemas.microsoft.com/office/drawing/2014/main" id="{9D413A90-CB70-1B11-C455-557228115948}"/>
              </a:ext>
            </a:extLst>
          </p:cNvPr>
          <p:cNvPicPr>
            <a:picLocks noChangeAspect="1"/>
          </p:cNvPicPr>
          <p:nvPr/>
        </p:nvPicPr>
        <p:blipFill>
          <a:blip r:embed="rId2"/>
          <a:stretch>
            <a:fillRect/>
          </a:stretch>
        </p:blipFill>
        <p:spPr>
          <a:xfrm>
            <a:off x="4648200" y="2330869"/>
            <a:ext cx="7176299" cy="3917531"/>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47" name="object 3"/>
          <p:cNvSpPr txBox="1"/>
          <p:nvPr/>
        </p:nvSpPr>
        <p:spPr>
          <a:xfrm>
            <a:off x="152400" y="990600"/>
            <a:ext cx="10210800" cy="385362"/>
          </a:xfrm>
          <a:prstGeom prst="rect">
            <a:avLst/>
          </a:prstGeom>
        </p:spPr>
        <p:txBody>
          <a:bodyPr vert="horz" wrap="square" lIns="0" tIns="76835" rIns="0" bIns="0" rtlCol="0">
            <a:spAutoFit/>
          </a:bodyPr>
          <a:lstStyle/>
          <a:p>
            <a:pPr marL="287020">
              <a:lnSpc>
                <a:spcPct val="100000"/>
              </a:lnSpc>
              <a:spcBef>
                <a:spcPts val="330"/>
              </a:spcBef>
            </a:pPr>
            <a:r>
              <a:rPr lang="en-US" sz="2000" dirty="0">
                <a:latin typeface="Calibri" panose="020F0502020204030204" pitchFamily="34" charset="0"/>
                <a:ea typeface="Cambria" panose="02040503050406030204" pitchFamily="18" charset="0"/>
                <a:cs typeface="Calibri" panose="020F0502020204030204" pitchFamily="34" charset="0"/>
              </a:rPr>
              <a:t>An embedding is a list of numbers that represents something in a way a model can work with.</a:t>
            </a:r>
          </a:p>
        </p:txBody>
      </p:sp>
      <p:sp>
        <p:nvSpPr>
          <p:cNvPr id="1049148" name="Rectangle 9"/>
          <p:cNvSpPr/>
          <p:nvPr/>
        </p:nvSpPr>
        <p:spPr>
          <a:xfrm>
            <a:off x="0" y="0"/>
            <a:ext cx="12192000" cy="873760"/>
          </a:xfrm>
          <a:prstGeom prst="rect">
            <a:avLst/>
          </a:prstGeom>
          <a:solidFill>
            <a:srgbClr val="0E2841"/>
          </a:solidFill>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r>
              <a:rPr lang="en-US" sz="3200" b="1" dirty="0">
                <a:latin typeface="Calibri" panose="020F0502020204030204" pitchFamily="34" charset="0"/>
                <a:cs typeface="Calibri" panose="020F0502020204030204" pitchFamily="34" charset="0"/>
              </a:rPr>
              <a:t>4 (ii). Embeddings</a:t>
            </a:r>
            <a:endParaRPr lang="en-PK" sz="3200" b="1" dirty="0">
              <a:latin typeface="Calibri" panose="020F0502020204030204" pitchFamily="34" charset="0"/>
              <a:cs typeface="Calibri" panose="020F0502020204030204" pitchFamily="34" charset="0"/>
            </a:endParaRPr>
          </a:p>
        </p:txBody>
      </p:sp>
      <p:sp>
        <p:nvSpPr>
          <p:cNvPr id="1049149" name="TextBox 12"/>
          <p:cNvSpPr txBox="1"/>
          <p:nvPr/>
        </p:nvSpPr>
        <p:spPr>
          <a:xfrm>
            <a:off x="381000" y="1752600"/>
            <a:ext cx="9753600" cy="830997"/>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r>
              <a:rPr lang="en-US" sz="2400" dirty="0">
                <a:latin typeface="Calibri" panose="020F0502020204030204" pitchFamily="34" charset="0"/>
                <a:cs typeface="Calibri" panose="020F0502020204030204" pitchFamily="34" charset="0"/>
              </a:rPr>
              <a:t>Similar things have similar embeddings. The model learns these embeddings from data</a:t>
            </a:r>
          </a:p>
        </p:txBody>
      </p:sp>
      <p:pic>
        <p:nvPicPr>
          <p:cNvPr id="2097185" name="Picture 18" descr="Vector Embeddings Explained"/>
          <p:cNvPicPr>
            <a:picLocks noChangeAspect="1"/>
          </p:cNvPicPr>
          <p:nvPr/>
        </p:nvPicPr>
        <p:blipFill>
          <a:blip r:embed="rId3"/>
          <a:srcRect t="12817"/>
          <a:stretch>
            <a:fillRect/>
          </a:stretch>
        </p:blipFill>
        <p:spPr>
          <a:xfrm>
            <a:off x="1066800" y="3823197"/>
            <a:ext cx="3619546" cy="2395563"/>
          </a:xfrm>
          <a:prstGeom prst="rect">
            <a:avLst/>
          </a:prstGeom>
          <a:ln>
            <a:noFill/>
          </a:ln>
          <a:effectLst>
            <a:outerShdw blurRad="190500" algn="tl" rotWithShape="0">
              <a:srgbClr val="000000">
                <a:alpha val="70000"/>
              </a:srgbClr>
            </a:outerShdw>
          </a:effectLst>
        </p:spPr>
      </p:pic>
      <p:sp>
        <p:nvSpPr>
          <p:cNvPr id="1049150" name="Rectangle 4"/>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r>
              <a:rPr lang="en-US" sz="2400" dirty="0">
                <a:latin typeface="Calibri" panose="020F0502020204030204" pitchFamily="34" charset="0"/>
                <a:cs typeface="Calibri" panose="020F0502020204030204" pitchFamily="34" charset="0"/>
              </a:rPr>
              <a:t>36</a:t>
            </a:r>
            <a:endParaRPr lang="en-PK" sz="2400" dirty="0">
              <a:latin typeface="Calibri" panose="020F0502020204030204" pitchFamily="34" charset="0"/>
              <a:cs typeface="Calibri" panose="020F0502020204030204" pitchFamily="34" charset="0"/>
            </a:endParaRPr>
          </a:p>
        </p:txBody>
      </p:sp>
      <p:sp>
        <p:nvSpPr>
          <p:cNvPr id="1049151" name="TextBox 4"/>
          <p:cNvSpPr txBox="1"/>
          <p:nvPr/>
        </p:nvSpPr>
        <p:spPr>
          <a:xfrm>
            <a:off x="381000" y="2794010"/>
            <a:ext cx="9753600" cy="461665"/>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r>
              <a:rPr lang="en-US" sz="2400" dirty="0">
                <a:latin typeface="Calibri" panose="020F0502020204030204" pitchFamily="34" charset="0"/>
                <a:cs typeface="Calibri" panose="020F0502020204030204" pitchFamily="34" charset="0"/>
              </a:rPr>
              <a:t>Embedding = data converted into a useful numerical representation.</a:t>
            </a:r>
          </a:p>
        </p:txBody>
      </p:sp>
      <p:pic>
        <p:nvPicPr>
          <p:cNvPr id="2097187" name="Picture 2" descr="What Are Binary Embeddings? - Zilliz Learn"/>
          <p:cNvPicPr>
            <a:picLocks noChangeAspect="1"/>
          </p:cNvPicPr>
          <p:nvPr/>
        </p:nvPicPr>
        <p:blipFill>
          <a:blip r:embed="rId4"/>
          <a:stretch>
            <a:fillRect/>
          </a:stretch>
        </p:blipFill>
        <p:spPr>
          <a:xfrm>
            <a:off x="6248400" y="3521192"/>
            <a:ext cx="4572000" cy="2823123"/>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52" name="object 3"/>
          <p:cNvSpPr txBox="1"/>
          <p:nvPr/>
        </p:nvSpPr>
        <p:spPr>
          <a:xfrm>
            <a:off x="31955" y="1183264"/>
            <a:ext cx="4790409" cy="1000915"/>
          </a:xfrm>
          <a:prstGeom prst="rect">
            <a:avLst/>
          </a:prstGeom>
        </p:spPr>
        <p:txBody>
          <a:bodyPr vert="horz" wrap="square" lIns="0" tIns="76835" rIns="0" bIns="0" rtlCol="0">
            <a:spAutoFit/>
          </a:bodyPr>
          <a:lstStyle/>
          <a:p>
            <a:pPr marL="287020" rtl="0">
              <a:lnSpc>
                <a:spcPct val="100000"/>
              </a:lnSpc>
              <a:spcBef>
                <a:spcPts val="330"/>
              </a:spcBef>
            </a:pPr>
            <a:r>
              <a:rPr lang="en-US" sz="2000" dirty="0">
                <a:latin typeface="Calibri" panose="020F0502020204030204" pitchFamily="34" charset="0"/>
                <a:ea typeface="Cambria" panose="02040503050406030204" pitchFamily="18" charset="0"/>
                <a:cs typeface="Calibri" panose="020F0502020204030204" pitchFamily="34" charset="0"/>
              </a:rPr>
              <a:t>The latent space is a hidden space where the network stores useful information about the data.</a:t>
            </a:r>
          </a:p>
        </p:txBody>
      </p:sp>
      <p:sp>
        <p:nvSpPr>
          <p:cNvPr id="1049153" name="Rectangle 9"/>
          <p:cNvSpPr/>
          <p:nvPr/>
        </p:nvSpPr>
        <p:spPr>
          <a:xfrm>
            <a:off x="0" y="0"/>
            <a:ext cx="12192000" cy="873760"/>
          </a:xfrm>
          <a:prstGeom prst="rect">
            <a:avLst/>
          </a:prstGeom>
          <a:solidFill>
            <a:srgbClr val="0E2841"/>
          </a:solidFill>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r>
              <a:rPr lang="en-US" sz="3200" b="1" dirty="0">
                <a:latin typeface="Calibri" panose="020F0502020204030204" pitchFamily="34" charset="0"/>
                <a:cs typeface="Calibri" panose="020F0502020204030204" pitchFamily="34" charset="0"/>
              </a:rPr>
              <a:t>4 (iii). Latent Space</a:t>
            </a:r>
            <a:endParaRPr lang="en-PK" sz="3200" b="1" dirty="0">
              <a:latin typeface="Calibri" panose="020F0502020204030204" pitchFamily="34" charset="0"/>
              <a:cs typeface="Calibri" panose="020F0502020204030204" pitchFamily="34" charset="0"/>
            </a:endParaRPr>
          </a:p>
        </p:txBody>
      </p:sp>
      <p:pic>
        <p:nvPicPr>
          <p:cNvPr id="2097188" name="Picture 2"/>
          <p:cNvPicPr>
            <a:picLocks noChangeAspect="1"/>
          </p:cNvPicPr>
          <p:nvPr/>
        </p:nvPicPr>
        <p:blipFill>
          <a:blip r:embed="rId2"/>
          <a:stretch>
            <a:fillRect/>
          </a:stretch>
        </p:blipFill>
        <p:spPr>
          <a:xfrm>
            <a:off x="6316282" y="914401"/>
            <a:ext cx="5209583" cy="3124200"/>
          </a:xfrm>
          <a:prstGeom prst="rect">
            <a:avLst/>
          </a:prstGeom>
        </p:spPr>
      </p:pic>
      <p:pic>
        <p:nvPicPr>
          <p:cNvPr id="2097189" name="Picture 4"/>
          <p:cNvPicPr>
            <a:picLocks noChangeAspect="1"/>
          </p:cNvPicPr>
          <p:nvPr/>
        </p:nvPicPr>
        <p:blipFill>
          <a:blip r:embed="rId3"/>
          <a:stretch>
            <a:fillRect/>
          </a:stretch>
        </p:blipFill>
        <p:spPr>
          <a:xfrm>
            <a:off x="712890" y="4495513"/>
            <a:ext cx="10640910" cy="2057687"/>
          </a:xfrm>
          <a:prstGeom prst="rect">
            <a:avLst/>
          </a:prstGeom>
        </p:spPr>
      </p:pic>
      <p:sp>
        <p:nvSpPr>
          <p:cNvPr id="1049154" name="Rectangle 4"/>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r>
              <a:rPr lang="en-US" sz="2400" dirty="0">
                <a:latin typeface="Calibri" panose="020F0502020204030204" pitchFamily="34" charset="0"/>
                <a:cs typeface="Calibri" panose="020F0502020204030204" pitchFamily="34" charset="0"/>
              </a:rPr>
              <a:t>37</a:t>
            </a:r>
            <a:endParaRPr lang="en-PK" sz="2400" dirty="0">
              <a:latin typeface="Calibri" panose="020F0502020204030204" pitchFamily="34" charset="0"/>
              <a:cs typeface="Calibri" panose="020F0502020204030204" pitchFamily="34" charset="0"/>
            </a:endParaRPr>
          </a:p>
        </p:txBody>
      </p:sp>
      <p:sp>
        <p:nvSpPr>
          <p:cNvPr id="1049155" name="TextBox 3"/>
          <p:cNvSpPr txBox="1"/>
          <p:nvPr/>
        </p:nvSpPr>
        <p:spPr>
          <a:xfrm>
            <a:off x="228600" y="2224819"/>
            <a:ext cx="6087682" cy="2225041"/>
          </a:xfrm>
          <a:prstGeom prst="rect">
            <a:avLst/>
          </a:prstGeom>
          <a:noFill/>
        </p:spPr>
        <p:txBody>
          <a:bodyPr wrap="square">
            <a:spAutoFit/>
          </a:bodyPr>
          <a:lstStyle/>
          <a:p>
            <a:pPr>
              <a:buNone/>
            </a:pPr>
            <a:r>
              <a:rPr lang="en-US" b="1" dirty="0">
                <a:latin typeface="Calibri" panose="020F0502020204030204" pitchFamily="34" charset="0"/>
                <a:cs typeface="Calibri" panose="020F0502020204030204" pitchFamily="34" charset="0"/>
              </a:rPr>
              <a:t>Key Points</a:t>
            </a:r>
          </a:p>
          <a:p>
            <a:pPr marL="342900" lvl="0" indent="-342900">
              <a:buFont typeface="Arial" panose="020B0604020202020204" pitchFamily="34" charset="0"/>
              <a:buChar char="•"/>
            </a:pPr>
            <a:r>
              <a:rPr lang="en-US" dirty="0">
                <a:latin typeface="Calibri" panose="020F0502020204030204" pitchFamily="34" charset="0"/>
                <a:cs typeface="Calibri" panose="020F0502020204030204" pitchFamily="34" charset="0"/>
              </a:rPr>
              <a:t>It is not directly visible or manually designed. </a:t>
            </a:r>
          </a:p>
          <a:p>
            <a:pPr marL="342900" lvl="0" indent="-342900">
              <a:buFont typeface="Arial" panose="020B0604020202020204" pitchFamily="34" charset="0"/>
              <a:buChar char="•"/>
            </a:pPr>
            <a:r>
              <a:rPr lang="en-US" dirty="0">
                <a:latin typeface="Calibri" panose="020F0502020204030204" pitchFamily="34" charset="0"/>
                <a:cs typeface="Calibri" panose="020F0502020204030204" pitchFamily="34" charset="0"/>
              </a:rPr>
              <a:t>The model learns to place similar data points closer and dissimilar points farther. </a:t>
            </a:r>
          </a:p>
          <a:p>
            <a:pPr marL="342900" lvl="0" indent="-342900">
              <a:buFont typeface="Arial" panose="020B0604020202020204" pitchFamily="34" charset="0"/>
              <a:buChar char="•"/>
            </a:pPr>
            <a:r>
              <a:rPr lang="en-US" dirty="0">
                <a:latin typeface="Calibri" panose="020F0502020204030204" pitchFamily="34" charset="0"/>
                <a:cs typeface="Calibri" panose="020F0502020204030204" pitchFamily="34" charset="0"/>
              </a:rPr>
              <a:t>It captures the important information while removing unnecessary details. </a:t>
            </a:r>
          </a:p>
          <a:p>
            <a:pPr marL="342900" lvl="0" indent="-342900">
              <a:buFont typeface="Arial" panose="020B0604020202020204" pitchFamily="34" charset="0"/>
              <a:buChar char="•"/>
            </a:pPr>
            <a:r>
              <a:rPr lang="en-US" dirty="0">
                <a:latin typeface="Calibri" panose="020F0502020204030204" pitchFamily="34" charset="0"/>
                <a:cs typeface="Calibri" panose="020F0502020204030204" pitchFamily="34" charset="0"/>
              </a:rPr>
              <a:t>Helps in tasks like classification, clustering, retrieval and generation.</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56" name="Rectangle 9"/>
          <p:cNvSpPr/>
          <p:nvPr/>
        </p:nvSpPr>
        <p:spPr>
          <a:xfrm>
            <a:off x="4990" y="26016"/>
            <a:ext cx="12192000" cy="873760"/>
          </a:xfrm>
          <a:prstGeom prst="rect">
            <a:avLst/>
          </a:prstGeom>
          <a:solidFill>
            <a:srgbClr val="0E2841"/>
          </a:solidFill>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r>
              <a:rPr lang="en-US" sz="3200" b="1" dirty="0">
                <a:latin typeface="Calibri" panose="020F0502020204030204" pitchFamily="34" charset="0"/>
                <a:cs typeface="Calibri" panose="020F0502020204030204" pitchFamily="34" charset="0"/>
              </a:rPr>
              <a:t>4 (iv). Embeddings &amp; Latent Space</a:t>
            </a:r>
            <a:endParaRPr lang="en-PK" sz="3200" b="1" dirty="0">
              <a:latin typeface="Calibri" panose="020F0502020204030204" pitchFamily="34" charset="0"/>
              <a:cs typeface="Calibri" panose="020F0502020204030204" pitchFamily="34" charset="0"/>
            </a:endParaRPr>
          </a:p>
        </p:txBody>
      </p:sp>
      <p:pic>
        <p:nvPicPr>
          <p:cNvPr id="2097191" name="Picture 2" descr="Multimodal Embedding - GeeksforGeeks"/>
          <p:cNvPicPr>
            <a:picLocks noChangeAspect="1"/>
          </p:cNvPicPr>
          <p:nvPr/>
        </p:nvPicPr>
        <p:blipFill>
          <a:blip r:embed="rId2"/>
          <a:srcRect l="8950" r="2362"/>
          <a:stretch>
            <a:fillRect/>
          </a:stretch>
        </p:blipFill>
        <p:spPr>
          <a:xfrm>
            <a:off x="6919366" y="1140231"/>
            <a:ext cx="4834082" cy="3144858"/>
          </a:xfrm>
          <a:prstGeom prst="rect">
            <a:avLst/>
          </a:prstGeom>
        </p:spPr>
      </p:pic>
      <p:sp>
        <p:nvSpPr>
          <p:cNvPr id="1049157" name="Rectangle 4"/>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r>
              <a:rPr lang="en-US" sz="2400" dirty="0">
                <a:latin typeface="Calibri" panose="020F0502020204030204" pitchFamily="34" charset="0"/>
                <a:cs typeface="Calibri" panose="020F0502020204030204" pitchFamily="34" charset="0"/>
              </a:rPr>
              <a:t>38</a:t>
            </a:r>
            <a:endParaRPr lang="en-PK" sz="2400" dirty="0">
              <a:latin typeface="Calibri" panose="020F0502020204030204" pitchFamily="34" charset="0"/>
              <a:cs typeface="Calibri" panose="020F0502020204030204" pitchFamily="34" charset="0"/>
            </a:endParaRPr>
          </a:p>
        </p:txBody>
      </p:sp>
      <p:pic>
        <p:nvPicPr>
          <p:cNvPr id="7" name="Picture 6">
            <a:extLst>
              <a:ext uri="{FF2B5EF4-FFF2-40B4-BE49-F238E27FC236}">
                <a16:creationId xmlns:a16="http://schemas.microsoft.com/office/drawing/2014/main" id="{6C8E5FC7-AEDC-9E4D-6A71-76E255E9D100}"/>
              </a:ext>
            </a:extLst>
          </p:cNvPr>
          <p:cNvPicPr>
            <a:picLocks noChangeAspect="1"/>
          </p:cNvPicPr>
          <p:nvPr/>
        </p:nvPicPr>
        <p:blipFill>
          <a:blip r:embed="rId3"/>
          <a:stretch>
            <a:fillRect/>
          </a:stretch>
        </p:blipFill>
        <p:spPr>
          <a:xfrm>
            <a:off x="519760" y="2305607"/>
            <a:ext cx="5573165" cy="4092793"/>
          </a:xfrm>
          <a:prstGeom prst="rect">
            <a:avLst/>
          </a:prstGeom>
        </p:spPr>
      </p:pic>
      <p:sp>
        <p:nvSpPr>
          <p:cNvPr id="9" name="TextBox 8">
            <a:extLst>
              <a:ext uri="{FF2B5EF4-FFF2-40B4-BE49-F238E27FC236}">
                <a16:creationId xmlns:a16="http://schemas.microsoft.com/office/drawing/2014/main" id="{C6A8AF93-382F-8B1F-ED9D-037F005CEDEE}"/>
              </a:ext>
            </a:extLst>
          </p:cNvPr>
          <p:cNvSpPr txBox="1"/>
          <p:nvPr/>
        </p:nvSpPr>
        <p:spPr>
          <a:xfrm>
            <a:off x="6822383" y="4700924"/>
            <a:ext cx="4775200" cy="1569660"/>
          </a:xfrm>
          <a:prstGeom prst="rect">
            <a:avLst/>
          </a:prstGeom>
          <a:noFill/>
        </p:spPr>
        <p:txBody>
          <a:bodyPr wrap="square">
            <a:spAutoFit/>
          </a:bodyPr>
          <a:lstStyle/>
          <a:p>
            <a:pPr>
              <a:buNone/>
            </a:pPr>
            <a:r>
              <a:rPr lang="en-US" sz="1600" b="1" dirty="0">
                <a:latin typeface="Calibri" panose="020F0502020204030204" pitchFamily="34" charset="0"/>
                <a:cs typeface="Calibri" panose="020F0502020204030204" pitchFamily="34" charset="0"/>
              </a:rPr>
              <a:t>Latent Space</a:t>
            </a:r>
          </a:p>
          <a:p>
            <a:pPr marL="342900" lvl="0" indent="-342900">
              <a:buFont typeface="Arial" panose="020B0604020202020204" pitchFamily="34" charset="0"/>
              <a:buChar char="•"/>
            </a:pPr>
            <a:r>
              <a:rPr lang="en-US" sz="1600" dirty="0">
                <a:latin typeface="Calibri" panose="020F0502020204030204" pitchFamily="34" charset="0"/>
                <a:cs typeface="Calibri" panose="020F0502020204030204" pitchFamily="34" charset="0"/>
              </a:rPr>
              <a:t>Latent Space: A learned space where embeddings are organized based on their meaning and relationships. </a:t>
            </a:r>
          </a:p>
          <a:p>
            <a:pPr marL="342900" lvl="0" indent="-342900">
              <a:buFont typeface="Arial" panose="020B0604020202020204" pitchFamily="34" charset="0"/>
              <a:buChar char="•"/>
            </a:pPr>
            <a:r>
              <a:rPr lang="en-US" sz="1600" dirty="0">
                <a:latin typeface="Calibri" panose="020F0502020204030204" pitchFamily="34" charset="0"/>
                <a:cs typeface="Calibri" panose="020F0502020204030204" pitchFamily="34" charset="0"/>
              </a:rPr>
              <a:t>Similar objects → placed closer together. </a:t>
            </a:r>
          </a:p>
          <a:p>
            <a:pPr marL="342900" lvl="0" indent="-342900">
              <a:buFont typeface="Arial" panose="020B0604020202020204" pitchFamily="34" charset="0"/>
              <a:buChar char="•"/>
            </a:pPr>
            <a:r>
              <a:rPr lang="en-US" sz="1600" dirty="0">
                <a:latin typeface="Calibri" panose="020F0502020204030204" pitchFamily="34" charset="0"/>
                <a:cs typeface="Calibri" panose="020F0502020204030204" pitchFamily="34" charset="0"/>
              </a:rPr>
              <a:t>Different objects → placed farther apart.</a:t>
            </a:r>
          </a:p>
        </p:txBody>
      </p:sp>
      <p:sp>
        <p:nvSpPr>
          <p:cNvPr id="11" name="TextBox 10">
            <a:extLst>
              <a:ext uri="{FF2B5EF4-FFF2-40B4-BE49-F238E27FC236}">
                <a16:creationId xmlns:a16="http://schemas.microsoft.com/office/drawing/2014/main" id="{0A0CD107-3A87-A479-3799-CBA94087B2B8}"/>
              </a:ext>
            </a:extLst>
          </p:cNvPr>
          <p:cNvSpPr txBox="1"/>
          <p:nvPr/>
        </p:nvSpPr>
        <p:spPr>
          <a:xfrm>
            <a:off x="413347" y="1054984"/>
            <a:ext cx="5987452" cy="1077218"/>
          </a:xfrm>
          <a:prstGeom prst="rect">
            <a:avLst/>
          </a:prstGeom>
          <a:noFill/>
        </p:spPr>
        <p:txBody>
          <a:bodyPr wrap="square">
            <a:spAutoFit/>
          </a:bodyPr>
          <a:lstStyle/>
          <a:p>
            <a:pPr>
              <a:buNone/>
            </a:pPr>
            <a:r>
              <a:rPr lang="en-US" sz="1600" b="1" dirty="0">
                <a:latin typeface="Calibri" panose="020F0502020204030204" pitchFamily="34" charset="0"/>
                <a:cs typeface="Calibri" panose="020F0502020204030204" pitchFamily="34" charset="0"/>
              </a:rPr>
              <a:t>Embedding</a:t>
            </a:r>
          </a:p>
          <a:p>
            <a:pPr marL="342900" lvl="0" indent="-342900">
              <a:buFont typeface="Arial" panose="020B0604020202020204" pitchFamily="34" charset="0"/>
              <a:buChar char="•"/>
            </a:pPr>
            <a:r>
              <a:rPr lang="en-US" sz="1600" dirty="0">
                <a:latin typeface="Calibri" panose="020F0502020204030204" pitchFamily="34" charset="0"/>
                <a:cs typeface="Calibri" panose="020F0502020204030204" pitchFamily="34" charset="0"/>
              </a:rPr>
              <a:t>Embedding: A numerical representation of an object that captures its meaning or important features. </a:t>
            </a:r>
          </a:p>
          <a:p>
            <a:pPr marL="342900" lvl="0" indent="-342900">
              <a:buFont typeface="Arial" panose="020B0604020202020204" pitchFamily="34" charset="0"/>
              <a:buChar char="•"/>
            </a:pPr>
            <a:r>
              <a:rPr lang="en-US" sz="1600" dirty="0">
                <a:latin typeface="Calibri" panose="020F0502020204030204" pitchFamily="34" charset="0"/>
                <a:cs typeface="Calibri" panose="020F0502020204030204" pitchFamily="34" charset="0"/>
              </a:rPr>
              <a:t>Example: Cat → [0.8, 0.3, 0.4, …] </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7" name="TextBox 6"/>
          <p:cNvSpPr txBox="1"/>
          <p:nvPr/>
        </p:nvSpPr>
        <p:spPr>
          <a:xfrm>
            <a:off x="3810000" y="949949"/>
            <a:ext cx="4648200" cy="5450851"/>
          </a:xfrm>
          <a:prstGeom prst="rect">
            <a:avLst/>
          </a:prstGeom>
          <a:solidFill>
            <a:schemeClr val="accent1">
              <a:lumMod val="20000"/>
              <a:lumOff val="80000"/>
            </a:schemeClr>
          </a:solidFill>
        </p:spPr>
        <p:style>
          <a:lnRef idx="1">
            <a:schemeClr val="accent5"/>
          </a:lnRef>
          <a:fillRef idx="2">
            <a:schemeClr val="accent5"/>
          </a:fillRef>
          <a:effectRef idx="1">
            <a:schemeClr val="accent5"/>
          </a:effectRef>
          <a:fontRef idx="minor">
            <a:schemeClr val="dk1"/>
          </a:fontRef>
        </p:style>
        <p:txBody>
          <a:bodyPr wrap="square">
            <a:spAutoFit/>
          </a:bodyPr>
          <a:lstStyle/>
          <a:p>
            <a:pPr>
              <a:lnSpc>
                <a:spcPct val="150000"/>
              </a:lnSpc>
            </a:pPr>
            <a:r>
              <a:rPr lang="en-US" b="1" dirty="0">
                <a:latin typeface="Calibri" panose="020F0502020204030204" pitchFamily="34" charset="0"/>
                <a:cs typeface="Calibri" panose="020F0502020204030204" pitchFamily="34" charset="0"/>
              </a:rPr>
              <a:t>1.  Multimodal Embeddings </a:t>
            </a:r>
          </a:p>
          <a:p>
            <a:pPr>
              <a:lnSpc>
                <a:spcPct val="150000"/>
              </a:lnSpc>
            </a:pPr>
            <a:r>
              <a:rPr lang="en-US" b="1" dirty="0">
                <a:latin typeface="Calibri" panose="020F0502020204030204" pitchFamily="34" charset="0"/>
                <a:cs typeface="Calibri" panose="020F0502020204030204" pitchFamily="34" charset="0"/>
              </a:rPr>
              <a:t>2. Convolutional Neural Networks (CNNs)</a:t>
            </a:r>
          </a:p>
          <a:p>
            <a:pPr>
              <a:lnSpc>
                <a:spcPct val="150000"/>
              </a:lnSpc>
            </a:pPr>
            <a:r>
              <a:rPr lang="en-US" dirty="0">
                <a:latin typeface="Calibri" panose="020F0502020204030204" pitchFamily="34" charset="0"/>
                <a:cs typeface="Calibri" panose="020F0502020204030204" pitchFamily="34" charset="0"/>
              </a:rPr>
              <a:t>  I.  Convolution Operation</a:t>
            </a:r>
          </a:p>
          <a:p>
            <a:pPr>
              <a:lnSpc>
                <a:spcPct val="150000"/>
              </a:lnSpc>
            </a:pPr>
            <a:r>
              <a:rPr lang="en-US" b="1" dirty="0">
                <a:latin typeface="Calibri" panose="020F0502020204030204" pitchFamily="34" charset="0"/>
                <a:cs typeface="Calibri" panose="020F0502020204030204" pitchFamily="34" charset="0"/>
              </a:rPr>
              <a:t>3. Types of Layers</a:t>
            </a:r>
          </a:p>
          <a:p>
            <a:pPr>
              <a:lnSpc>
                <a:spcPct val="150000"/>
              </a:lnSpc>
            </a:pPr>
            <a:r>
              <a:rPr lang="en-US" dirty="0">
                <a:latin typeface="Calibri" panose="020F0502020204030204" pitchFamily="34" charset="0"/>
                <a:cs typeface="Calibri" panose="020F0502020204030204" pitchFamily="34" charset="0"/>
              </a:rPr>
              <a:t>   I. Max Pooling</a:t>
            </a:r>
          </a:p>
          <a:p>
            <a:pPr>
              <a:lnSpc>
                <a:spcPct val="150000"/>
              </a:lnSpc>
            </a:pPr>
            <a:r>
              <a:rPr lang="en-US" dirty="0">
                <a:latin typeface="Calibri" panose="020F0502020204030204" pitchFamily="34" charset="0"/>
                <a:cs typeface="Calibri" panose="020F0502020204030204" pitchFamily="34" charset="0"/>
              </a:rPr>
              <a:t>   II. Average pooling</a:t>
            </a:r>
          </a:p>
          <a:p>
            <a:pPr>
              <a:lnSpc>
                <a:spcPct val="150000"/>
              </a:lnSpc>
            </a:pPr>
            <a:r>
              <a:rPr lang="en-US" b="1" dirty="0">
                <a:latin typeface="Calibri" panose="020F0502020204030204" pitchFamily="34" charset="0"/>
                <a:cs typeface="Calibri" panose="020F0502020204030204" pitchFamily="34" charset="0"/>
              </a:rPr>
              <a:t>4. CNN for Classification</a:t>
            </a:r>
          </a:p>
          <a:p>
            <a:pPr>
              <a:lnSpc>
                <a:spcPct val="150000"/>
              </a:lnSpc>
            </a:pPr>
            <a:r>
              <a:rPr lang="en-US" dirty="0">
                <a:latin typeface="Calibri" panose="020F0502020204030204" pitchFamily="34" charset="0"/>
                <a:cs typeface="Calibri" panose="020F0502020204030204" pitchFamily="34" charset="0"/>
              </a:rPr>
              <a:t>  I. Applications of CNNs</a:t>
            </a:r>
          </a:p>
          <a:p>
            <a:pPr>
              <a:lnSpc>
                <a:spcPct val="150000"/>
              </a:lnSpc>
            </a:pPr>
            <a:r>
              <a:rPr lang="en-US" b="1" dirty="0">
                <a:latin typeface="Calibri" panose="020F0502020204030204" pitchFamily="34" charset="0"/>
                <a:cs typeface="Calibri" panose="020F0502020204030204" pitchFamily="34" charset="0"/>
              </a:rPr>
              <a:t>5. Transformer</a:t>
            </a:r>
          </a:p>
          <a:p>
            <a:pPr>
              <a:lnSpc>
                <a:spcPct val="150000"/>
              </a:lnSpc>
            </a:pPr>
            <a:r>
              <a:rPr lang="en-US" dirty="0">
                <a:latin typeface="Calibri" panose="020F0502020204030204" pitchFamily="34" charset="0"/>
                <a:cs typeface="Calibri" panose="020F0502020204030204" pitchFamily="34" charset="0"/>
              </a:rPr>
              <a:t>  I. Attention Mechanism</a:t>
            </a:r>
          </a:p>
          <a:p>
            <a:pPr>
              <a:lnSpc>
                <a:spcPct val="150000"/>
              </a:lnSpc>
            </a:pPr>
            <a:r>
              <a:rPr lang="en-US" dirty="0">
                <a:latin typeface="Calibri" panose="020F0502020204030204" pitchFamily="34" charset="0"/>
                <a:cs typeface="Calibri" panose="020F0502020204030204" pitchFamily="34" charset="0"/>
              </a:rPr>
              <a:t>  II. Why Transformers Matter for Multimodal AI</a:t>
            </a:r>
          </a:p>
          <a:p>
            <a:pPr>
              <a:lnSpc>
                <a:spcPct val="150000"/>
              </a:lnSpc>
            </a:pPr>
            <a:r>
              <a:rPr lang="en-US" b="1" dirty="0">
                <a:latin typeface="Calibri" panose="020F0502020204030204" pitchFamily="34" charset="0"/>
                <a:cs typeface="Calibri" panose="020F0502020204030204" pitchFamily="34" charset="0"/>
              </a:rPr>
              <a:t>6. CNNs vs. Transformers</a:t>
            </a:r>
          </a:p>
          <a:p>
            <a:pPr>
              <a:lnSpc>
                <a:spcPct val="150000"/>
              </a:lnSpc>
            </a:pPr>
            <a:r>
              <a:rPr lang="en-US" b="1" dirty="0">
                <a:latin typeface="Calibri" panose="020F0502020204030204" pitchFamily="34" charset="0"/>
                <a:cs typeface="Calibri" panose="020F0502020204030204" pitchFamily="34" charset="0"/>
              </a:rPr>
              <a:t>7. From CNNs &amp; Transformers to Multimodal AI</a:t>
            </a:r>
          </a:p>
        </p:txBody>
      </p:sp>
      <p:sp>
        <p:nvSpPr>
          <p:cNvPr id="1048598" name="Rectangle 8"/>
          <p:cNvSpPr/>
          <p:nvPr/>
        </p:nvSpPr>
        <p:spPr>
          <a:xfrm>
            <a:off x="-1" y="0"/>
            <a:ext cx="12192001" cy="873760"/>
          </a:xfrm>
          <a:prstGeom prst="rect">
            <a:avLst/>
          </a:prstGeom>
          <a:solidFill>
            <a:srgbClr val="0E2841"/>
          </a:solidFill>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ctr"/>
            <a:r>
              <a:rPr lang="en-US" sz="4400" b="1" dirty="0">
                <a:latin typeface="Calibri" panose="020F0502020204030204" pitchFamily="34" charset="0"/>
                <a:cs typeface="Calibri" panose="020F0502020204030204" pitchFamily="34" charset="0"/>
              </a:rPr>
              <a:t>Next Topics</a:t>
            </a:r>
            <a:endParaRPr lang="en-PK" sz="4400" b="1" dirty="0">
              <a:latin typeface="Calibri" panose="020F0502020204030204" pitchFamily="34" charset="0"/>
              <a:cs typeface="Calibri" panose="020F0502020204030204" pitchFamily="34" charset="0"/>
            </a:endParaRPr>
          </a:p>
        </p:txBody>
      </p:sp>
      <p:sp>
        <p:nvSpPr>
          <p:cNvPr id="1048599" name="Rectangle 4"/>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r>
              <a:rPr lang="en-US" sz="2400" dirty="0">
                <a:latin typeface="Calibri" panose="020F0502020204030204" pitchFamily="34" charset="0"/>
                <a:cs typeface="Calibri" panose="020F0502020204030204" pitchFamily="34" charset="0"/>
              </a:rPr>
              <a:t>2</a:t>
            </a:r>
            <a:endParaRPr lang="en-PK" sz="2400" dirty="0">
              <a:latin typeface="Calibri" panose="020F0502020204030204" pitchFamily="34" charset="0"/>
              <a:cs typeface="Calibri" panose="020F0502020204030204" pitchFamily="34" charset="0"/>
            </a:endParaRPr>
          </a:p>
        </p:txBody>
      </p:sp>
    </p:spTree>
  </p:cSld>
  <p:clrMapOvr>
    <a:masterClrMapping/>
  </p:clrMapOvr>
</p:sld>
</file>

<file path=ppt/theme/theme1.xml><?xml version="1.0" encoding="utf-8"?>
<a:theme xmlns:a="http://schemas.openxmlformats.org/drawingml/2006/main" name="Axis">
  <a:themeElements>
    <a:clrScheme name="Southwestern">
      <a:dk1>
        <a:srgbClr val="000000"/>
      </a:dk1>
      <a:lt1>
        <a:srgbClr val="FFFFFF"/>
      </a:lt1>
      <a:dk2>
        <a:srgbClr val="0E2841"/>
      </a:dk2>
      <a:lt2>
        <a:srgbClr val="E8E8E8"/>
      </a:lt2>
      <a:accent1>
        <a:srgbClr val="A8BABF"/>
      </a:accent1>
      <a:accent2>
        <a:srgbClr val="C16A38"/>
      </a:accent2>
      <a:accent3>
        <a:srgbClr val="7B441F"/>
      </a:accent3>
      <a:accent4>
        <a:srgbClr val="DAC68B"/>
      </a:accent4>
      <a:accent5>
        <a:srgbClr val="B6BAA5"/>
      </a:accent5>
      <a:accent6>
        <a:srgbClr val="716C34"/>
      </a:accent6>
      <a:hlink>
        <a:srgbClr val="467886"/>
      </a:hlink>
      <a:folHlink>
        <a:srgbClr val="96607D"/>
      </a:folHlink>
    </a:clrScheme>
    <a:fontScheme name="Custom 13">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749</TotalTime>
  <Words>4594</Words>
  <Application>Microsoft Office PowerPoint</Application>
  <PresentationFormat>Widescreen</PresentationFormat>
  <Paragraphs>583</Paragraphs>
  <Slides>39</Slides>
  <Notes>8</Notes>
  <HiddenSlides>0</HiddenSlides>
  <MMClips>1</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39</vt:i4>
      </vt:variant>
    </vt:vector>
  </HeadingPairs>
  <TitlesOfParts>
    <vt:vector size="47" baseType="lpstr">
      <vt:lpstr>Google Sans Text</vt:lpstr>
      <vt:lpstr>Aptos</vt:lpstr>
      <vt:lpstr>Arial</vt:lpstr>
      <vt:lpstr>Calibri</vt:lpstr>
      <vt:lpstr>Cambria</vt:lpstr>
      <vt:lpstr>Cambria Math</vt:lpstr>
      <vt:lpstr>Neue Haas Grotesk Text Pro</vt:lpstr>
      <vt:lpstr>Axis</vt:lpstr>
      <vt:lpstr>Deep Learning Foundations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Sigmoid Function (Logistic)</vt:lpstr>
      <vt:lpstr>Softmax Function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무함마드칸</cp:lastModifiedBy>
  <cp:revision>25</cp:revision>
  <dcterms:created xsi:type="dcterms:W3CDTF">2026-08-07T00:00:10Z</dcterms:created>
  <dcterms:modified xsi:type="dcterms:W3CDTF">2026-09-17T04:26:47Z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2026-01-11T00:00:00Z</vt:filetime>
  </property>
  <property fmtid="{D5CDD505-2E9C-101B-9397-08002B2CF9AE}" pid="3" name="Creator">
    <vt:lpwstr>Microsoft® PowerPoint® for Microsoft 365</vt:lpwstr>
  </property>
  <property fmtid="{D5CDD505-2E9C-101B-9397-08002B2CF9AE}" pid="4" name="LastSaved">
    <vt:filetime>2026-08-08T00:00:00Z</vt:filetime>
  </property>
  <property fmtid="{D5CDD505-2E9C-101B-9397-08002B2CF9AE}" pid="5" name="Producer">
    <vt:lpwstr>Microsoft® PowerPoint® for Microsoft 365</vt:lpwstr>
  </property>
  <property fmtid="{D5CDD505-2E9C-101B-9397-08002B2CF9AE}" pid="6" name="ICV">
    <vt:lpwstr>76f13155a68e4614945af027822aadd8_23</vt:lpwstr>
  </property>
</Properties>
</file>
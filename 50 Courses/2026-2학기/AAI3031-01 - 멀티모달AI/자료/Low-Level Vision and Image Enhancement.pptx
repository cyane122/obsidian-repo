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29"/>
  </p:notesMasterIdLst>
  <p:sldIdLst>
    <p:sldId id="285" r:id="rId2"/>
    <p:sldId id="332" r:id="rId3"/>
    <p:sldId id="354" r:id="rId4"/>
    <p:sldId id="335" r:id="rId5"/>
    <p:sldId id="339" r:id="rId6"/>
    <p:sldId id="341" r:id="rId7"/>
    <p:sldId id="340" r:id="rId8"/>
    <p:sldId id="358" r:id="rId9"/>
    <p:sldId id="342" r:id="rId10"/>
    <p:sldId id="355" r:id="rId11"/>
    <p:sldId id="343" r:id="rId12"/>
    <p:sldId id="349" r:id="rId13"/>
    <p:sldId id="350" r:id="rId14"/>
    <p:sldId id="351" r:id="rId15"/>
    <p:sldId id="345" r:id="rId16"/>
    <p:sldId id="346" r:id="rId17"/>
    <p:sldId id="365" r:id="rId18"/>
    <p:sldId id="347" r:id="rId19"/>
    <p:sldId id="364" r:id="rId20"/>
    <p:sldId id="362" r:id="rId21"/>
    <p:sldId id="363" r:id="rId22"/>
    <p:sldId id="348" r:id="rId23"/>
    <p:sldId id="366" r:id="rId24"/>
    <p:sldId id="357" r:id="rId25"/>
    <p:sldId id="359" r:id="rId26"/>
    <p:sldId id="360" r:id="rId27"/>
    <p:sldId id="35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E6541A"/>
    <a:srgbClr val="F05510"/>
    <a:srgbClr val="C488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9" autoAdjust="0"/>
    <p:restoredTop sz="86420" autoAdjust="0"/>
  </p:normalViewPr>
  <p:slideViewPr>
    <p:cSldViewPr snapToGrid="0">
      <p:cViewPr varScale="1">
        <p:scale>
          <a:sx n="95" d="100"/>
          <a:sy n="95" d="100"/>
        </p:scale>
        <p:origin x="117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EF72B4-5392-42B1-AEF0-2B8DF0A0DF2F}" type="doc">
      <dgm:prSet loTypeId="urn:microsoft.com/office/officeart/2005/8/layout/list1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5AB07F51-32B1-4C9D-9782-4A17EA578F02}">
      <dgm:prSet/>
      <dgm:spPr/>
      <dgm:t>
        <a:bodyPr/>
        <a:lstStyle/>
        <a:p>
          <a:r>
            <a:rPr lang="en-US" dirty="0"/>
            <a:t>1. Motivation</a:t>
          </a:r>
        </a:p>
      </dgm:t>
    </dgm:pt>
    <dgm:pt modelId="{44B51259-CB0E-45C1-97A7-A20095DD3BC4}" type="parTrans" cxnId="{1BE64679-DDA6-4259-8673-9E5B5C1A4A43}">
      <dgm:prSet/>
      <dgm:spPr/>
      <dgm:t>
        <a:bodyPr/>
        <a:lstStyle/>
        <a:p>
          <a:endParaRPr lang="en-US"/>
        </a:p>
      </dgm:t>
    </dgm:pt>
    <dgm:pt modelId="{AEC27517-934C-4E58-A57B-2B799EBF1092}" type="sibTrans" cxnId="{1BE64679-DDA6-4259-8673-9E5B5C1A4A43}">
      <dgm:prSet/>
      <dgm:spPr/>
      <dgm:t>
        <a:bodyPr/>
        <a:lstStyle/>
        <a:p>
          <a:endParaRPr lang="en-US"/>
        </a:p>
      </dgm:t>
    </dgm:pt>
    <dgm:pt modelId="{645A46E5-A728-49F2-A8C1-2190748D8391}">
      <dgm:prSet/>
      <dgm:spPr/>
      <dgm:t>
        <a:bodyPr/>
        <a:lstStyle/>
        <a:p>
          <a:r>
            <a:rPr lang="en-US" dirty="0"/>
            <a:t>2. Major Contributions</a:t>
          </a:r>
        </a:p>
      </dgm:t>
    </dgm:pt>
    <dgm:pt modelId="{0139845C-7D59-458D-9826-DF3CC3E417E7}" type="parTrans" cxnId="{92D0B698-A1B9-40FE-94CF-5156A9C1123D}">
      <dgm:prSet/>
      <dgm:spPr/>
      <dgm:t>
        <a:bodyPr/>
        <a:lstStyle/>
        <a:p>
          <a:endParaRPr lang="en-US"/>
        </a:p>
      </dgm:t>
    </dgm:pt>
    <dgm:pt modelId="{4479363E-5925-46F2-9725-445A0A443A2C}" type="sibTrans" cxnId="{92D0B698-A1B9-40FE-94CF-5156A9C1123D}">
      <dgm:prSet/>
      <dgm:spPr/>
      <dgm:t>
        <a:bodyPr/>
        <a:lstStyle/>
        <a:p>
          <a:endParaRPr lang="en-US"/>
        </a:p>
      </dgm:t>
    </dgm:pt>
    <dgm:pt modelId="{4E262175-132D-443B-BEF8-09844120BF74}">
      <dgm:prSet/>
      <dgm:spPr/>
      <dgm:t>
        <a:bodyPr/>
        <a:lstStyle/>
        <a:p>
          <a:r>
            <a:rPr lang="en-US" dirty="0"/>
            <a:t>3. HazeSpace2M (1</a:t>
          </a:r>
          <a:r>
            <a:rPr lang="en-US" baseline="30000" dirty="0"/>
            <a:t>st</a:t>
          </a:r>
          <a:r>
            <a:rPr lang="en-US" dirty="0"/>
            <a:t> Contribution)</a:t>
          </a:r>
        </a:p>
      </dgm:t>
    </dgm:pt>
    <dgm:pt modelId="{08759E98-93CA-48E5-B6BA-C63E1C06F434}" type="parTrans" cxnId="{37706F1C-0566-4A14-ABBA-B97A38FD647E}">
      <dgm:prSet/>
      <dgm:spPr/>
      <dgm:t>
        <a:bodyPr/>
        <a:lstStyle/>
        <a:p>
          <a:endParaRPr lang="en-US"/>
        </a:p>
      </dgm:t>
    </dgm:pt>
    <dgm:pt modelId="{A36A3AD0-1331-4A5F-8F01-9D40BB4B13F0}" type="sibTrans" cxnId="{37706F1C-0566-4A14-ABBA-B97A38FD647E}">
      <dgm:prSet/>
      <dgm:spPr/>
      <dgm:t>
        <a:bodyPr/>
        <a:lstStyle/>
        <a:p>
          <a:endParaRPr lang="en-US"/>
        </a:p>
      </dgm:t>
    </dgm:pt>
    <dgm:pt modelId="{E6DBD63C-6A3F-4DBD-AEDE-AA28B75ED839}">
      <dgm:prSet/>
      <dgm:spPr/>
      <dgm:t>
        <a:bodyPr/>
        <a:lstStyle/>
        <a:p>
          <a:r>
            <a:rPr lang="en-US" dirty="0"/>
            <a:t>4. LoLI-Street (2</a:t>
          </a:r>
          <a:r>
            <a:rPr lang="en-US" baseline="30000" dirty="0"/>
            <a:t>nd</a:t>
          </a:r>
          <a:r>
            <a:rPr lang="en-US" dirty="0"/>
            <a:t> Contribution)</a:t>
          </a:r>
        </a:p>
      </dgm:t>
    </dgm:pt>
    <dgm:pt modelId="{25E43A3E-B53C-438F-99D1-4CAB3996E7AE}" type="parTrans" cxnId="{8B0C1F21-A458-4C32-8487-8253EDDE54F0}">
      <dgm:prSet/>
      <dgm:spPr/>
      <dgm:t>
        <a:bodyPr/>
        <a:lstStyle/>
        <a:p>
          <a:endParaRPr lang="en-US"/>
        </a:p>
      </dgm:t>
    </dgm:pt>
    <dgm:pt modelId="{1737022D-D896-4359-9BA1-1AF222DE2ECF}" type="sibTrans" cxnId="{8B0C1F21-A458-4C32-8487-8253EDDE54F0}">
      <dgm:prSet/>
      <dgm:spPr/>
      <dgm:t>
        <a:bodyPr/>
        <a:lstStyle/>
        <a:p>
          <a:endParaRPr lang="en-US"/>
        </a:p>
      </dgm:t>
    </dgm:pt>
    <dgm:pt modelId="{79C94974-8693-4055-8E0C-0CD0C32AC120}">
      <dgm:prSet/>
      <dgm:spPr/>
      <dgm:t>
        <a:bodyPr/>
        <a:lstStyle/>
        <a:p>
          <a:r>
            <a:rPr lang="en-US" dirty="0"/>
            <a:t>5. Conclusion</a:t>
          </a:r>
        </a:p>
      </dgm:t>
    </dgm:pt>
    <dgm:pt modelId="{C6B75F9D-CC15-4011-8F4D-D75BFE371E16}" type="parTrans" cxnId="{55F5BF04-760D-4495-ADB7-1E2282B7E8A1}">
      <dgm:prSet/>
      <dgm:spPr/>
      <dgm:t>
        <a:bodyPr/>
        <a:lstStyle/>
        <a:p>
          <a:endParaRPr lang="en-US"/>
        </a:p>
      </dgm:t>
    </dgm:pt>
    <dgm:pt modelId="{5A95DC73-F8E0-4060-9C9E-10C49BC9A685}" type="sibTrans" cxnId="{55F5BF04-760D-4495-ADB7-1E2282B7E8A1}">
      <dgm:prSet/>
      <dgm:spPr/>
      <dgm:t>
        <a:bodyPr/>
        <a:lstStyle/>
        <a:p>
          <a:endParaRPr lang="en-US"/>
        </a:p>
      </dgm:t>
    </dgm:pt>
    <dgm:pt modelId="{99F84AC8-6AA0-4592-9D89-F5BA9FFF5318}">
      <dgm:prSet/>
      <dgm:spPr/>
      <dgm:t>
        <a:bodyPr/>
        <a:lstStyle/>
        <a:p>
          <a:r>
            <a:rPr lang="en-US" dirty="0"/>
            <a:t>6. Research Outcomes</a:t>
          </a:r>
        </a:p>
      </dgm:t>
    </dgm:pt>
    <dgm:pt modelId="{AB0AB3FA-4E95-4697-8A32-F52AB0344D0F}" type="parTrans" cxnId="{5173898A-576E-4B70-9028-027990A4C238}">
      <dgm:prSet/>
      <dgm:spPr/>
      <dgm:t>
        <a:bodyPr/>
        <a:lstStyle/>
        <a:p>
          <a:endParaRPr lang="en-US"/>
        </a:p>
      </dgm:t>
    </dgm:pt>
    <dgm:pt modelId="{813036FA-2E14-476C-A901-5A02DEDA52A5}" type="sibTrans" cxnId="{5173898A-576E-4B70-9028-027990A4C238}">
      <dgm:prSet/>
      <dgm:spPr/>
      <dgm:t>
        <a:bodyPr/>
        <a:lstStyle/>
        <a:p>
          <a:endParaRPr lang="en-US"/>
        </a:p>
      </dgm:t>
    </dgm:pt>
    <dgm:pt modelId="{AF937278-1A58-49FD-8C4F-43604A456EC0}">
      <dgm:prSet/>
      <dgm:spPr/>
      <dgm:t>
        <a:bodyPr/>
        <a:lstStyle/>
        <a:p>
          <a:r>
            <a:rPr lang="en-US" dirty="0"/>
            <a:t>7. References</a:t>
          </a:r>
        </a:p>
      </dgm:t>
    </dgm:pt>
    <dgm:pt modelId="{BDEF0BAE-C514-4FFC-971D-ED64787780BA}" type="parTrans" cxnId="{6A212FD2-4D17-44C2-A12C-644E32158078}">
      <dgm:prSet/>
      <dgm:spPr/>
      <dgm:t>
        <a:bodyPr/>
        <a:lstStyle/>
        <a:p>
          <a:endParaRPr lang="en-US"/>
        </a:p>
      </dgm:t>
    </dgm:pt>
    <dgm:pt modelId="{F310D8FD-D955-4F3B-84F3-A25F56E8B1BF}" type="sibTrans" cxnId="{6A212FD2-4D17-44C2-A12C-644E32158078}">
      <dgm:prSet/>
      <dgm:spPr/>
      <dgm:t>
        <a:bodyPr/>
        <a:lstStyle/>
        <a:p>
          <a:endParaRPr lang="en-US"/>
        </a:p>
      </dgm:t>
    </dgm:pt>
    <dgm:pt modelId="{C4C61BA6-70F2-473F-8C15-3B3C770C7691}" type="pres">
      <dgm:prSet presAssocID="{8DEF72B4-5392-42B1-AEF0-2B8DF0A0DF2F}" presName="linear" presStyleCnt="0">
        <dgm:presLayoutVars>
          <dgm:dir/>
          <dgm:animLvl val="lvl"/>
          <dgm:resizeHandles val="exact"/>
        </dgm:presLayoutVars>
      </dgm:prSet>
      <dgm:spPr/>
    </dgm:pt>
    <dgm:pt modelId="{A7B6F3AC-72DB-4BA4-B26D-3165B819A365}" type="pres">
      <dgm:prSet presAssocID="{5AB07F51-32B1-4C9D-9782-4A17EA578F02}" presName="parentLin" presStyleCnt="0"/>
      <dgm:spPr/>
    </dgm:pt>
    <dgm:pt modelId="{E028C5F4-10A8-42BA-BD78-4EE668267DB8}" type="pres">
      <dgm:prSet presAssocID="{5AB07F51-32B1-4C9D-9782-4A17EA578F02}" presName="parentLeftMargin" presStyleLbl="node1" presStyleIdx="0" presStyleCnt="7"/>
      <dgm:spPr/>
    </dgm:pt>
    <dgm:pt modelId="{6E5596E3-0CB9-4B4A-A956-ED53D87CC23A}" type="pres">
      <dgm:prSet presAssocID="{5AB07F51-32B1-4C9D-9782-4A17EA578F0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96DD64A-744C-404F-A1C6-C032040866D7}" type="pres">
      <dgm:prSet presAssocID="{5AB07F51-32B1-4C9D-9782-4A17EA578F02}" presName="negativeSpace" presStyleCnt="0"/>
      <dgm:spPr/>
    </dgm:pt>
    <dgm:pt modelId="{4CCC464A-7298-4E3E-BB74-49676CB10DEF}" type="pres">
      <dgm:prSet presAssocID="{5AB07F51-32B1-4C9D-9782-4A17EA578F02}" presName="childText" presStyleLbl="conFgAcc1" presStyleIdx="0" presStyleCnt="7">
        <dgm:presLayoutVars>
          <dgm:bulletEnabled val="1"/>
        </dgm:presLayoutVars>
      </dgm:prSet>
      <dgm:spPr/>
    </dgm:pt>
    <dgm:pt modelId="{F77882A5-2216-4F3C-9753-83E3A59651E3}" type="pres">
      <dgm:prSet presAssocID="{AEC27517-934C-4E58-A57B-2B799EBF1092}" presName="spaceBetweenRectangles" presStyleCnt="0"/>
      <dgm:spPr/>
    </dgm:pt>
    <dgm:pt modelId="{FF851720-1CD6-4315-BE8A-6C68EFBD7DB7}" type="pres">
      <dgm:prSet presAssocID="{645A46E5-A728-49F2-A8C1-2190748D8391}" presName="parentLin" presStyleCnt="0"/>
      <dgm:spPr/>
    </dgm:pt>
    <dgm:pt modelId="{41FAB210-35FB-4758-B005-6F9B7E0AA50E}" type="pres">
      <dgm:prSet presAssocID="{645A46E5-A728-49F2-A8C1-2190748D8391}" presName="parentLeftMargin" presStyleLbl="node1" presStyleIdx="0" presStyleCnt="7"/>
      <dgm:spPr/>
    </dgm:pt>
    <dgm:pt modelId="{0EE8D31B-59AD-4FCF-9BD5-FB8946546DD5}" type="pres">
      <dgm:prSet presAssocID="{645A46E5-A728-49F2-A8C1-2190748D839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9B24A032-9D96-4FAB-8BA7-09FD79B37C4F}" type="pres">
      <dgm:prSet presAssocID="{645A46E5-A728-49F2-A8C1-2190748D8391}" presName="negativeSpace" presStyleCnt="0"/>
      <dgm:spPr/>
    </dgm:pt>
    <dgm:pt modelId="{6B58CE5E-8575-422C-B6C6-696B856207BF}" type="pres">
      <dgm:prSet presAssocID="{645A46E5-A728-49F2-A8C1-2190748D8391}" presName="childText" presStyleLbl="conFgAcc1" presStyleIdx="1" presStyleCnt="7">
        <dgm:presLayoutVars>
          <dgm:bulletEnabled val="1"/>
        </dgm:presLayoutVars>
      </dgm:prSet>
      <dgm:spPr/>
    </dgm:pt>
    <dgm:pt modelId="{F3FE8ABA-AB97-4B1F-8BC2-BA7FD7CADB3C}" type="pres">
      <dgm:prSet presAssocID="{4479363E-5925-46F2-9725-445A0A443A2C}" presName="spaceBetweenRectangles" presStyleCnt="0"/>
      <dgm:spPr/>
    </dgm:pt>
    <dgm:pt modelId="{A65EEE95-DB98-4FA8-86A8-9BCE1747B979}" type="pres">
      <dgm:prSet presAssocID="{4E262175-132D-443B-BEF8-09844120BF74}" presName="parentLin" presStyleCnt="0"/>
      <dgm:spPr/>
    </dgm:pt>
    <dgm:pt modelId="{79E0ED8B-C792-419F-9B7B-AA33E706E8AE}" type="pres">
      <dgm:prSet presAssocID="{4E262175-132D-443B-BEF8-09844120BF74}" presName="parentLeftMargin" presStyleLbl="node1" presStyleIdx="1" presStyleCnt="7"/>
      <dgm:spPr/>
    </dgm:pt>
    <dgm:pt modelId="{634D721D-CF52-47E3-A40A-3B50E641726E}" type="pres">
      <dgm:prSet presAssocID="{4E262175-132D-443B-BEF8-09844120BF7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34642F6-1B1C-41E8-9261-FDBF5F078ACA}" type="pres">
      <dgm:prSet presAssocID="{4E262175-132D-443B-BEF8-09844120BF74}" presName="negativeSpace" presStyleCnt="0"/>
      <dgm:spPr/>
    </dgm:pt>
    <dgm:pt modelId="{E9D237EB-7535-4492-83F8-B87C90C1454A}" type="pres">
      <dgm:prSet presAssocID="{4E262175-132D-443B-BEF8-09844120BF74}" presName="childText" presStyleLbl="conFgAcc1" presStyleIdx="2" presStyleCnt="7">
        <dgm:presLayoutVars>
          <dgm:bulletEnabled val="1"/>
        </dgm:presLayoutVars>
      </dgm:prSet>
      <dgm:spPr/>
    </dgm:pt>
    <dgm:pt modelId="{D2DE276D-DD88-4481-98E3-8056070B6DD6}" type="pres">
      <dgm:prSet presAssocID="{A36A3AD0-1331-4A5F-8F01-9D40BB4B13F0}" presName="spaceBetweenRectangles" presStyleCnt="0"/>
      <dgm:spPr/>
    </dgm:pt>
    <dgm:pt modelId="{E7479791-9A49-4613-8ED9-96FDE75C2350}" type="pres">
      <dgm:prSet presAssocID="{E6DBD63C-6A3F-4DBD-AEDE-AA28B75ED839}" presName="parentLin" presStyleCnt="0"/>
      <dgm:spPr/>
    </dgm:pt>
    <dgm:pt modelId="{192C9A0E-80B0-48ED-A7B1-786749580484}" type="pres">
      <dgm:prSet presAssocID="{E6DBD63C-6A3F-4DBD-AEDE-AA28B75ED839}" presName="parentLeftMargin" presStyleLbl="node1" presStyleIdx="2" presStyleCnt="7"/>
      <dgm:spPr/>
    </dgm:pt>
    <dgm:pt modelId="{E09D499D-F56C-4182-82B4-EA9FC33CE5D3}" type="pres">
      <dgm:prSet presAssocID="{E6DBD63C-6A3F-4DBD-AEDE-AA28B75ED83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06FF89E-633A-43FC-8774-43EC68855388}" type="pres">
      <dgm:prSet presAssocID="{E6DBD63C-6A3F-4DBD-AEDE-AA28B75ED839}" presName="negativeSpace" presStyleCnt="0"/>
      <dgm:spPr/>
    </dgm:pt>
    <dgm:pt modelId="{B3241A7A-3F5F-47FF-A597-DD1336FF7A31}" type="pres">
      <dgm:prSet presAssocID="{E6DBD63C-6A3F-4DBD-AEDE-AA28B75ED839}" presName="childText" presStyleLbl="conFgAcc1" presStyleIdx="3" presStyleCnt="7">
        <dgm:presLayoutVars>
          <dgm:bulletEnabled val="1"/>
        </dgm:presLayoutVars>
      </dgm:prSet>
      <dgm:spPr/>
    </dgm:pt>
    <dgm:pt modelId="{A13CA4D9-3B83-402A-AACC-C0559F4772A3}" type="pres">
      <dgm:prSet presAssocID="{1737022D-D896-4359-9BA1-1AF222DE2ECF}" presName="spaceBetweenRectangles" presStyleCnt="0"/>
      <dgm:spPr/>
    </dgm:pt>
    <dgm:pt modelId="{7247A383-70D1-4009-A823-9005AB73D985}" type="pres">
      <dgm:prSet presAssocID="{79C94974-8693-4055-8E0C-0CD0C32AC120}" presName="parentLin" presStyleCnt="0"/>
      <dgm:spPr/>
    </dgm:pt>
    <dgm:pt modelId="{7F7FB806-0B09-4963-82CC-DEA075BE8E70}" type="pres">
      <dgm:prSet presAssocID="{79C94974-8693-4055-8E0C-0CD0C32AC120}" presName="parentLeftMargin" presStyleLbl="node1" presStyleIdx="3" presStyleCnt="7"/>
      <dgm:spPr/>
    </dgm:pt>
    <dgm:pt modelId="{5A68A219-86C8-47C6-A74C-85722FEB773B}" type="pres">
      <dgm:prSet presAssocID="{79C94974-8693-4055-8E0C-0CD0C32AC12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6A6078D-83C5-446A-976E-ED5DD4D49C52}" type="pres">
      <dgm:prSet presAssocID="{79C94974-8693-4055-8E0C-0CD0C32AC120}" presName="negativeSpace" presStyleCnt="0"/>
      <dgm:spPr/>
    </dgm:pt>
    <dgm:pt modelId="{AB35DCF5-B030-4C22-ACCD-EA33893D0296}" type="pres">
      <dgm:prSet presAssocID="{79C94974-8693-4055-8E0C-0CD0C32AC120}" presName="childText" presStyleLbl="conFgAcc1" presStyleIdx="4" presStyleCnt="7">
        <dgm:presLayoutVars>
          <dgm:bulletEnabled val="1"/>
        </dgm:presLayoutVars>
      </dgm:prSet>
      <dgm:spPr/>
    </dgm:pt>
    <dgm:pt modelId="{A2FFA19A-0148-4F62-A1F9-5F528532BB54}" type="pres">
      <dgm:prSet presAssocID="{5A95DC73-F8E0-4060-9C9E-10C49BC9A685}" presName="spaceBetweenRectangles" presStyleCnt="0"/>
      <dgm:spPr/>
    </dgm:pt>
    <dgm:pt modelId="{CDBD3A73-A8BB-4125-B8AA-06ABF5CDA43C}" type="pres">
      <dgm:prSet presAssocID="{99F84AC8-6AA0-4592-9D89-F5BA9FFF5318}" presName="parentLin" presStyleCnt="0"/>
      <dgm:spPr/>
    </dgm:pt>
    <dgm:pt modelId="{B5F8A427-BAF6-4CCB-BA42-B015581E8BD3}" type="pres">
      <dgm:prSet presAssocID="{99F84AC8-6AA0-4592-9D89-F5BA9FFF5318}" presName="parentLeftMargin" presStyleLbl="node1" presStyleIdx="4" presStyleCnt="7"/>
      <dgm:spPr/>
    </dgm:pt>
    <dgm:pt modelId="{BDD3926D-AFF1-4E96-BB99-6B1759934767}" type="pres">
      <dgm:prSet presAssocID="{99F84AC8-6AA0-4592-9D89-F5BA9FFF531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CC8E79D-760D-4EBC-A07F-C80FDBF12EE6}" type="pres">
      <dgm:prSet presAssocID="{99F84AC8-6AA0-4592-9D89-F5BA9FFF5318}" presName="negativeSpace" presStyleCnt="0"/>
      <dgm:spPr/>
    </dgm:pt>
    <dgm:pt modelId="{996811D5-F145-430D-8FE0-0E462B2FEFC7}" type="pres">
      <dgm:prSet presAssocID="{99F84AC8-6AA0-4592-9D89-F5BA9FFF5318}" presName="childText" presStyleLbl="conFgAcc1" presStyleIdx="5" presStyleCnt="7">
        <dgm:presLayoutVars>
          <dgm:bulletEnabled val="1"/>
        </dgm:presLayoutVars>
      </dgm:prSet>
      <dgm:spPr/>
    </dgm:pt>
    <dgm:pt modelId="{3E85767E-073B-4299-81D3-C46555EB82F9}" type="pres">
      <dgm:prSet presAssocID="{813036FA-2E14-476C-A901-5A02DEDA52A5}" presName="spaceBetweenRectangles" presStyleCnt="0"/>
      <dgm:spPr/>
    </dgm:pt>
    <dgm:pt modelId="{E1C8280B-4AC4-4627-AFAB-1842F3C050E6}" type="pres">
      <dgm:prSet presAssocID="{AF937278-1A58-49FD-8C4F-43604A456EC0}" presName="parentLin" presStyleCnt="0"/>
      <dgm:spPr/>
    </dgm:pt>
    <dgm:pt modelId="{0B6FCF12-175F-4C4F-9D0E-2C6086A7F02E}" type="pres">
      <dgm:prSet presAssocID="{AF937278-1A58-49FD-8C4F-43604A456EC0}" presName="parentLeftMargin" presStyleLbl="node1" presStyleIdx="5" presStyleCnt="7"/>
      <dgm:spPr/>
    </dgm:pt>
    <dgm:pt modelId="{9B3507FF-5664-4630-A794-D01D555834B3}" type="pres">
      <dgm:prSet presAssocID="{AF937278-1A58-49FD-8C4F-43604A456EC0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5B2A08E5-158D-4CEE-A3BA-56DCD54898CF}" type="pres">
      <dgm:prSet presAssocID="{AF937278-1A58-49FD-8C4F-43604A456EC0}" presName="negativeSpace" presStyleCnt="0"/>
      <dgm:spPr/>
    </dgm:pt>
    <dgm:pt modelId="{66A85B17-7CD0-4C10-9E25-DA1FDB8A9C9C}" type="pres">
      <dgm:prSet presAssocID="{AF937278-1A58-49FD-8C4F-43604A456EC0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55F5BF04-760D-4495-ADB7-1E2282B7E8A1}" srcId="{8DEF72B4-5392-42B1-AEF0-2B8DF0A0DF2F}" destId="{79C94974-8693-4055-8E0C-0CD0C32AC120}" srcOrd="4" destOrd="0" parTransId="{C6B75F9D-CC15-4011-8F4D-D75BFE371E16}" sibTransId="{5A95DC73-F8E0-4060-9C9E-10C49BC9A685}"/>
    <dgm:cxn modelId="{0F35850E-3DE4-47FB-89D4-7D1EF143E067}" type="presOf" srcId="{645A46E5-A728-49F2-A8C1-2190748D8391}" destId="{41FAB210-35FB-4758-B005-6F9B7E0AA50E}" srcOrd="0" destOrd="0" presId="urn:microsoft.com/office/officeart/2005/8/layout/list1"/>
    <dgm:cxn modelId="{F22ADC10-CD16-4218-A824-5D29F9DC9AC4}" type="presOf" srcId="{4E262175-132D-443B-BEF8-09844120BF74}" destId="{79E0ED8B-C792-419F-9B7B-AA33E706E8AE}" srcOrd="0" destOrd="0" presId="urn:microsoft.com/office/officeart/2005/8/layout/list1"/>
    <dgm:cxn modelId="{37706F1C-0566-4A14-ABBA-B97A38FD647E}" srcId="{8DEF72B4-5392-42B1-AEF0-2B8DF0A0DF2F}" destId="{4E262175-132D-443B-BEF8-09844120BF74}" srcOrd="2" destOrd="0" parTransId="{08759E98-93CA-48E5-B6BA-C63E1C06F434}" sibTransId="{A36A3AD0-1331-4A5F-8F01-9D40BB4B13F0}"/>
    <dgm:cxn modelId="{8B0C1F21-A458-4C32-8487-8253EDDE54F0}" srcId="{8DEF72B4-5392-42B1-AEF0-2B8DF0A0DF2F}" destId="{E6DBD63C-6A3F-4DBD-AEDE-AA28B75ED839}" srcOrd="3" destOrd="0" parTransId="{25E43A3E-B53C-438F-99D1-4CAB3996E7AE}" sibTransId="{1737022D-D896-4359-9BA1-1AF222DE2ECF}"/>
    <dgm:cxn modelId="{15042F31-6A53-4023-9984-FE3C5B7888BC}" type="presOf" srcId="{E6DBD63C-6A3F-4DBD-AEDE-AA28B75ED839}" destId="{E09D499D-F56C-4182-82B4-EA9FC33CE5D3}" srcOrd="1" destOrd="0" presId="urn:microsoft.com/office/officeart/2005/8/layout/list1"/>
    <dgm:cxn modelId="{033D6236-57C9-481C-9B10-8EF40B92382F}" type="presOf" srcId="{645A46E5-A728-49F2-A8C1-2190748D8391}" destId="{0EE8D31B-59AD-4FCF-9BD5-FB8946546DD5}" srcOrd="1" destOrd="0" presId="urn:microsoft.com/office/officeart/2005/8/layout/list1"/>
    <dgm:cxn modelId="{57144B74-59B2-400B-9E6F-772C975C2798}" type="presOf" srcId="{79C94974-8693-4055-8E0C-0CD0C32AC120}" destId="{5A68A219-86C8-47C6-A74C-85722FEB773B}" srcOrd="1" destOrd="0" presId="urn:microsoft.com/office/officeart/2005/8/layout/list1"/>
    <dgm:cxn modelId="{1BE64679-DDA6-4259-8673-9E5B5C1A4A43}" srcId="{8DEF72B4-5392-42B1-AEF0-2B8DF0A0DF2F}" destId="{5AB07F51-32B1-4C9D-9782-4A17EA578F02}" srcOrd="0" destOrd="0" parTransId="{44B51259-CB0E-45C1-97A7-A20095DD3BC4}" sibTransId="{AEC27517-934C-4E58-A57B-2B799EBF1092}"/>
    <dgm:cxn modelId="{DBAB2F7A-0225-46FF-9347-B4440C623E4D}" type="presOf" srcId="{99F84AC8-6AA0-4592-9D89-F5BA9FFF5318}" destId="{B5F8A427-BAF6-4CCB-BA42-B015581E8BD3}" srcOrd="0" destOrd="0" presId="urn:microsoft.com/office/officeart/2005/8/layout/list1"/>
    <dgm:cxn modelId="{5173898A-576E-4B70-9028-027990A4C238}" srcId="{8DEF72B4-5392-42B1-AEF0-2B8DF0A0DF2F}" destId="{99F84AC8-6AA0-4592-9D89-F5BA9FFF5318}" srcOrd="5" destOrd="0" parTransId="{AB0AB3FA-4E95-4697-8A32-F52AB0344D0F}" sibTransId="{813036FA-2E14-476C-A901-5A02DEDA52A5}"/>
    <dgm:cxn modelId="{AF5B3A8B-2F9B-4FE0-9173-4BFD201ABF1F}" type="presOf" srcId="{8DEF72B4-5392-42B1-AEF0-2B8DF0A0DF2F}" destId="{C4C61BA6-70F2-473F-8C15-3B3C770C7691}" srcOrd="0" destOrd="0" presId="urn:microsoft.com/office/officeart/2005/8/layout/list1"/>
    <dgm:cxn modelId="{EF77F397-4860-4EE4-9D22-D879942CD45C}" type="presOf" srcId="{AF937278-1A58-49FD-8C4F-43604A456EC0}" destId="{9B3507FF-5664-4630-A794-D01D555834B3}" srcOrd="1" destOrd="0" presId="urn:microsoft.com/office/officeart/2005/8/layout/list1"/>
    <dgm:cxn modelId="{92D0B698-A1B9-40FE-94CF-5156A9C1123D}" srcId="{8DEF72B4-5392-42B1-AEF0-2B8DF0A0DF2F}" destId="{645A46E5-A728-49F2-A8C1-2190748D8391}" srcOrd="1" destOrd="0" parTransId="{0139845C-7D59-458D-9826-DF3CC3E417E7}" sibTransId="{4479363E-5925-46F2-9725-445A0A443A2C}"/>
    <dgm:cxn modelId="{C5F09599-880A-402A-8EB7-FDB74F3D6432}" type="presOf" srcId="{5AB07F51-32B1-4C9D-9782-4A17EA578F02}" destId="{6E5596E3-0CB9-4B4A-A956-ED53D87CC23A}" srcOrd="1" destOrd="0" presId="urn:microsoft.com/office/officeart/2005/8/layout/list1"/>
    <dgm:cxn modelId="{6DAF169D-68EB-4AC2-B759-DD7838C5B35B}" type="presOf" srcId="{E6DBD63C-6A3F-4DBD-AEDE-AA28B75ED839}" destId="{192C9A0E-80B0-48ED-A7B1-786749580484}" srcOrd="0" destOrd="0" presId="urn:microsoft.com/office/officeart/2005/8/layout/list1"/>
    <dgm:cxn modelId="{9D4711AF-0D1C-435A-9CAA-272427FDA779}" type="presOf" srcId="{5AB07F51-32B1-4C9D-9782-4A17EA578F02}" destId="{E028C5F4-10A8-42BA-BD78-4EE668267DB8}" srcOrd="0" destOrd="0" presId="urn:microsoft.com/office/officeart/2005/8/layout/list1"/>
    <dgm:cxn modelId="{35CF2EB5-90B0-4BDB-B38F-7B18896D8D81}" type="presOf" srcId="{AF937278-1A58-49FD-8C4F-43604A456EC0}" destId="{0B6FCF12-175F-4C4F-9D0E-2C6086A7F02E}" srcOrd="0" destOrd="0" presId="urn:microsoft.com/office/officeart/2005/8/layout/list1"/>
    <dgm:cxn modelId="{28D87EBD-2920-42F2-B56B-7DE86AE3AF5B}" type="presOf" srcId="{79C94974-8693-4055-8E0C-0CD0C32AC120}" destId="{7F7FB806-0B09-4963-82CC-DEA075BE8E70}" srcOrd="0" destOrd="0" presId="urn:microsoft.com/office/officeart/2005/8/layout/list1"/>
    <dgm:cxn modelId="{EE3445C5-479A-476C-A7F9-02728486F8EB}" type="presOf" srcId="{99F84AC8-6AA0-4592-9D89-F5BA9FFF5318}" destId="{BDD3926D-AFF1-4E96-BB99-6B1759934767}" srcOrd="1" destOrd="0" presId="urn:microsoft.com/office/officeart/2005/8/layout/list1"/>
    <dgm:cxn modelId="{6A212FD2-4D17-44C2-A12C-644E32158078}" srcId="{8DEF72B4-5392-42B1-AEF0-2B8DF0A0DF2F}" destId="{AF937278-1A58-49FD-8C4F-43604A456EC0}" srcOrd="6" destOrd="0" parTransId="{BDEF0BAE-C514-4FFC-971D-ED64787780BA}" sibTransId="{F310D8FD-D955-4F3B-84F3-A25F56E8B1BF}"/>
    <dgm:cxn modelId="{657CEAFD-48DE-42E3-98A6-95A436F4370F}" type="presOf" srcId="{4E262175-132D-443B-BEF8-09844120BF74}" destId="{634D721D-CF52-47E3-A40A-3B50E641726E}" srcOrd="1" destOrd="0" presId="urn:microsoft.com/office/officeart/2005/8/layout/list1"/>
    <dgm:cxn modelId="{999357F1-5033-4CB3-B14F-632EF84930F5}" type="presParOf" srcId="{C4C61BA6-70F2-473F-8C15-3B3C770C7691}" destId="{A7B6F3AC-72DB-4BA4-B26D-3165B819A365}" srcOrd="0" destOrd="0" presId="urn:microsoft.com/office/officeart/2005/8/layout/list1"/>
    <dgm:cxn modelId="{1168D9E6-DD7F-4AB9-A0C6-5A66E018D288}" type="presParOf" srcId="{A7B6F3AC-72DB-4BA4-B26D-3165B819A365}" destId="{E028C5F4-10A8-42BA-BD78-4EE668267DB8}" srcOrd="0" destOrd="0" presId="urn:microsoft.com/office/officeart/2005/8/layout/list1"/>
    <dgm:cxn modelId="{36E89058-553A-4BF9-995D-6E4CDA431C02}" type="presParOf" srcId="{A7B6F3AC-72DB-4BA4-B26D-3165B819A365}" destId="{6E5596E3-0CB9-4B4A-A956-ED53D87CC23A}" srcOrd="1" destOrd="0" presId="urn:microsoft.com/office/officeart/2005/8/layout/list1"/>
    <dgm:cxn modelId="{A873B7D2-DA0D-4E6E-B344-BC46723A675A}" type="presParOf" srcId="{C4C61BA6-70F2-473F-8C15-3B3C770C7691}" destId="{A96DD64A-744C-404F-A1C6-C032040866D7}" srcOrd="1" destOrd="0" presId="urn:microsoft.com/office/officeart/2005/8/layout/list1"/>
    <dgm:cxn modelId="{EA1475B8-CD23-49A2-A936-6356B82F4AD4}" type="presParOf" srcId="{C4C61BA6-70F2-473F-8C15-3B3C770C7691}" destId="{4CCC464A-7298-4E3E-BB74-49676CB10DEF}" srcOrd="2" destOrd="0" presId="urn:microsoft.com/office/officeart/2005/8/layout/list1"/>
    <dgm:cxn modelId="{954E00E2-7D42-4E3A-BE70-D4B2C7DFFA4C}" type="presParOf" srcId="{C4C61BA6-70F2-473F-8C15-3B3C770C7691}" destId="{F77882A5-2216-4F3C-9753-83E3A59651E3}" srcOrd="3" destOrd="0" presId="urn:microsoft.com/office/officeart/2005/8/layout/list1"/>
    <dgm:cxn modelId="{2DB10A9B-78B9-49BA-B0D8-12EAF4F9BAF4}" type="presParOf" srcId="{C4C61BA6-70F2-473F-8C15-3B3C770C7691}" destId="{FF851720-1CD6-4315-BE8A-6C68EFBD7DB7}" srcOrd="4" destOrd="0" presId="urn:microsoft.com/office/officeart/2005/8/layout/list1"/>
    <dgm:cxn modelId="{794349DC-74F5-46C9-9316-8CD493128C76}" type="presParOf" srcId="{FF851720-1CD6-4315-BE8A-6C68EFBD7DB7}" destId="{41FAB210-35FB-4758-B005-6F9B7E0AA50E}" srcOrd="0" destOrd="0" presId="urn:microsoft.com/office/officeart/2005/8/layout/list1"/>
    <dgm:cxn modelId="{5D82F3E0-CE05-4C12-91C7-FFF5DA2C7F81}" type="presParOf" srcId="{FF851720-1CD6-4315-BE8A-6C68EFBD7DB7}" destId="{0EE8D31B-59AD-4FCF-9BD5-FB8946546DD5}" srcOrd="1" destOrd="0" presId="urn:microsoft.com/office/officeart/2005/8/layout/list1"/>
    <dgm:cxn modelId="{0BF61DEE-81FA-4DFA-9B65-80D33114A7EA}" type="presParOf" srcId="{C4C61BA6-70F2-473F-8C15-3B3C770C7691}" destId="{9B24A032-9D96-4FAB-8BA7-09FD79B37C4F}" srcOrd="5" destOrd="0" presId="urn:microsoft.com/office/officeart/2005/8/layout/list1"/>
    <dgm:cxn modelId="{BCB5D31C-CDC1-4EB4-83CF-42C966E260D9}" type="presParOf" srcId="{C4C61BA6-70F2-473F-8C15-3B3C770C7691}" destId="{6B58CE5E-8575-422C-B6C6-696B856207BF}" srcOrd="6" destOrd="0" presId="urn:microsoft.com/office/officeart/2005/8/layout/list1"/>
    <dgm:cxn modelId="{57DCBAB0-8374-4EE9-935E-4EF472D619C2}" type="presParOf" srcId="{C4C61BA6-70F2-473F-8C15-3B3C770C7691}" destId="{F3FE8ABA-AB97-4B1F-8BC2-BA7FD7CADB3C}" srcOrd="7" destOrd="0" presId="urn:microsoft.com/office/officeart/2005/8/layout/list1"/>
    <dgm:cxn modelId="{5C2690BE-5262-429B-A85A-6194B295D574}" type="presParOf" srcId="{C4C61BA6-70F2-473F-8C15-3B3C770C7691}" destId="{A65EEE95-DB98-4FA8-86A8-9BCE1747B979}" srcOrd="8" destOrd="0" presId="urn:microsoft.com/office/officeart/2005/8/layout/list1"/>
    <dgm:cxn modelId="{E6C7A779-5241-4344-B01F-B0BC0EF972A5}" type="presParOf" srcId="{A65EEE95-DB98-4FA8-86A8-9BCE1747B979}" destId="{79E0ED8B-C792-419F-9B7B-AA33E706E8AE}" srcOrd="0" destOrd="0" presId="urn:microsoft.com/office/officeart/2005/8/layout/list1"/>
    <dgm:cxn modelId="{8529F2BF-D8D9-4F35-B4D7-39F56DB285FF}" type="presParOf" srcId="{A65EEE95-DB98-4FA8-86A8-9BCE1747B979}" destId="{634D721D-CF52-47E3-A40A-3B50E641726E}" srcOrd="1" destOrd="0" presId="urn:microsoft.com/office/officeart/2005/8/layout/list1"/>
    <dgm:cxn modelId="{BE8F6BED-9346-4D31-B1E1-3736ACEB6446}" type="presParOf" srcId="{C4C61BA6-70F2-473F-8C15-3B3C770C7691}" destId="{D34642F6-1B1C-41E8-9261-FDBF5F078ACA}" srcOrd="9" destOrd="0" presId="urn:microsoft.com/office/officeart/2005/8/layout/list1"/>
    <dgm:cxn modelId="{12E2250A-860F-4936-BA23-68FA082CDA00}" type="presParOf" srcId="{C4C61BA6-70F2-473F-8C15-3B3C770C7691}" destId="{E9D237EB-7535-4492-83F8-B87C90C1454A}" srcOrd="10" destOrd="0" presId="urn:microsoft.com/office/officeart/2005/8/layout/list1"/>
    <dgm:cxn modelId="{417C5E89-5BA9-4685-91CA-37C7FA669D96}" type="presParOf" srcId="{C4C61BA6-70F2-473F-8C15-3B3C770C7691}" destId="{D2DE276D-DD88-4481-98E3-8056070B6DD6}" srcOrd="11" destOrd="0" presId="urn:microsoft.com/office/officeart/2005/8/layout/list1"/>
    <dgm:cxn modelId="{697FF8BE-4FDE-4C81-AA7A-E9D015D9295D}" type="presParOf" srcId="{C4C61BA6-70F2-473F-8C15-3B3C770C7691}" destId="{E7479791-9A49-4613-8ED9-96FDE75C2350}" srcOrd="12" destOrd="0" presId="urn:microsoft.com/office/officeart/2005/8/layout/list1"/>
    <dgm:cxn modelId="{D2EB1881-004F-4056-8DD6-4FDFE08D782A}" type="presParOf" srcId="{E7479791-9A49-4613-8ED9-96FDE75C2350}" destId="{192C9A0E-80B0-48ED-A7B1-786749580484}" srcOrd="0" destOrd="0" presId="urn:microsoft.com/office/officeart/2005/8/layout/list1"/>
    <dgm:cxn modelId="{76936B56-74B5-452F-8ECA-8C5248B9F7F5}" type="presParOf" srcId="{E7479791-9A49-4613-8ED9-96FDE75C2350}" destId="{E09D499D-F56C-4182-82B4-EA9FC33CE5D3}" srcOrd="1" destOrd="0" presId="urn:microsoft.com/office/officeart/2005/8/layout/list1"/>
    <dgm:cxn modelId="{7E7D800A-7B9E-493E-AEFF-722CA178549E}" type="presParOf" srcId="{C4C61BA6-70F2-473F-8C15-3B3C770C7691}" destId="{406FF89E-633A-43FC-8774-43EC68855388}" srcOrd="13" destOrd="0" presId="urn:microsoft.com/office/officeart/2005/8/layout/list1"/>
    <dgm:cxn modelId="{7A167CDB-3706-4DA7-9C41-24FF35BD60D8}" type="presParOf" srcId="{C4C61BA6-70F2-473F-8C15-3B3C770C7691}" destId="{B3241A7A-3F5F-47FF-A597-DD1336FF7A31}" srcOrd="14" destOrd="0" presId="urn:microsoft.com/office/officeart/2005/8/layout/list1"/>
    <dgm:cxn modelId="{25D95D0E-BE2B-4635-8C82-4FE402D13627}" type="presParOf" srcId="{C4C61BA6-70F2-473F-8C15-3B3C770C7691}" destId="{A13CA4D9-3B83-402A-AACC-C0559F4772A3}" srcOrd="15" destOrd="0" presId="urn:microsoft.com/office/officeart/2005/8/layout/list1"/>
    <dgm:cxn modelId="{3B0A05A5-76BA-4E80-B99F-7F6D325AB2E3}" type="presParOf" srcId="{C4C61BA6-70F2-473F-8C15-3B3C770C7691}" destId="{7247A383-70D1-4009-A823-9005AB73D985}" srcOrd="16" destOrd="0" presId="urn:microsoft.com/office/officeart/2005/8/layout/list1"/>
    <dgm:cxn modelId="{BAFD3D57-A196-4D1D-8CF6-FD2F31EB860D}" type="presParOf" srcId="{7247A383-70D1-4009-A823-9005AB73D985}" destId="{7F7FB806-0B09-4963-82CC-DEA075BE8E70}" srcOrd="0" destOrd="0" presId="urn:microsoft.com/office/officeart/2005/8/layout/list1"/>
    <dgm:cxn modelId="{98B2F2CB-848F-4F0F-A9D3-C5DB88A31E56}" type="presParOf" srcId="{7247A383-70D1-4009-A823-9005AB73D985}" destId="{5A68A219-86C8-47C6-A74C-85722FEB773B}" srcOrd="1" destOrd="0" presId="urn:microsoft.com/office/officeart/2005/8/layout/list1"/>
    <dgm:cxn modelId="{9522C72B-BB25-4923-A3F3-9E5CE8886E49}" type="presParOf" srcId="{C4C61BA6-70F2-473F-8C15-3B3C770C7691}" destId="{26A6078D-83C5-446A-976E-ED5DD4D49C52}" srcOrd="17" destOrd="0" presId="urn:microsoft.com/office/officeart/2005/8/layout/list1"/>
    <dgm:cxn modelId="{36374CA7-F58F-40B0-BA13-38B110FCCA09}" type="presParOf" srcId="{C4C61BA6-70F2-473F-8C15-3B3C770C7691}" destId="{AB35DCF5-B030-4C22-ACCD-EA33893D0296}" srcOrd="18" destOrd="0" presId="urn:microsoft.com/office/officeart/2005/8/layout/list1"/>
    <dgm:cxn modelId="{5AE378C0-002E-4A8D-89AA-13F1EFF1A2F3}" type="presParOf" srcId="{C4C61BA6-70F2-473F-8C15-3B3C770C7691}" destId="{A2FFA19A-0148-4F62-A1F9-5F528532BB54}" srcOrd="19" destOrd="0" presId="urn:microsoft.com/office/officeart/2005/8/layout/list1"/>
    <dgm:cxn modelId="{47FD4E1A-F2F2-4042-AE4F-5C026EAF62B7}" type="presParOf" srcId="{C4C61BA6-70F2-473F-8C15-3B3C770C7691}" destId="{CDBD3A73-A8BB-4125-B8AA-06ABF5CDA43C}" srcOrd="20" destOrd="0" presId="urn:microsoft.com/office/officeart/2005/8/layout/list1"/>
    <dgm:cxn modelId="{124D7D1B-DBFE-4CD5-8551-03244624D8B1}" type="presParOf" srcId="{CDBD3A73-A8BB-4125-B8AA-06ABF5CDA43C}" destId="{B5F8A427-BAF6-4CCB-BA42-B015581E8BD3}" srcOrd="0" destOrd="0" presId="urn:microsoft.com/office/officeart/2005/8/layout/list1"/>
    <dgm:cxn modelId="{F7718CD1-76F8-4C63-8533-819DBF33B503}" type="presParOf" srcId="{CDBD3A73-A8BB-4125-B8AA-06ABF5CDA43C}" destId="{BDD3926D-AFF1-4E96-BB99-6B1759934767}" srcOrd="1" destOrd="0" presId="urn:microsoft.com/office/officeart/2005/8/layout/list1"/>
    <dgm:cxn modelId="{F16E1A5B-7E74-47F6-9E1B-615528FB3D5E}" type="presParOf" srcId="{C4C61BA6-70F2-473F-8C15-3B3C770C7691}" destId="{DCC8E79D-760D-4EBC-A07F-C80FDBF12EE6}" srcOrd="21" destOrd="0" presId="urn:microsoft.com/office/officeart/2005/8/layout/list1"/>
    <dgm:cxn modelId="{DDF2D5FA-76A8-480F-8DFD-EB79B0E8A3A5}" type="presParOf" srcId="{C4C61BA6-70F2-473F-8C15-3B3C770C7691}" destId="{996811D5-F145-430D-8FE0-0E462B2FEFC7}" srcOrd="22" destOrd="0" presId="urn:microsoft.com/office/officeart/2005/8/layout/list1"/>
    <dgm:cxn modelId="{F5904DB2-0AA5-41AA-8C70-CC126D55C6D3}" type="presParOf" srcId="{C4C61BA6-70F2-473F-8C15-3B3C770C7691}" destId="{3E85767E-073B-4299-81D3-C46555EB82F9}" srcOrd="23" destOrd="0" presId="urn:microsoft.com/office/officeart/2005/8/layout/list1"/>
    <dgm:cxn modelId="{97C63E3A-F8A1-4AC7-B1A1-83A32047C82C}" type="presParOf" srcId="{C4C61BA6-70F2-473F-8C15-3B3C770C7691}" destId="{E1C8280B-4AC4-4627-AFAB-1842F3C050E6}" srcOrd="24" destOrd="0" presId="urn:microsoft.com/office/officeart/2005/8/layout/list1"/>
    <dgm:cxn modelId="{8BC57AD1-3155-410A-891B-CFA0D8894497}" type="presParOf" srcId="{E1C8280B-4AC4-4627-AFAB-1842F3C050E6}" destId="{0B6FCF12-175F-4C4F-9D0E-2C6086A7F02E}" srcOrd="0" destOrd="0" presId="urn:microsoft.com/office/officeart/2005/8/layout/list1"/>
    <dgm:cxn modelId="{2482611E-BF87-48F9-A4DA-E1D80C3D3AF1}" type="presParOf" srcId="{E1C8280B-4AC4-4627-AFAB-1842F3C050E6}" destId="{9B3507FF-5664-4630-A794-D01D555834B3}" srcOrd="1" destOrd="0" presId="urn:microsoft.com/office/officeart/2005/8/layout/list1"/>
    <dgm:cxn modelId="{1A010D78-FB7F-46FD-8C1A-00BD47E84B73}" type="presParOf" srcId="{C4C61BA6-70F2-473F-8C15-3B3C770C7691}" destId="{5B2A08E5-158D-4CEE-A3BA-56DCD54898CF}" srcOrd="25" destOrd="0" presId="urn:microsoft.com/office/officeart/2005/8/layout/list1"/>
    <dgm:cxn modelId="{2A051C66-805E-4DAF-A202-F0C8C133339C}" type="presParOf" srcId="{C4C61BA6-70F2-473F-8C15-3B3C770C7691}" destId="{66A85B17-7CD0-4C10-9E25-DA1FDB8A9C9C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CC464A-7298-4E3E-BB74-49676CB10DEF}">
      <dsp:nvSpPr>
        <dsp:cNvPr id="0" name=""/>
        <dsp:cNvSpPr/>
      </dsp:nvSpPr>
      <dsp:spPr>
        <a:xfrm>
          <a:off x="0" y="341099"/>
          <a:ext cx="6096000" cy="4284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5596E3-0CB9-4B4A-A956-ED53D87CC23A}">
      <dsp:nvSpPr>
        <dsp:cNvPr id="0" name=""/>
        <dsp:cNvSpPr/>
      </dsp:nvSpPr>
      <dsp:spPr>
        <a:xfrm>
          <a:off x="304800" y="90179"/>
          <a:ext cx="4267200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1. Motivation</a:t>
          </a:r>
        </a:p>
      </dsp:txBody>
      <dsp:txXfrm>
        <a:off x="329298" y="114677"/>
        <a:ext cx="4218204" cy="452844"/>
      </dsp:txXfrm>
    </dsp:sp>
    <dsp:sp modelId="{6B58CE5E-8575-422C-B6C6-696B856207BF}">
      <dsp:nvSpPr>
        <dsp:cNvPr id="0" name=""/>
        <dsp:cNvSpPr/>
      </dsp:nvSpPr>
      <dsp:spPr>
        <a:xfrm>
          <a:off x="0" y="1112219"/>
          <a:ext cx="6096000" cy="4284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E8D31B-59AD-4FCF-9BD5-FB8946546DD5}">
      <dsp:nvSpPr>
        <dsp:cNvPr id="0" name=""/>
        <dsp:cNvSpPr/>
      </dsp:nvSpPr>
      <dsp:spPr>
        <a:xfrm>
          <a:off x="304800" y="861299"/>
          <a:ext cx="4267200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2. Major Contributions</a:t>
          </a:r>
        </a:p>
      </dsp:txBody>
      <dsp:txXfrm>
        <a:off x="329298" y="885797"/>
        <a:ext cx="4218204" cy="452844"/>
      </dsp:txXfrm>
    </dsp:sp>
    <dsp:sp modelId="{E9D237EB-7535-4492-83F8-B87C90C1454A}">
      <dsp:nvSpPr>
        <dsp:cNvPr id="0" name=""/>
        <dsp:cNvSpPr/>
      </dsp:nvSpPr>
      <dsp:spPr>
        <a:xfrm>
          <a:off x="0" y="1883340"/>
          <a:ext cx="6096000" cy="4284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D721D-CF52-47E3-A40A-3B50E641726E}">
      <dsp:nvSpPr>
        <dsp:cNvPr id="0" name=""/>
        <dsp:cNvSpPr/>
      </dsp:nvSpPr>
      <dsp:spPr>
        <a:xfrm>
          <a:off x="304800" y="1632419"/>
          <a:ext cx="4267200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3. HazeSpace2M (1</a:t>
          </a:r>
          <a:r>
            <a:rPr lang="en-US" sz="1700" kern="1200" baseline="30000" dirty="0"/>
            <a:t>st</a:t>
          </a:r>
          <a:r>
            <a:rPr lang="en-US" sz="1700" kern="1200" dirty="0"/>
            <a:t> Contribution)</a:t>
          </a:r>
        </a:p>
      </dsp:txBody>
      <dsp:txXfrm>
        <a:off x="329298" y="1656917"/>
        <a:ext cx="4218204" cy="452844"/>
      </dsp:txXfrm>
    </dsp:sp>
    <dsp:sp modelId="{B3241A7A-3F5F-47FF-A597-DD1336FF7A31}">
      <dsp:nvSpPr>
        <dsp:cNvPr id="0" name=""/>
        <dsp:cNvSpPr/>
      </dsp:nvSpPr>
      <dsp:spPr>
        <a:xfrm>
          <a:off x="0" y="2654460"/>
          <a:ext cx="6096000" cy="4284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9D499D-F56C-4182-82B4-EA9FC33CE5D3}">
      <dsp:nvSpPr>
        <dsp:cNvPr id="0" name=""/>
        <dsp:cNvSpPr/>
      </dsp:nvSpPr>
      <dsp:spPr>
        <a:xfrm>
          <a:off x="304800" y="2403540"/>
          <a:ext cx="4267200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4. LoLI-Street (2</a:t>
          </a:r>
          <a:r>
            <a:rPr lang="en-US" sz="1700" kern="1200" baseline="30000" dirty="0"/>
            <a:t>nd</a:t>
          </a:r>
          <a:r>
            <a:rPr lang="en-US" sz="1700" kern="1200" dirty="0"/>
            <a:t> Contribution)</a:t>
          </a:r>
        </a:p>
      </dsp:txBody>
      <dsp:txXfrm>
        <a:off x="329298" y="2428038"/>
        <a:ext cx="4218204" cy="452844"/>
      </dsp:txXfrm>
    </dsp:sp>
    <dsp:sp modelId="{AB35DCF5-B030-4C22-ACCD-EA33893D0296}">
      <dsp:nvSpPr>
        <dsp:cNvPr id="0" name=""/>
        <dsp:cNvSpPr/>
      </dsp:nvSpPr>
      <dsp:spPr>
        <a:xfrm>
          <a:off x="0" y="3425580"/>
          <a:ext cx="6096000" cy="4284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68A219-86C8-47C6-A74C-85722FEB773B}">
      <dsp:nvSpPr>
        <dsp:cNvPr id="0" name=""/>
        <dsp:cNvSpPr/>
      </dsp:nvSpPr>
      <dsp:spPr>
        <a:xfrm>
          <a:off x="304800" y="3174660"/>
          <a:ext cx="4267200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5. Conclusion</a:t>
          </a:r>
        </a:p>
      </dsp:txBody>
      <dsp:txXfrm>
        <a:off x="329298" y="3199158"/>
        <a:ext cx="4218204" cy="452844"/>
      </dsp:txXfrm>
    </dsp:sp>
    <dsp:sp modelId="{996811D5-F145-430D-8FE0-0E462B2FEFC7}">
      <dsp:nvSpPr>
        <dsp:cNvPr id="0" name=""/>
        <dsp:cNvSpPr/>
      </dsp:nvSpPr>
      <dsp:spPr>
        <a:xfrm>
          <a:off x="0" y="4196700"/>
          <a:ext cx="6096000" cy="4284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3926D-AFF1-4E96-BB99-6B1759934767}">
      <dsp:nvSpPr>
        <dsp:cNvPr id="0" name=""/>
        <dsp:cNvSpPr/>
      </dsp:nvSpPr>
      <dsp:spPr>
        <a:xfrm>
          <a:off x="304800" y="3945780"/>
          <a:ext cx="4267200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6. Research Outcomes</a:t>
          </a:r>
        </a:p>
      </dsp:txBody>
      <dsp:txXfrm>
        <a:off x="329298" y="3970278"/>
        <a:ext cx="4218204" cy="452844"/>
      </dsp:txXfrm>
    </dsp:sp>
    <dsp:sp modelId="{66A85B17-7CD0-4C10-9E25-DA1FDB8A9C9C}">
      <dsp:nvSpPr>
        <dsp:cNvPr id="0" name=""/>
        <dsp:cNvSpPr/>
      </dsp:nvSpPr>
      <dsp:spPr>
        <a:xfrm>
          <a:off x="0" y="4967820"/>
          <a:ext cx="6096000" cy="4284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3507FF-5664-4630-A794-D01D555834B3}">
      <dsp:nvSpPr>
        <dsp:cNvPr id="0" name=""/>
        <dsp:cNvSpPr/>
      </dsp:nvSpPr>
      <dsp:spPr>
        <a:xfrm>
          <a:off x="304800" y="4716900"/>
          <a:ext cx="4267200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7. References</a:t>
          </a:r>
        </a:p>
      </dsp:txBody>
      <dsp:txXfrm>
        <a:off x="329298" y="4741398"/>
        <a:ext cx="4218204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D2685-C469-4C0C-AD06-FFEFD6F7486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D823A-EB84-44D6-A0B4-69F836F12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4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79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36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24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CFBAF-65A2-BA8C-1E8E-536749C0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23B7B-7113-21E7-1176-8E6D8F440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80AA1-5570-C2F8-39DA-03495D9BA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2CED3-88E4-08C6-0F5A-309346354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42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FE06-617C-E17E-A5F0-C6148613A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990D4-2415-AA74-6291-AB4582732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37974-A51F-DFD7-BBE3-77C330016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1E508-8E17-05F6-786F-835A05B22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98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EAA4-2282-10D8-0D00-BCECA16D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8F46E-4B0C-DB6A-B688-CFB6932B7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4E3FC-04AC-79B9-A523-2D09FA262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DBE90-FE88-9901-FF63-0A63A40B1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2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4C98E-3899-CF55-1DD6-D2D03A228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699CE-5809-8285-5CC2-1027C1EB4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03500-D909-B094-27D1-CBEE482C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2850E-8DBE-B217-6A92-47272A175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98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B169-2762-3856-8581-0B2A95C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60E98-0274-0FDE-332A-3FB8AE2BD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D9166-37D4-1510-5B47-B9542680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7BDF8-02E6-008E-19B0-29B0B68D8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64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FA9F-0E7C-F0B5-526F-C5835727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52376-078B-4364-2E84-F2293FEA9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35D38-7635-017B-FE43-19DEC8C07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DFA60-26E6-5C46-DC9E-8C342099B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52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11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420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0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16E5-A926-A70F-1394-89428AC29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14FA7-CAC7-776B-D4C5-9246B333A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654C1-3C9B-1847-A7C3-F64A9953A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D8118-07AC-242C-6527-5DB177F70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84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F65EC-45BB-6CE7-A64C-40FBCA083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9BF20-9CA2-CC76-0047-424145ED6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A7E97-4CB9-E85A-DB31-801B8A07F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E2ADB-8C46-3C61-1A24-01B2B01D7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14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E633F-FF3F-329B-F838-7316B7397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BD066-1E34-DDE2-65F1-605C9CB15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FDB5C-856C-E69E-9D5F-56F24D7EA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6ADE8-C2CE-50EC-F7B2-B741644B7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79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B990-B86D-0BDD-1AE9-07715D4B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B7CF7-E373-B5AB-CEFE-11E0C69C8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25CD8-DDA2-BE4C-3941-1F105E820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E1418-FADD-94F5-1ADD-C80BB29E3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560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034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204B-2D05-E31D-5133-7126C9743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DEFF8-96BF-038A-9248-262A65165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07061-81AB-2FD4-849F-9CD7F90B1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F0CAA-F5EE-B081-2516-3B69867D6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08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F0ED-8316-C39B-9ECD-01DA306D1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EF5EA-BFC6-BE80-A8C9-30D551193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358E4-CC5C-4CE3-9E0B-267755B0B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59943-608A-A7FC-63BC-746AD0683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554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D823A-EB84-44D6-A0B4-69F836F1272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43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300" y="205528"/>
            <a:ext cx="10251440" cy="709865"/>
          </a:xfrm>
        </p:spPr>
        <p:txBody>
          <a:bodyPr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Dummy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008C9F6-2F1E-28B9-F22D-85CAECDF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8880" y="6265064"/>
            <a:ext cx="703793" cy="365125"/>
          </a:xfrm>
          <a:prstGeom prst="rect">
            <a:avLst/>
          </a:prstGeom>
        </p:spPr>
        <p:txBody>
          <a:bodyPr/>
          <a:lstStyle>
            <a:lvl1pPr>
              <a:defRPr sz="1000" spc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oogle Shape;1538;p39">
            <a:extLst>
              <a:ext uri="{FF2B5EF4-FFF2-40B4-BE49-F238E27FC236}">
                <a16:creationId xmlns:a16="http://schemas.microsoft.com/office/drawing/2014/main" id="{9401718F-8AE1-B3B9-0D57-8B327270A2EA}"/>
              </a:ext>
            </a:extLst>
          </p:cNvPr>
          <p:cNvGrpSpPr/>
          <p:nvPr userDrawn="1"/>
        </p:nvGrpSpPr>
        <p:grpSpPr>
          <a:xfrm>
            <a:off x="0" y="6406143"/>
            <a:ext cx="10070830" cy="134100"/>
            <a:chOff x="-4715763" y="3019701"/>
            <a:chExt cx="10070830" cy="134100"/>
          </a:xfrm>
        </p:grpSpPr>
        <p:sp>
          <p:nvSpPr>
            <p:cNvPr id="9" name="Google Shape;1539;p39">
              <a:extLst>
                <a:ext uri="{FF2B5EF4-FFF2-40B4-BE49-F238E27FC236}">
                  <a16:creationId xmlns:a16="http://schemas.microsoft.com/office/drawing/2014/main" id="{946B3612-9F36-C0D2-F8C0-C2CC78D835DD}"/>
                </a:ext>
              </a:extLst>
            </p:cNvPr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" name="Google Shape;1540;p39">
              <a:extLst>
                <a:ext uri="{FF2B5EF4-FFF2-40B4-BE49-F238E27FC236}">
                  <a16:creationId xmlns:a16="http://schemas.microsoft.com/office/drawing/2014/main" id="{2014242E-422E-CF2C-B53C-9AF6ADB0F754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>
              <a:off x="-4715763" y="3086751"/>
              <a:ext cx="9936730" cy="0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1541;p39">
              <a:extLst>
                <a:ext uri="{FF2B5EF4-FFF2-40B4-BE49-F238E27FC236}">
                  <a16:creationId xmlns:a16="http://schemas.microsoft.com/office/drawing/2014/main" id="{C69412FE-2D16-5068-14D3-E2ED778C453B}"/>
                </a:ext>
              </a:extLst>
            </p:cNvPr>
            <p:cNvSpPr/>
            <p:nvPr/>
          </p:nvSpPr>
          <p:spPr>
            <a:xfrm>
              <a:off x="5251079" y="3049850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D5DC3C6-1017-D79B-410B-45DCF9E36107}"/>
              </a:ext>
            </a:extLst>
          </p:cNvPr>
          <p:cNvSpPr txBox="1"/>
          <p:nvPr userDrawn="1"/>
        </p:nvSpPr>
        <p:spPr>
          <a:xfrm>
            <a:off x="10238720" y="6350082"/>
            <a:ext cx="14887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VIS2KNOW Lab, SKKU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E24156-3049-E2BA-9DDF-033DD2513A7A}"/>
              </a:ext>
            </a:extLst>
          </p:cNvPr>
          <p:cNvCxnSpPr>
            <a:cxnSpLocks/>
          </p:cNvCxnSpPr>
          <p:nvPr userDrawn="1"/>
        </p:nvCxnSpPr>
        <p:spPr>
          <a:xfrm>
            <a:off x="10317123" y="6360865"/>
            <a:ext cx="1274967" cy="0"/>
          </a:xfrm>
          <a:prstGeom prst="line">
            <a:avLst/>
          </a:prstGeom>
          <a:ln w="19050">
            <a:gradFill>
              <a:gsLst>
                <a:gs pos="7000">
                  <a:schemeClr val="accent1">
                    <a:lumMod val="5000"/>
                    <a:lumOff val="95000"/>
                  </a:schemeClr>
                </a:gs>
                <a:gs pos="53000">
                  <a:srgbClr val="92D050"/>
                </a:gs>
                <a:gs pos="93000">
                  <a:schemeClr val="bg1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683168-1D7C-B6F7-4D77-9FD43C5AFBD6}"/>
              </a:ext>
            </a:extLst>
          </p:cNvPr>
          <p:cNvCxnSpPr>
            <a:cxnSpLocks/>
          </p:cNvCxnSpPr>
          <p:nvPr userDrawn="1"/>
        </p:nvCxnSpPr>
        <p:spPr>
          <a:xfrm>
            <a:off x="10367979" y="6585842"/>
            <a:ext cx="1274967" cy="0"/>
          </a:xfrm>
          <a:prstGeom prst="line">
            <a:avLst/>
          </a:prstGeom>
          <a:ln w="19050">
            <a:gradFill>
              <a:gsLst>
                <a:gs pos="7000">
                  <a:schemeClr val="accent1">
                    <a:lumMod val="5000"/>
                    <a:lumOff val="95000"/>
                  </a:schemeClr>
                </a:gs>
                <a:gs pos="53000">
                  <a:srgbClr val="92D050"/>
                </a:gs>
                <a:gs pos="93000">
                  <a:schemeClr val="bg1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8C89DD5-DAA9-EC3B-87C2-AFD111E5E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300" y="1260829"/>
            <a:ext cx="10793912" cy="4076232"/>
          </a:xfrm>
        </p:spPr>
        <p:txBody>
          <a:bodyPr/>
          <a:lstStyle>
            <a:lvl1pPr marL="0" indent="0"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304F308-9DAF-20EA-5961-A450CF5E484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60400" y="6436292"/>
            <a:ext cx="9108440" cy="42170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dirty="0"/>
              <a:t>Reference</a:t>
            </a:r>
          </a:p>
        </p:txBody>
      </p:sp>
      <p:pic>
        <p:nvPicPr>
          <p:cNvPr id="3074" name="Picture 2" descr="SKKU Sungkyunkwan University Logo PNG vector in SVG, PDF, AI, CDR format">
            <a:extLst>
              <a:ext uri="{FF2B5EF4-FFF2-40B4-BE49-F238E27FC236}">
                <a16:creationId xmlns:a16="http://schemas.microsoft.com/office/drawing/2014/main" id="{4B05236C-D261-477F-5FB4-A616661586E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17" t="14107" r="22545" b="13865"/>
          <a:stretch/>
        </p:blipFill>
        <p:spPr bwMode="auto">
          <a:xfrm>
            <a:off x="11093631" y="225116"/>
            <a:ext cx="721361" cy="70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01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008C9F6-2F1E-28B9-F22D-85CAECDF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8880" y="6265064"/>
            <a:ext cx="703793" cy="365125"/>
          </a:xfrm>
          <a:prstGeom prst="rect">
            <a:avLst/>
          </a:prstGeom>
        </p:spPr>
        <p:txBody>
          <a:bodyPr/>
          <a:lstStyle>
            <a:lvl1pPr>
              <a:defRPr sz="1000" spc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oogle Shape;1538;p39">
            <a:extLst>
              <a:ext uri="{FF2B5EF4-FFF2-40B4-BE49-F238E27FC236}">
                <a16:creationId xmlns:a16="http://schemas.microsoft.com/office/drawing/2014/main" id="{9401718F-8AE1-B3B9-0D57-8B327270A2EA}"/>
              </a:ext>
            </a:extLst>
          </p:cNvPr>
          <p:cNvGrpSpPr/>
          <p:nvPr userDrawn="1"/>
        </p:nvGrpSpPr>
        <p:grpSpPr>
          <a:xfrm>
            <a:off x="0" y="6406143"/>
            <a:ext cx="10070830" cy="134100"/>
            <a:chOff x="-4715763" y="3019701"/>
            <a:chExt cx="10070830" cy="134100"/>
          </a:xfrm>
        </p:grpSpPr>
        <p:sp>
          <p:nvSpPr>
            <p:cNvPr id="9" name="Google Shape;1539;p39">
              <a:extLst>
                <a:ext uri="{FF2B5EF4-FFF2-40B4-BE49-F238E27FC236}">
                  <a16:creationId xmlns:a16="http://schemas.microsoft.com/office/drawing/2014/main" id="{946B3612-9F36-C0D2-F8C0-C2CC78D835DD}"/>
                </a:ext>
              </a:extLst>
            </p:cNvPr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" name="Google Shape;1540;p39">
              <a:extLst>
                <a:ext uri="{FF2B5EF4-FFF2-40B4-BE49-F238E27FC236}">
                  <a16:creationId xmlns:a16="http://schemas.microsoft.com/office/drawing/2014/main" id="{2014242E-422E-CF2C-B53C-9AF6ADB0F754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>
              <a:off x="-4715763" y="3086751"/>
              <a:ext cx="9936730" cy="0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1541;p39">
              <a:extLst>
                <a:ext uri="{FF2B5EF4-FFF2-40B4-BE49-F238E27FC236}">
                  <a16:creationId xmlns:a16="http://schemas.microsoft.com/office/drawing/2014/main" id="{C69412FE-2D16-5068-14D3-E2ED778C453B}"/>
                </a:ext>
              </a:extLst>
            </p:cNvPr>
            <p:cNvSpPr/>
            <p:nvPr/>
          </p:nvSpPr>
          <p:spPr>
            <a:xfrm>
              <a:off x="5251079" y="3049850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D5DC3C6-1017-D79B-410B-45DCF9E36107}"/>
              </a:ext>
            </a:extLst>
          </p:cNvPr>
          <p:cNvSpPr txBox="1"/>
          <p:nvPr userDrawn="1"/>
        </p:nvSpPr>
        <p:spPr>
          <a:xfrm>
            <a:off x="10100942" y="6350082"/>
            <a:ext cx="14887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VIS2KNOW Lab, SKKU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E24156-3049-E2BA-9DDF-033DD2513A7A}"/>
              </a:ext>
            </a:extLst>
          </p:cNvPr>
          <p:cNvCxnSpPr>
            <a:cxnSpLocks/>
          </p:cNvCxnSpPr>
          <p:nvPr userDrawn="1"/>
        </p:nvCxnSpPr>
        <p:spPr>
          <a:xfrm>
            <a:off x="10179345" y="6360865"/>
            <a:ext cx="1274967" cy="0"/>
          </a:xfrm>
          <a:prstGeom prst="line">
            <a:avLst/>
          </a:prstGeom>
          <a:ln w="19050">
            <a:gradFill>
              <a:gsLst>
                <a:gs pos="7000">
                  <a:schemeClr val="accent1">
                    <a:lumMod val="5000"/>
                    <a:lumOff val="95000"/>
                  </a:schemeClr>
                </a:gs>
                <a:gs pos="53000">
                  <a:srgbClr val="92D050"/>
                </a:gs>
                <a:gs pos="93000">
                  <a:schemeClr val="bg1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683168-1D7C-B6F7-4D77-9FD43C5AFBD6}"/>
              </a:ext>
            </a:extLst>
          </p:cNvPr>
          <p:cNvCxnSpPr>
            <a:cxnSpLocks/>
          </p:cNvCxnSpPr>
          <p:nvPr userDrawn="1"/>
        </p:nvCxnSpPr>
        <p:spPr>
          <a:xfrm>
            <a:off x="10230201" y="6585842"/>
            <a:ext cx="1274967" cy="0"/>
          </a:xfrm>
          <a:prstGeom prst="line">
            <a:avLst/>
          </a:prstGeom>
          <a:ln w="19050">
            <a:gradFill>
              <a:gsLst>
                <a:gs pos="7000">
                  <a:schemeClr val="accent1">
                    <a:lumMod val="5000"/>
                    <a:lumOff val="95000"/>
                  </a:schemeClr>
                </a:gs>
                <a:gs pos="53000">
                  <a:srgbClr val="92D050"/>
                </a:gs>
                <a:gs pos="93000">
                  <a:schemeClr val="bg1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304F308-9DAF-20EA-5961-A450CF5E484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60400" y="6436292"/>
            <a:ext cx="9108440" cy="42170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dirty="0"/>
              <a:t>Reference</a:t>
            </a:r>
          </a:p>
        </p:txBody>
      </p:sp>
      <p:pic>
        <p:nvPicPr>
          <p:cNvPr id="5" name="Picture 2" descr="SKKU Sungkyunkwan University Logo PNG vector in SVG, PDF, AI, CDR format">
            <a:extLst>
              <a:ext uri="{FF2B5EF4-FFF2-40B4-BE49-F238E27FC236}">
                <a16:creationId xmlns:a16="http://schemas.microsoft.com/office/drawing/2014/main" id="{7E205457-086B-0815-2396-7C6E8407A07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17" t="14107" r="22545" b="13865"/>
          <a:stretch/>
        </p:blipFill>
        <p:spPr bwMode="auto">
          <a:xfrm>
            <a:off x="11093631" y="225116"/>
            <a:ext cx="721361" cy="70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8E1C915-B5D7-D725-4814-6BBB507C8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300" y="205528"/>
            <a:ext cx="10251440" cy="709865"/>
          </a:xfrm>
        </p:spPr>
        <p:txBody>
          <a:bodyPr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Dummy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BA5F543-47BF-2971-95D2-143131BCB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300" y="1260829"/>
            <a:ext cx="10793912" cy="4076232"/>
          </a:xfrm>
        </p:spPr>
        <p:txBody>
          <a:bodyPr/>
          <a:lstStyle>
            <a:lvl1pPr marL="0" indent="0"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878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4800" cap="none" spc="13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/>
          <a:lstStyle/>
          <a:p>
            <a:fld id="{20567A8C-E0F2-416E-B011-E5C2E50B7DAC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2" descr="Sungkyunkwan University - University List">
            <a:extLst>
              <a:ext uri="{FF2B5EF4-FFF2-40B4-BE49-F238E27FC236}">
                <a16:creationId xmlns:a16="http://schemas.microsoft.com/office/drawing/2014/main" id="{E09722A3-3D77-E70C-8777-36E4EB48D1D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t="29448" b="29105"/>
          <a:stretch/>
        </p:blipFill>
        <p:spPr bwMode="auto">
          <a:xfrm>
            <a:off x="10040642" y="508000"/>
            <a:ext cx="1962593" cy="46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277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54103"/>
            <a:ext cx="9486901" cy="29060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71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/>
          <a:lstStyle/>
          <a:p>
            <a:fld id="{198F20CF-3E91-4E81-86F5-55BF86462E16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9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336823-7CF4-AEC6-5469-21684220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5127" y="6265064"/>
            <a:ext cx="61754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icrosoft GothicNeo (Body)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oogle Shape;763;p19">
            <a:extLst>
              <a:ext uri="{FF2B5EF4-FFF2-40B4-BE49-F238E27FC236}">
                <a16:creationId xmlns:a16="http://schemas.microsoft.com/office/drawing/2014/main" id="{A9358DBC-77E3-D8AB-F887-E04B9A828011}"/>
              </a:ext>
            </a:extLst>
          </p:cNvPr>
          <p:cNvGrpSpPr/>
          <p:nvPr userDrawn="1"/>
        </p:nvGrpSpPr>
        <p:grpSpPr>
          <a:xfrm>
            <a:off x="10167943" y="6369252"/>
            <a:ext cx="1330325" cy="195218"/>
            <a:chOff x="124624" y="4953514"/>
            <a:chExt cx="1137387" cy="88142"/>
          </a:xfrm>
        </p:grpSpPr>
        <p:sp>
          <p:nvSpPr>
            <p:cNvPr id="10" name="Google Shape;764;p19">
              <a:extLst>
                <a:ext uri="{FF2B5EF4-FFF2-40B4-BE49-F238E27FC236}">
                  <a16:creationId xmlns:a16="http://schemas.microsoft.com/office/drawing/2014/main" id="{262A6A22-9110-0867-1AC3-F6817089B7DB}"/>
                </a:ext>
              </a:extLst>
            </p:cNvPr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65;p19">
              <a:extLst>
                <a:ext uri="{FF2B5EF4-FFF2-40B4-BE49-F238E27FC236}">
                  <a16:creationId xmlns:a16="http://schemas.microsoft.com/office/drawing/2014/main" id="{93E2F01E-6A90-2FE2-3413-7FB66127E4AF}"/>
                </a:ext>
              </a:extLst>
            </p:cNvPr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1538;p39">
            <a:extLst>
              <a:ext uri="{FF2B5EF4-FFF2-40B4-BE49-F238E27FC236}">
                <a16:creationId xmlns:a16="http://schemas.microsoft.com/office/drawing/2014/main" id="{A6B8D3F9-ABD2-FB1B-7D96-E5B05158AF7D}"/>
              </a:ext>
            </a:extLst>
          </p:cNvPr>
          <p:cNvGrpSpPr/>
          <p:nvPr userDrawn="1"/>
        </p:nvGrpSpPr>
        <p:grpSpPr>
          <a:xfrm>
            <a:off x="0" y="6406143"/>
            <a:ext cx="10070830" cy="134100"/>
            <a:chOff x="-4715763" y="3019701"/>
            <a:chExt cx="10070830" cy="134100"/>
          </a:xfrm>
        </p:grpSpPr>
        <p:sp>
          <p:nvSpPr>
            <p:cNvPr id="13" name="Google Shape;1539;p39">
              <a:extLst>
                <a:ext uri="{FF2B5EF4-FFF2-40B4-BE49-F238E27FC236}">
                  <a16:creationId xmlns:a16="http://schemas.microsoft.com/office/drawing/2014/main" id="{48BA8A30-1011-8664-DB8E-76B11D61D739}"/>
                </a:ext>
              </a:extLst>
            </p:cNvPr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" name="Google Shape;1540;p39">
              <a:extLst>
                <a:ext uri="{FF2B5EF4-FFF2-40B4-BE49-F238E27FC236}">
                  <a16:creationId xmlns:a16="http://schemas.microsoft.com/office/drawing/2014/main" id="{72C080DC-DAF1-978B-4CDE-3E2A067D27A2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>
              <a:off x="-4715763" y="3086751"/>
              <a:ext cx="993673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Google Shape;1541;p39">
              <a:extLst>
                <a:ext uri="{FF2B5EF4-FFF2-40B4-BE49-F238E27FC236}">
                  <a16:creationId xmlns:a16="http://schemas.microsoft.com/office/drawing/2014/main" id="{B8CFFE4B-3461-EE30-92B0-AA13A4152B36}"/>
                </a:ext>
              </a:extLst>
            </p:cNvPr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C0458E0-E855-AC49-63C8-B161C1E3EA0C}"/>
              </a:ext>
            </a:extLst>
          </p:cNvPr>
          <p:cNvSpPr txBox="1"/>
          <p:nvPr userDrawn="1"/>
        </p:nvSpPr>
        <p:spPr>
          <a:xfrm>
            <a:off x="10091757" y="6350083"/>
            <a:ext cx="14887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VIS2KNOW Lab, SKKU</a:t>
            </a:r>
          </a:p>
        </p:txBody>
      </p:sp>
      <p:grpSp>
        <p:nvGrpSpPr>
          <p:cNvPr id="17" name="Google Shape;766;p19">
            <a:extLst>
              <a:ext uri="{FF2B5EF4-FFF2-40B4-BE49-F238E27FC236}">
                <a16:creationId xmlns:a16="http://schemas.microsoft.com/office/drawing/2014/main" id="{A327A23E-3A64-7545-CAAA-B94D6F303B21}"/>
              </a:ext>
            </a:extLst>
          </p:cNvPr>
          <p:cNvGrpSpPr/>
          <p:nvPr userDrawn="1"/>
        </p:nvGrpSpPr>
        <p:grpSpPr>
          <a:xfrm>
            <a:off x="9966842" y="2803952"/>
            <a:ext cx="4028179" cy="5283555"/>
            <a:chOff x="6883700" y="1385725"/>
            <a:chExt cx="4028179" cy="5283555"/>
          </a:xfrm>
        </p:grpSpPr>
        <p:sp>
          <p:nvSpPr>
            <p:cNvPr id="18" name="Google Shape;767;p19">
              <a:extLst>
                <a:ext uri="{FF2B5EF4-FFF2-40B4-BE49-F238E27FC236}">
                  <a16:creationId xmlns:a16="http://schemas.microsoft.com/office/drawing/2014/main" id="{73C61B9E-EDFC-D79A-FEAD-CF56353E9876}"/>
                </a:ext>
              </a:extLst>
            </p:cNvPr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68;p19">
              <a:extLst>
                <a:ext uri="{FF2B5EF4-FFF2-40B4-BE49-F238E27FC236}">
                  <a16:creationId xmlns:a16="http://schemas.microsoft.com/office/drawing/2014/main" id="{60927A03-AEAC-5C01-FFD8-D09D926BFAE6}"/>
                </a:ext>
              </a:extLst>
            </p:cNvPr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69;p19">
              <a:extLst>
                <a:ext uri="{FF2B5EF4-FFF2-40B4-BE49-F238E27FC236}">
                  <a16:creationId xmlns:a16="http://schemas.microsoft.com/office/drawing/2014/main" id="{6921DFF7-DE89-5309-E5B9-E8B86DB76F50}"/>
                </a:ext>
              </a:extLst>
            </p:cNvPr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770;p19">
              <a:extLst>
                <a:ext uri="{FF2B5EF4-FFF2-40B4-BE49-F238E27FC236}">
                  <a16:creationId xmlns:a16="http://schemas.microsoft.com/office/drawing/2014/main" id="{7253A34E-29B7-BF11-A6A1-9F669601C00E}"/>
                </a:ext>
              </a:extLst>
            </p:cNvPr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3882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/>
          <a:lstStyle/>
          <a:p>
            <a:fld id="{B8B2DC35-A69E-41D7-969F-65D482A956EC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9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/>
          <a:lstStyle/>
          <a:p>
            <a:fld id="{076DB793-3642-4202-B66B-BF84DBD1D9A7}" type="datetime1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9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/>
          <a:lstStyle/>
          <a:p>
            <a:fld id="{6115D0D4-C6B9-4A8A-A6DF-CAB21218E082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4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/>
          <a:lstStyle/>
          <a:p>
            <a:fld id="{D92F8A0D-BC3E-456E-BB72-B1E4EBAA79E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2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/>
          <a:lstStyle/>
          <a:p>
            <a:fld id="{83148215-1995-42D7-8E7C-0E5EEB04CE08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1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/>
          <a:lstStyle/>
          <a:p>
            <a:fld id="{746E1D11-B01F-4C3A-A6AD-817A4536F8B5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8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900" cap="all" spc="5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9374C9F-AD69-4052-9B3D-E7A82086A0DC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900" cap="none" spc="5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 cap="none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2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2" r:id="rId2"/>
    <p:sldLayoutId id="2147483737" r:id="rId3"/>
    <p:sldLayoutId id="2147483736" r:id="rId4"/>
    <p:sldLayoutId id="2147483735" r:id="rId5"/>
    <p:sldLayoutId id="2147483734" r:id="rId6"/>
    <p:sldLayoutId id="2147483733" r:id="rId7"/>
    <p:sldLayoutId id="2147483731" r:id="rId8"/>
    <p:sldLayoutId id="2147483730" r:id="rId9"/>
    <p:sldLayoutId id="2147483729" r:id="rId10"/>
    <p:sldLayoutId id="2147483728" r:id="rId11"/>
    <p:sldLayoutId id="214748372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hdr="0" ft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3600" b="1" kern="1200" spc="9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2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 spc="5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2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 spc="5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2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 spc="5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2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 spc="5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2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 spc="5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231A6EB9-6AAE-0D3D-A059-D398497FA8A9}"/>
              </a:ext>
            </a:extLst>
          </p:cNvPr>
          <p:cNvSpPr txBox="1">
            <a:spLocks/>
          </p:cNvSpPr>
          <p:nvPr/>
        </p:nvSpPr>
        <p:spPr>
          <a:xfrm>
            <a:off x="1054099" y="1906065"/>
            <a:ext cx="10083800" cy="1692267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228600" indent="-228600" algn="l" defTabSz="914400" rtl="0" eaLnBrk="1" latinLnBrk="0" hangingPunct="1">
              <a:lnSpc>
                <a:spcPct val="112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5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Study Towards Robust Image Enhancement in Adverse Atmospheric Conditions</a:t>
            </a:r>
            <a:endParaRPr lang="en-US" sz="35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ECCC3A-55D5-8757-CB5E-78321581FE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8880" y="6265064"/>
            <a:ext cx="703793" cy="365125"/>
          </a:xfrm>
          <a:prstGeom prst="rect">
            <a:avLst/>
          </a:prstGeom>
        </p:spPr>
        <p:txBody>
          <a:bodyPr/>
          <a:lstStyle/>
          <a:p>
            <a:fld id="{F8E28480-1C08-4458-AD97-0283E6FFD09D}" type="slidenum">
              <a:rPr lang="en-US" smtClean="0"/>
              <a:t>1</a:t>
            </a:fld>
            <a:endParaRPr lang="en-US" dirty="0"/>
          </a:p>
        </p:txBody>
      </p:sp>
      <p:pic>
        <p:nvPicPr>
          <p:cNvPr id="1026" name="Picture 2" descr="Sungkyunkwan University - University List">
            <a:extLst>
              <a:ext uri="{FF2B5EF4-FFF2-40B4-BE49-F238E27FC236}">
                <a16:creationId xmlns:a16="http://schemas.microsoft.com/office/drawing/2014/main" id="{BA067FAA-126B-C68C-E24D-F32650BA5A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48" b="30250"/>
          <a:stretch/>
        </p:blipFill>
        <p:spPr bwMode="auto">
          <a:xfrm>
            <a:off x="4095087" y="383945"/>
            <a:ext cx="4001825" cy="90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766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CD538B8-489B-407A-A760-436DB4C5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7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99C0B-4994-A72F-B492-59C161AE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600"/>
            <a:ext cx="2705100" cy="4114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200" kern="1200" cap="all" spc="300" baseline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Presentation</a:t>
            </a:r>
            <a:br>
              <a:rPr lang="en-US" sz="2200" kern="1200" cap="all" spc="300" baseline="0">
                <a:solidFill>
                  <a:schemeClr val="bg2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cap="all" spc="300" baseline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A9A251-1ACD-A9D4-978E-0637DBDE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6340" y="6356350"/>
            <a:ext cx="8718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8E28480-1C08-4458-AD97-0283E6FFD09D}" type="slidenum">
              <a:rPr lang="en-US" sz="900" spc="300" smtClean="0">
                <a:latin typeface="+mn-lt"/>
                <a:ea typeface="+mn-ea"/>
                <a:cs typeface="+mn-cs"/>
              </a:rPr>
              <a:pPr defTabSz="914400">
                <a:spcAft>
                  <a:spcPts val="600"/>
                </a:spcAft>
              </a:pPr>
              <a:t>2</a:t>
            </a:fld>
            <a:endParaRPr lang="en-US" sz="900" spc="30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2BA63E0-A0A7-FB56-5374-2995BDDED85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4845566"/>
              </p:ext>
            </p:extLst>
          </p:nvPr>
        </p:nvGraphicFramePr>
        <p:xfrm>
          <a:off x="5410200" y="685800"/>
          <a:ext cx="60960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620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EC8E54-4154-D58E-E9AE-2AAD6052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64513-B54C-7EAF-DD34-253A0D8BC86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08AD1B2-3F2A-8B60-A5A4-2AE934F8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21" y="205528"/>
            <a:ext cx="10251440" cy="709865"/>
          </a:xfrm>
        </p:spPr>
        <p:txBody>
          <a:bodyPr/>
          <a:lstStyle/>
          <a:p>
            <a:r>
              <a:rPr lang="en-US" dirty="0"/>
              <a:t>1. Motivation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C2960A6-98AC-988E-F2EC-4116202F7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7" t="1497" r="53009" b="59242"/>
          <a:stretch/>
        </p:blipFill>
        <p:spPr bwMode="auto">
          <a:xfrm>
            <a:off x="9478107" y="1080252"/>
            <a:ext cx="1817079" cy="138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ars On Road Fog Bad Winter Stock Photo 526334323 | Shutterstock">
            <a:extLst>
              <a:ext uri="{FF2B5EF4-FFF2-40B4-BE49-F238E27FC236}">
                <a16:creationId xmlns:a16="http://schemas.microsoft.com/office/drawing/2014/main" id="{D17D52E2-7F4C-19E7-A54E-8A420A8258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77" t="18457" b="15372"/>
          <a:stretch/>
        </p:blipFill>
        <p:spPr bwMode="auto">
          <a:xfrm>
            <a:off x="9478107" y="2468897"/>
            <a:ext cx="1817080" cy="138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E24E84-5D21-B154-57AA-B6AFE3FB2759}"/>
              </a:ext>
            </a:extLst>
          </p:cNvPr>
          <p:cNvSpPr txBox="1"/>
          <p:nvPr/>
        </p:nvSpPr>
        <p:spPr>
          <a:xfrm>
            <a:off x="660400" y="1678143"/>
            <a:ext cx="667824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600" dirty="0"/>
              <a:t>According to the WHO, </a:t>
            </a:r>
            <a:r>
              <a:rPr lang="en-US" sz="1600" b="1" dirty="0"/>
              <a:t>worldwide</a:t>
            </a:r>
            <a:r>
              <a:rPr lang="en-US" sz="1600" dirty="0"/>
              <a:t>, approximately 1.19 million people die each year as a result of road traffic crashes [1].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dirty="0"/>
              <a:t>In the </a:t>
            </a:r>
            <a:r>
              <a:rPr lang="en-US" sz="1600" b="1" dirty="0"/>
              <a:t>US</a:t>
            </a:r>
            <a:r>
              <a:rPr lang="en-US" sz="1600" dirty="0"/>
              <a:t>, nationwide, each year, over 38,700 vehicle crashes occur in fog, where around 21% of these are weather-related [2,3].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600" dirty="0"/>
              <a:t>In 2015 in </a:t>
            </a:r>
            <a:r>
              <a:rPr lang="en-US" sz="1600" b="1" dirty="0"/>
              <a:t>Korea</a:t>
            </a:r>
            <a:r>
              <a:rPr lang="en-US" sz="1600" dirty="0"/>
              <a:t>, the fatal accident rate was 6.9% on foggy days, while on clear days it was 2.5% [4].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1FCF6-4489-8654-654E-9A917B1A1B98}"/>
              </a:ext>
            </a:extLst>
          </p:cNvPr>
          <p:cNvSpPr txBox="1"/>
          <p:nvPr/>
        </p:nvSpPr>
        <p:spPr>
          <a:xfrm>
            <a:off x="660400" y="422701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Challenges in Vision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9955C-BD8C-FCB3-8EB4-2DEB9407F72E}"/>
              </a:ext>
            </a:extLst>
          </p:cNvPr>
          <p:cNvSpPr txBox="1"/>
          <p:nvPr/>
        </p:nvSpPr>
        <p:spPr>
          <a:xfrm>
            <a:off x="660400" y="4694505"/>
            <a:ext cx="59139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600" dirty="0"/>
              <a:t>Image degradation from haze and low-light causes failures in object detection, navigation, etc.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dirty="0"/>
              <a:t>Autonomous systems (e.g., self-driving cars, surveillance) demand clear vision for accurate navigation.</a:t>
            </a:r>
          </a:p>
          <a:p>
            <a:pPr lvl="0"/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7F099-EE24-9AD1-A78E-DFC8CFF6CCC8}"/>
              </a:ext>
            </a:extLst>
          </p:cNvPr>
          <p:cNvSpPr txBox="1"/>
          <p:nvPr/>
        </p:nvSpPr>
        <p:spPr>
          <a:xfrm>
            <a:off x="660400" y="117985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Weather Impact on Road Safety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9E6A6-80F4-593A-6462-C5E141FAA746}"/>
              </a:ext>
            </a:extLst>
          </p:cNvPr>
          <p:cNvSpPr txBox="1"/>
          <p:nvPr/>
        </p:nvSpPr>
        <p:spPr>
          <a:xfrm>
            <a:off x="7338647" y="42780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Problem Statement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310ED4-C7C7-B88F-663D-3661747886E0}"/>
              </a:ext>
            </a:extLst>
          </p:cNvPr>
          <p:cNvSpPr txBox="1"/>
          <p:nvPr/>
        </p:nvSpPr>
        <p:spPr>
          <a:xfrm>
            <a:off x="7338647" y="4745552"/>
            <a:ext cx="44594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600" dirty="0"/>
              <a:t>Most existing methods assume a single haze type or work on synthetic data.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600" dirty="0"/>
              <a:t>Lack of large-scale, diverse datasets.</a:t>
            </a:r>
          </a:p>
        </p:txBody>
      </p:sp>
      <p:pic>
        <p:nvPicPr>
          <p:cNvPr id="1028" name="Picture 4" descr="UK weather: Yellow warning for fog issued by Met Office | UK News | Sky News">
            <a:extLst>
              <a:ext uri="{FF2B5EF4-FFF2-40B4-BE49-F238E27FC236}">
                <a16:creationId xmlns:a16="http://schemas.microsoft.com/office/drawing/2014/main" id="{7DDA5A9E-91C1-4C87-0F66-79D3ED404C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4"/>
          <a:stretch/>
        </p:blipFill>
        <p:spPr bwMode="auto">
          <a:xfrm>
            <a:off x="7598507" y="2468895"/>
            <a:ext cx="1879599" cy="1379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azy weather conditions prevail in Amritsar because of smog, says PPCB -  The Tribune">
            <a:extLst>
              <a:ext uri="{FF2B5EF4-FFF2-40B4-BE49-F238E27FC236}">
                <a16:creationId xmlns:a16="http://schemas.microsoft.com/office/drawing/2014/main" id="{BF2F5E84-F9A7-0600-E96E-F0B9F71B94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2"/>
          <a:stretch/>
        </p:blipFill>
        <p:spPr bwMode="auto">
          <a:xfrm>
            <a:off x="7598506" y="1080252"/>
            <a:ext cx="1879600" cy="138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06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C0DC-4F27-8370-6C43-5F340ED5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88" y="222019"/>
            <a:ext cx="9456625" cy="749043"/>
          </a:xfrm>
        </p:spPr>
        <p:txBody>
          <a:bodyPr/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2. Major Contributions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7727F4-01CE-6DFF-5383-6444E8ED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253EA-DA3B-CB1B-C440-8FAE02439A3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34768" y="1149505"/>
            <a:ext cx="4595249" cy="184866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HazeSpace2M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HazeSpace2M: 2.2M images across 3 haze types &amp; 4 scene types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Introduced a new haze aware dehazing framework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149666-0BA9-8EB2-9F0B-BF51D2534F7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528820C-B4A5-C859-6FCB-9A0BD4AC716D}"/>
              </a:ext>
            </a:extLst>
          </p:cNvPr>
          <p:cNvSpPr txBox="1">
            <a:spLocks/>
          </p:cNvSpPr>
          <p:nvPr/>
        </p:nvSpPr>
        <p:spPr>
          <a:xfrm>
            <a:off x="6860344" y="1149505"/>
            <a:ext cx="4553243" cy="1848669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12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LoLI-Street/TriFuse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LoLI-Street: 33,000 paired low-light images + real test set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TriFuse model for LLIE (Transformer + Diffusion)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A87A73C-7F38-9CA0-0653-522E4151750F}"/>
              </a:ext>
            </a:extLst>
          </p:cNvPr>
          <p:cNvSpPr txBox="1">
            <a:spLocks/>
          </p:cNvSpPr>
          <p:nvPr/>
        </p:nvSpPr>
        <p:spPr>
          <a:xfrm>
            <a:off x="600222" y="3346148"/>
            <a:ext cx="10916530" cy="2885839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12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Scientific Contributions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400" b="1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Islam, M.T.,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Rahim, N., Anwar, S., Saqib, M., Bakshi, S. and Muhammad, K., 2024, October. Hazespace2m: A dataset for haze aware single image dehazing. In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Proceedings of the 32nd </a:t>
            </a:r>
            <a:r>
              <a:rPr lang="en-US" sz="1400" b="1" i="1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ACM International Conference on Multimedia</a:t>
            </a:r>
            <a:r>
              <a:rPr lang="en-US" sz="1400" b="1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(pp. 9155-9164).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400" b="1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Islam, M.T.,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Alam, I., Woo, S.S., Anwar, S., Lee, I.K. and Muhammad, K., 2024. LoLI-Street: Benchmarking Low-Light Image Enhancement and Beyond. In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Proceedings of the </a:t>
            </a:r>
            <a:r>
              <a:rPr lang="en-US" sz="1400" b="1" i="1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Asian Conference on Computer Vision</a:t>
            </a:r>
            <a:r>
              <a:rPr lang="en-US" sz="1400" b="1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 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(pp. 1250-1267).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400" b="1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Islam, M.T.,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Lee, I.H.,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Saudagar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, A.K.J.,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Altameem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, A.,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Abaoud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, M. and Muhammad, K., Imam Mohammad Ibn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saud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 Islamic University, 2025.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Apparatus and method for single image dehazing considering haze type classification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400" b="1" i="0" dirty="0">
                <a:solidFill>
                  <a:srgbClr val="222222"/>
                </a:solidFill>
                <a:effectLst/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U.S. Patent 12,217,398.</a:t>
            </a:r>
            <a:endParaRPr lang="en-US" sz="1400" b="1" i="1" spc="0" dirty="0"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69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CDA1-262A-4C17-8A78-DEFDCF512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22F5E-DD0C-D687-F746-CA0022AD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75487"/>
            <a:ext cx="10424942" cy="749043"/>
          </a:xfrm>
        </p:spPr>
        <p:txBody>
          <a:bodyPr/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  <a:r>
              <a:rPr lang="en-US" dirty="0"/>
              <a:t>. HazeSpace2M Dataset </a:t>
            </a:r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(1</a:t>
            </a:r>
            <a:r>
              <a:rPr lang="en-US" sz="3200" baseline="30000" dirty="0">
                <a:latin typeface="Roboto" panose="02000000000000000000" pitchFamily="2" charset="0"/>
                <a:ea typeface="Roboto" panose="02000000000000000000" pitchFamily="2" charset="0"/>
              </a:rPr>
              <a:t>st</a:t>
            </a:r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 Contribution)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8EAA29-3474-29EF-D197-0AC53920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81C24E-3D28-356E-C6B4-115803AC6B0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Nasir Rahim, …… 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“HazeSpace2M: A Dataset for Haze Aware Single Image Dehazing” In Proceedings of the 32</a:t>
            </a:r>
            <a:r>
              <a:rPr lang="en-US" sz="900" i="1" spc="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nd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ACM International Conference on Multimedia (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ACM MM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), Melbourne, Australia. ACM, New York, NY, USA, 10 pages. 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26% | BK IF: 4.0 | Published)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B3029F-1DD1-A863-53DC-29F07215111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19008" y="4694172"/>
            <a:ext cx="4650012" cy="157089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Dataset: HazeSpace2M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A large-scale paired dehazing dataset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Features over 2 million hazy images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Diverse scenes and haze types of 10 levels</a:t>
            </a:r>
          </a:p>
        </p:txBody>
      </p:sp>
      <p:pic>
        <p:nvPicPr>
          <p:cNvPr id="6" name="Picture 5" descr="A collage of images of a field&#10;&#10;Description automatically generated">
            <a:extLst>
              <a:ext uri="{FF2B5EF4-FFF2-40B4-BE49-F238E27FC236}">
                <a16:creationId xmlns:a16="http://schemas.microsoft.com/office/drawing/2014/main" id="{EAF345F2-5015-19D6-E388-41A430A36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17" y="1095758"/>
            <a:ext cx="10111592" cy="3208767"/>
          </a:xfrm>
          <a:prstGeom prst="rect">
            <a:avLst/>
          </a:prstGeom>
          <a:ln w="19050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9178AA-A966-3488-16E1-798105F2123B}"/>
              </a:ext>
            </a:extLst>
          </p:cNvPr>
          <p:cNvSpPr txBox="1"/>
          <p:nvPr/>
        </p:nvSpPr>
        <p:spPr>
          <a:xfrm>
            <a:off x="1019008" y="4331559"/>
            <a:ext cx="9497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1: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GT (Green), Synthetic (Yellow), and Real Hazy images (Red) across various scenes of HazeSpace2M.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E1B0A34-CAE9-F514-F7E6-736682A2650F}"/>
              </a:ext>
            </a:extLst>
          </p:cNvPr>
          <p:cNvSpPr txBox="1">
            <a:spLocks/>
          </p:cNvSpPr>
          <p:nvPr/>
        </p:nvSpPr>
        <p:spPr>
          <a:xfrm>
            <a:off x="7188590" y="4694172"/>
            <a:ext cx="4342229" cy="1570892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12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1800" b="1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Key Features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Features four different scene types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Includes three different haze types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Consists of a real-life hazy test set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en-US" sz="1600" spc="0" dirty="0">
              <a:solidFill>
                <a:schemeClr val="tx1"/>
              </a:solidFill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en-US" sz="1600" spc="0" dirty="0">
              <a:solidFill>
                <a:schemeClr val="tx1"/>
              </a:solidFill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0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8642-CFE4-9FAD-D425-92B40C9D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1A6D-F57C-801C-8263-129655688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05747"/>
            <a:ext cx="9283413" cy="749043"/>
          </a:xfrm>
        </p:spPr>
        <p:txBody>
          <a:bodyPr/>
          <a:lstStyle/>
          <a:p>
            <a:r>
              <a:rPr lang="en-US" dirty="0"/>
              <a:t>3. HazeSpace2M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044238-4DA5-4F35-17AD-CC891491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62566C-822D-CA20-BC19-FFAFBA79ED4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Nasir Rahim, …… 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“HazeSpace2M: A Dataset for Haze Aware Single Image Dehazing” In Proceedings of the 32</a:t>
            </a:r>
            <a:r>
              <a:rPr lang="en-US" sz="900" i="1" spc="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nd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ACM International Conference on Multimedia (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ACM MM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), Melbourne, Australia. ACM, New York, NY, USA, 10 pages. 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26% | BK IF: 4.0 | Published)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1F495B-5EBD-BA0D-DB05-E64FC0D3B38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13296" y="1231831"/>
            <a:ext cx="5983426" cy="2374969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Quality Assurance</a:t>
            </a:r>
          </a:p>
          <a:p>
            <a:pPr marL="0" indent="0" algn="just">
              <a:buNone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To ensure the quality of the GT images of our HazeSpace2M dataset, we established three conditions for excluding GT images as follows: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Resolution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Haze Presence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spc="0" dirty="0">
              <a:solidFill>
                <a:schemeClr val="tx1"/>
              </a:solidFill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Picture 5" descr="A chart of different colors&#10;&#10;Description automatically generated">
            <a:extLst>
              <a:ext uri="{FF2B5EF4-FFF2-40B4-BE49-F238E27FC236}">
                <a16:creationId xmlns:a16="http://schemas.microsoft.com/office/drawing/2014/main" id="{2A3C4B77-067F-361A-E7A5-4CC847F92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78" y="3961772"/>
            <a:ext cx="5862144" cy="1648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3FA556-4769-3EFD-A54C-5B8D95068D0C}"/>
              </a:ext>
            </a:extLst>
          </p:cNvPr>
          <p:cNvSpPr txBox="1"/>
          <p:nvPr/>
        </p:nvSpPr>
        <p:spPr>
          <a:xfrm>
            <a:off x="840222" y="5721164"/>
            <a:ext cx="4221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3: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Haze distribution of HazeSpace2M dataset.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283B45-9BAB-4A9A-1940-0FC1EDEF0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234" y="1333798"/>
            <a:ext cx="4223568" cy="4344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983DF2-AA80-CD9E-5DD9-182D48F2E0F8}"/>
              </a:ext>
            </a:extLst>
          </p:cNvPr>
          <p:cNvSpPr txBox="1"/>
          <p:nvPr/>
        </p:nvSpPr>
        <p:spPr>
          <a:xfrm>
            <a:off x="7192234" y="5721164"/>
            <a:ext cx="4451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4: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Sample images that we eliminated while collecting images for use as the GT images in the HazeSpace2M dataset.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BE1DC1-8B4F-77FA-0C76-B2A9926741B2}"/>
              </a:ext>
            </a:extLst>
          </p:cNvPr>
          <p:cNvSpPr txBox="1"/>
          <p:nvPr/>
        </p:nvSpPr>
        <p:spPr>
          <a:xfrm>
            <a:off x="4234375" y="2642595"/>
            <a:ext cx="2330548" cy="42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Irrelevance</a:t>
            </a:r>
          </a:p>
        </p:txBody>
      </p:sp>
    </p:spTree>
    <p:extLst>
      <p:ext uri="{BB962C8B-B14F-4D97-AF65-F5344CB8AC3E}">
        <p14:creationId xmlns:p14="http://schemas.microsoft.com/office/powerpoint/2010/main" val="358860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97D2-9699-B391-8FE8-3F25A20C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EE6B-9C4C-4283-DEE6-FA5C2F283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85346"/>
            <a:ext cx="9283413" cy="749043"/>
          </a:xfrm>
        </p:spPr>
        <p:txBody>
          <a:bodyPr/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3. HazeSpace2M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2CFBA-E9F1-E3DE-7930-0F948E711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69353B-7C77-5144-C64D-D42E4C33142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Nasir Rahim, …… 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“HazeSpace2M: A Dataset for Haze Aware Single Image Dehazing” In Proceedings of the 32</a:t>
            </a:r>
            <a:r>
              <a:rPr lang="en-US" sz="900" i="1" spc="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nd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ACM International Conference on Multimedia (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ACM MM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), Melbourne, Australia. ACM, New York, NY, USA, 10 pages. 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26% | BK IF: 4.0 | Published)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46B39-F093-DC5E-C1C1-AF3FF7A906D7}"/>
              </a:ext>
            </a:extLst>
          </p:cNvPr>
          <p:cNvSpPr txBox="1"/>
          <p:nvPr/>
        </p:nvSpPr>
        <p:spPr>
          <a:xfrm>
            <a:off x="4332941" y="1226419"/>
            <a:ext cx="7654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3: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Number of GT and hazy images in HazeSpace2M subsets by scene type and haze condition.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1A9D41-B6AE-C4E9-76DF-62855958C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391" y="1573290"/>
            <a:ext cx="7557140" cy="21615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DFB074-10F0-C809-B709-B468B1D46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391" y="4300255"/>
            <a:ext cx="7557140" cy="19272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3E1DAE-3438-5D6C-AD44-35E4FFD2E8AF}"/>
              </a:ext>
            </a:extLst>
          </p:cNvPr>
          <p:cNvSpPr txBox="1"/>
          <p:nvPr/>
        </p:nvSpPr>
        <p:spPr>
          <a:xfrm>
            <a:off x="4377513" y="3972456"/>
            <a:ext cx="614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4: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Comparative evaluation of image quality metrics across the existing datasets.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9F8609-C1CD-716E-3746-EBC75CE01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55" y="1881271"/>
            <a:ext cx="3454015" cy="9091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D2C7C0-3EF0-59A0-C02E-F4635C804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155" y="3998300"/>
            <a:ext cx="3457695" cy="22292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77E3FD3-37E3-2D05-AC07-F779BBA155CC}"/>
              </a:ext>
            </a:extLst>
          </p:cNvPr>
          <p:cNvSpPr txBox="1"/>
          <p:nvPr/>
        </p:nvSpPr>
        <p:spPr>
          <a:xfrm>
            <a:off x="736705" y="1234940"/>
            <a:ext cx="3564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1: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Overview of HazeSpace2M dataset scene and haze types, each with 10 distinct haze intensity levels.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3238B9-D95A-1411-6B9A-DD2768C68080}"/>
              </a:ext>
            </a:extLst>
          </p:cNvPr>
          <p:cNvSpPr txBox="1"/>
          <p:nvPr/>
        </p:nvSpPr>
        <p:spPr>
          <a:xfrm>
            <a:off x="736705" y="3323524"/>
            <a:ext cx="3498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2: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A breakdown of the various image sources and the number of GT images selected from each source</a:t>
            </a:r>
          </a:p>
        </p:txBody>
      </p:sp>
    </p:spTree>
    <p:extLst>
      <p:ext uri="{BB962C8B-B14F-4D97-AF65-F5344CB8AC3E}">
        <p14:creationId xmlns:p14="http://schemas.microsoft.com/office/powerpoint/2010/main" val="181500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23BFFF-2563-4B5B-5988-91B8D498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6BC0E-11DE-BBE6-C6CA-B13A4EFB33D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83CBF2-9D00-3349-7EBD-049CA340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Haze Aware Dehazing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36C392-B5B2-F453-13F2-B5517EA5B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796" y="998446"/>
            <a:ext cx="8502210" cy="3417287"/>
          </a:xfrm>
          <a:prstGeom prst="rect">
            <a:avLst/>
          </a:prstGeom>
          <a:ln w="19050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8C871D-039F-7A54-5C07-8A50A3548444}"/>
              </a:ext>
            </a:extLst>
          </p:cNvPr>
          <p:cNvSpPr txBox="1"/>
          <p:nvPr/>
        </p:nvSpPr>
        <p:spPr>
          <a:xfrm>
            <a:off x="1644651" y="4498787"/>
            <a:ext cx="8456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2: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Our proposed framework for haze-aware single-image dehazing using specialized dehazers.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C4EEA04-BA53-30BC-B589-A002DC4690EC}"/>
              </a:ext>
            </a:extLst>
          </p:cNvPr>
          <p:cNvSpPr txBox="1">
            <a:spLocks/>
          </p:cNvSpPr>
          <p:nvPr/>
        </p:nvSpPr>
        <p:spPr>
          <a:xfrm>
            <a:off x="1019008" y="4992470"/>
            <a:ext cx="4650012" cy="1272593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12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1800" b="1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Dataset: HazeSpace2M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A large-scale paired dehazing dataset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Features over 2 million hazy images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8A252-CBC9-F8D4-05D1-42B8B2F706A3}"/>
              </a:ext>
            </a:extLst>
          </p:cNvPr>
          <p:cNvSpPr txBox="1">
            <a:spLocks/>
          </p:cNvSpPr>
          <p:nvPr/>
        </p:nvSpPr>
        <p:spPr>
          <a:xfrm>
            <a:off x="7188590" y="4992470"/>
            <a:ext cx="4342229" cy="1272593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12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1800" b="1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Key Features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Features four different scene types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Includes three different haze types</a:t>
            </a: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en-US" sz="1600" spc="0" dirty="0">
              <a:solidFill>
                <a:schemeClr val="tx1"/>
              </a:solidFill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38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05C7C-0708-9D02-ABAB-7A73B0EFB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19CA-108C-6106-9988-4F26DDE41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02732"/>
            <a:ext cx="9283413" cy="749043"/>
          </a:xfrm>
        </p:spPr>
        <p:txBody>
          <a:bodyPr/>
          <a:lstStyle/>
          <a:p>
            <a:r>
              <a:rPr lang="en-US" dirty="0"/>
              <a:t>3. Haze-Aware Dehazing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A19DB8-D891-889E-28B2-97EFDD00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4CF1E9-10CF-16E5-A78C-45B3066C67E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Nasir Rahim, …… 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“HazeSpace2M: A Dataset for Haze Aware Single Image Dehazing” In Proceedings of the 32</a:t>
            </a:r>
            <a:r>
              <a:rPr lang="en-US" sz="900" i="1" spc="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nd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ACM International Conference on Multimedia (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ACM MM</a:t>
            </a:r>
            <a:r>
              <a:rPr lang="en-US" sz="900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), Melbourne, Australia. ACM, New York, NY, USA, 10 pages. </a:t>
            </a:r>
            <a:r>
              <a:rPr lang="en-US" sz="900" b="1" i="1" spc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26% | BK IF: 4.0 | Published)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A46FF-B89E-85E4-BAD1-359163589930}"/>
              </a:ext>
            </a:extLst>
          </p:cNvPr>
          <p:cNvSpPr txBox="1"/>
          <p:nvPr/>
        </p:nvSpPr>
        <p:spPr>
          <a:xfrm>
            <a:off x="1992064" y="1054161"/>
            <a:ext cx="7951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5: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Evaluation of the SOTA classifiers on various combinations of the hazy benchmarking datasets, highlighting their effectiveness for haze type classification after training on the HazeSpace2M.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1000FF-AE7C-80E9-01AB-02E16921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686" y="5094521"/>
            <a:ext cx="8907784" cy="11705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20BE2A-97D2-2E94-F310-7851EED9AC0B}"/>
              </a:ext>
            </a:extLst>
          </p:cNvPr>
          <p:cNvSpPr txBox="1"/>
          <p:nvPr/>
        </p:nvSpPr>
        <p:spPr>
          <a:xfrm>
            <a:off x="1542686" y="4840667"/>
            <a:ext cx="9134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6: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Performance comparison of </a:t>
            </a:r>
            <a:r>
              <a:rPr lang="en-US" sz="1200" dirty="0" err="1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LDNet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GDNet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, and </a:t>
            </a:r>
            <a:r>
              <a:rPr lang="en-US" sz="1200" dirty="0" err="1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SDNets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 when subjected to dehazing tasks across various hazy conditions.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36ED9D-90DB-C235-508B-E352F6121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905" y="1513254"/>
            <a:ext cx="7829760" cy="315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93A477-504F-A513-0C0D-E9C44091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ECE81-A11C-79B2-BA52-8380935101D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EA9178-6A98-2CAC-5778-05F348A2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Haze-Aware Dehazing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D46D2B-DD16-4885-CC8C-C675E2D56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616" y="1459336"/>
            <a:ext cx="6702204" cy="38373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EE4B30-AC9B-C2F6-7609-6D17530B92FC}"/>
              </a:ext>
            </a:extLst>
          </p:cNvPr>
          <p:cNvSpPr txBox="1"/>
          <p:nvPr/>
        </p:nvSpPr>
        <p:spPr>
          <a:xfrm>
            <a:off x="4769615" y="5430684"/>
            <a:ext cx="6654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5: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Visual comparison of dehazing results from </a:t>
            </a:r>
            <a:r>
              <a:rPr lang="en-US" sz="1200" dirty="0" err="1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LDNet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GDNet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, and </a:t>
            </a:r>
            <a:r>
              <a:rPr lang="en-US" sz="1200" dirty="0" err="1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SDNet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, with PSNR and SSIM metrics highlighted.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9A9954-59A0-FC15-9D03-0CBCD01C5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76" y="2169586"/>
            <a:ext cx="4004585" cy="1528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0174C-C68C-26E5-35DF-964C7FF25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76" y="4929348"/>
            <a:ext cx="3886119" cy="9193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97ECBE-7133-0BE7-6F81-7D6DF0D72B6E}"/>
              </a:ext>
            </a:extLst>
          </p:cNvPr>
          <p:cNvSpPr txBox="1"/>
          <p:nvPr/>
        </p:nvSpPr>
        <p:spPr>
          <a:xfrm>
            <a:off x="503300" y="1459336"/>
            <a:ext cx="4008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7: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Benchmarking the SOTA Dehazing models with their pre-trained weights and after employing our proposed framework.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B0F588-60E4-E057-1F09-351B110A4E08}"/>
              </a:ext>
            </a:extLst>
          </p:cNvPr>
          <p:cNvSpPr txBox="1"/>
          <p:nvPr/>
        </p:nvSpPr>
        <p:spPr>
          <a:xfrm>
            <a:off x="503300" y="4635048"/>
            <a:ext cx="4077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8: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Evaluating top SOTA models on foggy datasets.</a:t>
            </a:r>
          </a:p>
        </p:txBody>
      </p:sp>
    </p:spTree>
    <p:extLst>
      <p:ext uri="{BB962C8B-B14F-4D97-AF65-F5344CB8AC3E}">
        <p14:creationId xmlns:p14="http://schemas.microsoft.com/office/powerpoint/2010/main" val="80721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6B415-73AC-9557-3E31-104E1C46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B2ADC-3335-311A-0F3E-31B7EC9CE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86816"/>
            <a:ext cx="9283413" cy="749043"/>
          </a:xfrm>
        </p:spPr>
        <p:txBody>
          <a:bodyPr/>
          <a:lstStyle/>
          <a:p>
            <a:r>
              <a:rPr lang="en-US" dirty="0"/>
              <a:t>4. LoLI-Street (2</a:t>
            </a:r>
            <a:r>
              <a:rPr lang="en-US" baseline="30000" dirty="0"/>
              <a:t>nd</a:t>
            </a:r>
            <a:r>
              <a:rPr lang="en-US" dirty="0"/>
              <a:t> Contribution)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356CB2-19D2-5CCB-F8B7-54DB06AF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7E2881-5F23-6489-755B-968B19338D4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Inzamamul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Alam, Simon S. Woo, </a:t>
            </a:r>
            <a:r>
              <a:rPr lang="nl-NL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Saeed Anwar, IK Hyun Lee,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“LoLI-Street: Benchmarking Low-Light Image Enhancement and Beyond” In Proceedings of the 17</a:t>
            </a:r>
            <a:r>
              <a:rPr lang="en-US" sz="900" i="1" spc="0" baseline="30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Asian Conference on Computer Vision, ACCV 2024, Hanoi, Vietnam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28% | BK IF: 1.0 | Published)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39CBA8E-ED9D-E862-DC9E-2AC8AFE77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84694"/>
            <a:ext cx="5196448" cy="2482284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spc="0" dirty="0">
                <a:solidFill>
                  <a:schemeClr val="tx1"/>
                </a:solidFill>
                <a:latin typeface="Microsoft GothicNeo (Body)"/>
              </a:rPr>
              <a:t>Dataset: LoLI Street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</a:rPr>
              <a:t>Features 33k paired low-light images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</a:rPr>
              <a:t>Features a real-life low-light test set (RLLT)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600" b="1" spc="0" dirty="0">
              <a:solidFill>
                <a:schemeClr val="tx1"/>
              </a:solidFill>
              <a:latin typeface="Microsoft GothicNeo (Body)"/>
            </a:endParaRPr>
          </a:p>
          <a:p>
            <a:pPr marL="0" indent="0">
              <a:buNone/>
            </a:pPr>
            <a:r>
              <a:rPr lang="en-US" sz="1600" b="1" spc="0" dirty="0">
                <a:solidFill>
                  <a:schemeClr val="tx1"/>
                </a:solidFill>
                <a:latin typeface="Microsoft GothicNeo (Body)"/>
              </a:rPr>
              <a:t>Tools: </a:t>
            </a:r>
            <a:r>
              <a:rPr lang="en-US" sz="1600" spc="0" dirty="0">
                <a:solidFill>
                  <a:schemeClr val="tx1"/>
                </a:solidFill>
                <a:latin typeface="Microsoft GothicNeo (Body)"/>
              </a:rPr>
              <a:t>Adobe Photoshop, Illustrator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CD7532-0867-B3EB-09CA-A95603F62D99}"/>
              </a:ext>
            </a:extLst>
          </p:cNvPr>
          <p:cNvSpPr txBox="1"/>
          <p:nvPr/>
        </p:nvSpPr>
        <p:spPr>
          <a:xfrm>
            <a:off x="5486851" y="3376942"/>
            <a:ext cx="633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6: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Sample images of the LoLI-Street dataset and the distribution across the subsets.</a:t>
            </a:r>
          </a:p>
        </p:txBody>
      </p:sp>
      <p:pic>
        <p:nvPicPr>
          <p:cNvPr id="15" name="Picture 14" descr="A collage of buildings&#10;&#10;Description automatically generated">
            <a:extLst>
              <a:ext uri="{FF2B5EF4-FFF2-40B4-BE49-F238E27FC236}">
                <a16:creationId xmlns:a16="http://schemas.microsoft.com/office/drawing/2014/main" id="{4982B056-B933-1BB8-E6A0-2319442F2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851" y="1351691"/>
            <a:ext cx="5828315" cy="1891179"/>
          </a:xfrm>
          <a:prstGeom prst="rect">
            <a:avLst/>
          </a:prstGeom>
          <a:ln w="19050"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FC748C-9B61-3DAA-BA32-4E933766D3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53" r="69481"/>
          <a:stretch/>
        </p:blipFill>
        <p:spPr>
          <a:xfrm>
            <a:off x="734521" y="4258033"/>
            <a:ext cx="3128432" cy="19841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6E99BD5-B95B-36B3-0652-DB8DC5D1CB74}"/>
              </a:ext>
            </a:extLst>
          </p:cNvPr>
          <p:cNvSpPr txBox="1"/>
          <p:nvPr/>
        </p:nvSpPr>
        <p:spPr>
          <a:xfrm>
            <a:off x="675640" y="3759520"/>
            <a:ext cx="328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9: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Comparison of LoLI-Street with the existing benchmarking datasets for LLIE.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7322C8-E711-0FE1-3A6D-6A23FB5ADC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852" t="11542"/>
          <a:stretch/>
        </p:blipFill>
        <p:spPr>
          <a:xfrm>
            <a:off x="5558886" y="4221738"/>
            <a:ext cx="5674189" cy="18911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94CBEE4-7F95-2A49-EAF1-3D25A1CCB302}"/>
              </a:ext>
            </a:extLst>
          </p:cNvPr>
          <p:cNvSpPr txBox="1"/>
          <p:nvPr/>
        </p:nvSpPr>
        <p:spPr>
          <a:xfrm>
            <a:off x="5486851" y="3936940"/>
            <a:ext cx="4869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10: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Quantitative analysis of our LoLI-Street dataset</a:t>
            </a:r>
          </a:p>
        </p:txBody>
      </p:sp>
    </p:spTree>
    <p:extLst>
      <p:ext uri="{BB962C8B-B14F-4D97-AF65-F5344CB8AC3E}">
        <p14:creationId xmlns:p14="http://schemas.microsoft.com/office/powerpoint/2010/main" val="111252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98C0E-FDA7-D255-1BD0-F55CCB3DE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AB89-438E-D525-A523-1B780622A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75" y="248433"/>
            <a:ext cx="10396807" cy="749043"/>
          </a:xfrm>
        </p:spPr>
        <p:txBody>
          <a:bodyPr/>
          <a:lstStyle/>
          <a:p>
            <a:r>
              <a:rPr lang="en-US" dirty="0"/>
              <a:t>4. Proposed Method: TriFuse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611FB0-46CA-9A85-BBB4-85A19BE7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E4F2E7-4927-F7FA-C25E-6386CC4856E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Inzamamul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Alam, Simon S. Woo, </a:t>
            </a:r>
            <a:r>
              <a:rPr lang="nl-NL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Saeed Anwar, IK Hyun Lee,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“LoLI-Street: Benchmarking Low-Light Image Enhancement and Beyond” In Proceedings of the 17</a:t>
            </a:r>
            <a:r>
              <a:rPr lang="en-US" sz="900" i="1" spc="0" baseline="30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Asian Conference on Computer Vision, ACCV 2024, Hanoi, Vietnam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28% | BK IF: 1.0 | Published)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3F09E9-D98B-1ABB-3CB9-81D543AD4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613579"/>
            <a:ext cx="4130809" cy="3905903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spc="0" dirty="0">
                <a:solidFill>
                  <a:schemeClr val="tx1"/>
                </a:solidFill>
                <a:latin typeface="Microsoft GothicNeo (Body)"/>
              </a:rPr>
              <a:t>Our Proposed Method: TriFuse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</a:rPr>
              <a:t>Discrete Wavelet Transformation (DWT)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</a:rPr>
              <a:t>Diffusion Denoising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Microsoft GothicNeo (Body)"/>
              </a:rPr>
              <a:t>Conditional Noise Module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</a:rPr>
              <a:t>Edge Sharpening Module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</a:rPr>
              <a:t>Achieved SOTA results on RLLT</a:t>
            </a:r>
          </a:p>
          <a:p>
            <a:pPr marL="0" indent="0">
              <a:buNone/>
            </a:pPr>
            <a:endParaRPr lang="en-US" sz="1200" b="1" spc="0" dirty="0">
              <a:solidFill>
                <a:schemeClr val="tx1"/>
              </a:solidFill>
              <a:latin typeface="Microsoft GothicNeo (Body)"/>
            </a:endParaRPr>
          </a:p>
          <a:p>
            <a:pPr marL="0" indent="0">
              <a:buNone/>
            </a:pPr>
            <a:r>
              <a:rPr lang="en-US" sz="1800" b="1" spc="0" dirty="0">
                <a:solidFill>
                  <a:schemeClr val="tx1"/>
                </a:solidFill>
                <a:latin typeface="Microsoft GothicNeo (Body)"/>
              </a:rPr>
              <a:t>Tools</a:t>
            </a:r>
            <a:endParaRPr lang="en-US" sz="1800" b="1" dirty="0">
              <a:latin typeface="Microsoft GothicNeo (Body)"/>
            </a:endParaRPr>
          </a:p>
          <a:p>
            <a:pPr marL="0" indent="0">
              <a:buNone/>
            </a:pPr>
            <a:r>
              <a:rPr lang="en-US" sz="1400" spc="0" dirty="0">
                <a:solidFill>
                  <a:schemeClr val="tx1"/>
                </a:solidFill>
                <a:latin typeface="Microsoft GothicNeo (Body)"/>
              </a:rPr>
              <a:t>Python: Numpy, Pandas, Scikit-learn, PyTorch</a:t>
            </a:r>
            <a:endParaRPr lang="en-US" sz="1400" dirty="0">
              <a:latin typeface="Microsoft GothicNeo (Body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2A62F3-AE2E-C29B-5823-5F48A6DF9590}"/>
              </a:ext>
            </a:extLst>
          </p:cNvPr>
          <p:cNvSpPr txBox="1"/>
          <p:nvPr/>
        </p:nvSpPr>
        <p:spPr>
          <a:xfrm>
            <a:off x="4791209" y="5358524"/>
            <a:ext cx="7275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7: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Overview of our TriFuse model, featuring the Conditional Noise Module (CNM) and Edge Sharpening Module (ESM) for effective LLIE.</a:t>
            </a:r>
          </a:p>
        </p:txBody>
      </p:sp>
      <p:pic>
        <p:nvPicPr>
          <p:cNvPr id="11" name="Picture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D77AFDE5-21C3-BB8A-1707-F3121945F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209" y="1730811"/>
            <a:ext cx="6894354" cy="350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70BB18-B490-4D12-EAC3-26044990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8646-C3E4-BC6C-520D-F6944EEB9A8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Inzamamul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Alam, Simon S. Woo, </a:t>
            </a:r>
            <a:r>
              <a:rPr lang="nl-NL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Saeed Anwar, IK Hyun Lee,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“LoLI-Street: Benchmarking Low-Light Image Enhancement and Beyond” In Proceedings of the 17</a:t>
            </a:r>
            <a:r>
              <a:rPr lang="en-US" sz="900" i="1" spc="0" baseline="30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Asian Conference on Computer Vision, ACCV 2024, Hanoi, Vietnam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28% | BK IF: 1.0 | Published)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49D0F3-E830-77F5-E760-DB3D814D0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995" y="1261403"/>
            <a:ext cx="5556293" cy="4562622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latin typeface="Microsoft GothicNeo (Body)"/>
              </a:rPr>
              <a:t>TriFuse first </a:t>
            </a:r>
            <a:r>
              <a:rPr lang="en-US" sz="1600" spc="0" dirty="0">
                <a:solidFill>
                  <a:schemeClr val="tx1"/>
                </a:solidFill>
                <a:latin typeface="Microsoft GothicNeo (Body)"/>
              </a:rPr>
              <a:t>Decomposes low-light images using Haar wavelets as follows: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US" sz="1400" spc="0" dirty="0">
              <a:solidFill>
                <a:schemeClr val="tx1"/>
              </a:solidFill>
              <a:latin typeface="Microsoft GothicNeo (Body)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Microsoft GothicNeo (Body)"/>
              </a:rPr>
              <a:t>This decomposes the image into low-frequency and high-frequency bands.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400" dirty="0">
              <a:latin typeface="Microsoft GothicNeo (Body)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latin typeface="Microsoft GothicNeo (Body)"/>
              </a:rPr>
              <a:t>Forward Diffusion: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400" b="1" dirty="0">
              <a:latin typeface="Microsoft GothicNeo (Body)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400" b="1" dirty="0">
              <a:latin typeface="Microsoft GothicNeo (Body)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latin typeface="Microsoft GothicNeo (Body)"/>
              </a:rPr>
              <a:t>Reverse Diffusion: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2B0010-1002-18F7-199B-B5725F1F55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63"/>
          <a:stretch/>
        </p:blipFill>
        <p:spPr>
          <a:xfrm>
            <a:off x="660400" y="4150236"/>
            <a:ext cx="5621888" cy="754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80B187-13C6-2F05-D1D7-B56725FD39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81"/>
          <a:stretch/>
        </p:blipFill>
        <p:spPr>
          <a:xfrm>
            <a:off x="827464" y="5673969"/>
            <a:ext cx="5621888" cy="55226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EB59F97-4C84-454C-7672-32B61B1B9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959842"/>
              </p:ext>
            </p:extLst>
          </p:nvPr>
        </p:nvGraphicFramePr>
        <p:xfrm>
          <a:off x="6804074" y="1353097"/>
          <a:ext cx="4661931" cy="4119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61931">
                  <a:extLst>
                    <a:ext uri="{9D8B030D-6E8A-4147-A177-3AD203B41FA5}">
                      <a16:colId xmlns:a16="http://schemas.microsoft.com/office/drawing/2014/main" val="3262929675"/>
                    </a:ext>
                  </a:extLst>
                </a:gridCol>
              </a:tblGrid>
              <a:tr h="3114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623145"/>
                  </a:ext>
                </a:extLst>
              </a:tr>
              <a:tr h="18687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i="1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i="1" baseline="-25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i="1" baseline="30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low </a:t>
                      </a:r>
                      <a:r>
                        <a:rPr lang="en-US" sz="1600" i="0" baseline="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is the input image</a:t>
                      </a:r>
                      <a:endParaRPr lang="en-US" sz="1600" i="0" dirty="0">
                        <a:latin typeface="Microsoft GothicNeo (Body)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i="1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i="1" baseline="-25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i="1" baseline="30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low </a:t>
                      </a:r>
                      <a:r>
                        <a:rPr lang="en-US" sz="1600" i="0" baseline="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is the low-frequency band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i="1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1600" i="1" baseline="-25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i="1" baseline="30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60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en-US" sz="1600" i="1" baseline="30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sz="1600" i="1" baseline="-25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i="1" baseline="30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60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en-US" sz="1600" i="0" baseline="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160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1600" i="1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1600" i="1" baseline="-25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i="1" baseline="30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600" i="0" baseline="30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0" baseline="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are the vertical, horizontal, and diagonal high-frequency bands.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sz="1600" i="1" baseline="0" dirty="0">
                        <a:latin typeface="Microsoft GothicNeo (Body)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i="1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𝑥</a:t>
                      </a:r>
                      <a:r>
                        <a:rPr lang="en-US" sz="1600" i="1" baseline="-25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600" i="1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i="1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​ </a:t>
                      </a:r>
                      <a:r>
                        <a:rPr lang="en-US" sz="160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is the image after adding noise at step 𝑡</a:t>
                      </a:r>
                      <a:r>
                        <a:rPr lang="en-US" sz="1600" baseline="-2500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</a:t>
                      </a:r>
                      <a:r>
                        <a:rPr lang="en-US" sz="160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i="1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lang="en-US" sz="1600" i="1" baseline="-25000" dirty="0">
                          <a:latin typeface="Microsoft GothicNeo (Body)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1600" i="1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160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​is the variance schedule value at step 𝑡</a:t>
                      </a:r>
                      <a:r>
                        <a:rPr lang="en-US" sz="1600" baseline="-2500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</a:t>
                      </a:r>
                      <a:r>
                        <a:rPr lang="en-US" sz="160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controlling the amount of noise added.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Microsoft GothicNeo (Body)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𝐼 is the identity matrix, indicating isotropic Gaussian noise.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087852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C49E47E9-8E53-9146-5158-54D2D44E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17757"/>
            <a:ext cx="9283413" cy="749043"/>
          </a:xfrm>
        </p:spPr>
        <p:txBody>
          <a:bodyPr/>
          <a:lstStyle/>
          <a:p>
            <a:r>
              <a:rPr lang="en-US" dirty="0"/>
              <a:t>4. Diffusion Denoising LLIE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F682B74-5AD4-3134-70E6-809C87F587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529"/>
          <a:stretch/>
        </p:blipFill>
        <p:spPr>
          <a:xfrm>
            <a:off x="827464" y="2032920"/>
            <a:ext cx="5135239" cy="38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8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D3D948-D62C-07B1-BA62-25D92E3B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9EDA-0644-BE1C-4A90-59909E98E71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Inzamamul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Alam, Simon S. Woo, </a:t>
            </a:r>
            <a:r>
              <a:rPr lang="nl-NL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Saeed Anwar, IK Hyun Lee,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“LoLI-Street: Benchmarking Low-Light Image Enhancement and Beyond” In Proceedings of the 17</a:t>
            </a:r>
            <a:r>
              <a:rPr lang="en-US" sz="900" i="1" spc="0" baseline="30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Asian Conference on Computer Vision, ACCV 2024, Hanoi, Vietnam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28% | BK IF: 1.0 | Published)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910B27-B874-5D15-3BCA-9C74F3E87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913" y="317757"/>
            <a:ext cx="9283413" cy="749043"/>
          </a:xfrm>
        </p:spPr>
        <p:txBody>
          <a:bodyPr/>
          <a:lstStyle/>
          <a:p>
            <a:r>
              <a:rPr lang="en-US" dirty="0"/>
              <a:t>4. Diffusion Denoising LLIE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B8A5B6-3C86-D848-D10F-3D038F329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466558"/>
            <a:ext cx="4689609" cy="2743264"/>
          </a:xfrm>
        </p:spPr>
        <p:txBody>
          <a:bodyPr>
            <a:noAutofit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800" b="1" spc="0" dirty="0">
                <a:solidFill>
                  <a:schemeClr val="tx1"/>
                </a:solidFill>
                <a:latin typeface="Microsoft GothicNeo (Body)"/>
              </a:rPr>
              <a:t>Conditional Noise Module (CNM)</a:t>
            </a:r>
            <a:endParaRPr lang="en-US" sz="1800" b="1" dirty="0">
              <a:latin typeface="Microsoft GothicNeo (Body)"/>
            </a:endParaRPr>
          </a:p>
          <a:p>
            <a:pPr marL="0" indent="0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spc="0" dirty="0">
                <a:latin typeface="Microsoft GothicNeo (Body)"/>
              </a:rPr>
              <a:t>Where the output noise map </a:t>
            </a:r>
            <a:r>
              <a:rPr lang="el-GR" sz="1600" i="1" spc="0" dirty="0">
                <a:latin typeface="Microsoft GothicNeo (Body)"/>
                <a:cs typeface="Times New Roman" panose="02020603050405020304" pitchFamily="18" charset="0"/>
              </a:rPr>
              <a:t>ϵ</a:t>
            </a:r>
            <a:r>
              <a:rPr lang="el-GR" sz="1600" i="1" spc="0" baseline="-25000" dirty="0">
                <a:latin typeface="Microsoft GothicNeo (Body)"/>
                <a:cs typeface="Times New Roman" panose="02020603050405020304" pitchFamily="18" charset="0"/>
              </a:rPr>
              <a:t>θ</a:t>
            </a:r>
            <a:r>
              <a:rPr lang="el-GR" sz="1600" spc="0" baseline="-25000" dirty="0">
                <a:latin typeface="Microsoft GothicNeo (Body)"/>
              </a:rPr>
              <a:t>​</a:t>
            </a:r>
            <a:r>
              <a:rPr lang="en-US" sz="1600" spc="0" baseline="-25000" dirty="0">
                <a:latin typeface="Microsoft GothicNeo (Body)"/>
              </a:rPr>
              <a:t> is </a:t>
            </a:r>
            <a:r>
              <a:rPr lang="en-US" sz="1600" spc="0" dirty="0">
                <a:latin typeface="Microsoft GothicNeo (Body)"/>
              </a:rPr>
              <a:t>conditioned on the current state of the noisy image.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>
              <a:latin typeface="Microsoft GothicNeo (Body)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>
              <a:latin typeface="Microsoft GothicNeo (Body)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Microsoft GothicNeo (Body)"/>
              </a:rPr>
              <a:t>Predicted noise is integrated into the reverse diffusion (denoising) step as follows: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 b="1" dirty="0">
              <a:latin typeface="Microsoft GothicNeo (Body)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600" b="1" dirty="0">
              <a:latin typeface="Microsoft GothicNeo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79F9AF-E7EA-6E61-8752-657F6E77E0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522"/>
          <a:stretch/>
        </p:blipFill>
        <p:spPr>
          <a:xfrm>
            <a:off x="708257" y="4784147"/>
            <a:ext cx="5304019" cy="581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9CF596-A3F8-B611-CF52-C16C193019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163"/>
          <a:stretch/>
        </p:blipFill>
        <p:spPr>
          <a:xfrm>
            <a:off x="820380" y="2960077"/>
            <a:ext cx="2127192" cy="25899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AC2AC2-D74A-E33A-F698-14C05A584C93}"/>
              </a:ext>
            </a:extLst>
          </p:cNvPr>
          <p:cNvSpPr txBox="1">
            <a:spLocks/>
          </p:cNvSpPr>
          <p:nvPr/>
        </p:nvSpPr>
        <p:spPr>
          <a:xfrm>
            <a:off x="6511290" y="1466558"/>
            <a:ext cx="4875876" cy="3656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800" b="1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Edge Sharpening Module (ESM)</a:t>
            </a:r>
          </a:p>
          <a:p>
            <a:pPr marL="0" indent="0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ESM is a specialized module designed to enhance and sharpen edges in the restored images.</a:t>
            </a:r>
          </a:p>
          <a:p>
            <a:pPr marL="0" indent="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The detailed residual block is as follows:</a:t>
            </a:r>
          </a:p>
          <a:p>
            <a:pPr marL="0" indent="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dirty="0"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This enhances each frequency component, and the final ESM module is expressed as follows:</a:t>
            </a:r>
          </a:p>
          <a:p>
            <a:pPr marL="0" indent="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dirty="0"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600" b="1" dirty="0"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36EB4E-079B-C8E5-9DE8-E788847247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2" r="24423" b="-11921"/>
          <a:stretch/>
        </p:blipFill>
        <p:spPr>
          <a:xfrm>
            <a:off x="6611966" y="3468493"/>
            <a:ext cx="4539025" cy="2928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94B61A-61E0-3C62-090D-81CEBB1EEB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967" y="5021075"/>
            <a:ext cx="4871775" cy="30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3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14F55-73E7-8030-7F76-5F9E51A22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F74CB-E48D-2321-09C4-F82E58033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547" y="137610"/>
            <a:ext cx="9283413" cy="749043"/>
          </a:xfrm>
        </p:spPr>
        <p:txBody>
          <a:bodyPr/>
          <a:lstStyle/>
          <a:p>
            <a:r>
              <a:rPr lang="en-US" dirty="0"/>
              <a:t>4. Diffusion Denoising LLIE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31B6D3-0AF6-0074-1499-87DC806A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EA639FF-6BA3-902A-DAF2-FC50B08C2D0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52547" y="6435725"/>
            <a:ext cx="9109075" cy="422275"/>
          </a:xfrm>
        </p:spPr>
        <p:txBody>
          <a:bodyPr/>
          <a:lstStyle/>
          <a:p>
            <a:pPr marL="0" indent="0" algn="just">
              <a:buNone/>
            </a:pP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Inzamamul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Alam, Simon S. Woo, </a:t>
            </a:r>
            <a:r>
              <a:rPr lang="nl-NL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Saeed Anwar, IK Hyun Lee,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“LoLI-Street: Benchmarking Low-Light Image Enhancement and Beyond” In Proceedings of the 17</a:t>
            </a:r>
            <a:r>
              <a:rPr lang="en-US" sz="900" i="1" spc="0" baseline="30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Asian Conference on Computer Vision, ACCV 2024, Hanoi, Vietnam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28% | BK IF: 1.0 | Published)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40D8DB-8738-F3B2-0554-9FD46004C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11" y="1532167"/>
            <a:ext cx="5413772" cy="2838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4D837F-C099-010D-193C-815B9E37F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503" y="1442000"/>
            <a:ext cx="4569170" cy="27229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E0BFA7-53F7-E5CE-C209-88C483F7C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11" y="4991630"/>
            <a:ext cx="5413772" cy="1338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3867D2-D875-0D89-2E0A-0A0CE96C3F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7466" y="4670276"/>
            <a:ext cx="4654134" cy="16602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C2C363-880C-FDD4-F7B8-571FD648858A}"/>
              </a:ext>
            </a:extLst>
          </p:cNvPr>
          <p:cNvSpPr txBox="1"/>
          <p:nvPr/>
        </p:nvSpPr>
        <p:spPr>
          <a:xfrm>
            <a:off x="614289" y="1030463"/>
            <a:ext cx="550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11: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Quantitative evaluation of the SOTA models on the validation set of LoLI-Street dataset using the 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pre-trained weights of each model.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F8035-39F0-449F-0CEC-A111A03C1828}"/>
              </a:ext>
            </a:extLst>
          </p:cNvPr>
          <p:cNvSpPr txBox="1"/>
          <p:nvPr/>
        </p:nvSpPr>
        <p:spPr>
          <a:xfrm>
            <a:off x="6811724" y="1029499"/>
            <a:ext cx="4701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12: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SOTA models vs proposed TriFuse on the LoLI-Street validation set using 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LoLI-Street-trained weights.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207220-007A-85A6-E22C-F560F8A80BE7}"/>
              </a:ext>
            </a:extLst>
          </p:cNvPr>
          <p:cNvSpPr txBox="1"/>
          <p:nvPr/>
        </p:nvSpPr>
        <p:spPr>
          <a:xfrm>
            <a:off x="663410" y="4602283"/>
            <a:ext cx="550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13: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Comparison of mainstream SOTA models and our TriFuse on the LoLI-Street 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real low-light </a:t>
            </a:r>
            <a:r>
              <a:rPr lang="en-US" sz="1200" b="1" dirty="0" err="1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testset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using 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LoLI-Street-trained weights.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B0734D-5167-CC4A-5948-4E1EA9B91CBB}"/>
              </a:ext>
            </a:extLst>
          </p:cNvPr>
          <p:cNvSpPr txBox="1"/>
          <p:nvPr/>
        </p:nvSpPr>
        <p:spPr>
          <a:xfrm>
            <a:off x="6812764" y="4270166"/>
            <a:ext cx="4718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14: Object detection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using YOLOV10 LLIE using different models. MC: Motorcycle, TL: Traffic light, SS: Stop sign.</a:t>
            </a:r>
            <a:endParaRPr lang="en-US" sz="1200" b="1" dirty="0"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21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0BC4-DE06-8227-29F7-C8F04F97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1ACE-C8E5-2F53-31B9-CC250F707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3" y="126463"/>
            <a:ext cx="9445051" cy="749043"/>
          </a:xfrm>
        </p:spPr>
        <p:txBody>
          <a:bodyPr/>
          <a:lstStyle/>
          <a:p>
            <a:r>
              <a:rPr lang="en-US" dirty="0"/>
              <a:t>4. Diffusion Denoising LLIE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0F955-1E9B-F372-12E8-DDD5DCA9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3E84ECA-3910-9652-F69C-A4B898B5EFF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44814" y="6435725"/>
            <a:ext cx="9224662" cy="422275"/>
          </a:xfrm>
        </p:spPr>
        <p:txBody>
          <a:bodyPr/>
          <a:lstStyle/>
          <a:p>
            <a:pPr marL="0" indent="0" algn="just">
              <a:buNone/>
            </a:pP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Inzamamul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Alam, Simon S. Woo, </a:t>
            </a:r>
            <a:r>
              <a:rPr lang="nl-NL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Saeed Anwar, IK Hyun Lee,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“LoLI-Street: Benchmarking Low-Light Image Enhancement and Beyond” In Proceedings of the 17</a:t>
            </a:r>
            <a:r>
              <a:rPr lang="en-US" sz="900" i="1" spc="0" baseline="30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Asian Conference on Computer Vision, ACCV 2024, Hanoi, Vietnam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28% | BK IF: 1.0 | Published)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E654CC-4528-38F2-96C1-FC2D74C12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406" y="1515017"/>
            <a:ext cx="5551187" cy="4811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263173-108E-6638-4A3F-F1E0627D8260}"/>
              </a:ext>
            </a:extLst>
          </p:cNvPr>
          <p:cNvSpPr txBox="1"/>
          <p:nvPr/>
        </p:nvSpPr>
        <p:spPr>
          <a:xfrm>
            <a:off x="3274356" y="1053352"/>
            <a:ext cx="5597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Table 15: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Performance comparison between SOTA models and our proposed TriFuse based on the mainstream LLIE datasets.</a:t>
            </a:r>
          </a:p>
        </p:txBody>
      </p:sp>
    </p:spTree>
    <p:extLst>
      <p:ext uri="{BB962C8B-B14F-4D97-AF65-F5344CB8AC3E}">
        <p14:creationId xmlns:p14="http://schemas.microsoft.com/office/powerpoint/2010/main" val="1478661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6B33-6AA6-8420-856E-1D3C3AA33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680FE-59FE-A49A-0E3A-62C88489A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3" y="126463"/>
            <a:ext cx="9445051" cy="749043"/>
          </a:xfrm>
        </p:spPr>
        <p:txBody>
          <a:bodyPr/>
          <a:lstStyle/>
          <a:p>
            <a:r>
              <a:rPr lang="en-US" dirty="0"/>
              <a:t>4. Diffusion Denoising LLIE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6EB2A-2999-3734-4A74-7E8C22BC3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C543AD0-E799-8BF8-7B04-C3BEB2E772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44814" y="6435725"/>
            <a:ext cx="9224662" cy="422275"/>
          </a:xfrm>
        </p:spPr>
        <p:txBody>
          <a:bodyPr/>
          <a:lstStyle/>
          <a:p>
            <a:pPr marL="0" indent="0" algn="just">
              <a:buNone/>
            </a:pP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Inzamamul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Alam, Simon S. Woo, </a:t>
            </a:r>
            <a:r>
              <a:rPr lang="nl-NL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Saeed Anwar, IK Hyun Lee,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“LoLI-Street: Benchmarking Low-Light Image Enhancement and Beyond” In Proceedings of the 17</a:t>
            </a:r>
            <a:r>
              <a:rPr lang="en-US" sz="900" i="1" spc="0" baseline="30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Asian Conference on Computer Vision, ACCV 2024, Hanoi, Vietnam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28% | BK IF: 1.0 | Published)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E16C6-1776-1E7D-16F1-89DA09E7B944}"/>
              </a:ext>
            </a:extLst>
          </p:cNvPr>
          <p:cNvSpPr txBox="1"/>
          <p:nvPr/>
        </p:nvSpPr>
        <p:spPr>
          <a:xfrm>
            <a:off x="2408272" y="5869828"/>
            <a:ext cx="7307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9: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Comparison between our TriFuse method and SOTA models using a sample real low-light test image from our LoLI-Street dataset.</a:t>
            </a:r>
          </a:p>
        </p:txBody>
      </p:sp>
      <p:pic>
        <p:nvPicPr>
          <p:cNvPr id="6" name="Picture 5" descr="A collage of images of cars on a street&#10;&#10;Description automatically generated">
            <a:extLst>
              <a:ext uri="{FF2B5EF4-FFF2-40B4-BE49-F238E27FC236}">
                <a16:creationId xmlns:a16="http://schemas.microsoft.com/office/drawing/2014/main" id="{4B81FF2F-A7B5-21C7-FFAF-9C37DDAF2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271" y="3358162"/>
            <a:ext cx="7375458" cy="2407434"/>
          </a:xfrm>
          <a:prstGeom prst="rect">
            <a:avLst/>
          </a:prstGeom>
        </p:spPr>
      </p:pic>
      <p:pic>
        <p:nvPicPr>
          <p:cNvPr id="7" name="Picture 6" descr="A graph showing the number of numbers&#10;&#10;Description automatically generated">
            <a:extLst>
              <a:ext uri="{FF2B5EF4-FFF2-40B4-BE49-F238E27FC236}">
                <a16:creationId xmlns:a16="http://schemas.microsoft.com/office/drawing/2014/main" id="{06433570-CBF7-70C8-FE2A-889D9DF6E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359" y="919031"/>
            <a:ext cx="3009281" cy="16950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68529A-DF6C-5C2D-64A9-E1E7E4AED98D}"/>
              </a:ext>
            </a:extLst>
          </p:cNvPr>
          <p:cNvSpPr txBox="1"/>
          <p:nvPr/>
        </p:nvSpPr>
        <p:spPr>
          <a:xfrm>
            <a:off x="4116946" y="2715930"/>
            <a:ext cx="3958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8: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Comparison between our TriFuse method and SOTA models testing on the real low-light images.</a:t>
            </a:r>
          </a:p>
        </p:txBody>
      </p:sp>
    </p:spTree>
    <p:extLst>
      <p:ext uri="{BB962C8B-B14F-4D97-AF65-F5344CB8AC3E}">
        <p14:creationId xmlns:p14="http://schemas.microsoft.com/office/powerpoint/2010/main" val="95060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15EA3-9BD4-1817-31C5-A9977BD3E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A3F1-458C-B92C-8D6A-FC2DC8546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46" y="127281"/>
            <a:ext cx="9380299" cy="749043"/>
          </a:xfrm>
        </p:spPr>
        <p:txBody>
          <a:bodyPr/>
          <a:lstStyle/>
          <a:p>
            <a:r>
              <a:rPr lang="en-US" dirty="0"/>
              <a:t>4. Diffusion Denoising LLIE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466312-261C-3081-C8EF-5B4E7C6D0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20985AE-DB48-8A63-96FE-E43B8EF2571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18718" y="6435725"/>
            <a:ext cx="9250757" cy="422275"/>
          </a:xfrm>
        </p:spPr>
        <p:txBody>
          <a:bodyPr/>
          <a:lstStyle/>
          <a:p>
            <a:pPr marL="0" indent="0" algn="just">
              <a:buNone/>
            </a:pP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Inzamamul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Alam, Simon S. Woo, </a:t>
            </a:r>
            <a:r>
              <a:rPr lang="nl-NL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Saeed Anwar, IK Hyun Lee,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“LoLI-Street: Benchmarking Low-Light Image Enhancement and Beyond” In Proceedings of the 17</a:t>
            </a:r>
            <a:r>
              <a:rPr lang="en-US" sz="900" i="1" spc="0" baseline="30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Asian Conference on Computer Vision, ACCV 2024, Hanoi, Vietnam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28% | BK IF: 1.0 | Published)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533F7-9675-CCB3-98EB-18B57D2D4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31" y="1256820"/>
            <a:ext cx="10647180" cy="4131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BBEC85-D2AF-8C0E-6398-B87045FB1A8B}"/>
              </a:ext>
            </a:extLst>
          </p:cNvPr>
          <p:cNvSpPr txBox="1"/>
          <p:nvPr/>
        </p:nvSpPr>
        <p:spPr>
          <a:xfrm>
            <a:off x="518718" y="5613678"/>
            <a:ext cx="10840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10: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Comparison of the TriFuse method with SOTA models using a sample real low-light test image from our LoLI-Street dataset. (using 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pre-trained weights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52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23B0-884F-60E6-8BF0-F6342B74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E8F08-CD16-F0E1-CCE7-511B26280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46" y="127281"/>
            <a:ext cx="9380299" cy="749043"/>
          </a:xfrm>
        </p:spPr>
        <p:txBody>
          <a:bodyPr/>
          <a:lstStyle/>
          <a:p>
            <a:r>
              <a:rPr lang="en-US" dirty="0"/>
              <a:t>4. Diffusion Denoising LLIE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0A39CB-763C-BF62-5393-61AE5F15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962FD94-335D-9968-1031-A8D9CCF66B4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18718" y="6435725"/>
            <a:ext cx="9250757" cy="422275"/>
          </a:xfrm>
        </p:spPr>
        <p:txBody>
          <a:bodyPr/>
          <a:lstStyle/>
          <a:p>
            <a:pPr marL="0" indent="0" algn="just">
              <a:buNone/>
            </a:pP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Inzamamul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Alam, Simon S. Woo, </a:t>
            </a:r>
            <a:r>
              <a:rPr lang="nl-NL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Saeed Anwar, IK Hyun Lee,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“LoLI-Street: Benchmarking Low-Light Image Enhancement and Beyond” In Proceedings of the 17</a:t>
            </a:r>
            <a:r>
              <a:rPr lang="en-US" sz="900" i="1" spc="0" baseline="30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Asian Conference on Computer Vision, ACCV 2024, Hanoi, Vietnam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28% | BK IF: 1.0 | Published)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078953-F5E5-50EF-63D1-55F5A7A9C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14" y="1753472"/>
            <a:ext cx="10854886" cy="32395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8E9847-CE2E-662E-DE2B-CB30617B51FD}"/>
              </a:ext>
            </a:extLst>
          </p:cNvPr>
          <p:cNvSpPr txBox="1"/>
          <p:nvPr/>
        </p:nvSpPr>
        <p:spPr>
          <a:xfrm>
            <a:off x="518717" y="5096911"/>
            <a:ext cx="10998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11: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Comparison of our TriFuse method with SOTA models using a sample 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real low-light test image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from our LoLI-Street dataset. (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trained on our datasets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2928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0D905-AEAB-1CBD-4C8E-B271B4E42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DC4F4-5017-5D87-74ED-3BF129F86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46" y="127281"/>
            <a:ext cx="9380299" cy="749043"/>
          </a:xfrm>
        </p:spPr>
        <p:txBody>
          <a:bodyPr/>
          <a:lstStyle/>
          <a:p>
            <a:r>
              <a:rPr lang="en-US" dirty="0"/>
              <a:t>4. Diffusion Denoising LLIE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919F40-C9CE-4AD1-C87F-FDF3641E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513831A-41DD-550E-DFA7-912E5D5DE98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18718" y="6435725"/>
            <a:ext cx="9250757" cy="422275"/>
          </a:xfrm>
        </p:spPr>
        <p:txBody>
          <a:bodyPr/>
          <a:lstStyle/>
          <a:p>
            <a:pPr marL="0" indent="0" algn="just">
              <a:buNone/>
            </a:pP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Inzamamul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Alam, Simon S. Woo, </a:t>
            </a:r>
            <a:r>
              <a:rPr lang="nl-NL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Saeed Anwar, IK Hyun Lee,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“LoLI-Street: Benchmarking Low-Light Image Enhancement and Beyond” In Proceedings of the 17</a:t>
            </a:r>
            <a:r>
              <a:rPr lang="en-US" sz="900" i="1" spc="0" baseline="30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Asian Conference on Computer Vision, ACCV 2024, Hanoi, Vietnam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28% | BK IF: 1.0 | Published)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3D2912-C784-F22C-854C-2FA12AAE5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716" y="946662"/>
            <a:ext cx="7928611" cy="50842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51A9D8-F132-7D55-5DDF-601C9D40676E}"/>
              </a:ext>
            </a:extLst>
          </p:cNvPr>
          <p:cNvSpPr txBox="1"/>
          <p:nvPr/>
        </p:nvSpPr>
        <p:spPr>
          <a:xfrm>
            <a:off x="1821691" y="5988065"/>
            <a:ext cx="85466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12: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Comparison of our TriFuse with SOTA models using sample images from different 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LLIE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benchmarking datasets.</a:t>
            </a:r>
          </a:p>
        </p:txBody>
      </p:sp>
    </p:spTree>
    <p:extLst>
      <p:ext uri="{BB962C8B-B14F-4D97-AF65-F5344CB8AC3E}">
        <p14:creationId xmlns:p14="http://schemas.microsoft.com/office/powerpoint/2010/main" val="270891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AE6D0-FE56-3422-EC10-9A3692CD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2508C-1D1E-7FB7-7FE9-87CE359DE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46" y="127281"/>
            <a:ext cx="9380299" cy="749043"/>
          </a:xfrm>
        </p:spPr>
        <p:txBody>
          <a:bodyPr/>
          <a:lstStyle/>
          <a:p>
            <a:r>
              <a:rPr lang="en-US" dirty="0"/>
              <a:t>4. Diffusion Denoising LLIE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F99DB7-B03C-204F-FFB6-58E5D4A6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D4BE8D4-647B-9AEB-8A60-C7AF5139C90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18718" y="6435725"/>
            <a:ext cx="9250757" cy="422275"/>
          </a:xfrm>
        </p:spPr>
        <p:txBody>
          <a:bodyPr/>
          <a:lstStyle/>
          <a:p>
            <a:pPr marL="0" indent="0" algn="just">
              <a:buNone/>
            </a:pP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Md Tanvir Islam, </a:t>
            </a:r>
            <a:r>
              <a:rPr lang="en-US" sz="900" i="1" spc="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Inzamamul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Alam, Simon S. Woo, </a:t>
            </a:r>
            <a:r>
              <a:rPr lang="nl-NL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Saeed Anwar, IK Hyun Lee,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Khan Muhammad* 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“LoLI-Street: Benchmarking Low-Light Image Enhancement and Beyond” In Proceedings of the 17</a:t>
            </a:r>
            <a:r>
              <a:rPr lang="en-US" sz="900" i="1" spc="0" baseline="30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900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Asian Conference on Computer Vision, ACCV 2024, Hanoi, Vietnam </a:t>
            </a:r>
            <a:r>
              <a:rPr lang="en-US" sz="900" b="1" i="1" spc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(Acceptance rate: 28% | BK IF: 1.0 | Published)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4C3C93-BD56-92DE-AEB3-F9DB0CD7E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08" y="1961176"/>
            <a:ext cx="11302886" cy="29347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14EE58-EA4A-04A6-3024-2FE4C5FEA638}"/>
              </a:ext>
            </a:extLst>
          </p:cNvPr>
          <p:cNvSpPr txBox="1"/>
          <p:nvPr/>
        </p:nvSpPr>
        <p:spPr>
          <a:xfrm>
            <a:off x="492509" y="5073873"/>
            <a:ext cx="11155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Fig. 13: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The outcome of 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YOLOV10 inference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on a sample RLLT image of the LoLI-Street dataset after enhancement. 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TL: 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Traffic light,</a:t>
            </a:r>
            <a:r>
              <a:rPr lang="en-US" sz="12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 IT:</a:t>
            </a:r>
            <a:r>
              <a:rPr lang="en-US" sz="1200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 Inference time.</a:t>
            </a:r>
          </a:p>
        </p:txBody>
      </p:sp>
    </p:spTree>
    <p:extLst>
      <p:ext uri="{BB962C8B-B14F-4D97-AF65-F5344CB8AC3E}">
        <p14:creationId xmlns:p14="http://schemas.microsoft.com/office/powerpoint/2010/main" val="160521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BDC56E-8973-FA13-522E-505DA6B8C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2935D-9272-DC7B-DA28-CCB32171124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F1444A-AD99-4025-ACB6-5E22DBADD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74964"/>
            <a:ext cx="9283413" cy="749043"/>
          </a:xfrm>
        </p:spPr>
        <p:txBody>
          <a:bodyPr/>
          <a:lstStyle/>
          <a:p>
            <a:r>
              <a:rPr lang="en-US" dirty="0"/>
              <a:t>5. 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BC261B-148D-E9F6-386D-0405A563FD88}"/>
              </a:ext>
            </a:extLst>
          </p:cNvPr>
          <p:cNvSpPr txBox="1"/>
          <p:nvPr/>
        </p:nvSpPr>
        <p:spPr>
          <a:xfrm>
            <a:off x="698362" y="2620406"/>
            <a:ext cx="5510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Limitations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1ADBC50-CB47-4550-5C42-F48D32AACB39}"/>
              </a:ext>
            </a:extLst>
          </p:cNvPr>
          <p:cNvSpPr txBox="1">
            <a:spLocks/>
          </p:cNvSpPr>
          <p:nvPr/>
        </p:nvSpPr>
        <p:spPr>
          <a:xfrm>
            <a:off x="698362" y="3082072"/>
            <a:ext cx="9192900" cy="1225750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12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Our proposed haze-aware dehazing framework relies on a pre-trained classifier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Wrong classification may lead to inaccurate dehazing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Training data are synthetic and may not cover the real-world complexity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58BCB-1443-765C-CB6E-A1E6FC0A0B04}"/>
              </a:ext>
            </a:extLst>
          </p:cNvPr>
          <p:cNvSpPr txBox="1"/>
          <p:nvPr/>
        </p:nvSpPr>
        <p:spPr>
          <a:xfrm>
            <a:off x="698362" y="4685204"/>
            <a:ext cx="5510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Future Scopes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F1900F-58B3-8878-1768-D224F4279B32}"/>
              </a:ext>
            </a:extLst>
          </p:cNvPr>
          <p:cNvSpPr txBox="1">
            <a:spLocks/>
          </p:cNvSpPr>
          <p:nvPr/>
        </p:nvSpPr>
        <p:spPr>
          <a:xfrm>
            <a:off x="698362" y="5146869"/>
            <a:ext cx="9192900" cy="878467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12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Developing a unified method for dehazing multiple haze types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Developing models with less computational expense.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600" spc="0" dirty="0">
              <a:solidFill>
                <a:schemeClr val="tx1"/>
              </a:solidFill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1600" spc="0" dirty="0">
              <a:solidFill>
                <a:schemeClr val="tx1"/>
              </a:solidFill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1600" spc="0" dirty="0">
              <a:solidFill>
                <a:schemeClr val="tx1"/>
              </a:solidFill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1600" spc="0" dirty="0">
              <a:solidFill>
                <a:schemeClr val="tx1"/>
              </a:solidFill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1600" spc="0" dirty="0">
              <a:solidFill>
                <a:schemeClr val="tx1"/>
              </a:solidFill>
              <a:latin typeface="Microsoft GothicNeo (Body)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A6131F-5DAA-8A0F-A334-580A08CD77D1}"/>
              </a:ext>
            </a:extLst>
          </p:cNvPr>
          <p:cNvSpPr txBox="1">
            <a:spLocks/>
          </p:cNvSpPr>
          <p:nvPr/>
        </p:nvSpPr>
        <p:spPr>
          <a:xfrm>
            <a:off x="698362" y="1061677"/>
            <a:ext cx="9192900" cy="964071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12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 spc="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Developed robust pipelines for image enhancement under real atmospheric degradation.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Contributed two high-quality large datasets.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spc="0" dirty="0">
                <a:solidFill>
                  <a:schemeClr val="tx1"/>
                </a:solidFill>
                <a:latin typeface="Microsoft GothicNeo (Body)"/>
                <a:ea typeface="Open Sans" panose="020B0606030504020204" pitchFamily="34" charset="0"/>
                <a:cs typeface="Open Sans" panose="020B0606030504020204" pitchFamily="34" charset="0"/>
              </a:rPr>
              <a:t>Proposed adaptive solutions improving both image quality and downstream vision tasks.</a:t>
            </a:r>
          </a:p>
        </p:txBody>
      </p:sp>
    </p:spTree>
    <p:extLst>
      <p:ext uri="{BB962C8B-B14F-4D97-AF65-F5344CB8AC3E}">
        <p14:creationId xmlns:p14="http://schemas.microsoft.com/office/powerpoint/2010/main" val="361657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520E1-3CCA-3786-8073-467B9300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D26DCE-A4E6-3058-D0E5-27B40F13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D3E3D-1FDA-B55B-8CDC-517E26A5F99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B4C84B-4541-17AB-4BA6-6B2CA011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Research Outcomes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B795B0-6515-6F71-2EA1-220FA94CE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966899"/>
              </p:ext>
            </p:extLst>
          </p:nvPr>
        </p:nvGraphicFramePr>
        <p:xfrm>
          <a:off x="563947" y="951723"/>
          <a:ext cx="11037210" cy="53323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3960638108"/>
                    </a:ext>
                  </a:extLst>
                </a:gridCol>
                <a:gridCol w="524652">
                  <a:extLst>
                    <a:ext uri="{9D8B030D-6E8A-4147-A177-3AD203B41FA5}">
                      <a16:colId xmlns:a16="http://schemas.microsoft.com/office/drawing/2014/main" val="2027990152"/>
                    </a:ext>
                  </a:extLst>
                </a:gridCol>
                <a:gridCol w="4721290">
                  <a:extLst>
                    <a:ext uri="{9D8B030D-6E8A-4147-A177-3AD203B41FA5}">
                      <a16:colId xmlns:a16="http://schemas.microsoft.com/office/drawing/2014/main" val="428692346"/>
                    </a:ext>
                  </a:extLst>
                </a:gridCol>
                <a:gridCol w="1106957">
                  <a:extLst>
                    <a:ext uri="{9D8B030D-6E8A-4147-A177-3AD203B41FA5}">
                      <a16:colId xmlns:a16="http://schemas.microsoft.com/office/drawing/2014/main" val="2686024529"/>
                    </a:ext>
                  </a:extLst>
                </a:gridCol>
                <a:gridCol w="1670723">
                  <a:extLst>
                    <a:ext uri="{9D8B030D-6E8A-4147-A177-3AD203B41FA5}">
                      <a16:colId xmlns:a16="http://schemas.microsoft.com/office/drawing/2014/main" val="746160511"/>
                    </a:ext>
                  </a:extLst>
                </a:gridCol>
                <a:gridCol w="1161000">
                  <a:extLst>
                    <a:ext uri="{9D8B030D-6E8A-4147-A177-3AD203B41FA5}">
                      <a16:colId xmlns:a16="http://schemas.microsoft.com/office/drawing/2014/main" val="550251464"/>
                    </a:ext>
                  </a:extLst>
                </a:gridCol>
                <a:gridCol w="1505243">
                  <a:extLst>
                    <a:ext uri="{9D8B030D-6E8A-4147-A177-3AD203B41FA5}">
                      <a16:colId xmlns:a16="http://schemas.microsoft.com/office/drawing/2014/main" val="3802130443"/>
                    </a:ext>
                  </a:extLst>
                </a:gridCol>
              </a:tblGrid>
              <a:tr h="3319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#</a:t>
                      </a:r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/>
                        <a:t>Year</a:t>
                      </a:r>
                      <a:endParaRPr lang="en-US" sz="12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/>
                        <a:t>Paper Title</a:t>
                      </a:r>
                      <a:endParaRPr lang="en-US" sz="12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/>
                        <a:t>Role</a:t>
                      </a:r>
                      <a:endParaRPr lang="en-US" sz="12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/>
                        <a:t>Venue</a:t>
                      </a:r>
                      <a:endParaRPr lang="en-US" sz="12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/>
                        <a:t>Remarks</a:t>
                      </a:r>
                      <a:endParaRPr lang="en-US" sz="12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/>
                        <a:t>Corresponding</a:t>
                      </a:r>
                      <a:endParaRPr lang="en-US" sz="12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B="0"/>
                </a:tc>
                <a:extLst>
                  <a:ext uri="{0D108BD9-81ED-4DB2-BD59-A6C34878D82A}">
                    <a16:rowId xmlns:a16="http://schemas.microsoft.com/office/drawing/2014/main" val="4142365010"/>
                  </a:ext>
                </a:extLst>
              </a:tr>
              <a:tr h="45616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1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2024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/>
                        <a:t>HazeSpace2M: A Dataset for Haze Aware Single Image Dehazing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First Author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ACM Multimedia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BK IF: 4.0</a:t>
                      </a:r>
                    </a:p>
                    <a:p>
                      <a:pPr algn="ctr"/>
                      <a:r>
                        <a:rPr lang="en-US" sz="1000" b="0" dirty="0"/>
                        <a:t>(Published)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Professor</a:t>
                      </a:r>
                    </a:p>
                    <a:p>
                      <a:pPr algn="ctr"/>
                      <a:r>
                        <a:rPr lang="en-US" sz="1000" b="0" dirty="0"/>
                        <a:t>Khan Muhammad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extLst>
                  <a:ext uri="{0D108BD9-81ED-4DB2-BD59-A6C34878D82A}">
                    <a16:rowId xmlns:a16="http://schemas.microsoft.com/office/drawing/2014/main" val="2833881381"/>
                  </a:ext>
                </a:extLst>
              </a:tr>
              <a:tr h="45616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2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2024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 err="1"/>
                        <a:t>LoLI</a:t>
                      </a:r>
                      <a:r>
                        <a:rPr lang="en-US" sz="1000" b="0" dirty="0"/>
                        <a:t>-Street: Benchmarking Low-Light Image Enhancement and Beyond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First Author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Asian Conference on Computer Vision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BK IF: 1.0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(Published)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Professor</a:t>
                      </a:r>
                    </a:p>
                    <a:p>
                      <a:pPr algn="ctr"/>
                      <a:r>
                        <a:rPr lang="en-US" sz="1000" b="0" dirty="0"/>
                        <a:t>Khan Muhammad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extLst>
                  <a:ext uri="{0D108BD9-81ED-4DB2-BD59-A6C34878D82A}">
                    <a16:rowId xmlns:a16="http://schemas.microsoft.com/office/drawing/2014/main" val="1271040861"/>
                  </a:ext>
                </a:extLst>
              </a:tr>
              <a:tr h="45616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3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2025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/>
                        <a:t>MEXFIC: A Meta Ensemble </a:t>
                      </a:r>
                      <a:r>
                        <a:rPr lang="en-US" sz="1000" b="0" dirty="0" err="1"/>
                        <a:t>eXplainable</a:t>
                      </a:r>
                      <a:r>
                        <a:rPr lang="en-US" sz="1000" b="0" dirty="0"/>
                        <a:t> Approach for AI-Synthesized Fake Image Classification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First Author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Alexandria Engineering Journal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IF: 6.2, Q1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(Published)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Professor</a:t>
                      </a:r>
                    </a:p>
                    <a:p>
                      <a:pPr algn="ctr"/>
                      <a:r>
                        <a:rPr lang="en-US" sz="1000" b="0" dirty="0"/>
                        <a:t>Khan Muhammad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extLst>
                  <a:ext uri="{0D108BD9-81ED-4DB2-BD59-A6C34878D82A}">
                    <a16:rowId xmlns:a16="http://schemas.microsoft.com/office/drawing/2014/main" val="874790392"/>
                  </a:ext>
                </a:extLst>
              </a:tr>
              <a:tr h="45616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2025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/>
                        <a:t>Apparatus and method for single image dehazing considering haze type classification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First Inventor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U.S. Patent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Registered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Professor</a:t>
                      </a:r>
                    </a:p>
                    <a:p>
                      <a:pPr algn="ctr"/>
                      <a:r>
                        <a:rPr lang="en-US" sz="1000" b="0" dirty="0"/>
                        <a:t>Khan Muhammad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extLst>
                  <a:ext uri="{0D108BD9-81ED-4DB2-BD59-A6C34878D82A}">
                    <a16:rowId xmlns:a16="http://schemas.microsoft.com/office/drawing/2014/main" val="402080868"/>
                  </a:ext>
                </a:extLst>
              </a:tr>
              <a:tr h="45616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2025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/>
                        <a:t>Method for image dehazing of vehicular images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First Inventor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U.S. Patent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Registered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Professor</a:t>
                      </a:r>
                    </a:p>
                    <a:p>
                      <a:pPr algn="ctr"/>
                      <a:r>
                        <a:rPr lang="en-US" sz="1000" b="0" dirty="0"/>
                        <a:t>Khan Muhammad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extLst>
                  <a:ext uri="{0D108BD9-81ED-4DB2-BD59-A6C34878D82A}">
                    <a16:rowId xmlns:a16="http://schemas.microsoft.com/office/drawing/2014/main" val="4185385078"/>
                  </a:ext>
                </a:extLst>
              </a:tr>
              <a:tr h="45616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2025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/>
                        <a:t>ROAD-6: A Diverse Dataset for Unexpected Hazard Recognition in Autonomous Vehicles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Co-Author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ACM International Conference on Multimedia Retrieval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BK IF: 1:0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(Accepted)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Professor</a:t>
                      </a:r>
                    </a:p>
                    <a:p>
                      <a:pPr algn="ctr"/>
                      <a:r>
                        <a:rPr lang="en-US" sz="1000" b="0" dirty="0"/>
                        <a:t>Khan Muhammad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extLst>
                  <a:ext uri="{0D108BD9-81ED-4DB2-BD59-A6C34878D82A}">
                    <a16:rowId xmlns:a16="http://schemas.microsoft.com/office/drawing/2014/main" val="2785995334"/>
                  </a:ext>
                </a:extLst>
              </a:tr>
              <a:tr h="45616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2025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r>
                        <a:rPr lang="en-US" sz="1000" b="0" dirty="0"/>
                        <a:t>Adaptive Speed Control for Line-Following Robots and Method Thereof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Co-Inventor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U.S. Patent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Registered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Professor</a:t>
                      </a:r>
                    </a:p>
                    <a:p>
                      <a:pPr algn="ctr"/>
                      <a:r>
                        <a:rPr lang="en-US" sz="1000" b="0" dirty="0"/>
                        <a:t>Khan Muhammad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extLst>
                  <a:ext uri="{0D108BD9-81ED-4DB2-BD59-A6C34878D82A}">
                    <a16:rowId xmlns:a16="http://schemas.microsoft.com/office/drawing/2014/main" val="2773494135"/>
                  </a:ext>
                </a:extLst>
              </a:tr>
              <a:tr h="331934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8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2025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Apparatus and method for adaptive response of autonomous vehicles in traffic intersections with flashing signals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Co-Inventor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/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U.S. Patent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Registered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Professor</a:t>
                      </a:r>
                    </a:p>
                    <a:p>
                      <a:pPr algn="ctr"/>
                      <a:r>
                        <a:rPr lang="en-US" sz="1000" b="0" dirty="0"/>
                        <a:t>Khan Muhammad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extLst>
                  <a:ext uri="{0D108BD9-81ED-4DB2-BD59-A6C34878D82A}">
                    <a16:rowId xmlns:a16="http://schemas.microsoft.com/office/drawing/2014/main" val="3304846532"/>
                  </a:ext>
                </a:extLst>
              </a:tr>
              <a:tr h="331934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9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2025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Apparatus and method for child hazardous activity anticipation and risk assessment system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Co-Inventor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/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U.S. Patent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Registered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Professor</a:t>
                      </a:r>
                    </a:p>
                    <a:p>
                      <a:pPr algn="ctr"/>
                      <a:r>
                        <a:rPr lang="en-US" sz="1000" b="0" dirty="0"/>
                        <a:t>Khan Muhammad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extLst>
                  <a:ext uri="{0D108BD9-81ED-4DB2-BD59-A6C34878D82A}">
                    <a16:rowId xmlns:a16="http://schemas.microsoft.com/office/drawing/2014/main" val="895552228"/>
                  </a:ext>
                </a:extLst>
              </a:tr>
              <a:tr h="45616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2025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r>
                        <a:rPr lang="en-US" sz="1000" b="0" dirty="0"/>
                        <a:t>Advanced LFR for better speed control fusing the IR Sensor data with camera image data.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Contributor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Information Fusion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IF: 14.8, Q1</a:t>
                      </a:r>
                    </a:p>
                    <a:p>
                      <a:pPr algn="ctr"/>
                      <a:r>
                        <a:rPr lang="en-US" sz="1000" b="0" dirty="0"/>
                        <a:t>(Under Review)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Professor</a:t>
                      </a:r>
                    </a:p>
                    <a:p>
                      <a:pPr algn="ctr"/>
                      <a:r>
                        <a:rPr lang="en-US" sz="1000" b="0" dirty="0"/>
                        <a:t>Khan Muhammad</a:t>
                      </a:r>
                      <a:endParaRPr lang="en-US" sz="100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T="90000" marB="90000"/>
                </a:tc>
                <a:extLst>
                  <a:ext uri="{0D108BD9-81ED-4DB2-BD59-A6C34878D82A}">
                    <a16:rowId xmlns:a16="http://schemas.microsoft.com/office/drawing/2014/main" val="837654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22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78705C-62BF-A421-78EF-EDA5A807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9E2CA-DB16-BB31-53AE-71E1B52DD73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18CB37-0E51-2A9D-53F4-2C14512CB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BEA76B-54FF-1684-8E70-0F31D0E20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400" y="1059766"/>
            <a:ext cx="10636812" cy="49658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chemeClr val="tx1"/>
                </a:solidFill>
                <a:latin typeface="Microsoft GothicNeo (Body)"/>
                <a:cs typeface="Times New Roman" panose="02020603050405020304" pitchFamily="18" charset="0"/>
              </a:rPr>
              <a:t>[1] https://www.who.int/news-room/fact-sheets/detail/road-traffic-injuries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chemeClr val="tx1"/>
                </a:solidFill>
                <a:latin typeface="Microsoft GothicNeo (Body)"/>
                <a:cs typeface="Times New Roman" panose="02020603050405020304" pitchFamily="18" charset="0"/>
              </a:rPr>
              <a:t> [2] https://ops.fhwa.dot.gov/weather/weather_events/low_visibility.htm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chemeClr val="tx1"/>
                </a:solidFill>
                <a:latin typeface="Microsoft GothicNeo (Body)"/>
                <a:cs typeface="Times New Roman" panose="02020603050405020304" pitchFamily="18" charset="0"/>
              </a:rPr>
              <a:t>[3] https://happyeconews.com/car-accidents-caused-by-weather-whos-responsible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chemeClr val="tx1"/>
                </a:solidFill>
                <a:latin typeface="Microsoft GothicNeo (Body)"/>
                <a:cs typeface="Times New Roman" panose="02020603050405020304" pitchFamily="18" charset="0"/>
              </a:rPr>
              <a:t>[4] S. Kim and S. H. Lim, “An Analysis of Change in Traffic Characteristics with Fog,” The Journal of The Korea Institute of Intelligent Transport Systems, vol. 16, no. 4. </a:t>
            </a:r>
            <a:r>
              <a:rPr lang="en-US" sz="1000" i="1" dirty="0">
                <a:solidFill>
                  <a:schemeClr val="tx1"/>
                </a:solidFill>
                <a:latin typeface="Microsoft GothicNeo (Body)"/>
                <a:cs typeface="Times New Roman" panose="02020603050405020304" pitchFamily="18" charset="0"/>
              </a:rPr>
              <a:t>The Korea Institute of Intelligent Transport Systems</a:t>
            </a:r>
            <a:r>
              <a:rPr lang="en-US" sz="1000" dirty="0">
                <a:solidFill>
                  <a:schemeClr val="tx1"/>
                </a:solidFill>
                <a:latin typeface="Microsoft GothicNeo (Body)"/>
                <a:cs typeface="Times New Roman" panose="02020603050405020304" pitchFamily="18" charset="0"/>
              </a:rPr>
              <a:t>, pp. 92–106, 31-Aug-2017.</a:t>
            </a:r>
          </a:p>
          <a:p>
            <a:pPr>
              <a:lnSpc>
                <a:spcPct val="100000"/>
              </a:lnSpc>
            </a:pP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Tarel, J. P., </a:t>
            </a: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Hautiere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N., Cord, A., </a:t>
            </a: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Gruyer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D., &amp; </a:t>
            </a: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Halmaoui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H. (2010, June). Improved visibility of road scene images under heterogeneous fog. In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2010 IEEE Intelligent Vehicles Symposium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478-485). IEEE.</a:t>
            </a:r>
          </a:p>
          <a:p>
            <a:pPr>
              <a:lnSpc>
                <a:spcPct val="100000"/>
              </a:lnSpc>
            </a:pP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Cordts, M., Omran, M., Ramos, S., Rehfeld, T., Enzweiler, M., Benenson, R., ... &amp; Schiele, B. (2016). The cityscapes dataset for semantic urban scene understanding. In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Proceedings of the IEEE conference on computer vision and pattern recognition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3213-3223).</a:t>
            </a:r>
            <a:endParaRPr lang="en-US" sz="1000" dirty="0">
              <a:solidFill>
                <a:schemeClr val="tx1"/>
              </a:solidFill>
              <a:latin typeface="Microsoft GothicNeo (Body)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Ancuti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C., </a:t>
            </a: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Ancuti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C. O., Timofte, R., &amp; De </a:t>
            </a: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Vleeschouwer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C. (2018). I-HAZE: A dehazing benchmark with real hazy and haze-free indoor images. In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Advanced Concepts for Intelligent Vision Systems: 19th International Conference, ACIVS 2018, Poitiers, France, September 24–27, 2018, Proceedings 19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620-631). Springer International Publishing.</a:t>
            </a:r>
          </a:p>
          <a:p>
            <a:pPr>
              <a:lnSpc>
                <a:spcPct val="100000"/>
              </a:lnSpc>
            </a:pP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Ancuti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C. O., </a:t>
            </a: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Ancuti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C., Timofte, R., &amp; De </a:t>
            </a: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Vleeschouwer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C. (2018). O-haze: a dehazing benchmark with real hazy and haze-free outdoor images. In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Proceedings of the IEEE conference on computer vision and pattern recognition workshops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754-762).</a:t>
            </a:r>
            <a:endParaRPr lang="en-US" sz="1000" dirty="0">
              <a:solidFill>
                <a:schemeClr val="tx1"/>
              </a:solidFill>
              <a:latin typeface="Microsoft GothicNeo (Body)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Li, B., Ren, W., Fu, D., Tao, D., Feng, D., Zeng, W., &amp; Wang, Z. (2018). Benchmarking single-image dehazing and beyond.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IEEE Transactions on Image Processing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28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(1), 492-505.</a:t>
            </a:r>
          </a:p>
          <a:p>
            <a:pPr>
              <a:lnSpc>
                <a:spcPct val="100000"/>
              </a:lnSpc>
            </a:pP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Ancuti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C. O., </a:t>
            </a: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Ancuti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C., </a:t>
            </a: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Vasluianu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F. A., &amp; Timofte, R. (2020). </a:t>
            </a: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Ntire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 2020 challenge on nonhomogeneous dehazing. In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Proceedings of the IEEE/CVF Conference on Computer Vision and Pattern Recognition Workshops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490-491).</a:t>
            </a:r>
            <a:endParaRPr lang="en-US" sz="1000" dirty="0">
              <a:solidFill>
                <a:schemeClr val="tx1"/>
              </a:solidFill>
              <a:latin typeface="Microsoft GothicNeo (Body)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Huang, B., Zhi, L., Yang, C., Sun, F., &amp; Song, Y. (2020). Single satellite optical imagery dehazing using SAR image prior based on conditional generative adversarial networks. In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Proceedings of the IEEE/CVF winter conference on applications of computer vision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1806-1813).</a:t>
            </a:r>
          </a:p>
          <a:p>
            <a:pPr>
              <a:lnSpc>
                <a:spcPct val="100000"/>
              </a:lnSpc>
            </a:pP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Song, Y., He, Z., Qian, H., &amp; Du, X. (2023). Vision transformers for single image dehazing.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IEEE Transactions on Image Processing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32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1927-1941.</a:t>
            </a:r>
          </a:p>
          <a:p>
            <a:pPr>
              <a:lnSpc>
                <a:spcPct val="100000"/>
              </a:lnSpc>
            </a:pP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13. Ullah, H., Muhammad, K., Irfan, M., Anwar, S., Sajjad, M., Imran, A. S., &amp; de Albuquerque, V. H. C. (2021). Light-</a:t>
            </a:r>
            <a:r>
              <a:rPr lang="en-US" sz="1000" b="0" i="0" dirty="0" err="1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DehazeNet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: a novel lightweight CNN architecture for single image dehazing.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IEEE transactions on image processing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 </a:t>
            </a:r>
            <a:r>
              <a:rPr lang="en-US" sz="1000" b="0" i="1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30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8968-8982.</a:t>
            </a:r>
          </a:p>
          <a:p>
            <a:pPr>
              <a:lnSpc>
                <a:spcPct val="100000"/>
              </a:lnSpc>
            </a:pPr>
            <a:endParaRPr lang="en-US" sz="1000" dirty="0">
              <a:solidFill>
                <a:schemeClr val="tx1"/>
              </a:solidFill>
              <a:latin typeface="Microsoft GothicNeo (Body)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809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CAC6-3129-6662-1546-C77F546CF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1F0E1E-13F4-906A-CAF8-361BB32A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ECC16-168A-CADF-78A9-A46E99D44C5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E668DD-0EF8-16DE-1B09-40E583536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AC75B2-14D7-A2A4-9B6D-9C8BBB2773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400" y="1059766"/>
            <a:ext cx="10636812" cy="49658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222222"/>
                </a:solidFill>
                <a:latin typeface="Microsoft GothicNeo (Body)"/>
                <a:cs typeface="Vani" panose="020B0502040204020203" pitchFamily="18" charset="0"/>
              </a:rPr>
              <a:t>[14] 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Chen, Z., He, Z., &amp; Lu, Z. M. (2024). DEA-Net: Single image dehazing based on detail-enhanced convolution and content-guided attention.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IEEE Transactions on Image Processing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33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 1002-1015.</a:t>
            </a:r>
            <a:endParaRPr lang="en-US" sz="1000" dirty="0">
              <a:solidFill>
                <a:srgbClr val="222222"/>
              </a:solidFill>
              <a:latin typeface="Microsoft GothicNeo (Body)"/>
              <a:cs typeface="Vani" panose="020B05020402040202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222222"/>
                </a:solidFill>
                <a:latin typeface="Microsoft GothicNeo (Body)"/>
                <a:cs typeface="Vani" panose="020B0502040204020203" pitchFamily="18" charset="0"/>
              </a:rPr>
              <a:t>[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15] Song, Y., He, Z., Qian, H., &amp; Du, X. (2023). Vision transformers for single image dehazing.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IEEE Transactions on Image Processing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32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 1927-1941.</a:t>
            </a:r>
          </a:p>
          <a:p>
            <a:pPr>
              <a:lnSpc>
                <a:spcPct val="100000"/>
              </a:lnSpc>
            </a:pP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[16</a:t>
            </a:r>
            <a:r>
              <a:rPr lang="en-US" sz="1000" dirty="0">
                <a:solidFill>
                  <a:srgbClr val="222222"/>
                </a:solidFill>
                <a:latin typeface="Microsoft GothicNeo (Body)"/>
                <a:cs typeface="Vani" panose="020B0502040204020203" pitchFamily="18" charset="0"/>
              </a:rPr>
              <a:t>]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 Zheng, Y., Zhan, J., He, S., Dong, J., &amp; Du, Y. (2023). Curricular contrastive regularization for physics-aware single image dehazing. In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Proceedings of the IEEE/CVF conference on computer vision and pattern recognition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 (pp. 5785-5794).</a:t>
            </a:r>
          </a:p>
          <a:p>
            <a:pPr>
              <a:lnSpc>
                <a:spcPct val="100000"/>
              </a:lnSpc>
            </a:pP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[17] Yuan, S., Chen, J., Li, J., Jiang, W., &amp; Guo, S. (2023, October).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Lhnet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: A low-cost hybrid network for single image dehazing. In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Proceedings of the 31st ACM International Conference on Multimedia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 (pp. 7706-7717).</a:t>
            </a:r>
            <a:endParaRPr lang="en-US" sz="1000" dirty="0">
              <a:solidFill>
                <a:srgbClr val="222222"/>
              </a:solidFill>
              <a:latin typeface="Microsoft GothicNeo (Body)"/>
              <a:cs typeface="Vani" panose="020B05020402040202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[18</a:t>
            </a:r>
            <a:r>
              <a:rPr lang="en-US" sz="1000" dirty="0">
                <a:solidFill>
                  <a:srgbClr val="222222"/>
                </a:solidFill>
                <a:latin typeface="Microsoft GothicNeo (Body)"/>
                <a:cs typeface="Vani" panose="020B0502040204020203" pitchFamily="18" charset="0"/>
              </a:rPr>
              <a:t>]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 Ullah, H., Muhammad, K., Irfan, M., Anwar, S., Sajjad, M., Imran, A. S., &amp; de Albuquerque, V. H. C. (2021). Light-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DehazeNet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: a novel lightweight CNN architecture for single image dehazing.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IEEE transactions on image processing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30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 8968-8982.</a:t>
            </a:r>
            <a:endParaRPr lang="en-US" sz="1000" dirty="0">
              <a:latin typeface="Microsoft GothicNeo (Body)"/>
              <a:cs typeface="Vani" panose="020B0502040204020203" pitchFamily="18" charset="0"/>
            </a:endParaRPr>
          </a:p>
          <a:p>
            <a:r>
              <a:rPr lang="en-US" sz="1000" dirty="0">
                <a:latin typeface="Microsoft GothicNeo (Body)"/>
                <a:cs typeface="Vani" panose="020B0502040204020203" pitchFamily="18" charset="0"/>
              </a:rPr>
              <a:t>[19] 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Li, Y., Liu, Y., Yan, Q., &amp; Zhang, K. (2020). Deep dehazing network with latent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ensembling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 architecture and adversarial learning.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IEEE Transactions on Image Processing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30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 1354-1368.</a:t>
            </a: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[20] Deng, Z., Zhu, L., Hu, X., Fu, C. W., Xu, X., Zhang, Q., ... &amp; Heng, P. A. (2019). Deep multi-model fusion for single-image dehazing. In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Proceedings of the IEEE/CVF International Conference on Computer Vision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 (pp. 2453-2462).</a:t>
            </a: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[21] Wei, C., Wang, W., Yang, W., &amp; Liu, J. (2018). Deep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retinex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 decomposition for low-light enhancement. </a:t>
            </a:r>
            <a:r>
              <a:rPr lang="en-US" sz="1000" b="0" i="1" dirty="0" err="1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arXiv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 preprint arXiv:1808.04560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.</a:t>
            </a: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[22] Cai, J., Gu, S., &amp; Zhang, L. (2018). Learning a deep single image contrast enhancer from multi-exposure images.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IEEE Transactions on Image Processing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27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(4), 2049-2062.</a:t>
            </a: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[23] Loh, Y. P., &amp; Chan, C. S. (2019). Getting to know low-light images with the exclusively dark dataset.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Computer Vision and Image Understanding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178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 30-42.</a:t>
            </a: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[24] Yang, W., Wang, W., Huang, H., Wang, S., &amp; Liu, J. (2021). Sparse gradient regularized deep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retinex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 network for robust low-light image enhancement.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IEEE Transactions on Image Processing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30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, 2072-2086.</a:t>
            </a:r>
            <a:endParaRPr lang="en-US" sz="1000" dirty="0">
              <a:solidFill>
                <a:srgbClr val="222222"/>
              </a:solidFill>
              <a:latin typeface="Microsoft GothicNeo (Body)"/>
              <a:cs typeface="Vani" panose="020B0502040204020203" pitchFamily="18" charset="0"/>
            </a:endParaRP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[25] Jia, X., Zhu, C., Li, M., Tang, W., &amp; Zhou, W. (2021). LLVIP: A visible-infrared paired dataset for low-light vision. In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Proceedings of the IEEE/CVF International </a:t>
            </a:r>
            <a:r>
              <a:rPr lang="en-US" sz="1000" i="1" dirty="0">
                <a:solidFill>
                  <a:srgbClr val="222222"/>
                </a:solidFill>
                <a:latin typeface="Microsoft GothicNeo (Body)"/>
                <a:cs typeface="Vani" panose="020B0502040204020203" pitchFamily="18" charset="0"/>
              </a:rPr>
              <a:t>C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onference on Computer Vision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Vani" panose="020B0502040204020203" pitchFamily="18" charset="0"/>
              </a:rPr>
              <a:t> (pp. 3496-3504).</a:t>
            </a:r>
            <a:endParaRPr lang="en-US" sz="1000" dirty="0">
              <a:latin typeface="Microsoft GothicNeo (Body)"/>
              <a:cs typeface="Vani" panose="020B0502040204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31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FB87-5217-B15F-D5A8-4568DCA23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930D0E-4B50-2603-B9CF-C8DEE6D9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A1C2D-49ED-0542-30C0-E9000CBB199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64F23B-0395-00A5-0A87-50CD69D89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5442E7-BE79-3CC0-C04B-8428771F3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400" y="1059766"/>
            <a:ext cx="10636812" cy="4965896"/>
          </a:xfrm>
        </p:spPr>
        <p:txBody>
          <a:bodyPr/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[26] Hai, J., Xuan, Z., Yang, R., Hao, Y., Zou, F., Lin, F., &amp; Han, S. (2023). R2rnet: Low-light image enhancement via real-low to real-normal network.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Journal of Visual Communication and Image Representation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90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 103712.</a:t>
            </a:r>
            <a:endParaRPr lang="en-US" sz="1000" dirty="0">
              <a:solidFill>
                <a:srgbClr val="222222"/>
              </a:solidFill>
              <a:latin typeface="Microsoft GothicNeo (Body)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Microsoft GothicNeo (Body)"/>
                <a:cs typeface="Times New Roman" panose="02020603050405020304" pitchFamily="18" charset="0"/>
              </a:rPr>
              <a:t>[27] 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Cai, Y., Bian, H., Lin, J., Wang, H., Timofte, R., &amp; Zhang, Y. (2023).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Retinexformer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: One-stage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retinex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-based transformer for low-light image enhancement. In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Proceedings of the IEEE/CVF International Conference on Computer Vision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12504-12513).</a:t>
            </a:r>
          </a:p>
          <a:p>
            <a:r>
              <a:rPr lang="en-US" sz="1000" dirty="0">
                <a:latin typeface="Microsoft GothicNeo (Body)"/>
                <a:cs typeface="Times New Roman" panose="02020603050405020304" pitchFamily="18" charset="0"/>
              </a:rPr>
              <a:t>[28] 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Liu, Y., Huang, T., Dong, W., Wu, F., Li, X., &amp; Shi, G. (2023). Low-light image enhancement with multi-stage residue quantization and brightness-aware attention. In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Proceedings of the IEEE/CVF International Conference on Computer Vision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12140-12149).</a:t>
            </a: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[29] Zheng, N., Zhou, M., Dong, Y., Rui, X., Huang, J., Li, C., &amp; Zhao, F. (2023). Empowering low-light image enhancer through customized learnable priors. In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Proceedings of the IEEE/CVF International Conference on Computer Vision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12559-12569).</a:t>
            </a: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[30] Wang, T., Zhang, K., Shen, T., Luo, W., Stenger, B., &amp; Lu, T. (2023, June). Ultra-high-definition low-light image enhancement: A benchmark and transformer-based method. In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Proceedings of the AAAI conference on artificial intelligence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(Vol. 37, No. 3, pp. 2654-2662).</a:t>
            </a: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[31] Jiang, H., Luo, A., Fan, H., Han, S., &amp; Liu, S. (2023). Low-light image enhancement with wavelet-based diffusion models.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ACM Transactions on Graphics (TOG)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,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42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(6), 1-14.</a:t>
            </a:r>
            <a:endParaRPr lang="en-US" sz="1000" dirty="0">
              <a:solidFill>
                <a:srgbClr val="222222"/>
              </a:solidFill>
              <a:latin typeface="Microsoft GothicNeo (Body)"/>
              <a:cs typeface="Times New Roman" panose="02020603050405020304" pitchFamily="18" charset="0"/>
            </a:endParaRP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[32] Fu, Z., Yang, Y., Tu, X., Huang, Y., Ding, X., &amp; Ma, K. K. (2023). Learning a simple low-light image enhancer from paired low-light instances. In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Proceedings of the IEEE/CVF conference on computer vision and pattern recognition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22252-22261).</a:t>
            </a: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[32] Wang, C., Wu, H., &amp; Jin, Z. (2023, October).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Fourllie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: Boosting low-light image enhancement by 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fourier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 frequency information. In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Proceedings of the 31st ACM International Conference on Multimedia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7459-7469).</a:t>
            </a:r>
            <a:endParaRPr lang="en-US" sz="1000" dirty="0">
              <a:solidFill>
                <a:srgbClr val="222222"/>
              </a:solidFill>
              <a:latin typeface="Microsoft GothicNeo (Body)"/>
              <a:cs typeface="Times New Roman" panose="02020603050405020304" pitchFamily="18" charset="0"/>
            </a:endParaRPr>
          </a:p>
          <a:p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[33] Ma, L., Ma, T., Liu, R., Fan, X., &amp; Luo, Z. (2022). Toward fast, flexible, and robust low-light image enhancement. In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Proceedings of the IEEE/CVF conference on computer vision and pattern recognition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Microsoft GothicNeo (Body)"/>
                <a:cs typeface="Times New Roman" panose="02020603050405020304" pitchFamily="18" charset="0"/>
              </a:rPr>
              <a:t> (pp. 5637-5646).</a:t>
            </a:r>
            <a:endParaRPr lang="en-US" sz="1000" dirty="0">
              <a:latin typeface="Microsoft GothicNeo (Body)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9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417511-9374-86D5-13EC-DD567536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EA9B-699E-9BE1-7C2C-4E4CD6F04FB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82680D-ED18-C0A7-ECA6-3DFA81DE2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297723"/>
            <a:ext cx="12192000" cy="2528212"/>
          </a:xfrm>
        </p:spPr>
        <p:txBody>
          <a:bodyPr/>
          <a:lstStyle/>
          <a:p>
            <a:pPr algn="ctr"/>
            <a:r>
              <a:rPr lang="ko-KR" altLang="en-US" sz="3600" b="1" dirty="0"/>
              <a:t>감사합니다 </a:t>
            </a:r>
            <a:r>
              <a:rPr lang="en-US" altLang="ko-KR" sz="3600" b="1" dirty="0"/>
              <a:t>| </a:t>
            </a:r>
            <a:r>
              <a:rPr lang="en-US" sz="3600" b="1" dirty="0"/>
              <a:t>Thank you </a:t>
            </a:r>
          </a:p>
          <a:p>
            <a:pPr algn="ctr"/>
            <a:r>
              <a:rPr lang="en-US" sz="3600" b="1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04552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2|0.2"/>
</p:tagLst>
</file>

<file path=ppt/theme/theme1.xml><?xml version="1.0" encoding="utf-8"?>
<a:theme xmlns:a="http://schemas.openxmlformats.org/drawingml/2006/main" name="ClassicFrameVTI">
  <a:themeElements>
    <a:clrScheme name="AnalogousFromDarkSeedLeftStep">
      <a:dk1>
        <a:srgbClr val="000000"/>
      </a:dk1>
      <a:lt1>
        <a:srgbClr val="FFFFFF"/>
      </a:lt1>
      <a:dk2>
        <a:srgbClr val="1C2831"/>
      </a:dk2>
      <a:lt2>
        <a:srgbClr val="F2F3F0"/>
      </a:lt2>
      <a:accent1>
        <a:srgbClr val="5B29E7"/>
      </a:accent1>
      <a:accent2>
        <a:srgbClr val="2742D8"/>
      </a:accent2>
      <a:accent3>
        <a:srgbClr val="2995E7"/>
      </a:accent3>
      <a:accent4>
        <a:srgbClr val="15BFC1"/>
      </a:accent4>
      <a:accent5>
        <a:srgbClr val="23C583"/>
      </a:accent5>
      <a:accent6>
        <a:srgbClr val="16C635"/>
      </a:accent6>
      <a:hlink>
        <a:srgbClr val="349C83"/>
      </a:hlink>
      <a:folHlink>
        <a:srgbClr val="7F7F7F"/>
      </a:folHlink>
    </a:clrScheme>
    <a:fontScheme name="Goudy and Gill Sans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4241</TotalTime>
  <Words>4504</Words>
  <Application>Microsoft Office PowerPoint</Application>
  <PresentationFormat>Widescreen</PresentationFormat>
  <Paragraphs>348</Paragraphs>
  <Slides>27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Microsoft GothicNeo</vt:lpstr>
      <vt:lpstr>Microsoft GothicNeo (Body)</vt:lpstr>
      <vt:lpstr>Aptos</vt:lpstr>
      <vt:lpstr>Arial</vt:lpstr>
      <vt:lpstr>Open Sans</vt:lpstr>
      <vt:lpstr>Roboto</vt:lpstr>
      <vt:lpstr>Wingdings</vt:lpstr>
      <vt:lpstr>ClassicFrameVTI</vt:lpstr>
      <vt:lpstr>PowerPoint Presentation</vt:lpstr>
      <vt:lpstr>Presentation Outline</vt:lpstr>
      <vt:lpstr>1. Motivation</vt:lpstr>
      <vt:lpstr>2. Major Contributions</vt:lpstr>
      <vt:lpstr>3. HazeSpace2M Dataset (1st Contribution)</vt:lpstr>
      <vt:lpstr>3. HazeSpace2M Dataset</vt:lpstr>
      <vt:lpstr>3. HazeSpace2M Dataset</vt:lpstr>
      <vt:lpstr>3. Haze Aware Dehazing</vt:lpstr>
      <vt:lpstr>3. Haze-Aware Dehazing Results</vt:lpstr>
      <vt:lpstr>3. Haze-Aware Dehazing Results</vt:lpstr>
      <vt:lpstr>4. LoLI-Street (2nd Contribution)</vt:lpstr>
      <vt:lpstr>4. Proposed Method: TriFuse</vt:lpstr>
      <vt:lpstr>4. Diffusion Denoising LLIE</vt:lpstr>
      <vt:lpstr>4. Diffusion Denoising LLIE</vt:lpstr>
      <vt:lpstr>4. Diffusion Denoising LLIE</vt:lpstr>
      <vt:lpstr>4. Diffusion Denoising LLIE</vt:lpstr>
      <vt:lpstr>4. Diffusion Denoising LLIE</vt:lpstr>
      <vt:lpstr>4. Diffusion Denoising LLIE</vt:lpstr>
      <vt:lpstr>4. Diffusion Denoising LLIE</vt:lpstr>
      <vt:lpstr>4. Diffusion Denoising LLIE</vt:lpstr>
      <vt:lpstr>4. Diffusion Denoising LLIE</vt:lpstr>
      <vt:lpstr>5. Conclusion</vt:lpstr>
      <vt:lpstr>6. Research Outcomes</vt:lpstr>
      <vt:lpstr>7. References</vt:lpstr>
      <vt:lpstr>7. References</vt:lpstr>
      <vt:lpstr>7.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무함마드칸</cp:lastModifiedBy>
  <cp:revision>2</cp:revision>
  <dcterms:created xsi:type="dcterms:W3CDTF">2023-05-27T12:20:51Z</dcterms:created>
  <dcterms:modified xsi:type="dcterms:W3CDTF">2026-10-12T14:18:44Z</dcterms:modified>
</cp:coreProperties>
</file>
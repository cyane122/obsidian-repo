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7" r:id="rId2"/>
    <p:sldId id="258" r:id="rId3"/>
    <p:sldId id="292" r:id="rId4"/>
    <p:sldId id="293" r:id="rId5"/>
    <p:sldId id="295" r:id="rId6"/>
    <p:sldId id="296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297" r:id="rId18"/>
    <p:sldId id="298" r:id="rId19"/>
    <p:sldId id="320" r:id="rId20"/>
    <p:sldId id="331" r:id="rId21"/>
    <p:sldId id="321" r:id="rId22"/>
    <p:sldId id="322" r:id="rId23"/>
    <p:sldId id="323" r:id="rId24"/>
    <p:sldId id="332" r:id="rId25"/>
    <p:sldId id="333" r:id="rId26"/>
    <p:sldId id="335" r:id="rId27"/>
    <p:sldId id="336" r:id="rId28"/>
    <p:sldId id="337" r:id="rId29"/>
    <p:sldId id="299" r:id="rId30"/>
    <p:sldId id="300" r:id="rId31"/>
    <p:sldId id="301" r:id="rId32"/>
    <p:sldId id="302" r:id="rId33"/>
    <p:sldId id="329" r:id="rId34"/>
    <p:sldId id="303" r:id="rId35"/>
    <p:sldId id="305" r:id="rId36"/>
    <p:sldId id="306" r:id="rId37"/>
    <p:sldId id="338" r:id="rId38"/>
    <p:sldId id="307" r:id="rId39"/>
    <p:sldId id="326" r:id="rId40"/>
    <p:sldId id="330" r:id="rId4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94A"/>
    <a:srgbClr val="1D395B"/>
    <a:srgbClr val="C7D3D6"/>
    <a:srgbClr val="0E2841"/>
    <a:srgbClr val="353537"/>
    <a:srgbClr val="6884FC"/>
    <a:srgbClr val="649BFF"/>
    <a:srgbClr val="558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557" autoAdjust="0"/>
  </p:normalViewPr>
  <p:slideViewPr>
    <p:cSldViewPr>
      <p:cViewPr varScale="1">
        <p:scale>
          <a:sx n="100" d="100"/>
          <a:sy n="100" d="100"/>
        </p:scale>
        <p:origin x="95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387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D40C6-81BF-42D7-B0F8-90A31835367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938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389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3EB6D-060E-4CA0-830E-AACDF146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381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1C29D-22E9-409F-99DA-EDB7E80BBC8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938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38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38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38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199A-2CA8-47D4-96B8-19D92428913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10.11929" TargetMode="External"/><Relationship Id="rId3" Type="http://schemas.openxmlformats.org/officeDocument/2006/relationships/hyperlink" Target="https://papers.nips.cc/paper_files/paper/2012/hash/c399862d3b9d6b76c8436e924a68c45b-Abstract.html" TargetMode="External"/><Relationship Id="rId7" Type="http://schemas.openxmlformats.org/officeDocument/2006/relationships/hyperlink" Target="https://proceedings.mlr.press/v97/tan19a.html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xiv.org/abs/1512.03385" TargetMode="External"/><Relationship Id="rId5" Type="http://schemas.openxmlformats.org/officeDocument/2006/relationships/hyperlink" Target="https://arxiv.org/abs/1409.1556" TargetMode="External"/><Relationship Id="rId4" Type="http://schemas.openxmlformats.org/officeDocument/2006/relationships/hyperlink" Target="https://arxiv.org/abs/1409.4842" TargetMode="External"/><Relationship Id="rId9" Type="http://schemas.openxmlformats.org/officeDocument/2006/relationships/hyperlink" Target="https://arxiv.org/abs/2103.14030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99A-2CA8-47D4-96B8-19D9242891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38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99A-2CA8-47D4-96B8-19D9242891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76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99A-2CA8-47D4-96B8-19D92428913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68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99A-2CA8-47D4-96B8-19D92428913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00FA-B46D-61A0-96A8-26639356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18859-A69A-0D1F-C211-73B9021FA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67ADB-1717-0DA2-FB61-85A9F8C7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748EB-4363-703E-F726-69C641B13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99A-2CA8-47D4-96B8-19D92428913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17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 description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 paper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AlexNet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(2012)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deep CNN trained with GPUs for large-scale image classification.</a:t>
            </a: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ImageNet Classification with Deep Convolutional Neural Networks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GoogLeNet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/ Inception v1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(2014)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Combines parallel convolution branches to capture patterns at different scales.</a:t>
            </a: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Going Deeper with Convolutions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VGG-16 / VGG-19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(2014)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 deep networks by stacking small 3 × 3 convolution filters.</a:t>
            </a: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Very Deep Convolutional Networks for Large-Scale Image Recognition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ResNet-18 / 50 / 101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(2015)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residual connections to make deeper networks easier to train.</a:t>
            </a: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Deep Residual Learning for Image Recognition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EfficientNet-B0–B7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(2019)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Balances network depth, width and input resolution through compound scaling.</a:t>
            </a:r>
          </a:p>
          <a:p>
            <a:pPr rtl="0" eaLnBrk="1" fontAlgn="ctr" latinLnBrk="0" hangingPunct="1"/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EfficientNet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: Rethinking Model Scaling for Convolutional Neural Networks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Vision Transformer (</a:t>
            </a:r>
            <a:r>
              <a:rPr lang="en-US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ViT</a:t>
            </a:r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(2020)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Applies a Transformer to a sequence of image patches.</a:t>
            </a: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An Image is Worth 16x16 Words: Transformers for Image Recognition at Scale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Swin Transformer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(2021)</a:t>
            </a:r>
          </a:p>
          <a:p>
            <a:pPr rtl="0" eaLnBrk="1" fontAlgn="ctr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shifted attention windows to build hierarchical visual features.</a:t>
            </a:r>
          </a:p>
          <a:p>
            <a:pPr rtl="0" eaLnBrk="1" fontAlgn="ctr" latinLnBrk="0" hangingPunct="1"/>
            <a:r>
              <a:rPr lang="en-US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Swin Transformer: Hierarchical Vision Transformer using Shifted Windows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Comparison adapted from the user-provided slide. Years indicate first public introduction/preprint, not always conference publication. Inception v1 and VGG: 2014 preprints, 2015 conference papers. </a:t>
            </a:r>
            <a:r>
              <a:rPr lang="en-US" dirty="0" err="1"/>
              <a:t>ResNet</a:t>
            </a:r>
            <a:r>
              <a:rPr lang="en-US" dirty="0"/>
              <a:t>: 2015 preprint, 2016 CVPR paper. </a:t>
            </a:r>
            <a:r>
              <a:rPr lang="en-US" dirty="0" err="1"/>
              <a:t>ViT</a:t>
            </a:r>
            <a:r>
              <a:rPr lang="en-US" dirty="0"/>
              <a:t>: 2020 preprint, 2021 ICLR paper. Links for variants point to the original family paper.</a:t>
            </a:r>
          </a:p>
          <a:p>
            <a:r>
              <a:rPr lang="en-US" dirty="0" err="1"/>
              <a:t>AlexNet</a:t>
            </a:r>
            <a:r>
              <a:rPr lang="en-US" dirty="0"/>
              <a:t> (2012): ImageNet Classification with Deep Convolutional Neural Networks. https://papers.nips.cc/paper_files/paper/2012/hash/c399862d3b9d6b76c8436e924a68c45b-Abstract.html</a:t>
            </a:r>
          </a:p>
          <a:p>
            <a:r>
              <a:rPr lang="en-US" dirty="0" err="1"/>
              <a:t>GoogLeNet</a:t>
            </a:r>
            <a:r>
              <a:rPr lang="en-US" dirty="0"/>
              <a:t> / Inception v1 (2014): Going Deeper with Convolutions. https://arxiv.org/abs/1409.4842</a:t>
            </a:r>
          </a:p>
          <a:p>
            <a:r>
              <a:rPr lang="en-US" dirty="0"/>
              <a:t>VGG-16 / VGG-19 (2014): Very Deep Convolutional Networks for Large-Scale Image Recognition. https://arxiv.org/abs/1409.1556</a:t>
            </a:r>
          </a:p>
          <a:p>
            <a:r>
              <a:rPr lang="en-US" dirty="0"/>
              <a:t>ResNet-18 / 50 / 101 (2015): Deep Residual Learning for Image Recognition. https://arxiv.org/abs/1512.03385</a:t>
            </a:r>
          </a:p>
          <a:p>
            <a:r>
              <a:rPr lang="en-US" dirty="0"/>
              <a:t>EfficientNet-B0–B7 (2019): </a:t>
            </a:r>
            <a:r>
              <a:rPr lang="en-US" dirty="0" err="1"/>
              <a:t>EfficientNet</a:t>
            </a:r>
            <a:r>
              <a:rPr lang="en-US" dirty="0"/>
              <a:t>: Rethinking Model Scaling for Convolutional Neural Networks. https://proceedings.mlr.press/v97/tan19a.html</a:t>
            </a:r>
          </a:p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 (2020): An Image is Worth 16x16 Words: Transformers for Image Recognition at Scale. https://arxiv.org/abs/2010.11929</a:t>
            </a:r>
          </a:p>
          <a:p>
            <a:r>
              <a:rPr lang="en-US" dirty="0"/>
              <a:t>Swin Transformer (2021): Swin Transformer: Hierarchical Vision Transformer using Shifted Windows. https://arxiv.org/abs/2103.14030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12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99A-2CA8-47D4-96B8-19D92428913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8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3" name="Subtitle 2"/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9304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30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49306" name="Slide Number Placeholder 7"/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pic>
        <p:nvPicPr>
          <p:cNvPr id="2097221" name="Graphic 11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1049307" name="Title 3"/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1" name="Title 1"/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8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28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376E-5592-4EA5-AAE5-FA0FBB0CD348}" type="datetime1">
              <a:rPr lang="en-US" smtClean="0"/>
              <a:t>9/25/2026</a:t>
            </a:fld>
            <a:endParaRPr lang="en-US"/>
          </a:p>
        </p:txBody>
      </p:sp>
      <p:sp>
        <p:nvSpPr>
          <p:cNvPr id="1049284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285" name="Content Placeholder 2"/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9" name="Subtitle 2"/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9270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271" name="Title 3"/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5" name="Subtitle 2"/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097225" name="Graphic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10493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3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9019-5F83-4D2F-8F66-CF58B614E158}" type="datetime1">
              <a:rPr lang="en-US" smtClean="0"/>
              <a:t>9/25/2026</a:t>
            </a:fld>
            <a:endParaRPr lang="en-US"/>
          </a:p>
        </p:txBody>
      </p:sp>
      <p:sp>
        <p:nvSpPr>
          <p:cNvPr id="104936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69" name="Title 5"/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3" name="Graphic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1049332" name="Title 2"/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8" name="Title 1"/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09" name="Content Placeholder 6"/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10" name="Oval 7"/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93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6" name="Title 1"/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37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33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33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40" name="Content Placeholder 6"/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5" name="Title 1"/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7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377" name="Date Placeholder 3"/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B4988B18-B537-4466-B866-52107676BA06}" type="datetime1">
              <a:rPr lang="en-US" smtClean="0"/>
              <a:t>9/25/2026</a:t>
            </a:fld>
            <a:endParaRPr lang="en-US"/>
          </a:p>
        </p:txBody>
      </p:sp>
      <p:sp>
        <p:nvSpPr>
          <p:cNvPr id="10493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79" name="Content Placeholder 7"/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9" name="Title 1"/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6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261" name="Date Placeholder 3"/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A3B216C1-245C-4639-A08A-C89E06502E1F}" type="datetime1">
              <a:rPr lang="en-US" smtClean="0"/>
              <a:t>9/25/2026</a:t>
            </a:fld>
            <a:endParaRPr lang="en-US"/>
          </a:p>
        </p:txBody>
      </p:sp>
      <p:sp>
        <p:nvSpPr>
          <p:cNvPr id="10492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263" name="Content Placeholder 7"/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0" name="Title 1"/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6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49362" name="Content Placeholder 7"/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</a:lvl1pPr>
            <a:lvl2pPr marL="228600" indent="0">
              <a:buNone/>
            </a:lvl2pPr>
            <a:lvl3pPr marL="457200" indent="0">
              <a:buNone/>
            </a:lvl3pPr>
            <a:lvl4pPr marL="685800" indent="0">
              <a:buNone/>
            </a:lvl4pPr>
            <a:lvl5pPr marL="914400" indent="0">
              <a:buNone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63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36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3" name="Title 1"/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54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255" name="Content Placeholder 7"/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</a:lvl1pPr>
            <a:lvl2pPr marL="228600" indent="0">
              <a:buNone/>
            </a:lvl2pPr>
            <a:lvl3pPr marL="457200" indent="0">
              <a:buNone/>
            </a:lvl3pPr>
            <a:lvl4pPr marL="685800" indent="0">
              <a:buNone/>
            </a:lvl4pPr>
            <a:lvl5pPr marL="914400" indent="0">
              <a:buNone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256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257" name="Date Placeholder 2"/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DA504BDB-D933-4D0A-A8F7-3BF29EEC2D6F}" type="datetime1">
              <a:rPr lang="en-US" smtClean="0"/>
              <a:t>9/25/2026</a:t>
            </a:fld>
            <a:endParaRPr lang="en-US"/>
          </a:p>
        </p:txBody>
      </p:sp>
      <p:sp>
        <p:nvSpPr>
          <p:cNvPr id="104925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5" name="Title 5"/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76" name="Content Placeholder 7"/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</a:lvl1pPr>
            <a:lvl2pPr marL="228600" indent="0">
              <a:buNone/>
            </a:lvl2pPr>
            <a:lvl3pPr marL="457200" indent="0">
              <a:buNone/>
            </a:lvl3pPr>
            <a:lvl4pPr marL="685800" indent="0">
              <a:buNone/>
            </a:lvl4pPr>
            <a:lvl5pPr marL="914400" indent="0">
              <a:buNone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277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278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279" name="Date Placeholder 1"/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21AAF8A5-B682-46E9-97DC-98C304796D2C}" type="datetime1">
              <a:rPr lang="en-US" smtClean="0"/>
              <a:t>9/25/2026</a:t>
            </a:fld>
            <a:endParaRPr lang="en-US"/>
          </a:p>
        </p:txBody>
      </p:sp>
      <p:sp>
        <p:nvSpPr>
          <p:cNvPr id="1049280" name="Slide Number Placeholder 3"/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2" name="Title 1"/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13" name="Content Placeholder 7"/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</a:lvl1pPr>
            <a:lvl2pPr marL="228600" indent="0">
              <a:buNone/>
            </a:lvl2pPr>
            <a:lvl3pPr marL="457200" indent="0">
              <a:buNone/>
            </a:lvl3pPr>
            <a:lvl4pPr marL="685800" indent="0">
              <a:buNone/>
            </a:lvl4pPr>
            <a:lvl5pPr marL="914400" indent="0">
              <a:buNone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14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315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316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0" name="Title 1"/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71" name="Content Placeholder 7"/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72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373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374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4" name="Title 1"/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65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266" name="Content Placeholder 7"/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267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268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1" name="Title 1"/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92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293" name="Content Placeholder 7"/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294" name="Footer Placeholder 8"/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295" name="Date Placeholder 2"/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F9F76D69-038A-4FE2-826A-3119DF2BB69A}" type="datetime1">
              <a:rPr lang="en-US" smtClean="0"/>
              <a:t>9/25/2026</a:t>
            </a:fld>
            <a:endParaRPr lang="en-US"/>
          </a:p>
        </p:txBody>
      </p:sp>
      <p:sp>
        <p:nvSpPr>
          <p:cNvPr id="1049296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1" name="Title 1"/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42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49343" name="Content Placeholder 7"/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44" name="Footer Placeholder 6"/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345" name="Slide Number Placeholder 7"/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7" name="Title 1"/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98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49299" name="Content Placeholder 7"/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00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49301" name="Date Placeholder 5"/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D654C6B0-5C4A-4E50-9A1C-4C51A40C8BA7}" type="datetime1">
              <a:rPr lang="en-US" smtClean="0"/>
              <a:t>9/25/2026</a:t>
            </a:fld>
            <a:endParaRPr lang="en-US"/>
          </a:p>
        </p:txBody>
      </p:sp>
      <p:sp>
        <p:nvSpPr>
          <p:cNvPr id="1049302" name="Slide Number Placeholder 8"/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3" name="Title 1"/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34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2097224" name="Graphic 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104933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6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097220" name="Graphic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049287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288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98F117-46A7-45F2-8808-F63FAFD6A450}" type="datetime1">
              <a:rPr lang="en-US" smtClean="0"/>
              <a:t>9/25/2026</a:t>
            </a:fld>
            <a:endParaRPr lang="en-US"/>
          </a:p>
        </p:txBody>
      </p:sp>
      <p:sp>
        <p:nvSpPr>
          <p:cNvPr id="1049289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290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22" name="Graphic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1049317" name="Title 1"/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49318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49319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20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1" name="Title 1"/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2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323" name="Date Placeholder 2"/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9EFC0EB1-43B7-41D8-930B-6C9DFC34C3FD}" type="datetime1">
              <a:rPr lang="en-US" smtClean="0"/>
              <a:t>9/25/2026</a:t>
            </a:fld>
            <a:endParaRPr lang="en-US"/>
          </a:p>
        </p:txBody>
      </p:sp>
      <p:sp>
        <p:nvSpPr>
          <p:cNvPr id="10493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25" name="Content Placeholder 3"/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26" name="Content Placeholder 9"/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6" name="Title 1"/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4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348" name="Date Placeholder 2"/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1683EF19-9E30-4C6D-A1F5-160E4B41B0C2}" type="datetime1">
              <a:rPr lang="en-US" smtClean="0"/>
              <a:t>9/25/2026</a:t>
            </a:fld>
            <a:endParaRPr lang="en-US"/>
          </a:p>
        </p:txBody>
      </p:sp>
      <p:sp>
        <p:nvSpPr>
          <p:cNvPr id="104934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5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351" name="Content Placeholder 5"/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5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353" name="Content Placeholder 11"/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9" name="Title 9"/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25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25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894B-1C33-4C26-9D08-7E96B78A5219}" type="datetime1">
              <a:rPr lang="en-US" smtClean="0"/>
              <a:t>9/25/2026</a:t>
            </a:fld>
            <a:endParaRPr lang="en-US"/>
          </a:p>
        </p:txBody>
      </p:sp>
      <p:sp>
        <p:nvSpPr>
          <p:cNvPr id="104925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273" name="Date Placeholder 3"/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CA8A9128-D887-46D4-BE42-6E3F8DCA12FC}" type="datetime1">
              <a:rPr lang="en-US" smtClean="0"/>
              <a:t>9/25/2026</a:t>
            </a:fld>
            <a:endParaRPr lang="en-US"/>
          </a:p>
        </p:txBody>
      </p:sp>
      <p:sp>
        <p:nvSpPr>
          <p:cNvPr id="10492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7" name="Title 1"/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28" name="Content Placeholder 7"/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</a:lvl1pPr>
            <a:lvl2pPr marL="228600" indent="0">
              <a:buNone/>
            </a:lvl2pPr>
            <a:lvl3pPr marL="457200" indent="0">
              <a:buNone/>
            </a:lvl3pPr>
            <a:lvl4pPr marL="685800" indent="0">
              <a:buNone/>
            </a:lvl4pPr>
            <a:lvl5pPr marL="914400" indent="0">
              <a:buNone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29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330" name="Date Placeholder 4"/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FF75516E-E2BA-4750-BF23-641A7172F06F}" type="datetime1">
              <a:rPr lang="en-US" smtClean="0"/>
              <a:t>9/25/2026</a:t>
            </a:fld>
            <a:endParaRPr lang="en-US"/>
          </a:p>
        </p:txBody>
      </p:sp>
      <p:sp>
        <p:nvSpPr>
          <p:cNvPr id="1049331" name="Slide Number Placeholder 6"/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4" name="Title 1"/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935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9356" name="Date Placeholder 3"/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1D5A4476-49D1-4751-A14E-4F9AFA9C41EF}" type="datetime1">
              <a:rPr lang="en-US" smtClean="0"/>
              <a:t>9/25/2026</a:t>
            </a:fld>
            <a:endParaRPr lang="en-US"/>
          </a:p>
        </p:txBody>
      </p:sp>
      <p:sp>
        <p:nvSpPr>
          <p:cNvPr id="1049357" name="Content Placeholder 6"/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93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9359" name="Oval 2"/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DC5FC-2211-40B8-B6A4-859DF0BB8AE7}" type="datetime1">
              <a:rPr lang="en-US" smtClean="0"/>
              <a:t>9/25/2026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A6A6A6"/>
                </a:solidFill>
              </a:rPr>
              <a:t>‹#›</a:t>
            </a:fld>
            <a:endParaRPr spc="-50" dirty="0">
              <a:solidFill>
                <a:srgbClr val="A6A6A6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99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Date Placeholder 3"/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DE33575A-6EB1-44D7-A672-F0D32C7D57B8}" type="datetime1">
              <a:rPr lang="en-US" smtClean="0"/>
              <a:t>9/25/2026</a:t>
            </a:fld>
            <a:endParaRPr lang="en-US"/>
          </a:p>
        </p:txBody>
      </p:sp>
      <p:sp>
        <p:nvSpPr>
          <p:cNvPr id="104857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4857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US" spc="-50" smtClean="0">
                <a:solidFill>
                  <a:srgbClr val="A6A6A6"/>
                </a:solidFill>
              </a:rPr>
              <a:t>‹#›</a:t>
            </a:fld>
            <a:endParaRPr lang="en-US" spc="-50" dirty="0">
              <a:solidFill>
                <a:srgbClr val="A6A6A6"/>
              </a:solidFill>
            </a:endParaRPr>
          </a:p>
        </p:txBody>
      </p:sp>
      <p:sp>
        <p:nvSpPr>
          <p:cNvPr id="1048580" name="Text Placeholder 2"/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hyperlink" Target="https://poloclub.github.io/cnn-explainer/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introduction-convolution-neural-network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www.sciencedirect.com/topics/computer-science/average-pooling" TargetMode="External"/><Relationship Id="rId5" Type="http://schemas.openxmlformats.org/officeDocument/2006/relationships/hyperlink" Target="https://www.geeksforgeeks.org/deep-learning/introduction-to-pooling-layer-cnn/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726791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getting-started-with-transformers/" TargetMode="External"/><Relationship Id="rId2" Type="http://schemas.openxmlformats.org/officeDocument/2006/relationships/hyperlink" Target="https://proceedings.neurips.cc/paper_files/paper/2017/hash/3f5ee243547dee91fbd053c1c4a845aa-Abstract.html" TargetMode="Externa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1.png"/><Relationship Id="rId5" Type="http://schemas.openxmlformats.org/officeDocument/2006/relationships/image" Target="../media/image300.png"/><Relationship Id="rId4" Type="http://schemas.openxmlformats.org/officeDocument/2006/relationships/image" Target="../media/image4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706.03762" TargetMode="External"/><Relationship Id="rId3" Type="http://schemas.openxmlformats.org/officeDocument/2006/relationships/hyperlink" Target="https://proceedings.neurips.cc/paper_files/paper/2012/file/c399862d3b9d6b76c8436e924a68c45b-Paper.pdf" TargetMode="External"/><Relationship Id="rId7" Type="http://schemas.openxmlformats.org/officeDocument/2006/relationships/hyperlink" Target="https://arxiv.org/pdf/1905.1194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arxiv.org/pdf/1512.03385" TargetMode="External"/><Relationship Id="rId11" Type="http://schemas.openxmlformats.org/officeDocument/2006/relationships/hyperlink" Target="https://huggingface.co/qualcomm/Swin-Tiny" TargetMode="External"/><Relationship Id="rId5" Type="http://schemas.openxmlformats.org/officeDocument/2006/relationships/hyperlink" Target="https://arxiv.org/pdf/1409.1556" TargetMode="External"/><Relationship Id="rId10" Type="http://schemas.openxmlformats.org/officeDocument/2006/relationships/hyperlink" Target="https://arxiv.org/pdf/2103.14030" TargetMode="External"/><Relationship Id="rId4" Type="http://schemas.openxmlformats.org/officeDocument/2006/relationships/hyperlink" Target="https://arxiv.org/pdf/1409.4842" TargetMode="External"/><Relationship Id="rId9" Type="http://schemas.openxmlformats.org/officeDocument/2006/relationships/hyperlink" Target="https://arxiv.org/pdf/2010.11929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8586" name="object 3"/>
            <p:cNvSpPr/>
            <p:nvPr/>
          </p:nvSpPr>
          <p:spPr>
            <a:xfrm>
              <a:off x="457200" y="0"/>
              <a:ext cx="11734800" cy="6858000"/>
            </a:xfrm>
            <a:custGeom>
              <a:avLst/>
              <a:gdLst/>
              <a:ahLst/>
              <a:cxnLst/>
              <a:rect l="l" t="t" r="r" b="b"/>
              <a:pathLst>
                <a:path w="11734800" h="6858000">
                  <a:moveTo>
                    <a:pt x="0" y="6858000"/>
                  </a:moveTo>
                  <a:lnTo>
                    <a:pt x="11734800" y="6858000"/>
                  </a:lnTo>
                  <a:lnTo>
                    <a:pt x="1173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53537"/>
            </a:solidFill>
          </p:spPr>
          <p:txBody>
            <a:bodyPr wrap="square" lIns="0" tIns="0" rIns="0" bIns="0" rtlCol="0"/>
            <a:lstStyle/>
            <a:p>
              <a:pPr rtl="0"/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8587" name="object 4"/>
            <p:cNvSpPr/>
            <p:nvPr/>
          </p:nvSpPr>
          <p:spPr>
            <a:xfrm>
              <a:off x="0" y="0"/>
              <a:ext cx="457200" cy="6858000"/>
            </a:xfrm>
            <a:custGeom>
              <a:avLst/>
              <a:gdLst/>
              <a:ahLst/>
              <a:cxnLst/>
              <a:rect l="l" t="t" r="r" b="b"/>
              <a:pathLst>
                <a:path w="457200" h="6858000">
                  <a:moveTo>
                    <a:pt x="457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" y="68580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pPr rtl="0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48588" name="object 9"/>
          <p:cNvSpPr/>
          <p:nvPr/>
        </p:nvSpPr>
        <p:spPr>
          <a:xfrm>
            <a:off x="1918017" y="2787290"/>
            <a:ext cx="8508365" cy="635"/>
          </a:xfrm>
          <a:custGeom>
            <a:avLst/>
            <a:gdLst/>
            <a:ahLst/>
            <a:cxnLst/>
            <a:rect l="l" t="t" r="r" b="b"/>
            <a:pathLst>
              <a:path w="8508365" h="635">
                <a:moveTo>
                  <a:pt x="0" y="0"/>
                </a:moveTo>
                <a:lnTo>
                  <a:pt x="8507984" y="507"/>
                </a:lnTo>
              </a:path>
            </a:pathLst>
          </a:custGeom>
          <a:ln w="13970">
            <a:solidFill>
              <a:srgbClr val="6E6E74"/>
            </a:solidFill>
          </a:ln>
        </p:spPr>
        <p:txBody>
          <a:bodyPr wrap="square" lIns="0" tIns="0" rIns="0" bIns="0" rtlCol="0"/>
          <a:lstStyle/>
          <a:p>
            <a:pPr rtl="0"/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52" name="object 10"/>
          <p:cNvPicPr>
            <a:picLocks/>
          </p:cNvPicPr>
          <p:nvPr/>
        </p:nvPicPr>
        <p:blipFill>
          <a:blip r:embed="rId2" cstate="print">
            <a:alphaModFix amt="14000"/>
          </a:blip>
          <a:stretch>
            <a:fillRect/>
          </a:stretch>
        </p:blipFill>
        <p:spPr>
          <a:xfrm>
            <a:off x="4114800" y="1293859"/>
            <a:ext cx="4419600" cy="4406828"/>
          </a:xfrm>
          <a:prstGeom prst="rect">
            <a:avLst/>
          </a:prstGeom>
        </p:spPr>
      </p:pic>
      <p:sp>
        <p:nvSpPr>
          <p:cNvPr id="1048589" name="object 11"/>
          <p:cNvSpPr txBox="1"/>
          <p:nvPr/>
        </p:nvSpPr>
        <p:spPr>
          <a:xfrm>
            <a:off x="3497993" y="2495390"/>
            <a:ext cx="565321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•Embeddings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pc="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•CNNs •Pooling Layer •Transformers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590" name="Subtitle 2"/>
          <p:cNvSpPr txBox="1"/>
          <p:nvPr/>
        </p:nvSpPr>
        <p:spPr>
          <a:xfrm>
            <a:off x="4114800" y="4495800"/>
            <a:ext cx="4419600" cy="457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Dr. Khan Muhammad (</a:t>
            </a:r>
            <a:r>
              <a:rPr lang="ko-KR" alt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칸 무하마드</a:t>
            </a:r>
            <a:r>
              <a:rPr lang="en-US" altLang="ko-KR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591" name="Subtitle 2"/>
          <p:cNvSpPr txBox="1"/>
          <p:nvPr/>
        </p:nvSpPr>
        <p:spPr>
          <a:xfrm>
            <a:off x="4114800" y="5351573"/>
            <a:ext cx="4419600" cy="4571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34817"/>
              </a:buClr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Applied Artificial Intelligence</a:t>
            </a:r>
          </a:p>
        </p:txBody>
      </p:sp>
      <p:sp>
        <p:nvSpPr>
          <p:cNvPr id="1048592" name="Rectangle 15"/>
          <p:cNvSpPr/>
          <p:nvPr/>
        </p:nvSpPr>
        <p:spPr>
          <a:xfrm>
            <a:off x="4951850" y="5650468"/>
            <a:ext cx="31261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latinLnBrk="0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Sungkyunkwan University </a:t>
            </a:r>
          </a:p>
        </p:txBody>
      </p:sp>
      <p:sp>
        <p:nvSpPr>
          <p:cNvPr id="1048593" name="Subtitle 2"/>
          <p:cNvSpPr txBox="1"/>
          <p:nvPr/>
        </p:nvSpPr>
        <p:spPr>
          <a:xfrm>
            <a:off x="4951850" y="4800600"/>
            <a:ext cx="2286000" cy="50387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34817"/>
              </a:buClr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Associate Professor</a:t>
            </a:r>
          </a:p>
        </p:txBody>
      </p:sp>
      <p:sp>
        <p:nvSpPr>
          <p:cNvPr id="1048594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76401" y="1447800"/>
            <a:ext cx="9811068" cy="81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rtl="0">
              <a:lnSpc>
                <a:spcPct val="100000"/>
              </a:lnSpc>
              <a:spcBef>
                <a:spcPts val="100"/>
              </a:spcBef>
            </a:pPr>
            <a:r>
              <a:rPr sz="5400" b="0" spc="1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</a:t>
            </a:r>
            <a:r>
              <a:rPr sz="5400" b="0" spc="2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400" b="0" spc="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n-US" sz="5400" b="0" spc="2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Foundations</a:t>
            </a:r>
            <a:endParaRPr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Box 6"/>
          <p:cNvSpPr txBox="1"/>
          <p:nvPr/>
        </p:nvSpPr>
        <p:spPr>
          <a:xfrm>
            <a:off x="3810000" y="949949"/>
            <a:ext cx="4648200" cy="54508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 Multimodal Embeddings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Convolutional Neural Networks (CNNs)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 I.  Convolution Operation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Types of Layers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  I. Max Pooling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  II. Average pooling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4. CNN for Classification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 I. Applications of CNNs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5. Transformer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 I. Attention Mechanism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 II. Why Transformers Matter for Multimodal AI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6. CNNs vs. Transformers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7. From CNNs &amp; Transformers to Multimodal AI</a:t>
            </a:r>
          </a:p>
        </p:txBody>
      </p:sp>
      <p:sp>
        <p:nvSpPr>
          <p:cNvPr id="1048598" name="Rectangle 8"/>
          <p:cNvSpPr/>
          <p:nvPr/>
        </p:nvSpPr>
        <p:spPr>
          <a:xfrm>
            <a:off x="-1" y="0"/>
            <a:ext cx="12192001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Main contents</a:t>
            </a:r>
            <a:endParaRPr lang="en-PK" sz="4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599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1" name="Rectangle 5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1. Multimodal Embeddings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9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40" y="4094730"/>
            <a:ext cx="11242460" cy="2534670"/>
          </a:xfrm>
          <a:prstGeom prst="rect">
            <a:avLst/>
          </a:prstGeom>
        </p:spPr>
      </p:pic>
      <p:sp>
        <p:nvSpPr>
          <p:cNvPr id="1049162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63" name="TextBox 3"/>
          <p:cNvSpPr txBox="1"/>
          <p:nvPr/>
        </p:nvSpPr>
        <p:spPr>
          <a:xfrm>
            <a:off x="304800" y="884843"/>
            <a:ext cx="6705600" cy="3025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Multimodal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means working with more than one type of data,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Images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Audio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Video 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multimodal embedding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converts these different types of data into numerical vectors so that their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meaning can be compared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Main idea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Different modalities can be converted into representations that live in a shared space.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64" name="TextBox 7"/>
          <p:cNvSpPr txBox="1"/>
          <p:nvPr/>
        </p:nvSpPr>
        <p:spPr>
          <a:xfrm>
            <a:off x="7455310" y="2921168"/>
            <a:ext cx="4279490" cy="1015663"/>
          </a:xfrm>
          <a:prstGeom prst="rect">
            <a:avLst/>
          </a:prstGeom>
          <a:solidFill>
            <a:srgbClr val="C7D3D6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Multimodal embeddings connect different types of data through their meaning.</a:t>
            </a:r>
          </a:p>
        </p:txBody>
      </p:sp>
      <p:pic>
        <p:nvPicPr>
          <p:cNvPr id="2097193" name="Picture 8" descr="Multimodal AI Explained: Major Applications across 5 Different Industries"/>
          <p:cNvPicPr>
            <a:picLocks noChangeAspect="1"/>
          </p:cNvPicPr>
          <p:nvPr/>
        </p:nvPicPr>
        <p:blipFill>
          <a:blip r:embed="rId3"/>
          <a:srcRect l="3689" t="19057" r="4218" b="13797"/>
          <a:stretch>
            <a:fillRect/>
          </a:stretch>
        </p:blipFill>
        <p:spPr>
          <a:xfrm>
            <a:off x="7859016" y="1097364"/>
            <a:ext cx="386841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5" name="object 3"/>
          <p:cNvSpPr txBox="1"/>
          <p:nvPr/>
        </p:nvSpPr>
        <p:spPr>
          <a:xfrm>
            <a:off x="228600" y="942304"/>
            <a:ext cx="5715000" cy="1308692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330"/>
              </a:spcBef>
            </a:pPr>
            <a:r>
              <a:rPr lang="en-US" sz="20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 common representation space is a shared space where different types of data—such as images, text, and audio—are represented in a way that allows their meanings to be compared.</a:t>
            </a:r>
          </a:p>
        </p:txBody>
      </p:sp>
      <p:sp>
        <p:nvSpPr>
          <p:cNvPr id="1049166" name="Rectangle 5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1. Multimodal Embeddings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67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94" name="Picture 3"/>
          <p:cNvPicPr>
            <a:picLocks noChangeAspect="1"/>
          </p:cNvPicPr>
          <p:nvPr/>
        </p:nvPicPr>
        <p:blipFill>
          <a:blip r:embed="rId2"/>
          <a:srcRect l="3925" r="-1"/>
          <a:stretch>
            <a:fillRect/>
          </a:stretch>
        </p:blipFill>
        <p:spPr>
          <a:xfrm>
            <a:off x="7315200" y="949960"/>
            <a:ext cx="3733800" cy="3545840"/>
          </a:xfrm>
          <a:prstGeom prst="rect">
            <a:avLst/>
          </a:prstGeom>
        </p:spPr>
      </p:pic>
      <p:sp>
        <p:nvSpPr>
          <p:cNvPr id="1049168" name="object 3"/>
          <p:cNvSpPr txBox="1"/>
          <p:nvPr/>
        </p:nvSpPr>
        <p:spPr>
          <a:xfrm>
            <a:off x="7086600" y="4457065"/>
            <a:ext cx="5029200" cy="8769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330"/>
              </a:spcBef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Points that are semantically similar (same meaning) are close together, even if they came from different modalities. </a:t>
            </a:r>
          </a:p>
        </p:txBody>
      </p:sp>
      <p:pic>
        <p:nvPicPr>
          <p:cNvPr id="2097195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5467741"/>
            <a:ext cx="6019800" cy="1085550"/>
          </a:xfrm>
          <a:prstGeom prst="rect">
            <a:avLst/>
          </a:prstGeom>
        </p:spPr>
      </p:pic>
      <p:sp>
        <p:nvSpPr>
          <p:cNvPr id="1049169" name="TextBox 13"/>
          <p:cNvSpPr txBox="1"/>
          <p:nvPr/>
        </p:nvSpPr>
        <p:spPr>
          <a:xfrm>
            <a:off x="228600" y="2617799"/>
            <a:ext cx="6521244" cy="313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Key Points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Different modalities are converted into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embeddings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embeddings are mapped into the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same shared space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with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similar meanings are placed close together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with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different meanings are placed farther apart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This allows the model to compare information across different modalities.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object 2"/>
          <p:cNvSpPr txBox="1"/>
          <p:nvPr/>
        </p:nvSpPr>
        <p:spPr>
          <a:xfrm>
            <a:off x="428651" y="914400"/>
            <a:ext cx="6124549" cy="83997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93675" marR="5080" indent="-181610">
              <a:lnSpc>
                <a:spcPts val="2060"/>
              </a:lnSpc>
              <a:spcBef>
                <a:spcPts val="25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b="1" spc="125" dirty="0">
                <a:latin typeface="Calibri" panose="020F0502020204030204" pitchFamily="34" charset="0"/>
                <a:cs typeface="Calibri" panose="020F0502020204030204" pitchFamily="34" charset="0"/>
              </a:rPr>
              <a:t>Convolutional</a:t>
            </a:r>
            <a:r>
              <a:rPr sz="1800" b="1" spc="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140" dirty="0"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sz="1800" b="1" spc="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135" dirty="0">
                <a:latin typeface="Calibri" panose="020F0502020204030204" pitchFamily="34" charset="0"/>
                <a:cs typeface="Calibri" panose="020F0502020204030204" pitchFamily="34" charset="0"/>
              </a:rPr>
              <a:t>Networks</a:t>
            </a:r>
            <a:r>
              <a:rPr sz="1800" spc="135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800" spc="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commonly</a:t>
            </a:r>
            <a:r>
              <a:rPr sz="1800" spc="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referred</a:t>
            </a:r>
            <a:r>
              <a:rPr sz="18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800" spc="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90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sz="18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b="1" spc="245" dirty="0">
                <a:latin typeface="Calibri" panose="020F0502020204030204" pitchFamily="34" charset="0"/>
                <a:cs typeface="Calibri" panose="020F0502020204030204" pitchFamily="34" charset="0"/>
              </a:rPr>
              <a:t>CNNs</a:t>
            </a:r>
            <a:r>
              <a:rPr sz="1800" b="1" spc="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65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1800" spc="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70" dirty="0">
                <a:latin typeface="Calibri" panose="020F0502020204030204" pitchFamily="34" charset="0"/>
                <a:cs typeface="Calibri" panose="020F0502020204030204" pitchFamily="34" charset="0"/>
              </a:rPr>
              <a:t>a 	</a:t>
            </a:r>
            <a:r>
              <a:rPr sz="1800" spc="50" dirty="0">
                <a:latin typeface="Calibri" panose="020F0502020204030204" pitchFamily="34" charset="0"/>
                <a:cs typeface="Calibri" panose="020F0502020204030204" pitchFamily="34" charset="0"/>
              </a:rPr>
              <a:t>specialized</a:t>
            </a:r>
            <a:r>
              <a:rPr sz="1800" spc="1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50" dirty="0"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sz="18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8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80" dirty="0"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sz="18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5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sz="1800" spc="1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50" dirty="0">
                <a:latin typeface="Calibri" panose="020F0502020204030204" pitchFamily="34" charset="0"/>
                <a:cs typeface="Calibri" panose="020F0502020204030204" pitchFamily="34" charset="0"/>
              </a:rPr>
              <a:t>designed</a:t>
            </a:r>
            <a:r>
              <a:rPr sz="18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800" spc="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sz="18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85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8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65" dirty="0">
                <a:latin typeface="Calibri" panose="020F0502020204030204" pitchFamily="34" charset="0"/>
                <a:cs typeface="Calibri" panose="020F0502020204030204" pitchFamily="34" charset="0"/>
              </a:rPr>
              <a:t>classify</a:t>
            </a:r>
            <a:r>
              <a:rPr sz="18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90" dirty="0">
                <a:latin typeface="Calibri" panose="020F0502020204030204" pitchFamily="34" charset="0"/>
                <a:cs typeface="Calibri" panose="020F0502020204030204" pitchFamily="34" charset="0"/>
              </a:rPr>
              <a:t>images.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74" name="object 3"/>
          <p:cNvSpPr txBox="1"/>
          <p:nvPr/>
        </p:nvSpPr>
        <p:spPr>
          <a:xfrm>
            <a:off x="428650" y="1986280"/>
            <a:ext cx="55149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310" algn="l"/>
              </a:tabLst>
            </a:pPr>
            <a:r>
              <a:rPr sz="1800" spc="7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sz="18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65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18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60" dirty="0">
                <a:latin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sz="18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95" dirty="0">
                <a:latin typeface="Calibri" panose="020F0502020204030204" pitchFamily="34" charset="0"/>
                <a:cs typeface="Calibri" panose="020F0502020204030204" pitchFamily="34" charset="0"/>
              </a:rPr>
              <a:t>main</a:t>
            </a:r>
            <a:r>
              <a:rPr sz="18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45" dirty="0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sz="18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8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175" dirty="0">
                <a:latin typeface="Calibri" panose="020F0502020204030204" pitchFamily="34" charset="0"/>
                <a:cs typeface="Calibri" panose="020F0502020204030204" pitchFamily="34" charset="0"/>
              </a:rPr>
              <a:t>CNNs.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75" name="object 4"/>
          <p:cNvSpPr txBox="1"/>
          <p:nvPr/>
        </p:nvSpPr>
        <p:spPr>
          <a:xfrm>
            <a:off x="404825" y="2327674"/>
            <a:ext cx="6172200" cy="906017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5"/>
              </a:spcBef>
              <a:buClr>
                <a:srgbClr val="6E6E74"/>
              </a:buClr>
              <a:buAutoNum type="arabicPeriod"/>
              <a:tabLst>
                <a:tab pos="354965" algn="l"/>
              </a:tabLst>
            </a:pPr>
            <a:r>
              <a:rPr sz="1600" b="1" spc="10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Convolution:</a:t>
            </a:r>
            <a:r>
              <a:rPr sz="1600" b="1" spc="23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Apply</a:t>
            </a:r>
            <a:r>
              <a:rPr sz="1600" spc="19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filters</a:t>
            </a:r>
            <a:r>
              <a:rPr sz="1600" spc="17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600" spc="16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</a:t>
            </a:r>
            <a:r>
              <a:rPr sz="1600" spc="17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600" spc="17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4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Clr>
                <a:srgbClr val="6E6E74"/>
              </a:buClr>
              <a:buAutoNum type="arabicPeriod"/>
              <a:tabLst>
                <a:tab pos="354965" algn="l"/>
              </a:tabLst>
            </a:pPr>
            <a:r>
              <a:rPr sz="1600" b="1" spc="9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</a:t>
            </a:r>
            <a:r>
              <a:rPr sz="1600" b="1" spc="7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linearity:</a:t>
            </a:r>
            <a:r>
              <a:rPr sz="1600" b="1" spc="19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8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sz="1600" spc="14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13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ReLU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Clr>
                <a:srgbClr val="6E6E74"/>
              </a:buClr>
              <a:buAutoNum type="arabicPeriod"/>
              <a:tabLst>
                <a:tab pos="354965" algn="l"/>
              </a:tabLst>
            </a:pPr>
            <a:r>
              <a:rPr sz="1600" b="1" spc="9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Pooling:</a:t>
            </a:r>
            <a:r>
              <a:rPr sz="1600" b="1" spc="19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Down</a:t>
            </a:r>
            <a:r>
              <a:rPr sz="1600" spc="19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sampling</a:t>
            </a:r>
            <a:r>
              <a:rPr sz="1600" spc="18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r>
              <a:rPr sz="1600" spc="17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z="1600" spc="17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sz="1600" spc="16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600" spc="190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45" dirty="0">
                <a:solidFill>
                  <a:srgbClr val="2525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76" name="Rectangle 6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2. Convolutional Neural Networks (CNNs)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96" name="Picture 8" descr="Convolutional Neural Network | Deep Learning | Developers Breach"/>
          <p:cNvPicPr>
            <a:picLocks noChangeAspect="1"/>
          </p:cNvPicPr>
          <p:nvPr/>
        </p:nvPicPr>
        <p:blipFill rotWithShape="1">
          <a:blip r:embed="rId2"/>
          <a:srcRect t="18557" b="3460"/>
          <a:stretch>
            <a:fillRect/>
          </a:stretch>
        </p:blipFill>
        <p:spPr>
          <a:xfrm>
            <a:off x="1066800" y="3429000"/>
            <a:ext cx="10134600" cy="3090501"/>
          </a:xfrm>
          <a:prstGeom prst="rect">
            <a:avLst/>
          </a:prstGeom>
        </p:spPr>
      </p:pic>
      <p:sp>
        <p:nvSpPr>
          <p:cNvPr id="1049177" name="TextBox 10"/>
          <p:cNvSpPr txBox="1"/>
          <p:nvPr/>
        </p:nvSpPr>
        <p:spPr>
          <a:xfrm>
            <a:off x="6763398" y="914400"/>
            <a:ext cx="5428602" cy="222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does it learn?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CNNs learn features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hierarchically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Early layers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→ Edges, lines, colors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Middle layers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→ Shapes, textures, patterns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Deep layers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→ Objects and meaningful visual structures</a:t>
            </a:r>
          </a:p>
        </p:txBody>
      </p:sp>
      <p:sp>
        <p:nvSpPr>
          <p:cNvPr id="1049178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9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2. Convolutional Neural Networks (CNNs)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80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81" name="TextBox 5"/>
          <p:cNvSpPr txBox="1"/>
          <p:nvPr/>
        </p:nvSpPr>
        <p:spPr>
          <a:xfrm>
            <a:off x="152400" y="838200"/>
            <a:ext cx="5943600" cy="409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Important Parameters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Kernel Size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Determines the size of the filter.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Common examples: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3×3, 5×5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Smaller kernels capture fine details; larger kernels capture more context. 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2. Stride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Controls how far the filter moves at each step.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Stride = 1: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moves one pixel at a time. 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Padding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Adds pixels, usually zeros, around the image.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Helps control the output's spatial dimensions. </a:t>
            </a: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4. Number of Filters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Multiple filters learn different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filter produces a separate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feature map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49182" name="TextBox 12"/>
          <p:cNvSpPr txBox="1"/>
          <p:nvPr/>
        </p:nvSpPr>
        <p:spPr>
          <a:xfrm>
            <a:off x="152400" y="5257294"/>
            <a:ext cx="6979920" cy="1158240"/>
          </a:xfrm>
          <a:prstGeom prst="rect">
            <a:avLst/>
          </a:prstGeom>
          <a:solidFill>
            <a:srgbClr val="C7D3D6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Key Takeaway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Convolution allows CNNs to automatically detect important visual patterns, which are represented as feature maps and used by deeper layers to recognize complex objects.</a:t>
            </a:r>
          </a:p>
        </p:txBody>
      </p:sp>
      <p:pic>
        <p:nvPicPr>
          <p:cNvPr id="2097197" name="object 6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0" y="3680083"/>
            <a:ext cx="4306722" cy="228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4781B2-39CB-4C64-812C-03FDFB67A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914400"/>
            <a:ext cx="5638800" cy="25518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01E492-7A64-85A2-54DC-67294D4B7663}"/>
              </a:ext>
            </a:extLst>
          </p:cNvPr>
          <p:cNvSpPr txBox="1"/>
          <p:nvPr/>
        </p:nvSpPr>
        <p:spPr>
          <a:xfrm>
            <a:off x="7391400" y="5966083"/>
            <a:ext cx="4306722" cy="57964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225"/>
              </a:spcBef>
            </a:pPr>
            <a:r>
              <a:rPr lang="en-US" sz="1800" b="0" i="0" u="sng" strike="noStrike" dirty="0">
                <a:solidFill>
                  <a:schemeClr val="tx1"/>
                </a:solidFill>
                <a:effectLst/>
                <a:latin typeface="+mn-lt"/>
                <a:hlinkClick r:id="rId5"/>
              </a:rPr>
              <a:t>CNN Explainer</a:t>
            </a:r>
            <a:r>
              <a:rPr lang="en-US" u="sng" dirty="0">
                <a:hlinkClick r:id="rId5"/>
              </a:rPr>
              <a:t> </a:t>
            </a:r>
          </a:p>
          <a:p>
            <a:pPr>
              <a:spcBef>
                <a:spcPts val="225"/>
              </a:spcBef>
            </a:pPr>
            <a:r>
              <a:rPr lang="en-US" sz="1200" u="sng" dirty="0">
                <a:hlinkClick r:id="rId5"/>
              </a:rPr>
              <a:t>(https://poloclub.github.io/cnn-explainer/)</a:t>
            </a:r>
            <a:endParaRPr lang="en-US" sz="1200" b="0" i="0" u="sng" strike="noStrike" dirty="0">
              <a:solidFill>
                <a:srgbClr val="1A0DAB"/>
              </a:solidFill>
              <a:effectLst/>
              <a:latin typeface="Google Sans"/>
              <a:hlinkClick r:id="rId5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644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GB" spc="-50" smtClean="0">
                <a:solidFill>
                  <a:srgbClr val="A6A6A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en-GB" spc="-50" dirty="0">
              <a:solidFill>
                <a:srgbClr val="A6A6A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8180627" y="3563216"/>
            <a:ext cx="281322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5943600" y="4974416"/>
            <a:ext cx="1035975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8812219" y="4411901"/>
            <a:ext cx="13716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10287000" y="4419600"/>
            <a:ext cx="181737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Output or Feature Map</a:t>
            </a:r>
          </a:p>
        </p:txBody>
      </p:sp>
      <p:sp>
        <p:nvSpPr>
          <p:cNvPr id="12" name="object 7"/>
          <p:cNvSpPr txBox="1"/>
          <p:nvPr/>
        </p:nvSpPr>
        <p:spPr>
          <a:xfrm>
            <a:off x="10183819" y="3393036"/>
            <a:ext cx="157255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20407"/>
              </p:ext>
            </p:extLst>
          </p:nvPr>
        </p:nvGraphicFramePr>
        <p:xfrm>
          <a:off x="5093783" y="2590397"/>
          <a:ext cx="28956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742776"/>
              </p:ext>
            </p:extLst>
          </p:nvPr>
        </p:nvGraphicFramePr>
        <p:xfrm>
          <a:off x="8659819" y="3060030"/>
          <a:ext cx="1326130" cy="11223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535947"/>
              </p:ext>
            </p:extLst>
          </p:nvPr>
        </p:nvGraphicFramePr>
        <p:xfrm>
          <a:off x="10604769" y="3005913"/>
          <a:ext cx="1148084" cy="1176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1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0D4457-C987-7CD4-79C9-1586B4A29036}"/>
                  </a:ext>
                </a:extLst>
              </p:cNvPr>
              <p:cNvSpPr txBox="1"/>
              <p:nvPr/>
            </p:nvSpPr>
            <p:spPr>
              <a:xfrm>
                <a:off x="150813" y="1142445"/>
                <a:ext cx="4655167" cy="5157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Overview of the Operation</a:t>
                </a:r>
              </a:p>
              <a:p>
                <a:pPr>
                  <a:buNone/>
                </a:pPr>
                <a:endParaRPr lang="en-US" sz="1600" b="1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Input Image: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×5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matrix</a:t>
                </a:r>
              </a:p>
              <a:p>
                <a:pPr lvl="0"/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Filter / Kernel: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matrix</a:t>
                </a:r>
              </a:p>
              <a:p>
                <a:pPr lvl="0"/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Stride: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(the filter shifts 1 pixel at a time across rows and columns)</a:t>
                </a:r>
              </a:p>
              <a:p>
                <a:pPr lvl="0"/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Output (Feature Map) Size: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Calculated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+1=</m:t>
                    </m:r>
                    <m:d>
                      <m:dPr>
                        <m:ctrlPr>
                          <a:rPr lang="en-US" sz="160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5−3+0</m:t>
                        </m:r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/1+1=3×3</m:t>
                    </m:r>
                  </m:oMath>
                </a14:m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05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(Input Size):</a:t>
                </a:r>
                <a:r>
                  <a:rPr lang="en-US" sz="105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Width or height of the input image (</a:t>
                </a:r>
                <a14:m>
                  <m:oMath xmlns:m="http://schemas.openxmlformats.org/officeDocument/2006/math">
                    <m:r>
                      <a:rPr lang="en-US" sz="1050">
                        <a:latin typeface="Cambria Math" panose="02040503050406030204" pitchFamily="18" charset="0"/>
                      </a:rPr>
                      <m:t>5×5</m:t>
                    </m:r>
                  </m:oMath>
                </a14:m>
                <a:r>
                  <a:rPr lang="en-US" sz="105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lvl="0"/>
                <a:endParaRPr lang="en-US" sz="105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(Kernel Size):</a:t>
                </a:r>
                <a:r>
                  <a:rPr lang="en-US" sz="105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Spatial dimensions of the filter (</a:t>
                </a:r>
                <a14:m>
                  <m:oMath xmlns:m="http://schemas.openxmlformats.org/officeDocument/2006/math">
                    <m:r>
                      <a:rPr lang="en-US" sz="105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sz="105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lvl="0"/>
                <a:endParaRPr lang="en-US" sz="105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05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(Padding):</a:t>
                </a:r>
                <a:r>
                  <a:rPr lang="en-US" sz="105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Zero-padding added to image borders (0 pixels added).</a:t>
                </a:r>
              </a:p>
              <a:p>
                <a:pPr lvl="0"/>
                <a:endParaRPr lang="en-US" sz="105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US" sz="105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05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(Stride):</a:t>
                </a:r>
                <a:r>
                  <a:rPr lang="en-US" sz="105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Step size the filter shifts per step (1 pixel).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0D4457-C987-7CD4-79C9-1586B4A29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3" y="1142445"/>
                <a:ext cx="4655167" cy="5157309"/>
              </a:xfrm>
              <a:prstGeom prst="rect">
                <a:avLst/>
              </a:prstGeom>
              <a:blipFill>
                <a:blip r:embed="rId2"/>
                <a:stretch>
                  <a:fillRect l="-786"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74F1831-500D-55A3-1FDA-FDC5D7C999EB}"/>
              </a:ext>
            </a:extLst>
          </p:cNvPr>
          <p:cNvSpPr txBox="1"/>
          <p:nvPr/>
        </p:nvSpPr>
        <p:spPr>
          <a:xfrm>
            <a:off x="6969415" y="6059697"/>
            <a:ext cx="39436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Click Here to Explore Convolutional Operations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8517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1828800" y="5064360"/>
            <a:ext cx="1206964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81059"/>
              </p:ext>
            </p:extLst>
          </p:nvPr>
        </p:nvGraphicFramePr>
        <p:xfrm>
          <a:off x="872294" y="2209187"/>
          <a:ext cx="2951906" cy="2700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8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55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9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95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95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042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90">
                <a:tc>
                  <a:txBody>
                    <a:bodyPr/>
                    <a:lstStyle/>
                    <a:p>
                      <a:pPr marL="15621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42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57150">
                      <a:solidFill>
                        <a:srgbClr val="B517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11239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300" b="1" spc="-40" dirty="0">
                          <a:latin typeface="Arial"/>
                          <a:cs typeface="Arial"/>
                        </a:rPr>
                        <a:t>0x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42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4271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57150">
                      <a:solidFill>
                        <a:srgbClr val="B517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42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4271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57150">
                      <a:solidFill>
                        <a:srgbClr val="B517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 marL="156210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11239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40" dirty="0">
                          <a:latin typeface="Arial"/>
                          <a:cs typeface="Arial"/>
                        </a:rPr>
                        <a:t>0x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4826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40" dirty="0">
                          <a:latin typeface="Arial"/>
                          <a:cs typeface="Arial"/>
                        </a:rPr>
                        <a:t>0x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264">
                <a:tc>
                  <a:txBody>
                    <a:bodyPr/>
                    <a:lstStyle/>
                    <a:p>
                      <a:pPr marL="191770" marR="113030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40" dirty="0">
                          <a:latin typeface="Arial"/>
                          <a:cs typeface="Arial"/>
                        </a:rPr>
                        <a:t>0x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B517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30" dirty="0">
                          <a:latin typeface="Arial"/>
                          <a:cs typeface="Arial"/>
                        </a:rPr>
                        <a:t>1x1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B517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57150">
                      <a:solidFill>
                        <a:srgbClr val="B517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B517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B517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56C1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7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502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502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57001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566470"/>
              </p:ext>
            </p:extLst>
          </p:nvPr>
        </p:nvGraphicFramePr>
        <p:xfrm>
          <a:off x="8305800" y="2819401"/>
          <a:ext cx="1523999" cy="1337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9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9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1"/>
          <p:cNvSpPr txBox="1"/>
          <p:nvPr/>
        </p:nvSpPr>
        <p:spPr>
          <a:xfrm>
            <a:off x="2159200" y="1547205"/>
            <a:ext cx="700227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91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28775"/>
              </p:ext>
            </p:extLst>
          </p:nvPr>
        </p:nvGraphicFramePr>
        <p:xfrm>
          <a:off x="872294" y="2209800"/>
          <a:ext cx="2951905" cy="269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0x0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0x0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0x1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0x0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R="93345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1x-</a:t>
                      </a: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1x1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25" dirty="0">
                          <a:latin typeface="Arial"/>
                          <a:cs typeface="Arial"/>
                        </a:rPr>
                        <a:t>0x0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824211"/>
              </p:ext>
            </p:extLst>
          </p:nvPr>
        </p:nvGraphicFramePr>
        <p:xfrm>
          <a:off x="8305801" y="2819400"/>
          <a:ext cx="1523999" cy="1303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1"/>
          <p:cNvSpPr txBox="1"/>
          <p:nvPr/>
        </p:nvSpPr>
        <p:spPr>
          <a:xfrm>
            <a:off x="2286000" y="1457619"/>
            <a:ext cx="698081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3A7EB5AB-C136-1A1E-548B-E10097D63801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4057BFB8-E4FE-24CD-7CBE-1C5352816C44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F3F79517-D172-B039-7CF7-56AEC4DAB565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8" name="object 9">
            <a:extLst>
              <a:ext uri="{FF2B5EF4-FFF2-40B4-BE49-F238E27FC236}">
                <a16:creationId xmlns:a16="http://schemas.microsoft.com/office/drawing/2014/main" id="{2F1097B1-48EA-9463-2932-057028BA4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object 6">
            <a:extLst>
              <a:ext uri="{FF2B5EF4-FFF2-40B4-BE49-F238E27FC236}">
                <a16:creationId xmlns:a16="http://schemas.microsoft.com/office/drawing/2014/main" id="{BB4B4D39-81FC-9311-8F89-4BAB4CDB9CA6}"/>
              </a:ext>
            </a:extLst>
          </p:cNvPr>
          <p:cNvSpPr txBox="1"/>
          <p:nvPr/>
        </p:nvSpPr>
        <p:spPr>
          <a:xfrm>
            <a:off x="8244043" y="4445642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17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994311"/>
              </p:ext>
            </p:extLst>
          </p:nvPr>
        </p:nvGraphicFramePr>
        <p:xfrm>
          <a:off x="852015" y="2218464"/>
          <a:ext cx="2951905" cy="2645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90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0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x-1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0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0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0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141341"/>
              </p:ext>
            </p:extLst>
          </p:nvPr>
        </p:nvGraphicFramePr>
        <p:xfrm>
          <a:off x="8305801" y="2819400"/>
          <a:ext cx="1523999" cy="1309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1"/>
          <p:cNvSpPr txBox="1"/>
          <p:nvPr/>
        </p:nvSpPr>
        <p:spPr>
          <a:xfrm>
            <a:off x="2590800" y="1646573"/>
            <a:ext cx="6729465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DB1D0B-C37E-65D4-0E9F-1C6564E1CFFE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14D25456-0CBC-B085-823F-1EF509CAF99E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299F9478-B53D-F3B3-3BE6-DE1EC85EA1A6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D1E06A95-ACB1-D7C3-0F40-E0051281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4">
            <a:extLst>
              <a:ext uri="{FF2B5EF4-FFF2-40B4-BE49-F238E27FC236}">
                <a16:creationId xmlns:a16="http://schemas.microsoft.com/office/drawing/2014/main" id="{891847B3-1D55-A2F2-0793-98D206A281FD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object 6">
            <a:extLst>
              <a:ext uri="{FF2B5EF4-FFF2-40B4-BE49-F238E27FC236}">
                <a16:creationId xmlns:a16="http://schemas.microsoft.com/office/drawing/2014/main" id="{30FCC8B0-6BA8-8219-8375-8147F015B779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09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50581"/>
              </p:ext>
            </p:extLst>
          </p:nvPr>
        </p:nvGraphicFramePr>
        <p:xfrm>
          <a:off x="860960" y="2218464"/>
          <a:ext cx="2951905" cy="262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x-1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14389"/>
              </p:ext>
            </p:extLst>
          </p:nvPr>
        </p:nvGraphicFramePr>
        <p:xfrm>
          <a:off x="8305802" y="2819401"/>
          <a:ext cx="1523999" cy="1309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5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1"/>
          <p:cNvSpPr txBox="1"/>
          <p:nvPr/>
        </p:nvSpPr>
        <p:spPr>
          <a:xfrm>
            <a:off x="2718303" y="1610265"/>
            <a:ext cx="6880355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7CA2EE5-D4EA-6287-01D0-39F372E5DFD9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EE842D9-751F-D571-DE8A-C6BBC84FAB9C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D63FF6D0-F657-E06E-BB10-C0F2C3C03FE7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7E89896A-1008-8A3F-3164-3BA002F38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4">
            <a:extLst>
              <a:ext uri="{FF2B5EF4-FFF2-40B4-BE49-F238E27FC236}">
                <a16:creationId xmlns:a16="http://schemas.microsoft.com/office/drawing/2014/main" id="{3BD0B462-1DD1-2B66-B2E9-AE538F87A273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E69E8902-C02F-5C41-67FA-03125E38C373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13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73743"/>
              </p:ext>
            </p:extLst>
          </p:nvPr>
        </p:nvGraphicFramePr>
        <p:xfrm>
          <a:off x="858097" y="2218463"/>
          <a:ext cx="2951905" cy="262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x-1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3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553762"/>
              </p:ext>
            </p:extLst>
          </p:nvPr>
        </p:nvGraphicFramePr>
        <p:xfrm>
          <a:off x="8303019" y="2842974"/>
          <a:ext cx="1523999" cy="1286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1"/>
          <p:cNvSpPr txBox="1"/>
          <p:nvPr/>
        </p:nvSpPr>
        <p:spPr>
          <a:xfrm>
            <a:off x="2514600" y="1601010"/>
            <a:ext cx="6880355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8356D1-D240-3250-62F1-04EC2B7AAAF2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6C46C82-AB80-CFB7-6720-022043F4E607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02CA974C-3448-0A69-4CF4-B6281E5D367D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3DFD53E2-0503-4F76-87F2-7D06B2D2F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4">
            <a:extLst>
              <a:ext uri="{FF2B5EF4-FFF2-40B4-BE49-F238E27FC236}">
                <a16:creationId xmlns:a16="http://schemas.microsoft.com/office/drawing/2014/main" id="{E2D94545-A196-64D6-688F-DE5AD51A2D97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28CB1AE3-22EE-2156-3B9E-3D3EC43C621F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19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47556"/>
              </p:ext>
            </p:extLst>
          </p:nvPr>
        </p:nvGraphicFramePr>
        <p:xfrm>
          <a:off x="858097" y="2218464"/>
          <a:ext cx="2924845" cy="2616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3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x1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x1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x-1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x1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200" b="1" spc="-50" dirty="0">
                          <a:latin typeface="Arial"/>
                          <a:cs typeface="Arial"/>
                        </a:rPr>
                        <a:t>x0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3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2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54885"/>
              </p:ext>
            </p:extLst>
          </p:nvPr>
        </p:nvGraphicFramePr>
        <p:xfrm>
          <a:off x="8305800" y="2802033"/>
          <a:ext cx="1523999" cy="132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11"/>
          <p:cNvSpPr txBox="1"/>
          <p:nvPr/>
        </p:nvSpPr>
        <p:spPr>
          <a:xfrm>
            <a:off x="2440805" y="1600200"/>
            <a:ext cx="7018156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0A2AEA4-AB3C-C0D6-42E6-4F1C1917F449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52B2262-DE99-76AB-BC1E-51E884266C3D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E025FFCF-6646-700B-AF5D-9DB7E392B00C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1764D8A2-535F-89B9-7D6E-09BE871E9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4">
            <a:extLst>
              <a:ext uri="{FF2B5EF4-FFF2-40B4-BE49-F238E27FC236}">
                <a16:creationId xmlns:a16="http://schemas.microsoft.com/office/drawing/2014/main" id="{AE0489AB-F5DA-8BB0-8A28-DE9ED5A63CED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9AB5B4AA-F765-09B7-6C5D-40CCD7C4472E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942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11140"/>
              </p:ext>
            </p:extLst>
          </p:nvPr>
        </p:nvGraphicFramePr>
        <p:xfrm>
          <a:off x="858097" y="2209800"/>
          <a:ext cx="2897225" cy="2625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x-1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0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001527"/>
              </p:ext>
            </p:extLst>
          </p:nvPr>
        </p:nvGraphicFramePr>
        <p:xfrm>
          <a:off x="8305801" y="2819400"/>
          <a:ext cx="1523999" cy="1309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5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1"/>
          <p:cNvSpPr txBox="1"/>
          <p:nvPr/>
        </p:nvSpPr>
        <p:spPr>
          <a:xfrm>
            <a:off x="2514600" y="1600200"/>
            <a:ext cx="7098748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4A6D0CF-E44E-FCA8-2272-DB88E1A6F902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EFE76C7B-9642-4EF7-35D1-EC1766271B98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8F528E48-221F-299B-3C7C-4B21842D6F77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B839C018-9219-D9F3-E9F7-70EF483E6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4">
            <a:extLst>
              <a:ext uri="{FF2B5EF4-FFF2-40B4-BE49-F238E27FC236}">
                <a16:creationId xmlns:a16="http://schemas.microsoft.com/office/drawing/2014/main" id="{4E77B9AB-EDCA-AA6A-1561-929C52E5F050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BC6862A3-6815-9AA3-C517-CE5439AF4B9A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2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78379"/>
              </p:ext>
            </p:extLst>
          </p:nvPr>
        </p:nvGraphicFramePr>
        <p:xfrm>
          <a:off x="858098" y="2218464"/>
          <a:ext cx="2900090" cy="2580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x-1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804307"/>
              </p:ext>
            </p:extLst>
          </p:nvPr>
        </p:nvGraphicFramePr>
        <p:xfrm>
          <a:off x="8305801" y="2823433"/>
          <a:ext cx="1523999" cy="1316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1"/>
          <p:cNvSpPr txBox="1"/>
          <p:nvPr/>
        </p:nvSpPr>
        <p:spPr>
          <a:xfrm>
            <a:off x="2332754" y="1752600"/>
            <a:ext cx="6880355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2F4D2C-3D3D-D267-B15E-1588EE53573E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8117DB46-5994-FD17-3464-EA8753FB672A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30FA1542-4B72-493C-B6C7-32B613FFF8BD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ED0269D6-B3C9-8FEA-A219-851E9D178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4">
            <a:extLst>
              <a:ext uri="{FF2B5EF4-FFF2-40B4-BE49-F238E27FC236}">
                <a16:creationId xmlns:a16="http://schemas.microsoft.com/office/drawing/2014/main" id="{B62645D4-8DE6-A506-0A9C-C7F6BE1F33E8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1229DF70-560B-952D-CDF5-37D3C2731D95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9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2. (</a:t>
            </a:r>
            <a:r>
              <a:rPr lang="en-GB" sz="3200" b="1" spc="-127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) 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30018"/>
              </p:ext>
            </p:extLst>
          </p:nvPr>
        </p:nvGraphicFramePr>
        <p:xfrm>
          <a:off x="858096" y="2209800"/>
          <a:ext cx="2900090" cy="2580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x-1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5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r>
                        <a:rPr lang="en-US" sz="1300" b="1" spc="-50" dirty="0">
                          <a:latin typeface="Arial"/>
                          <a:cs typeface="Arial"/>
                        </a:rPr>
                        <a:t>x0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10165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914157"/>
              </p:ext>
            </p:extLst>
          </p:nvPr>
        </p:nvGraphicFramePr>
        <p:xfrm>
          <a:off x="8303019" y="2819400"/>
          <a:ext cx="1523999" cy="1303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1"/>
          <p:cNvSpPr txBox="1"/>
          <p:nvPr/>
        </p:nvSpPr>
        <p:spPr>
          <a:xfrm>
            <a:off x="2332754" y="1619263"/>
            <a:ext cx="6880355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4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sz="1400" spc="-21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400" spc="-24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sz="1400" spc="-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0)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spc="-3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8B18405-2E94-E889-0755-B51880209CC9}"/>
              </a:ext>
            </a:extLst>
          </p:cNvPr>
          <p:cNvSpPr txBox="1"/>
          <p:nvPr/>
        </p:nvSpPr>
        <p:spPr>
          <a:xfrm>
            <a:off x="4488127" y="3347759"/>
            <a:ext cx="13977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6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endParaRPr sz="239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D1E69F0E-E3C1-ECF0-8D9F-AE013604FF2D}"/>
              </a:ext>
            </a:extLst>
          </p:cNvPr>
          <p:cNvSpPr txBox="1"/>
          <p:nvPr/>
        </p:nvSpPr>
        <p:spPr>
          <a:xfrm>
            <a:off x="5412321" y="4455503"/>
            <a:ext cx="144291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18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309731D2-F2C7-0D9E-9544-EBC28E4F0465}"/>
              </a:ext>
            </a:extLst>
          </p:cNvPr>
          <p:cNvSpPr txBox="1"/>
          <p:nvPr/>
        </p:nvSpPr>
        <p:spPr>
          <a:xfrm>
            <a:off x="7620000" y="3347758"/>
            <a:ext cx="198308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395" b="1" spc="-3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endParaRPr sz="2395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B5537E65-0176-21DA-4422-5EDB6EC1C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72375"/>
              </p:ext>
            </p:extLst>
          </p:nvPr>
        </p:nvGraphicFramePr>
        <p:xfrm>
          <a:off x="5138888" y="2727693"/>
          <a:ext cx="1716352" cy="152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0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6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4">
            <a:extLst>
              <a:ext uri="{FF2B5EF4-FFF2-40B4-BE49-F238E27FC236}">
                <a16:creationId xmlns:a16="http://schemas.microsoft.com/office/drawing/2014/main" id="{DB625ADB-D3C0-CEE7-7B50-524430188A79}"/>
              </a:ext>
            </a:extLst>
          </p:cNvPr>
          <p:cNvSpPr txBox="1"/>
          <p:nvPr/>
        </p:nvSpPr>
        <p:spPr>
          <a:xfrm>
            <a:off x="1828800" y="5059532"/>
            <a:ext cx="1219200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400" spc="82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6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0660F6F6-7725-CEB1-6357-1A8B79BBB0EF}"/>
              </a:ext>
            </a:extLst>
          </p:cNvPr>
          <p:cNvSpPr txBox="1"/>
          <p:nvPr/>
        </p:nvSpPr>
        <p:spPr>
          <a:xfrm>
            <a:off x="8244043" y="4452119"/>
            <a:ext cx="1834859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740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3" name="object 2"/>
          <p:cNvSpPr txBox="1"/>
          <p:nvPr/>
        </p:nvSpPr>
        <p:spPr>
          <a:xfrm>
            <a:off x="428649" y="1981200"/>
            <a:ext cx="6353151" cy="42832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756285" algn="l"/>
                <a:tab pos="1842770" algn="l"/>
                <a:tab pos="2897505" algn="l"/>
                <a:tab pos="3810635" algn="l"/>
                <a:tab pos="4935220" algn="l"/>
                <a:tab pos="6093460" algn="l"/>
              </a:tabLst>
            </a:pPr>
            <a:r>
              <a:rPr sz="1600" spc="75" dirty="0">
                <a:latin typeface="Calibri" panose="020F0502020204030204" pitchFamily="34" charset="0"/>
                <a:cs typeface="Calibri" panose="020F0502020204030204" pitchFamily="34" charset="0"/>
              </a:rPr>
              <a:t>Extracts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(edges,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textures,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patterns)</a:t>
            </a:r>
            <a:r>
              <a:rPr lang="en-US"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n-US"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filters.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Preserves</a:t>
            </a:r>
            <a:r>
              <a:rPr sz="16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spatial</a:t>
            </a:r>
            <a:r>
              <a:rPr sz="16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structure.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marR="5080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Activation</a:t>
            </a:r>
            <a:r>
              <a:rPr sz="16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sz="16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(e.g.,</a:t>
            </a:r>
            <a:r>
              <a:rPr sz="16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125" dirty="0">
                <a:latin typeface="Calibri" panose="020F0502020204030204" pitchFamily="34" charset="0"/>
                <a:cs typeface="Calibri" panose="020F0502020204030204" pitchFamily="34" charset="0"/>
              </a:rPr>
              <a:t>ReLU)</a:t>
            </a:r>
            <a:r>
              <a:rPr sz="16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16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applied</a:t>
            </a:r>
            <a:r>
              <a:rPr sz="1600" spc="3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after</a:t>
            </a:r>
            <a:r>
              <a:rPr sz="1600" spc="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layer.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spc="85" dirty="0">
                <a:latin typeface="Calibri" panose="020F0502020204030204" pitchFamily="34" charset="0"/>
                <a:cs typeface="Calibri" panose="020F0502020204030204" pitchFamily="34" charset="0"/>
              </a:rPr>
              <a:t>Helps</a:t>
            </a:r>
            <a:r>
              <a:rPr sz="16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sz="16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sz="1600" spc="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patterns.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AutoNum type="arabicParenR" startAt="2"/>
              <a:tabLst>
                <a:tab pos="354965" algn="l"/>
              </a:tabLst>
            </a:pPr>
            <a:r>
              <a:rPr sz="1600" b="1" spc="125" dirty="0"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  <a:r>
              <a:rPr sz="1600" b="1" spc="130" dirty="0">
                <a:latin typeface="Calibri" panose="020F0502020204030204" pitchFamily="34" charset="0"/>
                <a:cs typeface="Calibri" panose="020F0502020204030204" pitchFamily="34" charset="0"/>
              </a:rPr>
              <a:t> Layer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sz="16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dimensionality</a:t>
            </a:r>
            <a:r>
              <a:rPr sz="16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sz="1600" spc="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retaining</a:t>
            </a:r>
            <a:r>
              <a:rPr sz="1600" spc="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z="1600" spc="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features.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12165" lvl="1" indent="-3429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812165" algn="l"/>
              </a:tabLst>
            </a:pPr>
            <a:r>
              <a:rPr sz="1600" b="1" spc="145" dirty="0">
                <a:latin typeface="Calibri" panose="020F0502020204030204" pitchFamily="34" charset="0"/>
                <a:cs typeface="Calibri" panose="020F0502020204030204" pitchFamily="34" charset="0"/>
              </a:rPr>
              <a:t>Common </a:t>
            </a:r>
            <a:r>
              <a:rPr sz="1600" b="1" spc="85" dirty="0">
                <a:latin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sz="1600" spc="85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sz="1600" spc="1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145" dirty="0"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sz="16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Pooling,</a:t>
            </a:r>
            <a:r>
              <a:rPr sz="16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sz="16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Pooling.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AutoNum type="arabicParenR" startAt="2"/>
              <a:tabLst>
                <a:tab pos="354965" algn="l"/>
              </a:tabLst>
            </a:pPr>
            <a:r>
              <a:rPr sz="1600" b="1" spc="155" dirty="0">
                <a:latin typeface="Calibri" panose="020F0502020204030204" pitchFamily="34" charset="0"/>
                <a:cs typeface="Calibri" panose="020F0502020204030204" pitchFamily="34" charset="0"/>
              </a:rPr>
              <a:t>Fully</a:t>
            </a:r>
            <a:r>
              <a:rPr sz="1600" b="1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135" dirty="0">
                <a:latin typeface="Calibri" panose="020F0502020204030204" pitchFamily="34" charset="0"/>
                <a:cs typeface="Calibri" panose="020F0502020204030204" pitchFamily="34" charset="0"/>
              </a:rPr>
              <a:t>Connected </a:t>
            </a:r>
            <a:r>
              <a:rPr sz="1600" b="1" spc="70" dirty="0">
                <a:latin typeface="Calibri" panose="020F0502020204030204" pitchFamily="34" charset="0"/>
                <a:cs typeface="Calibri" panose="020F0502020204030204" pitchFamily="34" charset="0"/>
              </a:rPr>
              <a:t>(Dense)</a:t>
            </a:r>
            <a:r>
              <a:rPr sz="1600" b="1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130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spc="90" dirty="0">
                <a:latin typeface="Calibri" panose="020F0502020204030204" pitchFamily="34" charset="0"/>
                <a:cs typeface="Calibri" panose="020F0502020204030204" pitchFamily="34" charset="0"/>
              </a:rPr>
              <a:t>Flattens</a:t>
            </a:r>
            <a:r>
              <a:rPr sz="1600" spc="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6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maps</a:t>
            </a:r>
            <a:r>
              <a:rPr sz="16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5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600" spc="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connects</a:t>
            </a:r>
            <a:r>
              <a:rPr sz="1600" spc="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1600" spc="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600" spc="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neurons.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spc="95" dirty="0">
                <a:latin typeface="Calibri" panose="020F0502020204030204" pitchFamily="34" charset="0"/>
                <a:cs typeface="Calibri" panose="020F0502020204030204" pitchFamily="34" charset="0"/>
              </a:rPr>
              <a:t>Used</a:t>
            </a:r>
            <a:r>
              <a:rPr sz="16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6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classification</a:t>
            </a:r>
            <a:r>
              <a:rPr sz="1600" spc="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5" dirty="0">
                <a:latin typeface="Calibri" panose="020F0502020204030204" pitchFamily="34" charset="0"/>
                <a:cs typeface="Calibri" panose="020F0502020204030204" pitchFamily="34" charset="0"/>
              </a:rPr>
              <a:t>tasks.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AutoNum type="arabicParenR" startAt="2"/>
              <a:tabLst>
                <a:tab pos="354965" algn="l"/>
              </a:tabLst>
            </a:pPr>
            <a:r>
              <a:rPr sz="1600" b="1" spc="140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sz="1600" b="1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130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6285" marR="69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Produces</a:t>
            </a:r>
            <a:r>
              <a:rPr sz="1600" spc="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80" dirty="0">
                <a:latin typeface="Calibri" panose="020F0502020204030204" pitchFamily="34" charset="0"/>
                <a:cs typeface="Calibri" panose="020F0502020204030204" pitchFamily="34" charset="0"/>
              </a:rPr>
              <a:t>final</a:t>
            </a:r>
            <a:r>
              <a:rPr sz="1600" spc="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predictions</a:t>
            </a:r>
            <a:r>
              <a:rPr sz="1600" spc="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(e.g.,</a:t>
            </a:r>
            <a:r>
              <a:rPr sz="1600" spc="3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80" dirty="0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sz="1600" spc="3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1600" spc="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multi-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class </a:t>
            </a:r>
            <a:r>
              <a:rPr sz="1600" spc="40" dirty="0">
                <a:latin typeface="Calibri" panose="020F0502020204030204" pitchFamily="34" charset="0"/>
                <a:cs typeface="Calibri" panose="020F0502020204030204" pitchFamily="34" charset="0"/>
              </a:rPr>
              <a:t>classification).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84" name="object 4"/>
          <p:cNvSpPr txBox="1"/>
          <p:nvPr/>
        </p:nvSpPr>
        <p:spPr>
          <a:xfrm>
            <a:off x="428650" y="914400"/>
            <a:ext cx="6685280" cy="997709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90"/>
              </a:spcBef>
              <a:tabLst>
                <a:tab pos="802005" algn="l"/>
                <a:tab pos="1679575" algn="l"/>
                <a:tab pos="2018030" algn="l"/>
                <a:tab pos="3316604" algn="l"/>
                <a:tab pos="4107815" algn="l"/>
                <a:tab pos="4700905" algn="l"/>
                <a:tab pos="5897245" algn="l"/>
              </a:tabLst>
            </a:pPr>
            <a:r>
              <a:rPr sz="1600" spc="175" dirty="0">
                <a:latin typeface="Calibri" panose="020F0502020204030204" pitchFamily="34" charset="0"/>
                <a:cs typeface="Calibri" panose="020F0502020204030204" pitchFamily="34" charset="0"/>
              </a:rPr>
              <a:t>CNNs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consist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-25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35" dirty="0">
                <a:latin typeface="Calibri" panose="020F0502020204030204" pitchFamily="34" charset="0"/>
                <a:cs typeface="Calibri" panose="020F0502020204030204" pitchFamily="34" charset="0"/>
              </a:rPr>
              <a:t>specialized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45" dirty="0">
                <a:latin typeface="Calibri" panose="020F0502020204030204" pitchFamily="34" charset="0"/>
                <a:cs typeface="Calibri" panose="020F0502020204030204" pitchFamily="34" charset="0"/>
              </a:rPr>
              <a:t>layers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75" dirty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40" dirty="0">
                <a:latin typeface="Calibri" panose="020F0502020204030204" pitchFamily="34" charset="0"/>
                <a:cs typeface="Calibri" panose="020F0502020204030204" pitchFamily="34" charset="0"/>
              </a:rPr>
              <a:t>efficiently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process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spatial</a:t>
            </a:r>
            <a:r>
              <a:rPr sz="1600" spc="1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8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600" spc="1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like</a:t>
            </a:r>
            <a:r>
              <a:rPr sz="16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images.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b="1" dirty="0">
                <a:latin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sz="1600" b="1" spc="6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z="1600" b="1" spc="125" dirty="0">
                <a:latin typeface="Calibri" panose="020F0502020204030204" pitchFamily="34" charset="0"/>
                <a:cs typeface="Calibri" panose="020F0502020204030204" pitchFamily="34" charset="0"/>
              </a:rPr>
              <a:t>Convolutional</a:t>
            </a:r>
            <a:r>
              <a:rPr sz="1600" b="1" spc="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130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99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51057" y="1055865"/>
            <a:ext cx="3160762" cy="3651171"/>
          </a:xfrm>
          <a:prstGeom prst="rect">
            <a:avLst/>
          </a:prstGeom>
        </p:spPr>
      </p:pic>
      <p:sp>
        <p:nvSpPr>
          <p:cNvPr id="1049185" name="Rectangle 6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3. Types of Layers</a:t>
            </a:r>
          </a:p>
        </p:txBody>
      </p:sp>
      <p:sp>
        <p:nvSpPr>
          <p:cNvPr id="1049186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2BD34-87EA-A477-F08F-3663AAB7A2DC}"/>
              </a:ext>
            </a:extLst>
          </p:cNvPr>
          <p:cNvSpPr txBox="1"/>
          <p:nvPr/>
        </p:nvSpPr>
        <p:spPr>
          <a:xfrm>
            <a:off x="6934200" y="4766706"/>
            <a:ext cx="2643874" cy="178510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Flatten layer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Flatten layer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in a CNN converts the learned information into a single long list of numbers.</a:t>
            </a:r>
          </a:p>
          <a:p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Suppose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a CNN produces these values: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[1, 2, 3]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[4, 5, 6]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Flatten layer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converts them into one long list: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[1, 2, 3, 4, 5, 6]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Then this list is passed to the </a:t>
            </a: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Fully Connected (Dense) Layer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for classification.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8" name="Rectangle 6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3. Types of Layers (Example)</a:t>
            </a:r>
          </a:p>
        </p:txBody>
      </p:sp>
      <p:pic>
        <p:nvPicPr>
          <p:cNvPr id="2097200" name="Picture 4" descr="Neural network types - Questions and Answers ​in MR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64" y="1219200"/>
            <a:ext cx="11833674" cy="3886200"/>
          </a:xfrm>
          <a:prstGeom prst="rect">
            <a:avLst/>
          </a:prstGeom>
        </p:spPr>
      </p:pic>
      <p:sp>
        <p:nvSpPr>
          <p:cNvPr id="1049189" name="TextBox 10"/>
          <p:cNvSpPr txBox="1"/>
          <p:nvPr/>
        </p:nvSpPr>
        <p:spPr>
          <a:xfrm>
            <a:off x="-3075" y="5533888"/>
            <a:ext cx="526087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CNNs automatically learn visual features—from simple edges to complex objects—directly from images.</a:t>
            </a:r>
          </a:p>
        </p:txBody>
      </p:sp>
      <p:sp>
        <p:nvSpPr>
          <p:cNvPr id="1049190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18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61399-0E80-037B-80BB-31FC420427A5}"/>
              </a:ext>
            </a:extLst>
          </p:cNvPr>
          <p:cNvSpPr txBox="1"/>
          <p:nvPr/>
        </p:nvSpPr>
        <p:spPr>
          <a:xfrm>
            <a:off x="5486400" y="5181600"/>
            <a:ext cx="6680910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Flatten layer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converts a multi-dimensional feature map into a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single one-dimensional vector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For example: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2D feature maps → 1D vector → Fully Connected Layer → Output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 simple words: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Flatten prepares the CNN features for classification.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</a:t>
            </a:r>
            <a:r>
              <a:rPr lang="en-GB" sz="3200" b="1" spc="-49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) Max Pooling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19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F3C747C-2BEF-1C43-00C4-15448ABFA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7911"/>
              </p:ext>
            </p:extLst>
          </p:nvPr>
        </p:nvGraphicFramePr>
        <p:xfrm>
          <a:off x="6515100" y="2155324"/>
          <a:ext cx="30480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3</a:t>
                      </a: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Equal 16">
            <a:extLst>
              <a:ext uri="{FF2B5EF4-FFF2-40B4-BE49-F238E27FC236}">
                <a16:creationId xmlns:a16="http://schemas.microsoft.com/office/drawing/2014/main" id="{9D8BD9A1-DACC-B524-24A6-F884D87173F5}"/>
              </a:ext>
            </a:extLst>
          </p:cNvPr>
          <p:cNvSpPr/>
          <p:nvPr/>
        </p:nvSpPr>
        <p:spPr>
          <a:xfrm>
            <a:off x="9677400" y="3295650"/>
            <a:ext cx="381000" cy="266700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8D1127B-5C6B-AD3E-2DBD-9522072FE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916947"/>
              </p:ext>
            </p:extLst>
          </p:nvPr>
        </p:nvGraphicFramePr>
        <p:xfrm>
          <a:off x="10287000" y="2760712"/>
          <a:ext cx="1676402" cy="1295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1">
                  <a:extLst>
                    <a:ext uri="{9D8B030D-6E8A-4147-A177-3AD203B41FA5}">
                      <a16:colId xmlns:a16="http://schemas.microsoft.com/office/drawing/2014/main" val="2541975245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589189390"/>
                    </a:ext>
                  </a:extLst>
                </a:gridCol>
              </a:tblGrid>
              <a:tr h="5966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2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03812"/>
                  </a:ext>
                </a:extLst>
              </a:tr>
              <a:tr h="6987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34321"/>
                  </a:ext>
                </a:extLst>
              </a:tr>
            </a:tbl>
          </a:graphicData>
        </a:graphic>
      </p:graphicFrame>
      <p:sp>
        <p:nvSpPr>
          <p:cNvPr id="17" name="object 6">
            <a:extLst>
              <a:ext uri="{FF2B5EF4-FFF2-40B4-BE49-F238E27FC236}">
                <a16:creationId xmlns:a16="http://schemas.microsoft.com/office/drawing/2014/main" id="{85C69F96-DA9D-7E18-5B21-A4DFF67B1D56}"/>
              </a:ext>
            </a:extLst>
          </p:cNvPr>
          <p:cNvSpPr txBox="1"/>
          <p:nvPr/>
        </p:nvSpPr>
        <p:spPr>
          <a:xfrm>
            <a:off x="7588776" y="4758128"/>
            <a:ext cx="15710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0574BB-2F16-9A0A-9B6C-D04B1A691CD8}"/>
              </a:ext>
            </a:extLst>
          </p:cNvPr>
          <p:cNvSpPr txBox="1"/>
          <p:nvPr/>
        </p:nvSpPr>
        <p:spPr>
          <a:xfrm>
            <a:off x="436244" y="1537672"/>
            <a:ext cx="55835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Max Pooling: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down sampling (subsampling) operation used in Convolutional Neural Networks (CNNs) to reduce the spatial dimensions (width and height) of feature maps while retaining the most dominant features.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D7AC6-D810-0988-EABB-E644EF3FF02D}"/>
                  </a:ext>
                </a:extLst>
              </p:cNvPr>
              <p:cNvSpPr txBox="1"/>
              <p:nvPr/>
            </p:nvSpPr>
            <p:spPr>
              <a:xfrm>
                <a:off x="381000" y="4609889"/>
                <a:ext cx="544068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b="1"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 dirty="0"/>
                  <a:t>How It Works: </a:t>
                </a:r>
                <a:r>
                  <a:rPr lang="en-US" b="0" dirty="0"/>
                  <a:t>A sliding window (e.g., </a:t>
                </a:r>
                <a14:m>
                  <m:oMath xmlns:m="http://schemas.openxmlformats.org/officeDocument/2006/math">
                    <m:r>
                      <a:rPr lang="en-US" b="0">
                        <a:latin typeface="Cambria Math" panose="02040503050406030204" pitchFamily="18" charset="0"/>
                      </a:rPr>
                      <m:t>2×2</m:t>
                    </m:r>
                  </m:oMath>
                </a14:m>
                <a:r>
                  <a:rPr lang="en-US" b="0" dirty="0"/>
                  <a:t>) moves across the feature map. At each position, it selects the maximum value within that window and discards the rest.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D7AC6-D810-0988-EABB-E644EF3FF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609889"/>
                <a:ext cx="5440680" cy="1200329"/>
              </a:xfrm>
              <a:prstGeom prst="rect">
                <a:avLst/>
              </a:prstGeom>
              <a:blipFill>
                <a:blip r:embed="rId3"/>
                <a:stretch>
                  <a:fillRect l="-1009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83F94F1-2F9A-1601-B4EE-DA458286C7B5}"/>
              </a:ext>
            </a:extLst>
          </p:cNvPr>
          <p:cNvSpPr txBox="1"/>
          <p:nvPr/>
        </p:nvSpPr>
        <p:spPr>
          <a:xfrm>
            <a:off x="529014" y="2994608"/>
            <a:ext cx="53980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Primary Purposes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Dimensionality Reduction:</a:t>
            </a:r>
            <a:r>
              <a:rPr lang="en-US" sz="1200" dirty="0"/>
              <a:t> Shrinks feature map size to reduce computation and memory usage.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Translation Invariance:</a:t>
            </a:r>
            <a:r>
              <a:rPr lang="en-US" sz="1200" dirty="0"/>
              <a:t> Keeps features detectable despite minor shifts or distortions.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Overfitting Prevention:</a:t>
            </a:r>
            <a:r>
              <a:rPr lang="en-US" sz="1200" dirty="0"/>
              <a:t> Reduces spatial resolution to prevent memorizing pixel-level noise.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176FCF-0138-E868-869A-C3BE9A529F92}"/>
                  </a:ext>
                </a:extLst>
              </p:cNvPr>
              <p:cNvSpPr txBox="1"/>
              <p:nvPr/>
            </p:nvSpPr>
            <p:spPr>
              <a:xfrm>
                <a:off x="6395146" y="5360368"/>
                <a:ext cx="525780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Input: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 Feature Map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Operation: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Max Pooling (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×2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pool size, Stride = 1)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Padding 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0</a:t>
                </a:r>
                <a:endParaRPr lang="en-US" sz="1600" dirty="0"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Output:</a:t>
                </a:r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Pooled Feature Map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176FCF-0138-E868-869A-C3BE9A529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146" y="5360368"/>
                <a:ext cx="5257800" cy="1077218"/>
              </a:xfrm>
              <a:prstGeom prst="rect">
                <a:avLst/>
              </a:prstGeom>
              <a:blipFill>
                <a:blip r:embed="rId4"/>
                <a:stretch>
                  <a:fillRect l="-463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bject 6">
            <a:extLst>
              <a:ext uri="{FF2B5EF4-FFF2-40B4-BE49-F238E27FC236}">
                <a16:creationId xmlns:a16="http://schemas.microsoft.com/office/drawing/2014/main" id="{4E8A4083-3860-B652-9687-71BF032263A7}"/>
              </a:ext>
            </a:extLst>
          </p:cNvPr>
          <p:cNvSpPr txBox="1"/>
          <p:nvPr/>
        </p:nvSpPr>
        <p:spPr>
          <a:xfrm>
            <a:off x="10834969" y="4210531"/>
            <a:ext cx="5804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Output</a:t>
            </a:r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3B0B36-AC62-EB48-5632-A903F03E71C3}"/>
              </a:ext>
            </a:extLst>
          </p:cNvPr>
          <p:cNvSpPr txBox="1"/>
          <p:nvPr/>
        </p:nvSpPr>
        <p:spPr>
          <a:xfrm>
            <a:off x="436244" y="6367790"/>
            <a:ext cx="6217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5"/>
              </a:rPr>
              <a:t>https://www.geeksforgeeks.org/deep-learning/introduction-to-pooling-layer-cnn/</a:t>
            </a:r>
            <a:endParaRPr 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764D7F-1D75-9B3E-5969-B55FD1EDA8A6}"/>
              </a:ext>
            </a:extLst>
          </p:cNvPr>
          <p:cNvSpPr txBox="1"/>
          <p:nvPr/>
        </p:nvSpPr>
        <p:spPr>
          <a:xfrm>
            <a:off x="658431" y="5986643"/>
            <a:ext cx="5257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6"/>
              </a:rPr>
              <a:t>https://www.sciencedirect.com/topics/computer-science/average-pooling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42311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252C-0903-FDE4-F82E-B20C2BA3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708137-8A46-DD69-0248-C9848DD3A9D9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</a:t>
            </a:r>
            <a:r>
              <a:rPr lang="en-GB" sz="3200" b="1" spc="-49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) Max Pooling Operation 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A1597EC-1D48-0303-27E0-1A4DB5D6BC1D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79559689-4569-7A46-6BCA-8FF0FD568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090079"/>
              </p:ext>
            </p:extLst>
          </p:nvPr>
        </p:nvGraphicFramePr>
        <p:xfrm>
          <a:off x="609600" y="2133600"/>
          <a:ext cx="30480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Equal 1">
            <a:extLst>
              <a:ext uri="{FF2B5EF4-FFF2-40B4-BE49-F238E27FC236}">
                <a16:creationId xmlns:a16="http://schemas.microsoft.com/office/drawing/2014/main" id="{98785DD5-7D56-60DB-21D2-393D5500F85D}"/>
              </a:ext>
            </a:extLst>
          </p:cNvPr>
          <p:cNvSpPr/>
          <p:nvPr/>
        </p:nvSpPr>
        <p:spPr>
          <a:xfrm>
            <a:off x="5410200" y="3429000"/>
            <a:ext cx="381000" cy="266700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01D4D4-1FC4-CD2B-CC15-82B0C3FB2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34686"/>
              </p:ext>
            </p:extLst>
          </p:nvPr>
        </p:nvGraphicFramePr>
        <p:xfrm>
          <a:off x="6172200" y="2743200"/>
          <a:ext cx="1676402" cy="1295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1">
                  <a:extLst>
                    <a:ext uri="{9D8B030D-6E8A-4147-A177-3AD203B41FA5}">
                      <a16:colId xmlns:a16="http://schemas.microsoft.com/office/drawing/2014/main" val="2541975245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589189390"/>
                    </a:ext>
                  </a:extLst>
                </a:gridCol>
              </a:tblGrid>
              <a:tr h="596603">
                <a:tc>
                  <a:txBody>
                    <a:bodyPr/>
                    <a:lstStyle/>
                    <a:p>
                      <a:r>
                        <a:rPr lang="en-US" dirty="0"/>
                        <a:t>  2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703812"/>
                  </a:ext>
                </a:extLst>
              </a:tr>
              <a:tr h="69879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734321"/>
                  </a:ext>
                </a:extLst>
              </a:tr>
            </a:tbl>
          </a:graphicData>
        </a:graphic>
      </p:graphicFrame>
      <p:sp>
        <p:nvSpPr>
          <p:cNvPr id="9" name="object 6">
            <a:extLst>
              <a:ext uri="{FF2B5EF4-FFF2-40B4-BE49-F238E27FC236}">
                <a16:creationId xmlns:a16="http://schemas.microsoft.com/office/drawing/2014/main" id="{3A1CA425-5065-2817-D8C2-47A8C08AB313}"/>
              </a:ext>
            </a:extLst>
          </p:cNvPr>
          <p:cNvSpPr txBox="1"/>
          <p:nvPr/>
        </p:nvSpPr>
        <p:spPr>
          <a:xfrm>
            <a:off x="1348068" y="4824803"/>
            <a:ext cx="15710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E845F104-DA1D-626E-A4A6-D78E4F91A388}"/>
              </a:ext>
            </a:extLst>
          </p:cNvPr>
          <p:cNvSpPr txBox="1"/>
          <p:nvPr/>
        </p:nvSpPr>
        <p:spPr>
          <a:xfrm>
            <a:off x="6477002" y="4267200"/>
            <a:ext cx="15710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Output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19EB3D-7C72-848C-F8D8-1337F4058CFA}"/>
              </a:ext>
            </a:extLst>
          </p:cNvPr>
          <p:cNvSpPr/>
          <p:nvPr/>
        </p:nvSpPr>
        <p:spPr>
          <a:xfrm>
            <a:off x="2919131" y="1151542"/>
            <a:ext cx="53170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Max Pooling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takes the </a:t>
            </a:r>
            <a:r>
              <a:rPr lang="en-GB" sz="2400" i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value</a:t>
            </a:r>
            <a:endParaRPr lang="en-GB" sz="2400" b="0" i="0" dirty="0">
              <a:solidFill>
                <a:srgbClr val="24242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46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</a:t>
            </a:r>
            <a:r>
              <a:rPr lang="en-GB" sz="3200" b="1" spc="-49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) Max Pooling 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021674"/>
              </p:ext>
            </p:extLst>
          </p:nvPr>
        </p:nvGraphicFramePr>
        <p:xfrm>
          <a:off x="609600" y="2133600"/>
          <a:ext cx="30480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8F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Equal 10"/>
          <p:cNvSpPr/>
          <p:nvPr/>
        </p:nvSpPr>
        <p:spPr>
          <a:xfrm>
            <a:off x="4572000" y="3086100"/>
            <a:ext cx="381000" cy="266700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138325"/>
              </p:ext>
            </p:extLst>
          </p:nvPr>
        </p:nvGraphicFramePr>
        <p:xfrm>
          <a:off x="6477000" y="2514600"/>
          <a:ext cx="1676402" cy="1295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1">
                  <a:extLst>
                    <a:ext uri="{9D8B030D-6E8A-4147-A177-3AD203B41FA5}">
                      <a16:colId xmlns:a16="http://schemas.microsoft.com/office/drawing/2014/main" val="2541975245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589189390"/>
                    </a:ext>
                  </a:extLst>
                </a:gridCol>
              </a:tblGrid>
              <a:tr h="596603">
                <a:tc>
                  <a:txBody>
                    <a:bodyPr/>
                    <a:lstStyle/>
                    <a:p>
                      <a:r>
                        <a:rPr lang="en-US" dirty="0"/>
                        <a:t>  2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03812"/>
                  </a:ext>
                </a:extLst>
              </a:tr>
              <a:tr h="69879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73432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438400" y="1253728"/>
            <a:ext cx="53170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Max Pooling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takes the </a:t>
            </a:r>
            <a:r>
              <a:rPr lang="en-GB" sz="2400" i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value</a:t>
            </a:r>
            <a:endParaRPr lang="en-GB" sz="2400" b="0" i="0" dirty="0">
              <a:solidFill>
                <a:srgbClr val="24242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1348068" y="4906171"/>
            <a:ext cx="15710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62863508-9536-0354-618A-1FEE7A56BD28}"/>
              </a:ext>
            </a:extLst>
          </p:cNvPr>
          <p:cNvSpPr txBox="1"/>
          <p:nvPr/>
        </p:nvSpPr>
        <p:spPr>
          <a:xfrm>
            <a:off x="6963337" y="3886200"/>
            <a:ext cx="5804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Output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6480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</a:t>
            </a:r>
            <a:r>
              <a:rPr lang="en-GB" sz="3200" b="1" spc="-49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) Max Pooling 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22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485844"/>
              </p:ext>
            </p:extLst>
          </p:nvPr>
        </p:nvGraphicFramePr>
        <p:xfrm>
          <a:off x="609600" y="2133600"/>
          <a:ext cx="30480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Equal 13"/>
          <p:cNvSpPr/>
          <p:nvPr/>
        </p:nvSpPr>
        <p:spPr>
          <a:xfrm>
            <a:off x="4572000" y="3086100"/>
            <a:ext cx="381000" cy="266700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14384"/>
              </p:ext>
            </p:extLst>
          </p:nvPr>
        </p:nvGraphicFramePr>
        <p:xfrm>
          <a:off x="6477000" y="2667000"/>
          <a:ext cx="1676402" cy="1295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1">
                  <a:extLst>
                    <a:ext uri="{9D8B030D-6E8A-4147-A177-3AD203B41FA5}">
                      <a16:colId xmlns:a16="http://schemas.microsoft.com/office/drawing/2014/main" val="2541975245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589189390"/>
                    </a:ext>
                  </a:extLst>
                </a:gridCol>
              </a:tblGrid>
              <a:tr h="596603">
                <a:tc>
                  <a:txBody>
                    <a:bodyPr/>
                    <a:lstStyle/>
                    <a:p>
                      <a:r>
                        <a:rPr lang="en-US" dirty="0"/>
                        <a:t>  2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03812"/>
                  </a:ext>
                </a:extLst>
              </a:tr>
              <a:tr h="69879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3432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438400" y="1253728"/>
            <a:ext cx="53170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Max Pooling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takes the </a:t>
            </a:r>
            <a:r>
              <a:rPr lang="en-GB" sz="2400" i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value</a:t>
            </a:r>
            <a:endParaRPr lang="en-GB" sz="2400" b="0" i="0" dirty="0">
              <a:solidFill>
                <a:srgbClr val="24242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1348068" y="4906171"/>
            <a:ext cx="15710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91F47F17-AE40-D853-BBB7-FD69A028976C}"/>
              </a:ext>
            </a:extLst>
          </p:cNvPr>
          <p:cNvSpPr txBox="1"/>
          <p:nvPr/>
        </p:nvSpPr>
        <p:spPr>
          <a:xfrm>
            <a:off x="6963337" y="4042035"/>
            <a:ext cx="5804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Output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1756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</a:t>
            </a:r>
            <a:r>
              <a:rPr lang="en-GB" sz="3200" b="1" spc="-49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) Max Pooling 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23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551552"/>
              </p:ext>
            </p:extLst>
          </p:nvPr>
        </p:nvGraphicFramePr>
        <p:xfrm>
          <a:off x="609600" y="2133600"/>
          <a:ext cx="30480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300" b="1" spc="3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3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2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300" b="1" spc="-50" dirty="0">
                          <a:latin typeface="Arial"/>
                          <a:cs typeface="Arial"/>
                        </a:rPr>
                        <a:t>1</a:t>
                      </a:r>
                      <a:endParaRPr sz="1300" dirty="0">
                        <a:latin typeface="Arial"/>
                        <a:cs typeface="Arial"/>
                      </a:endParaRPr>
                    </a:p>
                  </a:txBody>
                  <a:tcPr marL="0" marR="0" marT="9511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Equal 16"/>
          <p:cNvSpPr/>
          <p:nvPr/>
        </p:nvSpPr>
        <p:spPr>
          <a:xfrm>
            <a:off x="4572000" y="3086100"/>
            <a:ext cx="381000" cy="266700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42259"/>
              </p:ext>
            </p:extLst>
          </p:nvPr>
        </p:nvGraphicFramePr>
        <p:xfrm>
          <a:off x="6477000" y="2667000"/>
          <a:ext cx="1676402" cy="1295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1">
                  <a:extLst>
                    <a:ext uri="{9D8B030D-6E8A-4147-A177-3AD203B41FA5}">
                      <a16:colId xmlns:a16="http://schemas.microsoft.com/office/drawing/2014/main" val="2541975245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589189390"/>
                    </a:ext>
                  </a:extLst>
                </a:gridCol>
              </a:tblGrid>
              <a:tr h="596603">
                <a:tc>
                  <a:txBody>
                    <a:bodyPr/>
                    <a:lstStyle/>
                    <a:p>
                      <a:r>
                        <a:rPr lang="en-US" dirty="0"/>
                        <a:t>  2</a:t>
                      </a:r>
                      <a:endParaRPr lang="en-GB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03812"/>
                  </a:ext>
                </a:extLst>
              </a:tr>
              <a:tr h="69879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34321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438400" y="1253728"/>
            <a:ext cx="53170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Max Pooling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takes the </a:t>
            </a:r>
            <a:r>
              <a:rPr lang="en-GB" sz="2400" i="1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</a:t>
            </a:r>
            <a:r>
              <a:rPr lang="en-GB" sz="2400" dirty="0">
                <a:solidFill>
                  <a:srgbClr val="2424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value</a:t>
            </a:r>
            <a:endParaRPr lang="en-GB" sz="2400" b="0" i="0" dirty="0">
              <a:solidFill>
                <a:srgbClr val="24242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6"/>
          <p:cNvSpPr txBox="1"/>
          <p:nvPr/>
        </p:nvSpPr>
        <p:spPr>
          <a:xfrm>
            <a:off x="1348068" y="4906171"/>
            <a:ext cx="15710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400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sz="1400" spc="4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15" dirty="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1574B942-BC3F-5D06-2097-053BCCDAEC1E}"/>
              </a:ext>
            </a:extLst>
          </p:cNvPr>
          <p:cNvSpPr txBox="1"/>
          <p:nvPr/>
        </p:nvSpPr>
        <p:spPr>
          <a:xfrm>
            <a:off x="6963337" y="4042035"/>
            <a:ext cx="5804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Output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0359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A36B-87B9-9765-736B-F8537642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CAA85B-1EBE-6361-ED01-B8270410668B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329ECE1-84E5-2696-4822-0F240AF5CB58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41990C-D6DE-8729-FAC6-568BC97EAB5D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6C98A16-8410-8864-2C65-D6E08A6F738D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123BA2-799C-EA6D-B93F-0EF56DF150AE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7BF5B5D-1915-F2D5-E7ED-A955A1140E01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EDD7B1-C45E-0296-26FF-454A48DD1D44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(ii)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4345EC5-8B6F-949E-720A-3E7CBF826163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A5A244-42CA-6FE3-64E5-CBC311F840C1}"/>
              </a:ext>
            </a:extLst>
          </p:cNvPr>
          <p:cNvSpPr txBox="1"/>
          <p:nvPr/>
        </p:nvSpPr>
        <p:spPr>
          <a:xfrm>
            <a:off x="162560" y="1143000"/>
            <a:ext cx="6324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Average pooling: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a down sampling operation that reduces the spatial dimensions (width and height) of a feature map by calculating the arithmetic mean of values within a sliding window.</a:t>
            </a:r>
          </a:p>
          <a:p>
            <a:pPr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Core Concept: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Unlike Max Pooling (which selects the highest value in a region), Average Pooling calculates the average intensity across all pixels inside the pool window.</a:t>
            </a:r>
          </a:p>
          <a:p>
            <a:pPr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Key Properties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Smooth Feature Extraction: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Blurs extreme activations, keeping overall background context rather than just sharp edges or maximum spikes.</a:t>
            </a:r>
          </a:p>
          <a:p>
            <a:pPr lvl="0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Parameter-Free: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Operates deterministically (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fixed rule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without any trainable weights or biases.</a:t>
            </a:r>
          </a:p>
        </p:txBody>
      </p:sp>
      <p:pic>
        <p:nvPicPr>
          <p:cNvPr id="24" name="Picture 23" descr="Pooling and their types in CNN. Pooling is a fundamental operation in… | by  Abhishek Jain | Medium">
            <a:extLst>
              <a:ext uri="{FF2B5EF4-FFF2-40B4-BE49-F238E27FC236}">
                <a16:creationId xmlns:a16="http://schemas.microsoft.com/office/drawing/2014/main" id="{55B78393-1E7A-B571-A656-D79FC0DA4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712720"/>
            <a:ext cx="5257800" cy="2057400"/>
          </a:xfrm>
          <a:prstGeom prst="rect">
            <a:avLst/>
          </a:prstGeom>
        </p:spPr>
      </p:pic>
      <p:sp>
        <p:nvSpPr>
          <p:cNvPr id="28" name="object 6">
            <a:extLst>
              <a:ext uri="{FF2B5EF4-FFF2-40B4-BE49-F238E27FC236}">
                <a16:creationId xmlns:a16="http://schemas.microsoft.com/office/drawing/2014/main" id="{9DCE4F75-9090-FEA6-9033-78EE377181BC}"/>
              </a:ext>
            </a:extLst>
          </p:cNvPr>
          <p:cNvSpPr txBox="1"/>
          <p:nvPr/>
        </p:nvSpPr>
        <p:spPr>
          <a:xfrm>
            <a:off x="11125200" y="4478251"/>
            <a:ext cx="580463" cy="225165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>
            <a:defPPr>
              <a:defRPr lang="en-US"/>
            </a:defPPr>
            <a:lvl1pPr marL="7701">
              <a:spcBef>
                <a:spcPts val="76"/>
              </a:spcBef>
              <a:defRPr sz="1400">
                <a:solidFill>
                  <a:srgbClr val="5E5E5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Output</a:t>
            </a:r>
            <a:endParaRPr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7F650BA-EEF1-6C14-6A28-47A6ABB0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4790440"/>
            <a:ext cx="1666875" cy="390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4725CD-B2EF-3D38-E4AC-DBA0BD97613E}"/>
              </a:ext>
            </a:extLst>
          </p:cNvPr>
          <p:cNvSpPr txBox="1"/>
          <p:nvPr/>
        </p:nvSpPr>
        <p:spPr>
          <a:xfrm>
            <a:off x="9144000" y="4066401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052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C9CF-9E93-D4F8-1A33-EC0C3E76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F189BA3-1E63-3C94-5BD3-18D1594D7915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B02E5AD-53C1-2497-61F5-75296A5FC251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A9B54-789C-98B6-DDEE-9DDA3188385C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0FED7BF-0637-B257-0DC1-2817BEBD4AD2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53ECF-FA9E-B4D5-5301-857E7A08FFFF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D59582F-E470-50A1-E218-23BF02589700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483886-16EB-8C11-763F-58AD9D9356A0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(ii)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Average pooling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9FF1433-0BE1-943E-E494-A2A3E4C26E82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25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BEE6E-FEC6-026D-2747-C95F28FC4B6E}"/>
              </a:ext>
            </a:extLst>
          </p:cNvPr>
          <p:cNvSpPr/>
          <p:nvPr/>
        </p:nvSpPr>
        <p:spPr>
          <a:xfrm>
            <a:off x="175260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54125-8A08-F391-DFDE-FA6F0D91BD69}"/>
              </a:ext>
            </a:extLst>
          </p:cNvPr>
          <p:cNvSpPr/>
          <p:nvPr/>
        </p:nvSpPr>
        <p:spPr>
          <a:xfrm>
            <a:off x="236728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F9E015-9907-903D-41AB-10F80B2A273D}"/>
              </a:ext>
            </a:extLst>
          </p:cNvPr>
          <p:cNvSpPr/>
          <p:nvPr/>
        </p:nvSpPr>
        <p:spPr>
          <a:xfrm>
            <a:off x="297180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298156-9FE6-E189-C837-2A000A27A97C}"/>
              </a:ext>
            </a:extLst>
          </p:cNvPr>
          <p:cNvSpPr/>
          <p:nvPr/>
        </p:nvSpPr>
        <p:spPr>
          <a:xfrm>
            <a:off x="358648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D0878A-A0D5-AE52-C2A2-DA1B80413167}"/>
              </a:ext>
            </a:extLst>
          </p:cNvPr>
          <p:cNvSpPr/>
          <p:nvPr/>
        </p:nvSpPr>
        <p:spPr>
          <a:xfrm>
            <a:off x="175260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37024A-4EE3-5439-A6D6-036234F7526D}"/>
              </a:ext>
            </a:extLst>
          </p:cNvPr>
          <p:cNvSpPr/>
          <p:nvPr/>
        </p:nvSpPr>
        <p:spPr>
          <a:xfrm>
            <a:off x="236728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F5DC97-8C9F-4E3C-4F01-8F9B067601A2}"/>
              </a:ext>
            </a:extLst>
          </p:cNvPr>
          <p:cNvSpPr/>
          <p:nvPr/>
        </p:nvSpPr>
        <p:spPr>
          <a:xfrm>
            <a:off x="297180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88CB9E-6C09-E7E1-FC1C-BB79E083FC2E}"/>
              </a:ext>
            </a:extLst>
          </p:cNvPr>
          <p:cNvSpPr/>
          <p:nvPr/>
        </p:nvSpPr>
        <p:spPr>
          <a:xfrm>
            <a:off x="358648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E66C32-6933-9336-FDD5-71C6CF26574A}"/>
              </a:ext>
            </a:extLst>
          </p:cNvPr>
          <p:cNvSpPr/>
          <p:nvPr/>
        </p:nvSpPr>
        <p:spPr>
          <a:xfrm>
            <a:off x="175260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9C3592-9327-7B38-B9E3-356AF06A9E58}"/>
              </a:ext>
            </a:extLst>
          </p:cNvPr>
          <p:cNvSpPr/>
          <p:nvPr/>
        </p:nvSpPr>
        <p:spPr>
          <a:xfrm>
            <a:off x="236728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CCC38C-174B-D4F1-5058-099905E37195}"/>
              </a:ext>
            </a:extLst>
          </p:cNvPr>
          <p:cNvSpPr/>
          <p:nvPr/>
        </p:nvSpPr>
        <p:spPr>
          <a:xfrm>
            <a:off x="297180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D6ECD0-968B-7046-0663-649EBE8BCA95}"/>
              </a:ext>
            </a:extLst>
          </p:cNvPr>
          <p:cNvSpPr/>
          <p:nvPr/>
        </p:nvSpPr>
        <p:spPr>
          <a:xfrm>
            <a:off x="358648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1F5342-6DBC-1575-B0DF-93F642A0370C}"/>
              </a:ext>
            </a:extLst>
          </p:cNvPr>
          <p:cNvSpPr/>
          <p:nvPr/>
        </p:nvSpPr>
        <p:spPr>
          <a:xfrm>
            <a:off x="175260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A1AB50-4A9F-8784-64C2-55D963CCCED9}"/>
              </a:ext>
            </a:extLst>
          </p:cNvPr>
          <p:cNvSpPr/>
          <p:nvPr/>
        </p:nvSpPr>
        <p:spPr>
          <a:xfrm>
            <a:off x="236728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10950B-9DCA-EBEC-74CD-9C344C77015C}"/>
              </a:ext>
            </a:extLst>
          </p:cNvPr>
          <p:cNvSpPr/>
          <p:nvPr/>
        </p:nvSpPr>
        <p:spPr>
          <a:xfrm>
            <a:off x="297180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E2F87D-6B3C-ECFB-6D67-A6426971AFF9}"/>
              </a:ext>
            </a:extLst>
          </p:cNvPr>
          <p:cNvSpPr/>
          <p:nvPr/>
        </p:nvSpPr>
        <p:spPr>
          <a:xfrm>
            <a:off x="358648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6D4CF72-33A8-6A87-A438-85E4289FD590}"/>
                  </a:ext>
                </a:extLst>
              </p:cNvPr>
              <p:cNvSpPr/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6D4CF72-33A8-6A87-A438-85E4289FD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blipFill>
                <a:blip r:embed="rId2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CC51110F-C0D4-5BA2-1ED3-A36216A0BFA5}"/>
              </a:ext>
            </a:extLst>
          </p:cNvPr>
          <p:cNvSpPr/>
          <p:nvPr/>
        </p:nvSpPr>
        <p:spPr>
          <a:xfrm>
            <a:off x="8229600" y="319786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3413D2A-A3B3-06BA-C497-9BDA9F2511AB}"/>
              </a:ext>
            </a:extLst>
          </p:cNvPr>
          <p:cNvSpPr/>
          <p:nvPr/>
        </p:nvSpPr>
        <p:spPr>
          <a:xfrm>
            <a:off x="7614920" y="373126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E99287-67F8-F9DD-79F5-A7EC9F514565}"/>
              </a:ext>
            </a:extLst>
          </p:cNvPr>
          <p:cNvSpPr/>
          <p:nvPr/>
        </p:nvSpPr>
        <p:spPr>
          <a:xfrm>
            <a:off x="8229600" y="373126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996DDD-A9A7-C055-7AC3-2D54BCD3A810}"/>
                  </a:ext>
                </a:extLst>
              </p:cNvPr>
              <p:cNvSpPr txBox="1"/>
              <p:nvPr/>
            </p:nvSpPr>
            <p:spPr>
              <a:xfrm>
                <a:off x="3556000" y="1658996"/>
                <a:ext cx="4292600" cy="491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effectLst/>
                    <a:latin typeface="+mn-lt"/>
                  </a:rPr>
                  <a:t>Top-Left Region: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+2+9+4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996DDD-A9A7-C055-7AC3-2D54BCD3A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1658996"/>
                <a:ext cx="4292600" cy="491096"/>
              </a:xfrm>
              <a:prstGeom prst="rect">
                <a:avLst/>
              </a:prstGeom>
              <a:blipFill>
                <a:blip r:embed="rId3"/>
                <a:stretch>
                  <a:fillRect l="-1135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Frame 55">
            <a:extLst>
              <a:ext uri="{FF2B5EF4-FFF2-40B4-BE49-F238E27FC236}">
                <a16:creationId xmlns:a16="http://schemas.microsoft.com/office/drawing/2014/main" id="{039200DE-62B5-2EDA-FC52-B1FB2A578E66}"/>
              </a:ext>
            </a:extLst>
          </p:cNvPr>
          <p:cNvSpPr/>
          <p:nvPr/>
        </p:nvSpPr>
        <p:spPr>
          <a:xfrm>
            <a:off x="1752600" y="2660595"/>
            <a:ext cx="1224280" cy="1070665"/>
          </a:xfrm>
          <a:prstGeom prst="frame">
            <a:avLst>
              <a:gd name="adj1" fmla="val 680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21F4CA43-7EAC-624F-B98B-C557CAABBCC2}"/>
              </a:ext>
            </a:extLst>
          </p:cNvPr>
          <p:cNvSpPr/>
          <p:nvPr/>
        </p:nvSpPr>
        <p:spPr>
          <a:xfrm>
            <a:off x="7614920" y="3197860"/>
            <a:ext cx="609600" cy="533400"/>
          </a:xfrm>
          <a:prstGeom prst="frame">
            <a:avLst>
              <a:gd name="adj1" fmla="val 894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34536FA9-FDF4-CB2E-15FF-A61395B3C841}"/>
              </a:ext>
            </a:extLst>
          </p:cNvPr>
          <p:cNvSpPr/>
          <p:nvPr/>
        </p:nvSpPr>
        <p:spPr>
          <a:xfrm rot="16200000">
            <a:off x="6029702" y="2434310"/>
            <a:ext cx="126445" cy="2573024"/>
          </a:xfrm>
          <a:prstGeom prst="downArrow">
            <a:avLst>
              <a:gd name="adj1" fmla="val 50000"/>
              <a:gd name="adj2" fmla="val 14378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C1A76A-BCF7-B8E2-DF02-7D0274B760E9}"/>
              </a:ext>
            </a:extLst>
          </p:cNvPr>
          <p:cNvSpPr txBox="1"/>
          <p:nvPr/>
        </p:nvSpPr>
        <p:spPr>
          <a:xfrm>
            <a:off x="5211819" y="3235960"/>
            <a:ext cx="1623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D57C26-C24D-E0D9-A9D8-177FA20BF8BD}"/>
              </a:ext>
            </a:extLst>
          </p:cNvPr>
          <p:cNvSpPr txBox="1"/>
          <p:nvPr/>
        </p:nvSpPr>
        <p:spPr>
          <a:xfrm>
            <a:off x="5407175" y="3943463"/>
            <a:ext cx="139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Filter Size – (2x2)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Strid – (2,2)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AB41D63-4851-406D-AD6C-B59F9E9EC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282" y="4327842"/>
            <a:ext cx="752475" cy="39052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A397A54-65DF-1978-EDD0-DEFA615C7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4929523"/>
            <a:ext cx="1666875" cy="390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4B1AE-7637-A8F2-4C5F-960395CA3766}"/>
              </a:ext>
            </a:extLst>
          </p:cNvPr>
          <p:cNvSpPr txBox="1"/>
          <p:nvPr/>
        </p:nvSpPr>
        <p:spPr>
          <a:xfrm>
            <a:off x="5646643" y="434340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906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AB49-0288-FB54-DC5C-0CB7EF57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5113A12-6FCC-B57A-4BA1-2A80EE967B7F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1EDAB4B-7449-60E3-20E7-32244F45D5F5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995A5-2931-5738-CE18-8CDAA8D60FF8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660E2BF-C0BB-0EAA-99F9-1E56BDAD484F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6CB401-9BB3-F8F1-246C-01947DF1337C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868ED09-1DDA-A909-1E12-98ABE6DCEA14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9DA7B-2652-62DA-6E24-D02E1F8F1789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(ii)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Average pooling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FDEF8D5-A2B9-6C9A-F8FF-49224E6D1B8F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26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AAA1D-71B9-3CDB-8C39-11E6BC95ADD3}"/>
              </a:ext>
            </a:extLst>
          </p:cNvPr>
          <p:cNvSpPr/>
          <p:nvPr/>
        </p:nvSpPr>
        <p:spPr>
          <a:xfrm>
            <a:off x="175260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374BE-84CD-24FB-474B-0D9877295084}"/>
              </a:ext>
            </a:extLst>
          </p:cNvPr>
          <p:cNvSpPr/>
          <p:nvPr/>
        </p:nvSpPr>
        <p:spPr>
          <a:xfrm>
            <a:off x="236728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3070CD-7298-FC1F-1ACE-910FA80DF17C}"/>
              </a:ext>
            </a:extLst>
          </p:cNvPr>
          <p:cNvSpPr/>
          <p:nvPr/>
        </p:nvSpPr>
        <p:spPr>
          <a:xfrm>
            <a:off x="297180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E5E6F-FAAE-F63C-BEDF-568F5CB0663B}"/>
              </a:ext>
            </a:extLst>
          </p:cNvPr>
          <p:cNvSpPr/>
          <p:nvPr/>
        </p:nvSpPr>
        <p:spPr>
          <a:xfrm>
            <a:off x="358648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5D0850-5CEE-9766-A420-903501BAB234}"/>
              </a:ext>
            </a:extLst>
          </p:cNvPr>
          <p:cNvSpPr/>
          <p:nvPr/>
        </p:nvSpPr>
        <p:spPr>
          <a:xfrm>
            <a:off x="175260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AEE6C-6D4F-2991-AD9B-FC49C5052B4E}"/>
              </a:ext>
            </a:extLst>
          </p:cNvPr>
          <p:cNvSpPr/>
          <p:nvPr/>
        </p:nvSpPr>
        <p:spPr>
          <a:xfrm>
            <a:off x="236728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58A9B7-9AF4-E0BB-4D43-DE680714BD3F}"/>
              </a:ext>
            </a:extLst>
          </p:cNvPr>
          <p:cNvSpPr/>
          <p:nvPr/>
        </p:nvSpPr>
        <p:spPr>
          <a:xfrm>
            <a:off x="297180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903BD3-3432-724F-0DD4-B2C468943677}"/>
              </a:ext>
            </a:extLst>
          </p:cNvPr>
          <p:cNvSpPr/>
          <p:nvPr/>
        </p:nvSpPr>
        <p:spPr>
          <a:xfrm>
            <a:off x="358648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EC1996-EB50-8FDC-CC32-8AC7956439E5}"/>
              </a:ext>
            </a:extLst>
          </p:cNvPr>
          <p:cNvSpPr/>
          <p:nvPr/>
        </p:nvSpPr>
        <p:spPr>
          <a:xfrm>
            <a:off x="175260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527200-0FF6-AEA7-75F5-735B99F4D78F}"/>
              </a:ext>
            </a:extLst>
          </p:cNvPr>
          <p:cNvSpPr/>
          <p:nvPr/>
        </p:nvSpPr>
        <p:spPr>
          <a:xfrm>
            <a:off x="236728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D2A7D6-E40E-53F1-DFBB-B0162558A980}"/>
              </a:ext>
            </a:extLst>
          </p:cNvPr>
          <p:cNvSpPr/>
          <p:nvPr/>
        </p:nvSpPr>
        <p:spPr>
          <a:xfrm>
            <a:off x="297180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0A471B-059E-5417-DFDB-22EED66B1D83}"/>
              </a:ext>
            </a:extLst>
          </p:cNvPr>
          <p:cNvSpPr/>
          <p:nvPr/>
        </p:nvSpPr>
        <p:spPr>
          <a:xfrm>
            <a:off x="358648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CAC06DD-08A8-A36C-B304-982772B36242}"/>
              </a:ext>
            </a:extLst>
          </p:cNvPr>
          <p:cNvSpPr/>
          <p:nvPr/>
        </p:nvSpPr>
        <p:spPr>
          <a:xfrm>
            <a:off x="175260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E47D0E-26F8-CD78-3B5C-68FEC941947D}"/>
              </a:ext>
            </a:extLst>
          </p:cNvPr>
          <p:cNvSpPr/>
          <p:nvPr/>
        </p:nvSpPr>
        <p:spPr>
          <a:xfrm>
            <a:off x="236728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277C42-2DD1-82FB-2DBA-6668592982CD}"/>
              </a:ext>
            </a:extLst>
          </p:cNvPr>
          <p:cNvSpPr/>
          <p:nvPr/>
        </p:nvSpPr>
        <p:spPr>
          <a:xfrm>
            <a:off x="297180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D88CF4-BA3E-F9C7-D9FC-AA870CCF439D}"/>
              </a:ext>
            </a:extLst>
          </p:cNvPr>
          <p:cNvSpPr/>
          <p:nvPr/>
        </p:nvSpPr>
        <p:spPr>
          <a:xfrm>
            <a:off x="358648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2213D92-B7C0-85D8-0219-F8A467B354B2}"/>
                  </a:ext>
                </a:extLst>
              </p:cNvPr>
              <p:cNvSpPr/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2213D92-B7C0-85D8-0219-F8A467B35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blipFill>
                <a:blip r:embed="rId2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BE23452-88AC-BF42-63DB-58C11CE42E8F}"/>
                  </a:ext>
                </a:extLst>
              </p:cNvPr>
              <p:cNvSpPr/>
              <p:nvPr/>
            </p:nvSpPr>
            <p:spPr>
              <a:xfrm>
                <a:off x="8229600" y="3197860"/>
                <a:ext cx="609600" cy="5334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BE23452-88AC-BF42-63DB-58C11CE42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3197860"/>
                <a:ext cx="609600" cy="533400"/>
              </a:xfrm>
              <a:prstGeom prst="rect">
                <a:avLst/>
              </a:prstGeom>
              <a:blipFill>
                <a:blip r:embed="rId3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3F902F2E-F6A5-1068-0175-BBBEEAAB7FD8}"/>
              </a:ext>
            </a:extLst>
          </p:cNvPr>
          <p:cNvSpPr/>
          <p:nvPr/>
        </p:nvSpPr>
        <p:spPr>
          <a:xfrm>
            <a:off x="7614920" y="373126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8669F3-DB9F-41B3-E44F-DF2334A9C1F2}"/>
              </a:ext>
            </a:extLst>
          </p:cNvPr>
          <p:cNvSpPr/>
          <p:nvPr/>
        </p:nvSpPr>
        <p:spPr>
          <a:xfrm>
            <a:off x="8229600" y="373126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ame 55">
            <a:extLst>
              <a:ext uri="{FF2B5EF4-FFF2-40B4-BE49-F238E27FC236}">
                <a16:creationId xmlns:a16="http://schemas.microsoft.com/office/drawing/2014/main" id="{3E08BDC6-B142-0283-9BE3-760BD24362F9}"/>
              </a:ext>
            </a:extLst>
          </p:cNvPr>
          <p:cNvSpPr/>
          <p:nvPr/>
        </p:nvSpPr>
        <p:spPr>
          <a:xfrm>
            <a:off x="2966720" y="2660595"/>
            <a:ext cx="1224280" cy="1070665"/>
          </a:xfrm>
          <a:prstGeom prst="frame">
            <a:avLst>
              <a:gd name="adj1" fmla="val 680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EF5225A7-2CFE-5A11-2258-1BB56A1F3EBE}"/>
              </a:ext>
            </a:extLst>
          </p:cNvPr>
          <p:cNvSpPr/>
          <p:nvPr/>
        </p:nvSpPr>
        <p:spPr>
          <a:xfrm>
            <a:off x="8229600" y="3197860"/>
            <a:ext cx="609600" cy="533400"/>
          </a:xfrm>
          <a:prstGeom prst="frame">
            <a:avLst>
              <a:gd name="adj1" fmla="val 894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D1A8132C-C140-754C-B1CC-1FC507F8411F}"/>
              </a:ext>
            </a:extLst>
          </p:cNvPr>
          <p:cNvSpPr/>
          <p:nvPr/>
        </p:nvSpPr>
        <p:spPr>
          <a:xfrm rot="16200000">
            <a:off x="6029702" y="2434310"/>
            <a:ext cx="126445" cy="2573024"/>
          </a:xfrm>
          <a:prstGeom prst="downArrow">
            <a:avLst>
              <a:gd name="adj1" fmla="val 50000"/>
              <a:gd name="adj2" fmla="val 14378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4EAD5F-008F-3BBE-F53E-1D3355427BF6}"/>
              </a:ext>
            </a:extLst>
          </p:cNvPr>
          <p:cNvSpPr txBox="1"/>
          <p:nvPr/>
        </p:nvSpPr>
        <p:spPr>
          <a:xfrm>
            <a:off x="5211819" y="3235960"/>
            <a:ext cx="1623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D2435A-BE04-C2BC-9FC0-DD77B68D0C8C}"/>
              </a:ext>
            </a:extLst>
          </p:cNvPr>
          <p:cNvSpPr txBox="1"/>
          <p:nvPr/>
        </p:nvSpPr>
        <p:spPr>
          <a:xfrm>
            <a:off x="5407175" y="3943463"/>
            <a:ext cx="139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Filter Size – (2x2)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Strid – (2,2)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552BB5-811B-0583-2F34-931B553562AF}"/>
                  </a:ext>
                </a:extLst>
              </p:cNvPr>
              <p:cNvSpPr txBox="1"/>
              <p:nvPr/>
            </p:nvSpPr>
            <p:spPr>
              <a:xfrm>
                <a:off x="3446435" y="1676400"/>
                <a:ext cx="4466358" cy="491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effectLst/>
                    <a:latin typeface="+mn-lt"/>
                  </a:rPr>
                  <a:t>Top-Right Region: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+3+6+1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552BB5-811B-0583-2F34-931B55356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35" y="1676400"/>
                <a:ext cx="4466358" cy="491096"/>
              </a:xfrm>
              <a:prstGeom prst="rect">
                <a:avLst/>
              </a:prstGeom>
              <a:blipFill>
                <a:blip r:embed="rId4"/>
                <a:stretch>
                  <a:fillRect l="-1091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424045B-6DD4-7428-0D8C-E69AE4E65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4929523"/>
            <a:ext cx="1666875" cy="3905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973590-2B02-30A3-F4A0-0F670A29E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282" y="4327842"/>
            <a:ext cx="752475" cy="390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B1CCBD-9AD6-D70A-2017-9CCF76EB7766}"/>
              </a:ext>
            </a:extLst>
          </p:cNvPr>
          <p:cNvSpPr txBox="1"/>
          <p:nvPr/>
        </p:nvSpPr>
        <p:spPr>
          <a:xfrm>
            <a:off x="5646643" y="434340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007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07BA-52B1-A25D-06FA-AB0B8185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75218F2-7E4A-EC3E-0550-57223658B1DC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B7F7AF5-97C7-EAA7-95E8-2F8508118329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0E80C-383F-ED8F-0461-12D7142DAD2C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81CE513-F78C-8725-10BF-54D841746997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A2167-02A5-D1C6-1534-06807054D5F3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FCB9D9-9AF4-0BBF-1340-0B00671F2B8B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EBC682-AAF2-C0FF-841A-68A54A1E6495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(ii)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Average pooling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F0F5E8D-2E19-0D90-855A-4B978D606B75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27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17DE3F-0EAA-A4B8-047A-FEDAEECFDD8E}"/>
              </a:ext>
            </a:extLst>
          </p:cNvPr>
          <p:cNvSpPr/>
          <p:nvPr/>
        </p:nvSpPr>
        <p:spPr>
          <a:xfrm>
            <a:off x="175260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77FA6-DE06-5134-C477-03AF51376CA4}"/>
              </a:ext>
            </a:extLst>
          </p:cNvPr>
          <p:cNvSpPr/>
          <p:nvPr/>
        </p:nvSpPr>
        <p:spPr>
          <a:xfrm>
            <a:off x="236728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8A4D8C-EE60-2ADB-741E-4703A089854F}"/>
              </a:ext>
            </a:extLst>
          </p:cNvPr>
          <p:cNvSpPr/>
          <p:nvPr/>
        </p:nvSpPr>
        <p:spPr>
          <a:xfrm>
            <a:off x="297180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FB9D80-A093-EC93-619B-E0A087BEC610}"/>
              </a:ext>
            </a:extLst>
          </p:cNvPr>
          <p:cNvSpPr/>
          <p:nvPr/>
        </p:nvSpPr>
        <p:spPr>
          <a:xfrm>
            <a:off x="358648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8D9322-4661-1622-7F04-90C2F5AABE01}"/>
              </a:ext>
            </a:extLst>
          </p:cNvPr>
          <p:cNvSpPr/>
          <p:nvPr/>
        </p:nvSpPr>
        <p:spPr>
          <a:xfrm>
            <a:off x="175260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EEEF6B-8DCC-B44A-42F1-FE4C6FA11D3B}"/>
              </a:ext>
            </a:extLst>
          </p:cNvPr>
          <p:cNvSpPr/>
          <p:nvPr/>
        </p:nvSpPr>
        <p:spPr>
          <a:xfrm>
            <a:off x="236728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1657E9-6932-3D24-B2EC-0D1034520ACA}"/>
              </a:ext>
            </a:extLst>
          </p:cNvPr>
          <p:cNvSpPr/>
          <p:nvPr/>
        </p:nvSpPr>
        <p:spPr>
          <a:xfrm>
            <a:off x="297180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A014EF-509A-A0DD-20EE-8A0ECC280EAB}"/>
              </a:ext>
            </a:extLst>
          </p:cNvPr>
          <p:cNvSpPr/>
          <p:nvPr/>
        </p:nvSpPr>
        <p:spPr>
          <a:xfrm>
            <a:off x="358648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8F0316-CAE7-021B-C094-60DACE5F7504}"/>
              </a:ext>
            </a:extLst>
          </p:cNvPr>
          <p:cNvSpPr/>
          <p:nvPr/>
        </p:nvSpPr>
        <p:spPr>
          <a:xfrm>
            <a:off x="175260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26DFAD-3377-CA15-6C20-910B71E05877}"/>
              </a:ext>
            </a:extLst>
          </p:cNvPr>
          <p:cNvSpPr/>
          <p:nvPr/>
        </p:nvSpPr>
        <p:spPr>
          <a:xfrm>
            <a:off x="236728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89649A-A56D-49FB-D769-9F31B972A671}"/>
              </a:ext>
            </a:extLst>
          </p:cNvPr>
          <p:cNvSpPr/>
          <p:nvPr/>
        </p:nvSpPr>
        <p:spPr>
          <a:xfrm>
            <a:off x="297180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9908A-487B-FE8E-EBE2-2F21AA77B391}"/>
              </a:ext>
            </a:extLst>
          </p:cNvPr>
          <p:cNvSpPr/>
          <p:nvPr/>
        </p:nvSpPr>
        <p:spPr>
          <a:xfrm>
            <a:off x="358648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529C49-8777-828C-0F0F-670525C97461}"/>
              </a:ext>
            </a:extLst>
          </p:cNvPr>
          <p:cNvSpPr/>
          <p:nvPr/>
        </p:nvSpPr>
        <p:spPr>
          <a:xfrm>
            <a:off x="175260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75CFA1-B54F-CF80-272A-84721D291993}"/>
              </a:ext>
            </a:extLst>
          </p:cNvPr>
          <p:cNvSpPr/>
          <p:nvPr/>
        </p:nvSpPr>
        <p:spPr>
          <a:xfrm>
            <a:off x="236728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CD2180-9A87-B8B6-47FB-A356D6C048B8}"/>
              </a:ext>
            </a:extLst>
          </p:cNvPr>
          <p:cNvSpPr/>
          <p:nvPr/>
        </p:nvSpPr>
        <p:spPr>
          <a:xfrm>
            <a:off x="297180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E18803-D14A-C2EB-01A6-00D13F2D2B2F}"/>
              </a:ext>
            </a:extLst>
          </p:cNvPr>
          <p:cNvSpPr/>
          <p:nvPr/>
        </p:nvSpPr>
        <p:spPr>
          <a:xfrm>
            <a:off x="358648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B198984-4851-861C-88D7-3779EEB7976E}"/>
                  </a:ext>
                </a:extLst>
              </p:cNvPr>
              <p:cNvSpPr/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B198984-4851-861C-88D7-3779EEB79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blipFill>
                <a:blip r:embed="rId2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F7FF7B9-5A41-A043-27F0-E153F6E588FB}"/>
                  </a:ext>
                </a:extLst>
              </p:cNvPr>
              <p:cNvSpPr/>
              <p:nvPr/>
            </p:nvSpPr>
            <p:spPr>
              <a:xfrm>
                <a:off x="8229600" y="3197860"/>
                <a:ext cx="609600" cy="5334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F7FF7B9-5A41-A043-27F0-E153F6E588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3197860"/>
                <a:ext cx="609600" cy="533400"/>
              </a:xfrm>
              <a:prstGeom prst="rect">
                <a:avLst/>
              </a:prstGeom>
              <a:blipFill>
                <a:blip r:embed="rId3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3623037-E2D6-9E07-F48D-82551DE42EC9}"/>
                  </a:ext>
                </a:extLst>
              </p:cNvPr>
              <p:cNvSpPr/>
              <p:nvPr/>
            </p:nvSpPr>
            <p:spPr>
              <a:xfrm>
                <a:off x="7614920" y="3731260"/>
                <a:ext cx="609600" cy="5334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3623037-E2D6-9E07-F48D-82551DE42E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920" y="3731260"/>
                <a:ext cx="609600" cy="533400"/>
              </a:xfrm>
              <a:prstGeom prst="rect">
                <a:avLst/>
              </a:prstGeom>
              <a:blipFill>
                <a:blip r:embed="rId4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C81718A5-68BD-A915-28F1-9DD192660F3B}"/>
              </a:ext>
            </a:extLst>
          </p:cNvPr>
          <p:cNvSpPr/>
          <p:nvPr/>
        </p:nvSpPr>
        <p:spPr>
          <a:xfrm>
            <a:off x="8229600" y="373126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ame 55">
            <a:extLst>
              <a:ext uri="{FF2B5EF4-FFF2-40B4-BE49-F238E27FC236}">
                <a16:creationId xmlns:a16="http://schemas.microsoft.com/office/drawing/2014/main" id="{C85BFE7A-9633-5513-E0DA-685BB39F4F41}"/>
              </a:ext>
            </a:extLst>
          </p:cNvPr>
          <p:cNvSpPr/>
          <p:nvPr/>
        </p:nvSpPr>
        <p:spPr>
          <a:xfrm>
            <a:off x="1752600" y="3729935"/>
            <a:ext cx="1224280" cy="1070665"/>
          </a:xfrm>
          <a:prstGeom prst="frame">
            <a:avLst>
              <a:gd name="adj1" fmla="val 680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E63FEAB3-0711-2D67-471E-642DB98C8519}"/>
              </a:ext>
            </a:extLst>
          </p:cNvPr>
          <p:cNvSpPr/>
          <p:nvPr/>
        </p:nvSpPr>
        <p:spPr>
          <a:xfrm>
            <a:off x="7620000" y="3733800"/>
            <a:ext cx="609600" cy="533400"/>
          </a:xfrm>
          <a:prstGeom prst="frame">
            <a:avLst>
              <a:gd name="adj1" fmla="val 894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F732D528-207B-6221-B605-FBF37BC4FE37}"/>
              </a:ext>
            </a:extLst>
          </p:cNvPr>
          <p:cNvSpPr/>
          <p:nvPr/>
        </p:nvSpPr>
        <p:spPr>
          <a:xfrm rot="16200000">
            <a:off x="6029702" y="2434310"/>
            <a:ext cx="126445" cy="2573024"/>
          </a:xfrm>
          <a:prstGeom prst="downArrow">
            <a:avLst>
              <a:gd name="adj1" fmla="val 50000"/>
              <a:gd name="adj2" fmla="val 14378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2BDE82-753E-4407-D2AF-583DF3C2CFB5}"/>
              </a:ext>
            </a:extLst>
          </p:cNvPr>
          <p:cNvSpPr txBox="1"/>
          <p:nvPr/>
        </p:nvSpPr>
        <p:spPr>
          <a:xfrm>
            <a:off x="5211819" y="3235960"/>
            <a:ext cx="1623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7EB2F1-8D12-185A-3701-466933E4EEAF}"/>
              </a:ext>
            </a:extLst>
          </p:cNvPr>
          <p:cNvSpPr txBox="1"/>
          <p:nvPr/>
        </p:nvSpPr>
        <p:spPr>
          <a:xfrm>
            <a:off x="5407175" y="3943463"/>
            <a:ext cx="139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Filter Size – (2x2)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Strid – (2,2)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4AA5C8-041F-7724-BCAE-534A95CC28E1}"/>
                  </a:ext>
                </a:extLst>
              </p:cNvPr>
              <p:cNvSpPr txBox="1"/>
              <p:nvPr/>
            </p:nvSpPr>
            <p:spPr>
              <a:xfrm>
                <a:off x="3446434" y="1676400"/>
                <a:ext cx="4554565" cy="495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Bottom-Left Region: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8+5+3+1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4AA5C8-041F-7724-BCAE-534A95CC2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34" y="1676400"/>
                <a:ext cx="4554565" cy="495200"/>
              </a:xfrm>
              <a:prstGeom prst="rect">
                <a:avLst/>
              </a:prstGeom>
              <a:blipFill>
                <a:blip r:embed="rId5"/>
                <a:stretch>
                  <a:fillRect l="-1071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4C6AA9B-69D1-D198-19F5-F19C60BFB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200" y="4929523"/>
            <a:ext cx="1666875" cy="3905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E1D472-6B65-6334-28BA-2300A616D4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282" y="4327842"/>
            <a:ext cx="752475" cy="390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71DC8B-52E6-07C5-590E-53384ED94ACD}"/>
              </a:ext>
            </a:extLst>
          </p:cNvPr>
          <p:cNvSpPr txBox="1"/>
          <p:nvPr/>
        </p:nvSpPr>
        <p:spPr>
          <a:xfrm>
            <a:off x="5646643" y="434340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03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AC60-9AAF-3CC6-2D17-FA1C7983A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A37DDA8-9569-6905-8922-C46CD0A422BF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6241118-7638-BFC9-8750-B06110FDF49A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9A1B7-3BAC-4D5D-D10C-BCA1BD1D8F91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69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GB" sz="3200" b="1" spc="-22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69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200" b="1" spc="-19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127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r>
              <a:rPr lang="en-GB" sz="3200" b="1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0D3CCC1-E169-3FC8-366F-7FB5E0D1D809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5A2502-4492-98EF-6F86-74B6A6E51817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C55EF8F-D891-B1BE-836A-3EBDC6A2D029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31B63-204E-160C-B52C-ECAA573870B5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3. (ii)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Average pooling </a:t>
            </a:r>
            <a:r>
              <a:rPr lang="en-GB" sz="3200" b="1" spc="-49" dirty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B2E011A-AFBD-6BCE-09C6-3E68B98AA33A}"/>
              </a:ext>
            </a:extLst>
          </p:cNvPr>
          <p:cNvSpPr/>
          <p:nvPr/>
        </p:nvSpPr>
        <p:spPr>
          <a:xfrm>
            <a:off x="-3075" y="66294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28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2649C7-AC68-CA94-AAA0-EAFE42DEA171}"/>
              </a:ext>
            </a:extLst>
          </p:cNvPr>
          <p:cNvSpPr/>
          <p:nvPr/>
        </p:nvSpPr>
        <p:spPr>
          <a:xfrm>
            <a:off x="175260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4A72DC-212A-A697-101B-D0C1DC2D4388}"/>
              </a:ext>
            </a:extLst>
          </p:cNvPr>
          <p:cNvSpPr/>
          <p:nvPr/>
        </p:nvSpPr>
        <p:spPr>
          <a:xfrm>
            <a:off x="2367280" y="26670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ECA00C-0133-76F5-0A60-94C1979ED4F2}"/>
              </a:ext>
            </a:extLst>
          </p:cNvPr>
          <p:cNvSpPr/>
          <p:nvPr/>
        </p:nvSpPr>
        <p:spPr>
          <a:xfrm>
            <a:off x="297180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E75E0D-0E2E-D2EF-82F1-F50C855840D5}"/>
              </a:ext>
            </a:extLst>
          </p:cNvPr>
          <p:cNvSpPr/>
          <p:nvPr/>
        </p:nvSpPr>
        <p:spPr>
          <a:xfrm>
            <a:off x="3586480" y="26670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AC281C-0989-5E9E-3EB0-0F8662F7B544}"/>
              </a:ext>
            </a:extLst>
          </p:cNvPr>
          <p:cNvSpPr/>
          <p:nvPr/>
        </p:nvSpPr>
        <p:spPr>
          <a:xfrm>
            <a:off x="175260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28F6E2-8DE2-3701-F20F-4CC3A36ABF46}"/>
              </a:ext>
            </a:extLst>
          </p:cNvPr>
          <p:cNvSpPr/>
          <p:nvPr/>
        </p:nvSpPr>
        <p:spPr>
          <a:xfrm>
            <a:off x="2367280" y="3200400"/>
            <a:ext cx="609600" cy="533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9ADA81-F228-414F-B2BC-A1DF66EDECE0}"/>
              </a:ext>
            </a:extLst>
          </p:cNvPr>
          <p:cNvSpPr/>
          <p:nvPr/>
        </p:nvSpPr>
        <p:spPr>
          <a:xfrm>
            <a:off x="297180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9F6663-A493-059C-BEAA-2B537E391A72}"/>
              </a:ext>
            </a:extLst>
          </p:cNvPr>
          <p:cNvSpPr/>
          <p:nvPr/>
        </p:nvSpPr>
        <p:spPr>
          <a:xfrm>
            <a:off x="3586480" y="3200400"/>
            <a:ext cx="609600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D702D2-75B9-B500-DBF8-67E5FFE5F9E2}"/>
              </a:ext>
            </a:extLst>
          </p:cNvPr>
          <p:cNvSpPr/>
          <p:nvPr/>
        </p:nvSpPr>
        <p:spPr>
          <a:xfrm>
            <a:off x="175260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CF8BCF-FEF2-F224-9050-5EFF625D4106}"/>
              </a:ext>
            </a:extLst>
          </p:cNvPr>
          <p:cNvSpPr/>
          <p:nvPr/>
        </p:nvSpPr>
        <p:spPr>
          <a:xfrm>
            <a:off x="2367280" y="37338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9D4390-B40C-C63B-2D97-C3BB73E480CE}"/>
              </a:ext>
            </a:extLst>
          </p:cNvPr>
          <p:cNvSpPr/>
          <p:nvPr/>
        </p:nvSpPr>
        <p:spPr>
          <a:xfrm>
            <a:off x="297180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C4AA3A-2F77-1D8E-2DD6-B3F8C642ACB1}"/>
              </a:ext>
            </a:extLst>
          </p:cNvPr>
          <p:cNvSpPr/>
          <p:nvPr/>
        </p:nvSpPr>
        <p:spPr>
          <a:xfrm>
            <a:off x="3586480" y="37338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C3501C-84ED-2BBC-9027-3DDDC575E660}"/>
              </a:ext>
            </a:extLst>
          </p:cNvPr>
          <p:cNvSpPr/>
          <p:nvPr/>
        </p:nvSpPr>
        <p:spPr>
          <a:xfrm>
            <a:off x="175260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75EF3D-3267-56C9-296B-D2B5C3D0EA29}"/>
              </a:ext>
            </a:extLst>
          </p:cNvPr>
          <p:cNvSpPr/>
          <p:nvPr/>
        </p:nvSpPr>
        <p:spPr>
          <a:xfrm>
            <a:off x="2367280" y="4267200"/>
            <a:ext cx="609600" cy="533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026CCC-047C-73E6-8BF3-E9C59114DA2B}"/>
              </a:ext>
            </a:extLst>
          </p:cNvPr>
          <p:cNvSpPr/>
          <p:nvPr/>
        </p:nvSpPr>
        <p:spPr>
          <a:xfrm>
            <a:off x="297180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A8A19F-7DF2-57FB-CB37-89FCDBA80069}"/>
              </a:ext>
            </a:extLst>
          </p:cNvPr>
          <p:cNvSpPr/>
          <p:nvPr/>
        </p:nvSpPr>
        <p:spPr>
          <a:xfrm>
            <a:off x="3586480" y="4267200"/>
            <a:ext cx="6096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C32AB3F-D92C-B199-6CDB-C17A315020E1}"/>
                  </a:ext>
                </a:extLst>
              </p:cNvPr>
              <p:cNvSpPr/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C32AB3F-D92C-B199-6CDB-C17A31502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920" y="3197860"/>
                <a:ext cx="609600" cy="533400"/>
              </a:xfrm>
              <a:prstGeom prst="rect">
                <a:avLst/>
              </a:prstGeom>
              <a:blipFill>
                <a:blip r:embed="rId2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637BE52-049A-3BFD-819B-4CE6BC195EA5}"/>
                  </a:ext>
                </a:extLst>
              </p:cNvPr>
              <p:cNvSpPr/>
              <p:nvPr/>
            </p:nvSpPr>
            <p:spPr>
              <a:xfrm>
                <a:off x="8229600" y="3197860"/>
                <a:ext cx="609600" cy="5334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637BE52-049A-3BFD-819B-4CE6BC195E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3197860"/>
                <a:ext cx="609600" cy="533400"/>
              </a:xfrm>
              <a:prstGeom prst="rect">
                <a:avLst/>
              </a:prstGeom>
              <a:blipFill>
                <a:blip r:embed="rId3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15C9CF6-3E33-39A1-7858-367D032AD25F}"/>
                  </a:ext>
                </a:extLst>
              </p:cNvPr>
              <p:cNvSpPr/>
              <p:nvPr/>
            </p:nvSpPr>
            <p:spPr>
              <a:xfrm>
                <a:off x="7614920" y="3731260"/>
                <a:ext cx="609600" cy="5334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15C9CF6-3E33-39A1-7858-367D032AD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920" y="3731260"/>
                <a:ext cx="609600" cy="533400"/>
              </a:xfrm>
              <a:prstGeom prst="rect">
                <a:avLst/>
              </a:prstGeom>
              <a:blipFill>
                <a:blip r:embed="rId4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0B9A8F0-E58D-AE7C-FAFD-BD4EAB9B344B}"/>
                  </a:ext>
                </a:extLst>
              </p:cNvPr>
              <p:cNvSpPr/>
              <p:nvPr/>
            </p:nvSpPr>
            <p:spPr>
              <a:xfrm>
                <a:off x="8229600" y="3731260"/>
                <a:ext cx="609600" cy="533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1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0B9A8F0-E58D-AE7C-FAFD-BD4EAB9B34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3731260"/>
                <a:ext cx="609600" cy="533400"/>
              </a:xfrm>
              <a:prstGeom prst="rect">
                <a:avLst/>
              </a:prstGeom>
              <a:blipFill>
                <a:blip r:embed="rId5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Frame 55">
            <a:extLst>
              <a:ext uri="{FF2B5EF4-FFF2-40B4-BE49-F238E27FC236}">
                <a16:creationId xmlns:a16="http://schemas.microsoft.com/office/drawing/2014/main" id="{20CFDBFC-667E-111D-23B8-024D3FB50D17}"/>
              </a:ext>
            </a:extLst>
          </p:cNvPr>
          <p:cNvSpPr/>
          <p:nvPr/>
        </p:nvSpPr>
        <p:spPr>
          <a:xfrm>
            <a:off x="2966720" y="3729935"/>
            <a:ext cx="1224280" cy="1070665"/>
          </a:xfrm>
          <a:prstGeom prst="frame">
            <a:avLst>
              <a:gd name="adj1" fmla="val 680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Frame 56">
            <a:extLst>
              <a:ext uri="{FF2B5EF4-FFF2-40B4-BE49-F238E27FC236}">
                <a16:creationId xmlns:a16="http://schemas.microsoft.com/office/drawing/2014/main" id="{7C863565-359D-3C73-5CBA-D85453210D1F}"/>
              </a:ext>
            </a:extLst>
          </p:cNvPr>
          <p:cNvSpPr/>
          <p:nvPr/>
        </p:nvSpPr>
        <p:spPr>
          <a:xfrm>
            <a:off x="8229600" y="3733800"/>
            <a:ext cx="609600" cy="533400"/>
          </a:xfrm>
          <a:prstGeom prst="frame">
            <a:avLst>
              <a:gd name="adj1" fmla="val 894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1994CFA1-732A-3DE7-9C39-E1EEE95C4BC0}"/>
              </a:ext>
            </a:extLst>
          </p:cNvPr>
          <p:cNvSpPr/>
          <p:nvPr/>
        </p:nvSpPr>
        <p:spPr>
          <a:xfrm rot="16200000">
            <a:off x="6029702" y="2434310"/>
            <a:ext cx="126445" cy="2573024"/>
          </a:xfrm>
          <a:prstGeom prst="downArrow">
            <a:avLst>
              <a:gd name="adj1" fmla="val 50000"/>
              <a:gd name="adj2" fmla="val 14378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C78031-F7C4-947A-F115-E929C8C28A67}"/>
              </a:ext>
            </a:extLst>
          </p:cNvPr>
          <p:cNvSpPr txBox="1"/>
          <p:nvPr/>
        </p:nvSpPr>
        <p:spPr>
          <a:xfrm>
            <a:off x="5211819" y="3235960"/>
            <a:ext cx="16234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4A843-91FF-9091-26CC-C4C4FAB22EC9}"/>
              </a:ext>
            </a:extLst>
          </p:cNvPr>
          <p:cNvSpPr txBox="1"/>
          <p:nvPr/>
        </p:nvSpPr>
        <p:spPr>
          <a:xfrm>
            <a:off x="5407175" y="3943463"/>
            <a:ext cx="139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Filter Size – (2x2)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Strid – (2,2)</a:t>
            </a:r>
            <a:endParaRPr lang="en-PK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FB0189-F759-7884-56D1-6825497C3D8C}"/>
                  </a:ext>
                </a:extLst>
              </p:cNvPr>
              <p:cNvSpPr txBox="1"/>
              <p:nvPr/>
            </p:nvSpPr>
            <p:spPr>
              <a:xfrm>
                <a:off x="3446434" y="1676400"/>
                <a:ext cx="4778086" cy="491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Bottom-Right Region: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2+4+2+6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FB0189-F759-7884-56D1-6825497C3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34" y="1676400"/>
                <a:ext cx="4778086" cy="491096"/>
              </a:xfrm>
              <a:prstGeom prst="rect">
                <a:avLst/>
              </a:prstGeom>
              <a:blipFill>
                <a:blip r:embed="rId6"/>
                <a:stretch>
                  <a:fillRect l="-1020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7A07C4C-7FD1-5BAF-53F5-4235062D47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4929523"/>
            <a:ext cx="1666875" cy="3905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9D6334-A2B8-6197-3AA0-276FDF1C05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282" y="4327842"/>
            <a:ext cx="752475" cy="390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6B5B52-FEEC-B109-648B-A323E1E7312C}"/>
              </a:ext>
            </a:extLst>
          </p:cNvPr>
          <p:cNvSpPr txBox="1"/>
          <p:nvPr/>
        </p:nvSpPr>
        <p:spPr>
          <a:xfrm>
            <a:off x="5646643" y="4343400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347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1" name="object 3"/>
          <p:cNvSpPr txBox="1"/>
          <p:nvPr/>
        </p:nvSpPr>
        <p:spPr>
          <a:xfrm>
            <a:off x="1340866" y="5154957"/>
            <a:ext cx="8249284" cy="906017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5"/>
              </a:spcBef>
              <a:buClr>
                <a:srgbClr val="6E6E74"/>
              </a:buClr>
              <a:buSzPct val="78125"/>
              <a:buAutoNum type="arabicPeriod"/>
              <a:tabLst>
                <a:tab pos="354965" algn="l"/>
              </a:tabLst>
            </a:pPr>
            <a:r>
              <a:rPr sz="1600" spc="90" dirty="0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sz="16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sz="1600" spc="1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16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sz="16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sz="1600" spc="1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sz="1600" spc="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90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405"/>
              </a:spcBef>
              <a:buClr>
                <a:srgbClr val="6E6E74"/>
              </a:buClr>
              <a:buSzPct val="78125"/>
              <a:buAutoNum type="arabicPeriod"/>
              <a:tabLst>
                <a:tab pos="354965" algn="l"/>
              </a:tabLst>
            </a:pP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Introduce</a:t>
            </a:r>
            <a:r>
              <a:rPr sz="1600" spc="2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non-</a:t>
            </a:r>
            <a:r>
              <a:rPr sz="1600" spc="65" dirty="0">
                <a:latin typeface="Calibri" panose="020F0502020204030204" pitchFamily="34" charset="0"/>
                <a:cs typeface="Calibri" panose="020F0502020204030204" pitchFamily="34" charset="0"/>
              </a:rPr>
              <a:t>linearity</a:t>
            </a:r>
            <a:r>
              <a:rPr sz="16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sz="1600" spc="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activation</a:t>
            </a:r>
            <a:r>
              <a:rPr sz="1600" spc="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sz="1600" spc="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(real-world</a:t>
            </a:r>
            <a:r>
              <a:rPr sz="1600" spc="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5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z="1600" spc="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1600" spc="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non-</a:t>
            </a:r>
            <a:r>
              <a:rPr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linear!)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414"/>
              </a:spcBef>
              <a:buClr>
                <a:srgbClr val="6E6E74"/>
              </a:buClr>
              <a:buSzPct val="78125"/>
              <a:buAutoNum type="arabicPeriod"/>
              <a:tabLst>
                <a:tab pos="354965" algn="l"/>
              </a:tabLst>
            </a:pPr>
            <a:r>
              <a:rPr sz="1600" spc="50" dirty="0"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sz="1600" spc="1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dimensionality</a:t>
            </a:r>
            <a:r>
              <a:rPr sz="16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6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preserve</a:t>
            </a:r>
            <a:r>
              <a:rPr sz="16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70" dirty="0">
                <a:latin typeface="Calibri" panose="020F0502020204030204" pitchFamily="34" charset="0"/>
                <a:cs typeface="Calibri" panose="020F0502020204030204" pitchFamily="34" charset="0"/>
              </a:rPr>
              <a:t>spatial</a:t>
            </a:r>
            <a:r>
              <a:rPr sz="1600" spc="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60" dirty="0">
                <a:latin typeface="Calibri" panose="020F0502020204030204" pitchFamily="34" charset="0"/>
                <a:cs typeface="Calibri" panose="020F0502020204030204" pitchFamily="34" charset="0"/>
              </a:rPr>
              <a:t>invariance</a:t>
            </a:r>
            <a:r>
              <a:rPr sz="1600" spc="1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55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z="1600" spc="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-10" dirty="0"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01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214" y="1371600"/>
            <a:ext cx="10638092" cy="3657598"/>
          </a:xfrm>
          <a:prstGeom prst="rect">
            <a:avLst/>
          </a:prstGeom>
        </p:spPr>
      </p:pic>
      <p:sp>
        <p:nvSpPr>
          <p:cNvPr id="1049192" name="Rectangle 5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4. CNN for Classification: Feature Learning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93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29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4" name="object 3"/>
          <p:cNvSpPr txBox="1"/>
          <p:nvPr/>
        </p:nvSpPr>
        <p:spPr>
          <a:xfrm>
            <a:off x="8375703" y="1108806"/>
            <a:ext cx="3481732" cy="213712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6E6E74"/>
              </a:buClr>
              <a:buSzPct val="78125"/>
              <a:buAutoNum type="arabicPeriod"/>
              <a:tabLst>
                <a:tab pos="355600" algn="l"/>
              </a:tabLst>
            </a:pPr>
            <a:r>
              <a:rPr sz="1600" spc="210" dirty="0">
                <a:latin typeface="Aptos" panose="020B0004020202020204" pitchFamily="34" charset="0"/>
                <a:cs typeface="Cambria"/>
              </a:rPr>
              <a:t>CONV</a:t>
            </a:r>
            <a:r>
              <a:rPr sz="1600" spc="15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70" dirty="0">
                <a:latin typeface="Aptos" panose="020B0004020202020204" pitchFamily="34" charset="0"/>
                <a:cs typeface="Cambria"/>
              </a:rPr>
              <a:t>and</a:t>
            </a:r>
            <a:r>
              <a:rPr sz="1600" spc="15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185" dirty="0">
                <a:latin typeface="Aptos" panose="020B0004020202020204" pitchFamily="34" charset="0"/>
                <a:cs typeface="Cambria"/>
              </a:rPr>
              <a:t>POOL</a:t>
            </a:r>
            <a:r>
              <a:rPr sz="1600" spc="16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55" dirty="0">
                <a:latin typeface="Aptos" panose="020B0004020202020204" pitchFamily="34" charset="0"/>
                <a:cs typeface="Cambria"/>
              </a:rPr>
              <a:t>layers</a:t>
            </a:r>
            <a:r>
              <a:rPr sz="1600" spc="140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50" dirty="0">
                <a:latin typeface="Aptos" panose="020B0004020202020204" pitchFamily="34" charset="0"/>
                <a:cs typeface="Cambria"/>
              </a:rPr>
              <a:t>output</a:t>
            </a:r>
            <a:r>
              <a:rPr sz="1600" spc="16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5" dirty="0">
                <a:latin typeface="Aptos" panose="020B0004020202020204" pitchFamily="34" charset="0"/>
                <a:cs typeface="Cambria"/>
              </a:rPr>
              <a:t>high-</a:t>
            </a:r>
            <a:r>
              <a:rPr sz="1600" dirty="0">
                <a:latin typeface="Aptos" panose="020B0004020202020204" pitchFamily="34" charset="0"/>
                <a:cs typeface="Cambria"/>
              </a:rPr>
              <a:t>level</a:t>
            </a:r>
            <a:r>
              <a:rPr sz="1600" spc="14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0" dirty="0">
                <a:latin typeface="Aptos" panose="020B0004020202020204" pitchFamily="34" charset="0"/>
                <a:cs typeface="Cambria"/>
              </a:rPr>
              <a:t>features</a:t>
            </a:r>
            <a:r>
              <a:rPr sz="1600" spc="145" dirty="0">
                <a:latin typeface="Aptos" panose="020B0004020202020204" pitchFamily="34" charset="0"/>
                <a:cs typeface="Cambria"/>
              </a:rPr>
              <a:t> </a:t>
            </a:r>
            <a:r>
              <a:rPr sz="1600" dirty="0">
                <a:latin typeface="Aptos" panose="020B0004020202020204" pitchFamily="34" charset="0"/>
                <a:cs typeface="Cambria"/>
              </a:rPr>
              <a:t>of</a:t>
            </a:r>
            <a:r>
              <a:rPr sz="1600" spc="15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45" dirty="0">
                <a:latin typeface="Aptos" panose="020B0004020202020204" pitchFamily="34" charset="0"/>
                <a:cs typeface="Cambria"/>
              </a:rPr>
              <a:t>input</a:t>
            </a:r>
            <a:endParaRPr sz="1600" dirty="0">
              <a:latin typeface="Aptos" panose="020B0004020202020204" pitchFamily="34" charset="0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Clr>
                <a:srgbClr val="6E6E74"/>
              </a:buClr>
              <a:buSzPct val="78125"/>
              <a:buAutoNum type="arabicPeriod"/>
              <a:tabLst>
                <a:tab pos="355600" algn="l"/>
              </a:tabLst>
            </a:pPr>
            <a:r>
              <a:rPr sz="1600" spc="95" dirty="0">
                <a:latin typeface="Aptos" panose="020B0004020202020204" pitchFamily="34" charset="0"/>
                <a:cs typeface="Cambria"/>
              </a:rPr>
              <a:t>Fully</a:t>
            </a:r>
            <a:r>
              <a:rPr sz="1600" spc="140" dirty="0">
                <a:latin typeface="Aptos" panose="020B0004020202020204" pitchFamily="34" charset="0"/>
                <a:cs typeface="Cambria"/>
              </a:rPr>
              <a:t> </a:t>
            </a:r>
            <a:r>
              <a:rPr sz="1600" dirty="0">
                <a:latin typeface="Aptos" panose="020B0004020202020204" pitchFamily="34" charset="0"/>
                <a:cs typeface="Cambria"/>
              </a:rPr>
              <a:t>connected</a:t>
            </a:r>
            <a:r>
              <a:rPr sz="1600" spc="16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55" dirty="0">
                <a:latin typeface="Aptos" panose="020B0004020202020204" pitchFamily="34" charset="0"/>
                <a:cs typeface="Cambria"/>
              </a:rPr>
              <a:t>layer</a:t>
            </a:r>
            <a:r>
              <a:rPr sz="1600" spc="15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55" dirty="0">
                <a:latin typeface="Aptos" panose="020B0004020202020204" pitchFamily="34" charset="0"/>
                <a:cs typeface="Cambria"/>
              </a:rPr>
              <a:t>uses</a:t>
            </a:r>
            <a:r>
              <a:rPr sz="1600" spc="140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55" dirty="0">
                <a:latin typeface="Aptos" panose="020B0004020202020204" pitchFamily="34" charset="0"/>
                <a:cs typeface="Cambria"/>
              </a:rPr>
              <a:t>these</a:t>
            </a:r>
            <a:r>
              <a:rPr sz="1600" spc="15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0" dirty="0">
                <a:latin typeface="Aptos" panose="020B0004020202020204" pitchFamily="34" charset="0"/>
                <a:cs typeface="Cambria"/>
              </a:rPr>
              <a:t>features</a:t>
            </a:r>
            <a:r>
              <a:rPr sz="1600" spc="155" dirty="0">
                <a:latin typeface="Aptos" panose="020B0004020202020204" pitchFamily="34" charset="0"/>
                <a:cs typeface="Cambria"/>
              </a:rPr>
              <a:t> </a:t>
            </a:r>
            <a:r>
              <a:rPr sz="1600" dirty="0">
                <a:latin typeface="Aptos" panose="020B0004020202020204" pitchFamily="34" charset="0"/>
                <a:cs typeface="Cambria"/>
              </a:rPr>
              <a:t>for</a:t>
            </a:r>
            <a:r>
              <a:rPr sz="1600" spc="16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0" dirty="0">
                <a:latin typeface="Aptos" panose="020B0004020202020204" pitchFamily="34" charset="0"/>
                <a:cs typeface="Cambria"/>
              </a:rPr>
              <a:t>classifying</a:t>
            </a:r>
            <a:r>
              <a:rPr sz="1600" spc="14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5" dirty="0">
                <a:latin typeface="Aptos" panose="020B0004020202020204" pitchFamily="34" charset="0"/>
                <a:cs typeface="Cambria"/>
              </a:rPr>
              <a:t>input</a:t>
            </a:r>
            <a:r>
              <a:rPr sz="1600" spc="17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45" dirty="0">
                <a:latin typeface="Aptos" panose="020B0004020202020204" pitchFamily="34" charset="0"/>
                <a:cs typeface="Cambria"/>
              </a:rPr>
              <a:t>image</a:t>
            </a:r>
            <a:endParaRPr sz="1600" dirty="0">
              <a:latin typeface="Aptos" panose="020B0004020202020204" pitchFamily="34" charset="0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Clr>
                <a:srgbClr val="6E6E74"/>
              </a:buClr>
              <a:buSzPct val="78125"/>
              <a:buAutoNum type="arabicPeriod"/>
              <a:tabLst>
                <a:tab pos="355600" algn="l"/>
              </a:tabLst>
            </a:pPr>
            <a:r>
              <a:rPr sz="1600" spc="70" dirty="0">
                <a:latin typeface="Aptos" panose="020B0004020202020204" pitchFamily="34" charset="0"/>
                <a:cs typeface="Cambria"/>
              </a:rPr>
              <a:t>Express</a:t>
            </a:r>
            <a:r>
              <a:rPr sz="1600" spc="130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50" dirty="0">
                <a:latin typeface="Aptos" panose="020B0004020202020204" pitchFamily="34" charset="0"/>
                <a:cs typeface="Cambria"/>
              </a:rPr>
              <a:t>output</a:t>
            </a:r>
            <a:r>
              <a:rPr sz="1600" spc="140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75" dirty="0">
                <a:latin typeface="Aptos" panose="020B0004020202020204" pitchFamily="34" charset="0"/>
                <a:cs typeface="Cambria"/>
              </a:rPr>
              <a:t>as</a:t>
            </a:r>
            <a:r>
              <a:rPr sz="1600" spc="12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45" dirty="0">
                <a:latin typeface="Aptos" panose="020B0004020202020204" pitchFamily="34" charset="0"/>
                <a:cs typeface="Cambria"/>
              </a:rPr>
              <a:t>probability</a:t>
            </a:r>
            <a:r>
              <a:rPr sz="1600" spc="120" dirty="0">
                <a:latin typeface="Aptos" panose="020B0004020202020204" pitchFamily="34" charset="0"/>
                <a:cs typeface="Cambria"/>
              </a:rPr>
              <a:t> </a:t>
            </a:r>
            <a:r>
              <a:rPr sz="1600" dirty="0">
                <a:latin typeface="Aptos" panose="020B0004020202020204" pitchFamily="34" charset="0"/>
                <a:cs typeface="Cambria"/>
              </a:rPr>
              <a:t>of</a:t>
            </a:r>
            <a:r>
              <a:rPr sz="1600" spc="12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5" dirty="0">
                <a:latin typeface="Aptos" panose="020B0004020202020204" pitchFamily="34" charset="0"/>
                <a:cs typeface="Cambria"/>
              </a:rPr>
              <a:t>image</a:t>
            </a:r>
            <a:r>
              <a:rPr sz="1600" spc="130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45" dirty="0">
                <a:latin typeface="Aptos" panose="020B0004020202020204" pitchFamily="34" charset="0"/>
                <a:cs typeface="Cambria"/>
              </a:rPr>
              <a:t>belonging</a:t>
            </a:r>
            <a:r>
              <a:rPr sz="1600" spc="120" dirty="0">
                <a:latin typeface="Aptos" panose="020B0004020202020204" pitchFamily="34" charset="0"/>
                <a:cs typeface="Cambria"/>
              </a:rPr>
              <a:t> </a:t>
            </a:r>
            <a:r>
              <a:rPr sz="1600" dirty="0">
                <a:latin typeface="Aptos" panose="020B0004020202020204" pitchFamily="34" charset="0"/>
                <a:cs typeface="Cambria"/>
              </a:rPr>
              <a:t>to</a:t>
            </a:r>
            <a:r>
              <a:rPr sz="1600" spc="13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90" dirty="0">
                <a:latin typeface="Aptos" panose="020B0004020202020204" pitchFamily="34" charset="0"/>
                <a:cs typeface="Cambria"/>
              </a:rPr>
              <a:t>a</a:t>
            </a:r>
            <a:r>
              <a:rPr sz="1600" spc="125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60" dirty="0">
                <a:latin typeface="Aptos" panose="020B0004020202020204" pitchFamily="34" charset="0"/>
                <a:cs typeface="Cambria"/>
              </a:rPr>
              <a:t>particular</a:t>
            </a:r>
            <a:r>
              <a:rPr sz="1600" spc="130" dirty="0">
                <a:latin typeface="Aptos" panose="020B0004020202020204" pitchFamily="34" charset="0"/>
                <a:cs typeface="Cambria"/>
              </a:rPr>
              <a:t> </a:t>
            </a:r>
            <a:r>
              <a:rPr sz="1600" spc="45" dirty="0">
                <a:latin typeface="Aptos" panose="020B0004020202020204" pitchFamily="34" charset="0"/>
                <a:cs typeface="Cambria"/>
              </a:rPr>
              <a:t>class</a:t>
            </a:r>
            <a:endParaRPr sz="1600" dirty="0">
              <a:latin typeface="Aptos" panose="020B0004020202020204" pitchFamily="34" charset="0"/>
              <a:cs typeface="Cambria"/>
            </a:endParaRPr>
          </a:p>
        </p:txBody>
      </p:sp>
      <p:pic>
        <p:nvPicPr>
          <p:cNvPr id="2097202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624" y="838200"/>
            <a:ext cx="8270304" cy="3948324"/>
          </a:xfrm>
          <a:prstGeom prst="rect">
            <a:avLst/>
          </a:prstGeom>
        </p:spPr>
      </p:pic>
      <p:pic>
        <p:nvPicPr>
          <p:cNvPr id="2097203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6301" y="4817517"/>
            <a:ext cx="1849627" cy="668883"/>
          </a:xfrm>
          <a:prstGeom prst="rect">
            <a:avLst/>
          </a:prstGeom>
        </p:spPr>
      </p:pic>
      <p:sp>
        <p:nvSpPr>
          <p:cNvPr id="1049195" name="Rectangle 6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4. CNN for Classification: Class Probabilities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196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Aptos" panose="020B0004020202020204" pitchFamily="34" charset="0"/>
              </a:rPr>
              <a:t>30</a:t>
            </a:r>
            <a:endParaRPr lang="en-PK" sz="24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7B2110-D950-A7C7-57CA-ED4BAD7811C7}"/>
              </a:ext>
            </a:extLst>
          </p:cNvPr>
          <p:cNvSpPr txBox="1"/>
          <p:nvPr/>
        </p:nvSpPr>
        <p:spPr>
          <a:xfrm>
            <a:off x="25624" y="5655402"/>
            <a:ext cx="8172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converts raw, unnormalized prediction scores (logits) into a valid probability distribution to enable final multi-class classification decisions.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280D76-A8FF-E4B4-50AC-14FEDE698241}"/>
                  </a:ext>
                </a:extLst>
              </p:cNvPr>
              <p:cNvSpPr txBox="1"/>
              <p:nvPr/>
            </p:nvSpPr>
            <p:spPr>
              <a:xfrm>
                <a:off x="8375702" y="3730826"/>
                <a:ext cx="3790673" cy="2829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(Logits):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Raw, unnormalized output scores for class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(Exponential):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Exponentiates scores to make them non-negative and highlight larger differences.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(Normalizer):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Sum of all exponentiated class scores.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softmax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(Probability):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Normalized output probability for class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(values range between 0 and 1, summing to 1 across all classes).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280D76-A8FF-E4B4-50AC-14FEDE698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702" y="3730826"/>
                <a:ext cx="3790673" cy="2829942"/>
              </a:xfrm>
              <a:prstGeom prst="rect">
                <a:avLst/>
              </a:prstGeom>
              <a:blipFill>
                <a:blip r:embed="rId4"/>
                <a:stretch>
                  <a:fillRect l="-643" t="-647" b="-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object 2"/>
          <p:cNvGrpSpPr/>
          <p:nvPr/>
        </p:nvGrpSpPr>
        <p:grpSpPr>
          <a:xfrm>
            <a:off x="669036" y="2375518"/>
            <a:ext cx="3138566" cy="3041015"/>
            <a:chOff x="669036" y="2375518"/>
            <a:chExt cx="3064510" cy="3041015"/>
          </a:xfrm>
        </p:grpSpPr>
        <p:pic>
          <p:nvPicPr>
            <p:cNvPr id="2097204" name="object 3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1238" y="2375518"/>
              <a:ext cx="1616830" cy="3040675"/>
            </a:xfrm>
            <a:prstGeom prst="rect">
              <a:avLst/>
            </a:prstGeom>
          </p:spPr>
        </p:pic>
        <p:pic>
          <p:nvPicPr>
            <p:cNvPr id="2097205" name="object 4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036" y="3633203"/>
              <a:ext cx="3064002" cy="995946"/>
            </a:xfrm>
            <a:prstGeom prst="rect">
              <a:avLst/>
            </a:prstGeom>
          </p:spPr>
        </p:pic>
      </p:grpSp>
      <p:sp>
        <p:nvSpPr>
          <p:cNvPr id="1049197" name="object 5"/>
          <p:cNvSpPr txBox="1"/>
          <p:nvPr/>
        </p:nvSpPr>
        <p:spPr>
          <a:xfrm>
            <a:off x="923339" y="3747261"/>
            <a:ext cx="261959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Fully</a:t>
            </a:r>
            <a:r>
              <a:rPr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60" dirty="0">
                <a:latin typeface="Calibri" panose="020F0502020204030204" pitchFamily="34" charset="0"/>
                <a:cs typeface="Calibri" panose="020F0502020204030204" pitchFamily="34" charset="0"/>
              </a:rPr>
              <a:t>Connected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Feedforward</a:t>
            </a:r>
            <a:r>
              <a:rPr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06" name="object 6" descr="http://s.hswstatic.com/gif/whiskers-sam.jpg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48467" y="192151"/>
            <a:ext cx="1814333" cy="1203325"/>
          </a:xfrm>
          <a:prstGeom prst="rect">
            <a:avLst/>
          </a:prstGeom>
        </p:spPr>
      </p:pic>
      <p:sp>
        <p:nvSpPr>
          <p:cNvPr id="1049198" name="object 7"/>
          <p:cNvSpPr txBox="1"/>
          <p:nvPr/>
        </p:nvSpPr>
        <p:spPr>
          <a:xfrm>
            <a:off x="1527155" y="1923396"/>
            <a:ext cx="17604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 pitchFamily="34" charset="0"/>
                <a:cs typeface="Calibri" panose="020F0502020204030204" pitchFamily="34" charset="0"/>
              </a:rPr>
              <a:t>cat</a:t>
            </a:r>
            <a:r>
              <a:rPr sz="24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>
                <a:latin typeface="Calibri" panose="020F0502020204030204" pitchFamily="34" charset="0"/>
                <a:cs typeface="Calibri" panose="020F0502020204030204" pitchFamily="34" charset="0"/>
              </a:rPr>
              <a:t>dog</a:t>
            </a:r>
            <a:r>
              <a:rPr sz="24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25" dirty="0">
                <a:latin typeface="Calibri" panose="020F0502020204030204" pitchFamily="34" charset="0"/>
                <a:cs typeface="Calibri" panose="020F0502020204030204" pitchFamily="34" charset="0"/>
              </a:rPr>
              <a:t>……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07" name="object 8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78519" y="1888165"/>
            <a:ext cx="1922227" cy="691391"/>
          </a:xfrm>
          <a:prstGeom prst="rect">
            <a:avLst/>
          </a:prstGeom>
        </p:spPr>
      </p:pic>
      <p:sp>
        <p:nvSpPr>
          <p:cNvPr id="1049199" name="object 9"/>
          <p:cNvSpPr txBox="1"/>
          <p:nvPr/>
        </p:nvSpPr>
        <p:spPr>
          <a:xfrm>
            <a:off x="5391150" y="2038604"/>
            <a:ext cx="163818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08" name="object 10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84559" y="2988398"/>
            <a:ext cx="1919193" cy="691708"/>
          </a:xfrm>
          <a:prstGeom prst="rect">
            <a:avLst/>
          </a:prstGeom>
        </p:spPr>
      </p:pic>
      <p:sp>
        <p:nvSpPr>
          <p:cNvPr id="1049200" name="object 11"/>
          <p:cNvSpPr txBox="1"/>
          <p:nvPr/>
        </p:nvSpPr>
        <p:spPr>
          <a:xfrm>
            <a:off x="5168900" y="2976562"/>
            <a:ext cx="1902260" cy="484748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80"/>
              </a:spcBef>
            </a:pPr>
            <a:r>
              <a:rPr sz="2000" spc="160" dirty="0"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09" name="object 12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78519" y="4056817"/>
            <a:ext cx="1922227" cy="691391"/>
          </a:xfrm>
          <a:prstGeom prst="rect">
            <a:avLst/>
          </a:prstGeom>
        </p:spPr>
      </p:pic>
      <p:sp>
        <p:nvSpPr>
          <p:cNvPr id="1049201" name="object 13"/>
          <p:cNvSpPr txBox="1"/>
          <p:nvPr/>
        </p:nvSpPr>
        <p:spPr>
          <a:xfrm>
            <a:off x="5391150" y="4207255"/>
            <a:ext cx="163818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10" name="object 14"/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84559" y="5090089"/>
            <a:ext cx="1919193" cy="691391"/>
          </a:xfrm>
          <a:prstGeom prst="rect">
            <a:avLst/>
          </a:prstGeom>
        </p:spPr>
      </p:pic>
      <p:sp>
        <p:nvSpPr>
          <p:cNvPr id="1049202" name="object 15"/>
          <p:cNvSpPr txBox="1"/>
          <p:nvPr/>
        </p:nvSpPr>
        <p:spPr>
          <a:xfrm>
            <a:off x="5168900" y="5080000"/>
            <a:ext cx="1902260" cy="482824"/>
          </a:xfrm>
          <a:prstGeom prst="rect">
            <a:avLst/>
          </a:prstGeom>
          <a:ln w="57150">
            <a:solidFill>
              <a:srgbClr val="FF0000"/>
            </a:solidFill>
          </a:ln>
        </p:spPr>
        <p:txBody>
          <a:bodyPr vert="horz" wrap="square" lIns="0" tIns="17335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65"/>
              </a:spcBef>
            </a:pPr>
            <a:r>
              <a:rPr sz="2000" spc="160" dirty="0">
                <a:latin typeface="Calibri" panose="020F0502020204030204" pitchFamily="34" charset="0"/>
                <a:cs typeface="Calibri" panose="020F0502020204030204" pitchFamily="34" charset="0"/>
              </a:rPr>
              <a:t>Max</a:t>
            </a:r>
            <a:r>
              <a:rPr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11" name="object 16"/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253710" y="6011954"/>
            <a:ext cx="1736479" cy="536538"/>
          </a:xfrm>
          <a:prstGeom prst="rect">
            <a:avLst/>
          </a:prstGeom>
        </p:spPr>
      </p:pic>
      <p:sp>
        <p:nvSpPr>
          <p:cNvPr id="1049203" name="object 17"/>
          <p:cNvSpPr txBox="1"/>
          <p:nvPr/>
        </p:nvSpPr>
        <p:spPr>
          <a:xfrm>
            <a:off x="3516628" y="6085433"/>
            <a:ext cx="14343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0" dirty="0">
                <a:latin typeface="Calibri" panose="020F0502020204030204" pitchFamily="34" charset="0"/>
                <a:cs typeface="Calibri" panose="020F0502020204030204" pitchFamily="34" charset="0"/>
              </a:rPr>
              <a:t>Flattened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5" name="object 18"/>
          <p:cNvGrpSpPr/>
          <p:nvPr/>
        </p:nvGrpSpPr>
        <p:grpSpPr>
          <a:xfrm>
            <a:off x="2012313" y="1443989"/>
            <a:ext cx="5498019" cy="5068570"/>
            <a:chOff x="2012314" y="1443989"/>
            <a:chExt cx="5368290" cy="5068570"/>
          </a:xfrm>
        </p:grpSpPr>
        <p:sp>
          <p:nvSpPr>
            <p:cNvPr id="1049204" name="object 19"/>
            <p:cNvSpPr/>
            <p:nvPr/>
          </p:nvSpPr>
          <p:spPr>
            <a:xfrm>
              <a:off x="5869050" y="1450974"/>
              <a:ext cx="546100" cy="443230"/>
            </a:xfrm>
            <a:custGeom>
              <a:avLst/>
              <a:gdLst/>
              <a:ahLst/>
              <a:cxnLst/>
              <a:rect l="l" t="t" r="r" b="b"/>
              <a:pathLst>
                <a:path w="546100" h="443230">
                  <a:moveTo>
                    <a:pt x="409575" y="0"/>
                  </a:moveTo>
                  <a:lnTo>
                    <a:pt x="136525" y="0"/>
                  </a:lnTo>
                  <a:lnTo>
                    <a:pt x="136525" y="221487"/>
                  </a:lnTo>
                  <a:lnTo>
                    <a:pt x="0" y="221487"/>
                  </a:lnTo>
                  <a:lnTo>
                    <a:pt x="273050" y="442975"/>
                  </a:lnTo>
                  <a:lnTo>
                    <a:pt x="546100" y="221487"/>
                  </a:lnTo>
                  <a:lnTo>
                    <a:pt x="409575" y="221487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05" name="object 20"/>
            <p:cNvSpPr/>
            <p:nvPr/>
          </p:nvSpPr>
          <p:spPr>
            <a:xfrm>
              <a:off x="5869050" y="1450974"/>
              <a:ext cx="546100" cy="443230"/>
            </a:xfrm>
            <a:custGeom>
              <a:avLst/>
              <a:gdLst/>
              <a:ahLst/>
              <a:cxnLst/>
              <a:rect l="l" t="t" r="r" b="b"/>
              <a:pathLst>
                <a:path w="546100" h="443230">
                  <a:moveTo>
                    <a:pt x="0" y="221487"/>
                  </a:moveTo>
                  <a:lnTo>
                    <a:pt x="136525" y="221487"/>
                  </a:lnTo>
                  <a:lnTo>
                    <a:pt x="136525" y="0"/>
                  </a:lnTo>
                  <a:lnTo>
                    <a:pt x="409575" y="0"/>
                  </a:lnTo>
                  <a:lnTo>
                    <a:pt x="409575" y="221487"/>
                  </a:lnTo>
                  <a:lnTo>
                    <a:pt x="546100" y="221487"/>
                  </a:lnTo>
                  <a:lnTo>
                    <a:pt x="273050" y="442975"/>
                  </a:lnTo>
                  <a:lnTo>
                    <a:pt x="0" y="221487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06" name="object 21"/>
            <p:cNvSpPr/>
            <p:nvPr/>
          </p:nvSpPr>
          <p:spPr>
            <a:xfrm>
              <a:off x="5869050" y="2562225"/>
              <a:ext cx="546100" cy="443230"/>
            </a:xfrm>
            <a:custGeom>
              <a:avLst/>
              <a:gdLst/>
              <a:ahLst/>
              <a:cxnLst/>
              <a:rect l="l" t="t" r="r" b="b"/>
              <a:pathLst>
                <a:path w="546100" h="443230">
                  <a:moveTo>
                    <a:pt x="409575" y="0"/>
                  </a:moveTo>
                  <a:lnTo>
                    <a:pt x="136525" y="0"/>
                  </a:lnTo>
                  <a:lnTo>
                    <a:pt x="136525" y="221487"/>
                  </a:lnTo>
                  <a:lnTo>
                    <a:pt x="0" y="221487"/>
                  </a:lnTo>
                  <a:lnTo>
                    <a:pt x="273050" y="442975"/>
                  </a:lnTo>
                  <a:lnTo>
                    <a:pt x="546100" y="221487"/>
                  </a:lnTo>
                  <a:lnTo>
                    <a:pt x="409575" y="221487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07" name="object 22"/>
            <p:cNvSpPr/>
            <p:nvPr/>
          </p:nvSpPr>
          <p:spPr>
            <a:xfrm>
              <a:off x="5869050" y="2562225"/>
              <a:ext cx="546100" cy="443230"/>
            </a:xfrm>
            <a:custGeom>
              <a:avLst/>
              <a:gdLst/>
              <a:ahLst/>
              <a:cxnLst/>
              <a:rect l="l" t="t" r="r" b="b"/>
              <a:pathLst>
                <a:path w="546100" h="443230">
                  <a:moveTo>
                    <a:pt x="0" y="221487"/>
                  </a:moveTo>
                  <a:lnTo>
                    <a:pt x="136525" y="221487"/>
                  </a:lnTo>
                  <a:lnTo>
                    <a:pt x="136525" y="0"/>
                  </a:lnTo>
                  <a:lnTo>
                    <a:pt x="409575" y="0"/>
                  </a:lnTo>
                  <a:lnTo>
                    <a:pt x="409575" y="221487"/>
                  </a:lnTo>
                  <a:lnTo>
                    <a:pt x="546100" y="221487"/>
                  </a:lnTo>
                  <a:lnTo>
                    <a:pt x="273050" y="442975"/>
                  </a:lnTo>
                  <a:lnTo>
                    <a:pt x="0" y="221487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08" name="object 23"/>
            <p:cNvSpPr/>
            <p:nvPr/>
          </p:nvSpPr>
          <p:spPr>
            <a:xfrm>
              <a:off x="5869050" y="3654425"/>
              <a:ext cx="546100" cy="441325"/>
            </a:xfrm>
            <a:custGeom>
              <a:avLst/>
              <a:gdLst/>
              <a:ahLst/>
              <a:cxnLst/>
              <a:rect l="l" t="t" r="r" b="b"/>
              <a:pathLst>
                <a:path w="546100" h="441325">
                  <a:moveTo>
                    <a:pt x="409575" y="0"/>
                  </a:moveTo>
                  <a:lnTo>
                    <a:pt x="136525" y="0"/>
                  </a:lnTo>
                  <a:lnTo>
                    <a:pt x="136525" y="220599"/>
                  </a:lnTo>
                  <a:lnTo>
                    <a:pt x="0" y="220599"/>
                  </a:lnTo>
                  <a:lnTo>
                    <a:pt x="273050" y="441325"/>
                  </a:lnTo>
                  <a:lnTo>
                    <a:pt x="546100" y="220599"/>
                  </a:lnTo>
                  <a:lnTo>
                    <a:pt x="409575" y="220599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09" name="object 24"/>
            <p:cNvSpPr/>
            <p:nvPr/>
          </p:nvSpPr>
          <p:spPr>
            <a:xfrm>
              <a:off x="5869050" y="3654425"/>
              <a:ext cx="546100" cy="441325"/>
            </a:xfrm>
            <a:custGeom>
              <a:avLst/>
              <a:gdLst/>
              <a:ahLst/>
              <a:cxnLst/>
              <a:rect l="l" t="t" r="r" b="b"/>
              <a:pathLst>
                <a:path w="546100" h="441325">
                  <a:moveTo>
                    <a:pt x="0" y="220599"/>
                  </a:moveTo>
                  <a:lnTo>
                    <a:pt x="136525" y="220599"/>
                  </a:lnTo>
                  <a:lnTo>
                    <a:pt x="136525" y="0"/>
                  </a:lnTo>
                  <a:lnTo>
                    <a:pt x="409575" y="0"/>
                  </a:lnTo>
                  <a:lnTo>
                    <a:pt x="409575" y="220599"/>
                  </a:lnTo>
                  <a:lnTo>
                    <a:pt x="546100" y="220599"/>
                  </a:lnTo>
                  <a:lnTo>
                    <a:pt x="273050" y="441325"/>
                  </a:lnTo>
                  <a:lnTo>
                    <a:pt x="0" y="22059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0" name="object 25"/>
            <p:cNvSpPr/>
            <p:nvPr/>
          </p:nvSpPr>
          <p:spPr>
            <a:xfrm>
              <a:off x="5869050" y="4689475"/>
              <a:ext cx="546100" cy="441325"/>
            </a:xfrm>
            <a:custGeom>
              <a:avLst/>
              <a:gdLst/>
              <a:ahLst/>
              <a:cxnLst/>
              <a:rect l="l" t="t" r="r" b="b"/>
              <a:pathLst>
                <a:path w="546100" h="441325">
                  <a:moveTo>
                    <a:pt x="409575" y="0"/>
                  </a:moveTo>
                  <a:lnTo>
                    <a:pt x="136525" y="0"/>
                  </a:lnTo>
                  <a:lnTo>
                    <a:pt x="136525" y="220599"/>
                  </a:lnTo>
                  <a:lnTo>
                    <a:pt x="0" y="220599"/>
                  </a:lnTo>
                  <a:lnTo>
                    <a:pt x="273050" y="441325"/>
                  </a:lnTo>
                  <a:lnTo>
                    <a:pt x="546100" y="220599"/>
                  </a:lnTo>
                  <a:lnTo>
                    <a:pt x="409575" y="220599"/>
                  </a:lnTo>
                  <a:lnTo>
                    <a:pt x="409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1" name="object 26"/>
            <p:cNvSpPr/>
            <p:nvPr/>
          </p:nvSpPr>
          <p:spPr>
            <a:xfrm>
              <a:off x="5869050" y="4689475"/>
              <a:ext cx="546100" cy="441325"/>
            </a:xfrm>
            <a:custGeom>
              <a:avLst/>
              <a:gdLst/>
              <a:ahLst/>
              <a:cxnLst/>
              <a:rect l="l" t="t" r="r" b="b"/>
              <a:pathLst>
                <a:path w="546100" h="441325">
                  <a:moveTo>
                    <a:pt x="0" y="220599"/>
                  </a:moveTo>
                  <a:lnTo>
                    <a:pt x="136525" y="220599"/>
                  </a:lnTo>
                  <a:lnTo>
                    <a:pt x="136525" y="0"/>
                  </a:lnTo>
                  <a:lnTo>
                    <a:pt x="409575" y="0"/>
                  </a:lnTo>
                  <a:lnTo>
                    <a:pt x="409575" y="220599"/>
                  </a:lnTo>
                  <a:lnTo>
                    <a:pt x="546100" y="220599"/>
                  </a:lnTo>
                  <a:lnTo>
                    <a:pt x="273050" y="441325"/>
                  </a:lnTo>
                  <a:lnTo>
                    <a:pt x="0" y="22059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2" name="object 27"/>
            <p:cNvSpPr/>
            <p:nvPr/>
          </p:nvSpPr>
          <p:spPr>
            <a:xfrm>
              <a:off x="4881625" y="5753099"/>
              <a:ext cx="1377950" cy="752475"/>
            </a:xfrm>
            <a:custGeom>
              <a:avLst/>
              <a:gdLst/>
              <a:ahLst/>
              <a:cxnLst/>
              <a:rect l="l" t="t" r="r" b="b"/>
              <a:pathLst>
                <a:path w="1377950" h="752475">
                  <a:moveTo>
                    <a:pt x="1377950" y="0"/>
                  </a:moveTo>
                  <a:lnTo>
                    <a:pt x="1102614" y="0"/>
                  </a:lnTo>
                  <a:lnTo>
                    <a:pt x="1102614" y="372795"/>
                  </a:lnTo>
                  <a:lnTo>
                    <a:pt x="1098377" y="393778"/>
                  </a:lnTo>
                  <a:lnTo>
                    <a:pt x="1086818" y="410914"/>
                  </a:lnTo>
                  <a:lnTo>
                    <a:pt x="1069663" y="422469"/>
                  </a:lnTo>
                  <a:lnTo>
                    <a:pt x="1048639" y="426707"/>
                  </a:lnTo>
                  <a:lnTo>
                    <a:pt x="188087" y="426707"/>
                  </a:lnTo>
                  <a:lnTo>
                    <a:pt x="188087" y="376237"/>
                  </a:lnTo>
                  <a:lnTo>
                    <a:pt x="0" y="564349"/>
                  </a:lnTo>
                  <a:lnTo>
                    <a:pt x="188087" y="752475"/>
                  </a:lnTo>
                  <a:lnTo>
                    <a:pt x="188087" y="702005"/>
                  </a:lnTo>
                  <a:lnTo>
                    <a:pt x="1048639" y="702005"/>
                  </a:lnTo>
                  <a:lnTo>
                    <a:pt x="1097300" y="698435"/>
                  </a:lnTo>
                  <a:lnTo>
                    <a:pt x="1143744" y="688066"/>
                  </a:lnTo>
                  <a:lnTo>
                    <a:pt x="1187464" y="671406"/>
                  </a:lnTo>
                  <a:lnTo>
                    <a:pt x="1227948" y="648966"/>
                  </a:lnTo>
                  <a:lnTo>
                    <a:pt x="1264687" y="621254"/>
                  </a:lnTo>
                  <a:lnTo>
                    <a:pt x="1297172" y="588779"/>
                  </a:lnTo>
                  <a:lnTo>
                    <a:pt x="1324893" y="552051"/>
                  </a:lnTo>
                  <a:lnTo>
                    <a:pt x="1347341" y="511580"/>
                  </a:lnTo>
                  <a:lnTo>
                    <a:pt x="1364006" y="467874"/>
                  </a:lnTo>
                  <a:lnTo>
                    <a:pt x="1374379" y="421443"/>
                  </a:lnTo>
                  <a:lnTo>
                    <a:pt x="1377950" y="372795"/>
                  </a:lnTo>
                  <a:lnTo>
                    <a:pt x="137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3" name="object 28"/>
            <p:cNvSpPr/>
            <p:nvPr/>
          </p:nvSpPr>
          <p:spPr>
            <a:xfrm>
              <a:off x="4881625" y="5753099"/>
              <a:ext cx="1377950" cy="752475"/>
            </a:xfrm>
            <a:custGeom>
              <a:avLst/>
              <a:gdLst/>
              <a:ahLst/>
              <a:cxnLst/>
              <a:rect l="l" t="t" r="r" b="b"/>
              <a:pathLst>
                <a:path w="1377950" h="752475">
                  <a:moveTo>
                    <a:pt x="1377950" y="0"/>
                  </a:moveTo>
                  <a:lnTo>
                    <a:pt x="1377950" y="372795"/>
                  </a:lnTo>
                  <a:lnTo>
                    <a:pt x="1374379" y="421443"/>
                  </a:lnTo>
                  <a:lnTo>
                    <a:pt x="1364006" y="467874"/>
                  </a:lnTo>
                  <a:lnTo>
                    <a:pt x="1347341" y="511580"/>
                  </a:lnTo>
                  <a:lnTo>
                    <a:pt x="1324893" y="552051"/>
                  </a:lnTo>
                  <a:lnTo>
                    <a:pt x="1297172" y="588779"/>
                  </a:lnTo>
                  <a:lnTo>
                    <a:pt x="1264687" y="621254"/>
                  </a:lnTo>
                  <a:lnTo>
                    <a:pt x="1227948" y="648966"/>
                  </a:lnTo>
                  <a:lnTo>
                    <a:pt x="1187464" y="671406"/>
                  </a:lnTo>
                  <a:lnTo>
                    <a:pt x="1143744" y="688066"/>
                  </a:lnTo>
                  <a:lnTo>
                    <a:pt x="1097300" y="698435"/>
                  </a:lnTo>
                  <a:lnTo>
                    <a:pt x="1048639" y="702005"/>
                  </a:lnTo>
                  <a:lnTo>
                    <a:pt x="188087" y="702005"/>
                  </a:lnTo>
                  <a:lnTo>
                    <a:pt x="188087" y="752475"/>
                  </a:lnTo>
                  <a:lnTo>
                    <a:pt x="0" y="564349"/>
                  </a:lnTo>
                  <a:lnTo>
                    <a:pt x="188087" y="376237"/>
                  </a:lnTo>
                  <a:lnTo>
                    <a:pt x="188087" y="426707"/>
                  </a:lnTo>
                  <a:lnTo>
                    <a:pt x="1048639" y="426707"/>
                  </a:lnTo>
                  <a:lnTo>
                    <a:pt x="1069663" y="422469"/>
                  </a:lnTo>
                  <a:lnTo>
                    <a:pt x="1086818" y="410914"/>
                  </a:lnTo>
                  <a:lnTo>
                    <a:pt x="1098377" y="393778"/>
                  </a:lnTo>
                  <a:lnTo>
                    <a:pt x="1102614" y="372795"/>
                  </a:lnTo>
                  <a:lnTo>
                    <a:pt x="1102614" y="0"/>
                  </a:lnTo>
                  <a:lnTo>
                    <a:pt x="1377950" y="0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4" name="object 29"/>
            <p:cNvSpPr/>
            <p:nvPr/>
          </p:nvSpPr>
          <p:spPr>
            <a:xfrm>
              <a:off x="2019299" y="5475350"/>
              <a:ext cx="1238250" cy="968375"/>
            </a:xfrm>
            <a:custGeom>
              <a:avLst/>
              <a:gdLst/>
              <a:ahLst/>
              <a:cxnLst/>
              <a:rect l="l" t="t" r="r" b="b"/>
              <a:pathLst>
                <a:path w="1238250" h="968375">
                  <a:moveTo>
                    <a:pt x="242062" y="0"/>
                  </a:moveTo>
                  <a:lnTo>
                    <a:pt x="0" y="242036"/>
                  </a:lnTo>
                  <a:lnTo>
                    <a:pt x="106172" y="242036"/>
                  </a:lnTo>
                  <a:lnTo>
                    <a:pt x="106172" y="544652"/>
                  </a:lnTo>
                  <a:lnTo>
                    <a:pt x="109023" y="594060"/>
                  </a:lnTo>
                  <a:lnTo>
                    <a:pt x="117364" y="641794"/>
                  </a:lnTo>
                  <a:lnTo>
                    <a:pt x="130877" y="687536"/>
                  </a:lnTo>
                  <a:lnTo>
                    <a:pt x="149243" y="730968"/>
                  </a:lnTo>
                  <a:lnTo>
                    <a:pt x="172145" y="771772"/>
                  </a:lnTo>
                  <a:lnTo>
                    <a:pt x="199264" y="809631"/>
                  </a:lnTo>
                  <a:lnTo>
                    <a:pt x="230282" y="844226"/>
                  </a:lnTo>
                  <a:lnTo>
                    <a:pt x="264881" y="875239"/>
                  </a:lnTo>
                  <a:lnTo>
                    <a:pt x="302742" y="902353"/>
                  </a:lnTo>
                  <a:lnTo>
                    <a:pt x="343547" y="925251"/>
                  </a:lnTo>
                  <a:lnTo>
                    <a:pt x="386978" y="943613"/>
                  </a:lnTo>
                  <a:lnTo>
                    <a:pt x="432716" y="957122"/>
                  </a:lnTo>
                  <a:lnTo>
                    <a:pt x="480444" y="965461"/>
                  </a:lnTo>
                  <a:lnTo>
                    <a:pt x="529844" y="968311"/>
                  </a:lnTo>
                  <a:lnTo>
                    <a:pt x="1238250" y="968311"/>
                  </a:lnTo>
                  <a:lnTo>
                    <a:pt x="1238250" y="696582"/>
                  </a:lnTo>
                  <a:lnTo>
                    <a:pt x="529844" y="696582"/>
                  </a:lnTo>
                  <a:lnTo>
                    <a:pt x="481860" y="688836"/>
                  </a:lnTo>
                  <a:lnTo>
                    <a:pt x="440167" y="667268"/>
                  </a:lnTo>
                  <a:lnTo>
                    <a:pt x="407277" y="634380"/>
                  </a:lnTo>
                  <a:lnTo>
                    <a:pt x="385702" y="592673"/>
                  </a:lnTo>
                  <a:lnTo>
                    <a:pt x="377951" y="544652"/>
                  </a:lnTo>
                  <a:lnTo>
                    <a:pt x="377951" y="242036"/>
                  </a:lnTo>
                  <a:lnTo>
                    <a:pt x="484124" y="242036"/>
                  </a:lnTo>
                  <a:lnTo>
                    <a:pt x="242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5" name="object 30"/>
            <p:cNvSpPr/>
            <p:nvPr/>
          </p:nvSpPr>
          <p:spPr>
            <a:xfrm>
              <a:off x="2019299" y="5475350"/>
              <a:ext cx="1238250" cy="968375"/>
            </a:xfrm>
            <a:custGeom>
              <a:avLst/>
              <a:gdLst/>
              <a:ahLst/>
              <a:cxnLst/>
              <a:rect l="l" t="t" r="r" b="b"/>
              <a:pathLst>
                <a:path w="1238250" h="968375">
                  <a:moveTo>
                    <a:pt x="1238250" y="968311"/>
                  </a:moveTo>
                  <a:lnTo>
                    <a:pt x="529844" y="968311"/>
                  </a:lnTo>
                  <a:lnTo>
                    <a:pt x="480444" y="965461"/>
                  </a:lnTo>
                  <a:lnTo>
                    <a:pt x="432716" y="957122"/>
                  </a:lnTo>
                  <a:lnTo>
                    <a:pt x="386978" y="943613"/>
                  </a:lnTo>
                  <a:lnTo>
                    <a:pt x="343547" y="925251"/>
                  </a:lnTo>
                  <a:lnTo>
                    <a:pt x="302742" y="902353"/>
                  </a:lnTo>
                  <a:lnTo>
                    <a:pt x="264881" y="875239"/>
                  </a:lnTo>
                  <a:lnTo>
                    <a:pt x="230282" y="844226"/>
                  </a:lnTo>
                  <a:lnTo>
                    <a:pt x="199264" y="809631"/>
                  </a:lnTo>
                  <a:lnTo>
                    <a:pt x="172145" y="771772"/>
                  </a:lnTo>
                  <a:lnTo>
                    <a:pt x="149243" y="730968"/>
                  </a:lnTo>
                  <a:lnTo>
                    <a:pt x="130877" y="687536"/>
                  </a:lnTo>
                  <a:lnTo>
                    <a:pt x="117364" y="641794"/>
                  </a:lnTo>
                  <a:lnTo>
                    <a:pt x="109023" y="594060"/>
                  </a:lnTo>
                  <a:lnTo>
                    <a:pt x="106172" y="544652"/>
                  </a:lnTo>
                  <a:lnTo>
                    <a:pt x="106172" y="242036"/>
                  </a:lnTo>
                  <a:lnTo>
                    <a:pt x="0" y="242036"/>
                  </a:lnTo>
                  <a:lnTo>
                    <a:pt x="242062" y="0"/>
                  </a:lnTo>
                  <a:lnTo>
                    <a:pt x="484124" y="242036"/>
                  </a:lnTo>
                  <a:lnTo>
                    <a:pt x="377951" y="242036"/>
                  </a:lnTo>
                  <a:lnTo>
                    <a:pt x="377951" y="544652"/>
                  </a:lnTo>
                  <a:lnTo>
                    <a:pt x="385702" y="592673"/>
                  </a:lnTo>
                  <a:lnTo>
                    <a:pt x="407277" y="634380"/>
                  </a:lnTo>
                  <a:lnTo>
                    <a:pt x="440167" y="667268"/>
                  </a:lnTo>
                  <a:lnTo>
                    <a:pt x="481860" y="688836"/>
                  </a:lnTo>
                  <a:lnTo>
                    <a:pt x="529844" y="696582"/>
                  </a:lnTo>
                  <a:lnTo>
                    <a:pt x="1238250" y="696582"/>
                  </a:lnTo>
                  <a:lnTo>
                    <a:pt x="1238250" y="968311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9216" name="object 31"/>
            <p:cNvSpPr/>
            <p:nvPr/>
          </p:nvSpPr>
          <p:spPr>
            <a:xfrm>
              <a:off x="7026274" y="1806574"/>
              <a:ext cx="335280" cy="4048125"/>
            </a:xfrm>
            <a:custGeom>
              <a:avLst/>
              <a:gdLst/>
              <a:ahLst/>
              <a:cxnLst/>
              <a:rect l="l" t="t" r="r" b="b"/>
              <a:pathLst>
                <a:path w="335279" h="4048125">
                  <a:moveTo>
                    <a:pt x="0" y="4048125"/>
                  </a:moveTo>
                  <a:lnTo>
                    <a:pt x="38390" y="4041676"/>
                  </a:lnTo>
                  <a:lnTo>
                    <a:pt x="73642" y="4023309"/>
                  </a:lnTo>
                  <a:lnTo>
                    <a:pt x="104746" y="3994487"/>
                  </a:lnTo>
                  <a:lnTo>
                    <a:pt x="130693" y="3956677"/>
                  </a:lnTo>
                  <a:lnTo>
                    <a:pt x="150476" y="3911343"/>
                  </a:lnTo>
                  <a:lnTo>
                    <a:pt x="163085" y="3859951"/>
                  </a:lnTo>
                  <a:lnTo>
                    <a:pt x="167513" y="3803967"/>
                  </a:lnTo>
                  <a:lnTo>
                    <a:pt x="167513" y="2268220"/>
                  </a:lnTo>
                  <a:lnTo>
                    <a:pt x="171933" y="2212224"/>
                  </a:lnTo>
                  <a:lnTo>
                    <a:pt x="184527" y="2160820"/>
                  </a:lnTo>
                  <a:lnTo>
                    <a:pt x="204292" y="2115474"/>
                  </a:lnTo>
                  <a:lnTo>
                    <a:pt x="230226" y="2077653"/>
                  </a:lnTo>
                  <a:lnTo>
                    <a:pt x="261328" y="2048822"/>
                  </a:lnTo>
                  <a:lnTo>
                    <a:pt x="296595" y="2030449"/>
                  </a:lnTo>
                  <a:lnTo>
                    <a:pt x="335025" y="2023999"/>
                  </a:lnTo>
                  <a:lnTo>
                    <a:pt x="296595" y="2017555"/>
                  </a:lnTo>
                  <a:lnTo>
                    <a:pt x="261328" y="1999200"/>
                  </a:lnTo>
                  <a:lnTo>
                    <a:pt x="230226" y="1970394"/>
                  </a:lnTo>
                  <a:lnTo>
                    <a:pt x="204292" y="1932600"/>
                  </a:lnTo>
                  <a:lnTo>
                    <a:pt x="184527" y="1887279"/>
                  </a:lnTo>
                  <a:lnTo>
                    <a:pt x="171933" y="1835893"/>
                  </a:lnTo>
                  <a:lnTo>
                    <a:pt x="167513" y="1779904"/>
                  </a:lnTo>
                  <a:lnTo>
                    <a:pt x="167513" y="244094"/>
                  </a:lnTo>
                  <a:lnTo>
                    <a:pt x="163085" y="188145"/>
                  </a:lnTo>
                  <a:lnTo>
                    <a:pt x="150476" y="136774"/>
                  </a:lnTo>
                  <a:lnTo>
                    <a:pt x="130693" y="91451"/>
                  </a:lnTo>
                  <a:lnTo>
                    <a:pt x="104746" y="53644"/>
                  </a:lnTo>
                  <a:lnTo>
                    <a:pt x="73642" y="24820"/>
                  </a:lnTo>
                  <a:lnTo>
                    <a:pt x="38390" y="6449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49217" name="object 32"/>
          <p:cNvSpPr txBox="1"/>
          <p:nvPr/>
        </p:nvSpPr>
        <p:spPr>
          <a:xfrm>
            <a:off x="7504556" y="3440938"/>
            <a:ext cx="1991228" cy="723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sz="2400" spc="-10" dirty="0">
                <a:latin typeface="Calibri" panose="020F0502020204030204" pitchFamily="34" charset="0"/>
                <a:cs typeface="Calibri" panose="020F0502020204030204" pitchFamily="34" charset="0"/>
              </a:rPr>
              <a:t>repeat </a:t>
            </a:r>
            <a:r>
              <a:rPr sz="2400" spc="-20" dirty="0">
                <a:latin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sz="2400" spc="-10" dirty="0">
                <a:latin typeface="Calibri" panose="020F0502020204030204" pitchFamily="34" charset="0"/>
                <a:cs typeface="Calibri" panose="020F0502020204030204" pitchFamily="34" charset="0"/>
              </a:rPr>
              <a:t>times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18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380999" y="53619"/>
            <a:ext cx="4232967" cy="864146"/>
          </a:xfrm>
          <a:prstGeom prst="rect">
            <a:avLst/>
          </a:prstGeom>
        </p:spPr>
        <p:txBody>
          <a:bodyPr vert="horz" wrap="square" lIns="0" tIns="429069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2800" spc="22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170" dirty="0">
                <a:latin typeface="Calibri" panose="020F0502020204030204" pitchFamily="34" charset="0"/>
                <a:cs typeface="Calibri" panose="020F0502020204030204" pitchFamily="34" charset="0"/>
              </a:rPr>
              <a:t>whole</a:t>
            </a:r>
            <a:r>
              <a:rPr sz="28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540" dirty="0">
                <a:latin typeface="Calibri" panose="020F0502020204030204" pitchFamily="34" charset="0"/>
                <a:cs typeface="Calibri" panose="020F0502020204030204" pitchFamily="34" charset="0"/>
              </a:rPr>
              <a:t>CNN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19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16060-D6F8-36D9-2603-9E3FBDF1D69D}"/>
              </a:ext>
            </a:extLst>
          </p:cNvPr>
          <p:cNvSpPr txBox="1"/>
          <p:nvPr/>
        </p:nvSpPr>
        <p:spPr>
          <a:xfrm>
            <a:off x="7211059" y="609147"/>
            <a:ext cx="73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DC6E4-9F8B-380C-A748-B9FB40F0BF5C}"/>
              </a:ext>
            </a:extLst>
          </p:cNvPr>
          <p:cNvSpPr txBox="1"/>
          <p:nvPr/>
        </p:nvSpPr>
        <p:spPr>
          <a:xfrm>
            <a:off x="3115801" y="1976608"/>
            <a:ext cx="949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0" name="Rectangle 6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4. Research Paper: LeNet-5</a:t>
            </a:r>
            <a:endParaRPr lang="en-PK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21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32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12" name="Picture 10" descr="Neural network types - Questions and Answers ​in MR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10" y="982131"/>
            <a:ext cx="11225590" cy="3666069"/>
          </a:xfrm>
          <a:prstGeom prst="rect">
            <a:avLst/>
          </a:prstGeom>
        </p:spPr>
      </p:pic>
      <p:sp>
        <p:nvSpPr>
          <p:cNvPr id="1049222" name="TextBox 12"/>
          <p:cNvSpPr txBox="1"/>
          <p:nvPr/>
        </p:nvSpPr>
        <p:spPr>
          <a:xfrm>
            <a:off x="1066800" y="5738126"/>
            <a:ext cx="2743200" cy="405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LeCun et al., 1998</a:t>
            </a:r>
            <a:endParaRPr 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23" name="object 3"/>
          <p:cNvSpPr txBox="1"/>
          <p:nvPr/>
        </p:nvSpPr>
        <p:spPr>
          <a:xfrm>
            <a:off x="916938" y="5149341"/>
            <a:ext cx="7388861" cy="55720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6E6E74"/>
              </a:buClr>
              <a:buSzPct val="78125"/>
              <a:buAutoNum type="arabicPeriod"/>
              <a:tabLst>
                <a:tab pos="355600" algn="l"/>
              </a:tabLst>
            </a:pPr>
            <a:r>
              <a:rPr lang="en-US" sz="1600" spc="210" dirty="0">
                <a:latin typeface="Calibri" panose="020F0502020204030204" pitchFamily="34" charset="0"/>
                <a:cs typeface="Calibri" panose="020F0502020204030204" pitchFamily="34" charset="0"/>
              </a:rPr>
              <a:t>LeNet demonstrated the effectiveness of convolutional neural networks for visual recognition tasks.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7D5A-6194-E297-B774-006873850FF9}"/>
              </a:ext>
            </a:extLst>
          </p:cNvPr>
          <p:cNvSpPr txBox="1"/>
          <p:nvPr/>
        </p:nvSpPr>
        <p:spPr>
          <a:xfrm>
            <a:off x="7315200" y="6334779"/>
            <a:ext cx="5289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LetNet-5-&gt; five trainable layers in the original architecture. C1, P1, C2, P2, C3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174B-7A0B-741A-430F-BBDF5594D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0" name="Rectangle 6">
            <a:extLst>
              <a:ext uri="{FF2B5EF4-FFF2-40B4-BE49-F238E27FC236}">
                <a16:creationId xmlns:a16="http://schemas.microsoft.com/office/drawing/2014/main" id="{6279D235-A9AE-0E9D-C3CA-E46846F21B83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4. LeNet-5 (Example)</a:t>
            </a:r>
            <a:endParaRPr lang="en-PK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21" name="Rectangle 4">
            <a:extLst>
              <a:ext uri="{FF2B5EF4-FFF2-40B4-BE49-F238E27FC236}">
                <a16:creationId xmlns:a16="http://schemas.microsoft.com/office/drawing/2014/main" id="{979B698B-54C3-F1A1-FC10-4D4A7889CF5F}"/>
              </a:ext>
            </a:extLst>
          </p:cNvPr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33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adjust_the_lenet_on_this_ima">
            <a:hlinkClick r:id="" action="ppaction://media"/>
            <a:extLst>
              <a:ext uri="{FF2B5EF4-FFF2-40B4-BE49-F238E27FC236}">
                <a16:creationId xmlns:a16="http://schemas.microsoft.com/office/drawing/2014/main" id="{788E12EB-D204-FA6B-3A6B-0391F0FA09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14800" y="1663799"/>
            <a:ext cx="7964654" cy="44322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C15E3-EFCB-437C-C827-E1DB82D253CC}"/>
              </a:ext>
            </a:extLst>
          </p:cNvPr>
          <p:cNvSpPr txBox="1"/>
          <p:nvPr/>
        </p:nvSpPr>
        <p:spPr>
          <a:xfrm>
            <a:off x="112546" y="1394599"/>
            <a:ext cx="358955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LeNet-5 Architecture Overview</a:t>
            </a:r>
          </a:p>
          <a:p>
            <a:pPr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Input Image: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Processing a handwritten digit input (7).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Feature Extraction (Convolutions &amp; Subsampling):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Alternating convolutional and pooling layers systematically down sample spatial resolution while extracting hierarchical features (edges, curves, loops).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Feature Maps: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Intermediate feature maps display active activations responding to distinct patterns of the input digit.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Fully Connected Layers &amp; Classification: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Extracted features are flattened and passed through dense layers to output class probabilities for digits 0–9.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A78A1-4C27-EA01-4584-750DB19A4F5F}"/>
              </a:ext>
            </a:extLst>
          </p:cNvPr>
          <p:cNvSpPr txBox="1"/>
          <p:nvPr/>
        </p:nvSpPr>
        <p:spPr>
          <a:xfrm>
            <a:off x="112546" y="932201"/>
            <a:ext cx="11125200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25" b="0">
                <a:solidFill>
                  <a:srgbClr val="132E43"/>
                </a:solidFill>
                <a:latin typeface="Arial"/>
                <a:ea typeface="Arial"/>
                <a:cs typeface="Arial"/>
              </a:defRPr>
            </a:pPr>
            <a:r>
              <a:rPr lang="en-US" sz="2025" b="0" dirty="0">
                <a:solidFill>
                  <a:srgbClr val="132E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LeNet-5 is an early convolutional neural network designed to recognize handwritten digits.</a:t>
            </a:r>
          </a:p>
        </p:txBody>
      </p:sp>
    </p:spTree>
    <p:extLst>
      <p:ext uri="{BB962C8B-B14F-4D97-AF65-F5344CB8AC3E}">
        <p14:creationId xmlns:p14="http://schemas.microsoft.com/office/powerpoint/2010/main" val="114198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4" name="Rectangle 7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4. (</a:t>
            </a:r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 Applications of CNNs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25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34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477F6-852B-7332-D9A1-FDFA2C99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24" b="2458"/>
          <a:stretch>
            <a:fillRect/>
          </a:stretch>
        </p:blipFill>
        <p:spPr>
          <a:xfrm>
            <a:off x="1" y="1967726"/>
            <a:ext cx="12188924" cy="4419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4374C0-3BD8-468E-5F2F-552454596FA2}"/>
              </a:ext>
            </a:extLst>
          </p:cNvPr>
          <p:cNvSpPr txBox="1"/>
          <p:nvPr/>
        </p:nvSpPr>
        <p:spPr>
          <a:xfrm>
            <a:off x="17812" y="1066800"/>
            <a:ext cx="118693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CNNs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have a wide range of applications, from image and video analysis to medical imaging, speech recognition, and real-world deployment.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9" name="object 2"/>
          <p:cNvSpPr txBox="1"/>
          <p:nvPr/>
        </p:nvSpPr>
        <p:spPr>
          <a:xfrm>
            <a:off x="372379" y="1137597"/>
            <a:ext cx="7775690" cy="14170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065" marR="5080">
              <a:spcBef>
                <a:spcPts val="250"/>
              </a:spcBef>
              <a:buClr>
                <a:srgbClr val="6E6E74"/>
              </a:buClr>
              <a:buSzPct val="80555"/>
              <a:tabLst>
                <a:tab pos="194945" algn="l"/>
              </a:tabLs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Transformer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deep learning model that helps computers understand and process data.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uses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attention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focus on the most important parts of the input.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can understand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relationship between different parts of the data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Transformers are widely used in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language, images, and video tasks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49230" name="object 6" descr="$PPTXTitle"/>
          <p:cNvSpPr txBox="1"/>
          <p:nvPr/>
        </p:nvSpPr>
        <p:spPr>
          <a:xfrm>
            <a:off x="372379" y="2750649"/>
            <a:ext cx="492361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 algn="ctr" rtl="0">
              <a:spcBef>
                <a:spcPts val="100"/>
              </a:spcBef>
            </a:pPr>
            <a:r>
              <a:rPr lang="en-US" sz="1600" spc="245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Attention Is All You Need — Vaswani et al., 2017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31" name="Rectangle 3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5. Transformer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32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35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33" name="TextBox 4"/>
          <p:cNvSpPr txBox="1"/>
          <p:nvPr/>
        </p:nvSpPr>
        <p:spPr>
          <a:xfrm>
            <a:off x="72910" y="3352800"/>
            <a:ext cx="77756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Main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Input Embeddings: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Convert words, image patches, or other inputs into numerical vectors.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Positional Encoding: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Provides information about the position/order of inputs.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Self-Attention: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Learns relationships between different elements.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Feed-Forward Network: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Further transforms the learned representations.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Residual Connections (Add) &amp; Layer </a:t>
            </a:r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Norm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alization: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Improve training stability.</a:t>
            </a:r>
          </a:p>
        </p:txBody>
      </p:sp>
      <p:sp>
        <p:nvSpPr>
          <p:cNvPr id="1049235" name="TextBox 7"/>
          <p:cNvSpPr txBox="1"/>
          <p:nvPr/>
        </p:nvSpPr>
        <p:spPr>
          <a:xfrm>
            <a:off x="5108347" y="5861197"/>
            <a:ext cx="1522035" cy="447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u="sng" dirty="0">
                <a:solidFill>
                  <a:srgbClr val="649BFF"/>
                </a:solidFill>
                <a:latin typeface="Aptos" panose="020B0004020202020204" pitchFamily="34" charset="0"/>
                <a:hlinkClick r:id="rId2"/>
              </a:rPr>
              <a:t>Paper link</a:t>
            </a:r>
            <a:endParaRPr lang="en-US" sz="2400" i="1" u="sng" dirty="0">
              <a:solidFill>
                <a:srgbClr val="649BFF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9A161-12E3-BA8A-E6E2-EBF5701DE17F}"/>
              </a:ext>
            </a:extLst>
          </p:cNvPr>
          <p:cNvSpPr txBox="1"/>
          <p:nvPr/>
        </p:nvSpPr>
        <p:spPr>
          <a:xfrm>
            <a:off x="685800" y="5758373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Explore Transformer Architecture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2328D-08C2-0EB8-782C-7EEBD3161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069" y="1029135"/>
            <a:ext cx="3839111" cy="532521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6" name="object 2"/>
          <p:cNvSpPr txBox="1"/>
          <p:nvPr/>
        </p:nvSpPr>
        <p:spPr>
          <a:xfrm>
            <a:off x="159619" y="1074582"/>
            <a:ext cx="6383135" cy="863057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065" marR="5080" rtl="0">
              <a:spcBef>
                <a:spcPts val="250"/>
              </a:spcBef>
              <a:buClr>
                <a:srgbClr val="6E6E74"/>
              </a:buClr>
              <a:buSzPct val="80555"/>
              <a:tabLst>
                <a:tab pos="194945" algn="l"/>
              </a:tabLst>
            </a:pPr>
            <a:r>
              <a:rPr lang="en-US" sz="1800" spc="125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Attention allows a model to determine which parts of the input are most important when processing a particular element.</a:t>
            </a:r>
            <a:endParaRPr sz="1800" i="1" dirty="0">
              <a:solidFill>
                <a:schemeClr val="tx1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49237" name="Rectangle 4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5 (</a:t>
            </a:r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). Attention Mechanism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15" name="Picture 7" descr="🤖Inside a Transformer: How CHATGPT Works | by Tahir | Medium"/>
          <p:cNvPicPr>
            <a:picLocks noChangeAspect="1"/>
          </p:cNvPicPr>
          <p:nvPr/>
        </p:nvPicPr>
        <p:blipFill>
          <a:blip r:embed="rId3"/>
          <a:srcRect t="7051" b="6874"/>
          <a:stretch>
            <a:fillRect/>
          </a:stretch>
        </p:blipFill>
        <p:spPr>
          <a:xfrm>
            <a:off x="640506" y="4191000"/>
            <a:ext cx="6012426" cy="2427117"/>
          </a:xfrm>
          <a:prstGeom prst="rect">
            <a:avLst/>
          </a:prstGeom>
        </p:spPr>
      </p:pic>
      <p:sp>
        <p:nvSpPr>
          <p:cNvPr id="1049238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36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217" name="Picture 3" descr="EE599 Project 12: Transformer and Self-Attention mechanism"/>
          <p:cNvPicPr>
            <a:picLocks noChangeAspect="1"/>
          </p:cNvPicPr>
          <p:nvPr/>
        </p:nvPicPr>
        <p:blipFill>
          <a:blip r:embed="rId4"/>
          <a:srcRect l="5413" t="11401" r="2266" b="5674"/>
          <a:stretch>
            <a:fillRect/>
          </a:stretch>
        </p:blipFill>
        <p:spPr>
          <a:xfrm>
            <a:off x="7162800" y="4047880"/>
            <a:ext cx="5029200" cy="25410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9239" name="TextBox 9"/>
              <p:cNvSpPr txBox="1"/>
              <p:nvPr/>
            </p:nvSpPr>
            <p:spPr>
              <a:xfrm>
                <a:off x="175453" y="1976510"/>
                <a:ext cx="6012426" cy="2726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Self-Attention Works</a:t>
                </a:r>
              </a:p>
              <a:p>
                <a:pPr>
                  <a:buNone/>
                </a:pP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Each input generates three vectors: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Query (Q)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→ What am I looking for?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Key (K)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→ What information do I contain?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Value (V)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→ What information should I provide?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(Transpose):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Flips matrix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compute dot-product similarity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(Key Dimension):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Vector length of keys/queries.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(Scaling Factor):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Prevents huge values and vanishing gradients during </a:t>
                </a:r>
                <a:r>
                  <a:rPr lang="en-US" sz="1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softmax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i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softmax</m:t>
                    </m:r>
                    <m:d>
                      <m:dPr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Converts raw similarity scores into probabilities (0 to 1, summing to 1).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4923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53" y="1976510"/>
                <a:ext cx="6012426" cy="2726900"/>
              </a:xfrm>
              <a:prstGeom prst="rect">
                <a:avLst/>
              </a:prstGeom>
              <a:blipFill>
                <a:blip r:embed="rId5"/>
                <a:stretch>
                  <a:fillRect l="-304" t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107F73A-1BA4-5F52-8042-CE6BBC383D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850" y="921278"/>
            <a:ext cx="5797150" cy="31935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612494-B088-D7EC-0EE0-AB83E6C97508}"/>
              </a:ext>
            </a:extLst>
          </p:cNvPr>
          <p:cNvSpPr/>
          <p:nvPr/>
        </p:nvSpPr>
        <p:spPr>
          <a:xfrm>
            <a:off x="10210800" y="1003458"/>
            <a:ext cx="1143000" cy="32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E4CB-55BF-C8F7-898D-7AAA1FBF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7" name="Rectangle 4">
            <a:extLst>
              <a:ext uri="{FF2B5EF4-FFF2-40B4-BE49-F238E27FC236}">
                <a16:creationId xmlns:a16="http://schemas.microsoft.com/office/drawing/2014/main" id="{8B8D3388-9FCE-227E-3465-EF4B2B21DFFD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5 (</a:t>
            </a:r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). Attention Mechanism</a:t>
            </a:r>
            <a:endParaRPr lang="en-PK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38" name="Rectangle 4">
            <a:extLst>
              <a:ext uri="{FF2B5EF4-FFF2-40B4-BE49-F238E27FC236}">
                <a16:creationId xmlns:a16="http://schemas.microsoft.com/office/drawing/2014/main" id="{446136EB-8855-DE8F-1AE3-EC6921D14B30}"/>
              </a:ext>
            </a:extLst>
          </p:cNvPr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37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5FBB8-F8A1-4911-7009-6AA634389200}"/>
              </a:ext>
            </a:extLst>
          </p:cNvPr>
          <p:cNvSpPr/>
          <p:nvPr/>
        </p:nvSpPr>
        <p:spPr>
          <a:xfrm>
            <a:off x="10210800" y="1003458"/>
            <a:ext cx="1143000" cy="32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3AE5E-3FDA-50AB-E3B7-66A44871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3760"/>
            <a:ext cx="10732279" cy="55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8" name="Picture 6"/>
          <p:cNvPicPr>
            <a:picLocks noChangeAspect="1"/>
          </p:cNvPicPr>
          <p:nvPr/>
        </p:nvPicPr>
        <p:blipFill>
          <a:blip r:embed="rId2"/>
          <a:srcRect l="3127" t="20535" r="2500" b="34445"/>
          <a:stretch>
            <a:fillRect/>
          </a:stretch>
        </p:blipFill>
        <p:spPr>
          <a:xfrm>
            <a:off x="4572000" y="1766143"/>
            <a:ext cx="7461958" cy="3352800"/>
          </a:xfrm>
          <a:prstGeom prst="rect">
            <a:avLst/>
          </a:prstGeom>
        </p:spPr>
      </p:pic>
      <p:sp>
        <p:nvSpPr>
          <p:cNvPr id="1049240" name="Rectangle 2"/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5 (</a:t>
            </a:r>
            <a:r>
              <a:rPr lang="en-U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). Why Transformers Matter for Multimodal AI</a:t>
            </a:r>
            <a:endParaRPr lang="en-PK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41" name="Rectangle 4"/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38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42" name="TextBox 3"/>
          <p:cNvSpPr txBox="1"/>
          <p:nvPr/>
        </p:nvSpPr>
        <p:spPr>
          <a:xfrm>
            <a:off x="304800" y="1041886"/>
            <a:ext cx="4495800" cy="540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1. Cross-Modal Understanding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Learn relationships between different modalities.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Example: connect an image of a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dog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with the text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“A dog playing in the park.”</a:t>
            </a:r>
          </a:p>
          <a:p>
            <a:pPr lvl="0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2. Attention Across Modalities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Attention can connect: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Image regions ↔ Words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Audio ↔ 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Video frames ↔ Text </a:t>
            </a:r>
          </a:p>
          <a:p>
            <a:pPr lvl="0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3. Unified Representation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Different modalities can be converted into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tokens or embeddings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Transformers process them within a shared representation space. </a:t>
            </a:r>
          </a:p>
          <a:p>
            <a:pPr lvl="0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4. Scalable &amp; Flexible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Can handle large datasets and long sequences.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Can be adapted to many multimodal tasks.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8E255A-3198-4596-B528-5C58C4894EB8}"/>
              </a:ext>
            </a:extLst>
          </p:cNvPr>
          <p:cNvSpPr>
            <a:spLocks noGrp="1"/>
          </p:cNvSpPr>
          <p:nvPr/>
        </p:nvSpPr>
        <p:spPr>
          <a:xfrm>
            <a:off x="0" y="3420"/>
            <a:ext cx="12192000" cy="831770"/>
          </a:xfrm>
          <a:prstGeom prst="rect">
            <a:avLst/>
          </a:prstGeom>
          <a:solidFill>
            <a:srgbClr val="102B43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758" b="1" dirty="0">
                <a:solidFill>
                  <a:srgbClr val="FFFFFF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6</a:t>
            </a:r>
            <a:r>
              <a:rPr sz="2758" b="1" dirty="0">
                <a:solidFill>
                  <a:srgbClr val="FFFFFF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. CNNs vs. Transformers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648B9-8A6C-472E-81D3-60F0C0DAC13F}"/>
              </a:ext>
            </a:extLst>
          </p:cNvPr>
          <p:cNvSpPr>
            <a:spLocks noGrp="1"/>
          </p:cNvSpPr>
          <p:nvPr/>
        </p:nvSpPr>
        <p:spPr>
          <a:xfrm>
            <a:off x="0" y="6559083"/>
            <a:ext cx="12192000" cy="295497"/>
          </a:xfrm>
          <a:prstGeom prst="rect">
            <a:avLst/>
          </a:prstGeom>
          <a:solidFill>
            <a:srgbClr val="102B43"/>
          </a:solidFill>
          <a:ln w="0">
            <a:noFill/>
          </a:ln>
        </p:spPr>
        <p:txBody>
          <a:bodyPr>
            <a:noAutofit/>
          </a:bodyPr>
          <a:lstStyle/>
          <a:p>
            <a:endParaRPr sz="2068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8764A-4C9D-4C9E-9078-465839BB9324}"/>
              </a:ext>
            </a:extLst>
          </p:cNvPr>
          <p:cNvSpPr>
            <a:spLocks noGrp="1"/>
          </p:cNvSpPr>
          <p:nvPr/>
        </p:nvSpPr>
        <p:spPr>
          <a:xfrm>
            <a:off x="11710449" y="6562503"/>
            <a:ext cx="481551" cy="29549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39</a:t>
            </a:r>
            <a:endParaRPr sz="2000" dirty="0">
              <a:solidFill>
                <a:srgbClr val="FFFFFF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/>
          <p:nvPr>
            <p:extLst>
              <p:ext uri="{D42A27DB-BD31-4B8C-83A1-F6EECF244321}">
                <p14:modId xmlns:p14="http://schemas.microsoft.com/office/powerpoint/2010/main" val="103663678"/>
              </p:ext>
            </p:extLst>
          </p:nvPr>
        </p:nvGraphicFramePr>
        <p:xfrm>
          <a:off x="787993" y="977467"/>
          <a:ext cx="10616014" cy="5365357"/>
        </p:xfrm>
        <a:graphic>
          <a:graphicData uri="http://schemas.openxmlformats.org/drawingml/2006/table">
            <a:tbl>
              <a:tblPr/>
              <a:tblGrid>
                <a:gridCol w="5308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8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329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0264C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CNN</a:t>
                      </a:r>
                    </a:p>
                  </a:txBody>
                  <a:tcPr marL="109443" marR="87555" marT="76610" marB="54722">
                    <a:solidFill>
                      <a:srgbClr val="A9BC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0264C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Transformer</a:t>
                      </a:r>
                    </a:p>
                  </a:txBody>
                  <a:tcPr marL="109443" marR="87555" marT="76610" marB="54722">
                    <a:solidFill>
                      <a:srgbClr val="A9B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494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Uses </a:t>
                      </a:r>
                      <a:r>
                        <a:rPr lang="en-US"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convolution:</a:t>
                      </a: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 applies filters to small,</a:t>
                      </a:r>
                    </a:p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nearby regions of an image.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Uses self-attention: learns relationships</a:t>
                      </a:r>
                    </a:p>
                    <a:p>
                      <a:r>
                        <a:rPr sz="160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between image patches or tokens.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494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Local patterns: learns edges and textures.</a:t>
                      </a:r>
                    </a:p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Deeper layers capture broader context.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Context: ViT connects distant patches.</a:t>
                      </a:r>
                    </a:p>
                    <a:p>
                      <a:r>
                        <a:rPr sz="160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Swin uses local and shifted windows.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49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Hierarchical features: combines simple</a:t>
                      </a:r>
                    </a:p>
                    <a:p>
                      <a:r>
                        <a:rPr sz="160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patterns into shapes and object features.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Contextual features: combines information</a:t>
                      </a:r>
                    </a:p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according to relationships between tokens.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494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Visual tasks: widely used for classification,</a:t>
                      </a:r>
                    </a:p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object detection, and segmentation.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Visual tasks: also supports classification,</a:t>
                      </a:r>
                    </a:p>
                    <a:p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object detection, and segmentation.</a:t>
                      </a: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3759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Examples</a:t>
                      </a:r>
                      <a:r>
                        <a:rPr lang="en-US" sz="1600" b="1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:</a:t>
                      </a:r>
                      <a:endParaRPr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 err="1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3"/>
                        </a:rPr>
                        <a:t>AlexNet</a:t>
                      </a:r>
                      <a:endParaRPr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 err="1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4"/>
                        </a:rPr>
                        <a:t>GoogLeNet</a:t>
                      </a: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 </a:t>
                      </a:r>
                      <a:endParaRPr lang="en-US"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4"/>
                        </a:rPr>
                        <a:t>Inception v1</a:t>
                      </a:r>
                      <a:endParaRPr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5"/>
                        </a:rPr>
                        <a:t>VGG-16 </a:t>
                      </a:r>
                      <a:endParaRPr lang="en-US"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5"/>
                        </a:rPr>
                        <a:t>VGG-19</a:t>
                      </a: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 </a:t>
                      </a:r>
                      <a:endParaRPr lang="en-US"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6"/>
                        </a:rPr>
                        <a:t>ResNet-18 / 50 / 101</a:t>
                      </a:r>
                      <a:endParaRPr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7"/>
                        </a:rPr>
                        <a:t>EfficientNet-B0–B7</a:t>
                      </a:r>
                      <a:endParaRPr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kern="12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Examples</a:t>
                      </a:r>
                      <a:r>
                        <a:rPr lang="en-US" sz="1600" b="1" kern="12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8"/>
                        </a:rPr>
                        <a:t>Transformer</a:t>
                      </a:r>
                      <a:endParaRPr sz="1600" kern="12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9"/>
                        </a:rPr>
                        <a:t>Vision Transformer, </a:t>
                      </a:r>
                      <a:r>
                        <a:rPr sz="1600" dirty="0" err="1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9"/>
                        </a:rPr>
                        <a:t>ViT</a:t>
                      </a: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9"/>
                        </a:rPr>
                        <a:t> </a:t>
                      </a:r>
                      <a:endParaRPr lang="en-US"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10"/>
                        </a:rPr>
                        <a:t>Swin Transformer </a:t>
                      </a:r>
                      <a:endParaRPr lang="en-US"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600" dirty="0">
                          <a:solidFill>
                            <a:srgbClr val="131A20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hlinkClick r:id="rId11"/>
                        </a:rPr>
                        <a:t>Swin-Tiny</a:t>
                      </a:r>
                      <a:endParaRPr sz="1600" dirty="0">
                        <a:solidFill>
                          <a:srgbClr val="131A20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</a:endParaRPr>
                    </a:p>
                  </a:txBody>
                  <a:tcPr marL="109443" marR="87555" marT="76610" marB="5472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789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33EC-DA4A-CECB-02CA-31A2ABAD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5" name="Rectangle 3">
            <a:extLst>
              <a:ext uri="{FF2B5EF4-FFF2-40B4-BE49-F238E27FC236}">
                <a16:creationId xmlns:a16="http://schemas.microsoft.com/office/drawing/2014/main" id="{D284C88A-CCE3-AF0D-8106-25842307DDC2}"/>
              </a:ext>
            </a:extLst>
          </p:cNvPr>
          <p:cNvSpPr/>
          <p:nvPr/>
        </p:nvSpPr>
        <p:spPr>
          <a:xfrm>
            <a:off x="0" y="0"/>
            <a:ext cx="12192000" cy="873760"/>
          </a:xfrm>
          <a:prstGeom prst="rect">
            <a:avLst/>
          </a:prstGeom>
          <a:solidFill>
            <a:srgbClr val="0E284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7. From CNNs &amp; Transformers to Multimodal AI</a:t>
            </a:r>
            <a:endParaRPr lang="en-PK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9247" name="Rectangle 4">
            <a:extLst>
              <a:ext uri="{FF2B5EF4-FFF2-40B4-BE49-F238E27FC236}">
                <a16:creationId xmlns:a16="http://schemas.microsoft.com/office/drawing/2014/main" id="{6DBCB1B6-14C1-42ED-1E75-76366D034462}"/>
              </a:ext>
            </a:extLst>
          </p:cNvPr>
          <p:cNvSpPr/>
          <p:nvPr/>
        </p:nvSpPr>
        <p:spPr>
          <a:xfrm>
            <a:off x="-3075" y="6581000"/>
            <a:ext cx="12192000" cy="2769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PK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32C264-2DF5-4C1A-B2D1-DB02116631F0}"/>
              </a:ext>
            </a:extLst>
          </p:cNvPr>
          <p:cNvSpPr>
            <a:spLocks noGrp="1"/>
          </p:cNvSpPr>
          <p:nvPr/>
        </p:nvSpPr>
        <p:spPr>
          <a:xfrm>
            <a:off x="300772" y="1162469"/>
            <a:ext cx="11579715" cy="4511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030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Multimodal AI combines different input types, such as images and text.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92A47A-B285-451B-858B-A05E0B6552D3}"/>
              </a:ext>
            </a:extLst>
          </p:cNvPr>
          <p:cNvSpPr>
            <a:spLocks noGrp="1"/>
          </p:cNvSpPr>
          <p:nvPr/>
        </p:nvSpPr>
        <p:spPr>
          <a:xfrm>
            <a:off x="300772" y="1806981"/>
            <a:ext cx="11579715" cy="47264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368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Example: answering a question about a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9627EE-2DE9-41AB-B47C-2222DA7F39EE}"/>
              </a:ext>
            </a:extLst>
          </p:cNvPr>
          <p:cNvSpPr>
            <a:spLocks noGrp="1"/>
          </p:cNvSpPr>
          <p:nvPr/>
        </p:nvSpPr>
        <p:spPr>
          <a:xfrm>
            <a:off x="375965" y="2913391"/>
            <a:ext cx="3007718" cy="794897"/>
          </a:xfrm>
          <a:prstGeom prst="rect">
            <a:avLst/>
          </a:prstGeom>
          <a:solidFill>
            <a:srgbClr val="EFF4F6"/>
          </a:solidFill>
          <a:ln w="11430">
            <a:solidFill>
              <a:srgbClr val="9BB1BC"/>
            </a:solidFill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Picture of a person</a:t>
            </a:r>
          </a:p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riding a bicycle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E77AFA-676F-4E65-AC92-DB8E0C072350}"/>
              </a:ext>
            </a:extLst>
          </p:cNvPr>
          <p:cNvSpPr>
            <a:spLocks noGrp="1"/>
          </p:cNvSpPr>
          <p:nvPr/>
        </p:nvSpPr>
        <p:spPr>
          <a:xfrm>
            <a:off x="3974486" y="2913391"/>
            <a:ext cx="3254781" cy="794897"/>
          </a:xfrm>
          <a:prstGeom prst="rect">
            <a:avLst/>
          </a:prstGeom>
          <a:solidFill>
            <a:srgbClr val="EFF4F6"/>
          </a:solidFill>
          <a:ln w="11430">
            <a:solidFill>
              <a:srgbClr val="9BB1BC"/>
            </a:solidFill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Extracts visual features:</a:t>
            </a:r>
          </a:p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person and bicycle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49833-3127-47BE-928A-5FE0C4D99C82}"/>
              </a:ext>
            </a:extLst>
          </p:cNvPr>
          <p:cNvSpPr>
            <a:spLocks noGrp="1"/>
          </p:cNvSpPr>
          <p:nvPr/>
        </p:nvSpPr>
        <p:spPr>
          <a:xfrm>
            <a:off x="375965" y="4589120"/>
            <a:ext cx="3007718" cy="794897"/>
          </a:xfrm>
          <a:prstGeom prst="rect">
            <a:avLst/>
          </a:prstGeom>
          <a:solidFill>
            <a:srgbClr val="EFF4F6"/>
          </a:solidFill>
          <a:ln w="11430">
            <a:solidFill>
              <a:srgbClr val="9BB1BC"/>
            </a:solidFill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“What is the</a:t>
            </a:r>
          </a:p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person riding?”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A5621-2C83-47B2-8DC7-37EE202912EF}"/>
              </a:ext>
            </a:extLst>
          </p:cNvPr>
          <p:cNvSpPr>
            <a:spLocks noGrp="1"/>
          </p:cNvSpPr>
          <p:nvPr/>
        </p:nvSpPr>
        <p:spPr>
          <a:xfrm>
            <a:off x="3974486" y="4589120"/>
            <a:ext cx="3254781" cy="794897"/>
          </a:xfrm>
          <a:prstGeom prst="rect">
            <a:avLst/>
          </a:prstGeom>
          <a:solidFill>
            <a:srgbClr val="EFF4F6"/>
          </a:solidFill>
          <a:ln w="11430">
            <a:solidFill>
              <a:srgbClr val="9BB1BC"/>
            </a:solidFill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Encodes the question</a:t>
            </a:r>
          </a:p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and its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6D393-B29E-4DFD-9F4C-746FD8C7E749}"/>
              </a:ext>
            </a:extLst>
          </p:cNvPr>
          <p:cNvSpPr>
            <a:spLocks noGrp="1"/>
          </p:cNvSpPr>
          <p:nvPr/>
        </p:nvSpPr>
        <p:spPr>
          <a:xfrm>
            <a:off x="8056388" y="3708288"/>
            <a:ext cx="3759648" cy="655253"/>
          </a:xfrm>
          <a:prstGeom prst="rect">
            <a:avLst/>
          </a:prstGeom>
          <a:solidFill>
            <a:srgbClr val="E2EFEC"/>
          </a:solidFill>
          <a:ln w="11430">
            <a:solidFill>
              <a:srgbClr val="9BB1BC"/>
            </a:solidFill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Combines image features</a:t>
            </a:r>
          </a:p>
          <a:p>
            <a:pPr algn="ctr"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186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with the 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EA1120-A516-461C-BFC4-4AC858F5B1F9}"/>
              </a:ext>
            </a:extLst>
          </p:cNvPr>
          <p:cNvSpPr>
            <a:spLocks noGrp="1"/>
          </p:cNvSpPr>
          <p:nvPr/>
        </p:nvSpPr>
        <p:spPr>
          <a:xfrm>
            <a:off x="8897106" y="4868408"/>
            <a:ext cx="2078212" cy="5156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“A bicycle.”</a:t>
            </a:r>
          </a:p>
        </p:txBody>
      </p:sp>
      <p:cxnSp>
        <p:nvCxnSpPr>
          <p:cNvPr id="27" name="Straight Arrow Connector 26"/>
          <p:cNvCxnSpPr>
            <a:cxnSpLocks/>
            <a:stCxn id="4" idx="3"/>
            <a:endCxn id="5" idx="1"/>
          </p:cNvCxnSpPr>
          <p:nvPr/>
        </p:nvCxnSpPr>
        <p:spPr>
          <a:xfrm>
            <a:off x="3383683" y="3310840"/>
            <a:ext cx="590803" cy="0"/>
          </a:xfrm>
          <a:prstGeom prst="straightConnector1">
            <a:avLst/>
          </a:prstGeom>
          <a:ln w="19050">
            <a:solidFill>
              <a:srgbClr val="102B43"/>
            </a:solidFill>
            <a:tailEnd type="triangle" w="sm" len="sm"/>
          </a:ln>
        </p:spPr>
      </p:cxnSp>
      <p:cxnSp>
        <p:nvCxnSpPr>
          <p:cNvPr id="28" name="Straight Arrow Connector 27"/>
          <p:cNvCxnSpPr>
            <a:cxnSpLocks/>
            <a:stCxn id="6" idx="3"/>
            <a:endCxn id="7" idx="1"/>
          </p:cNvCxnSpPr>
          <p:nvPr/>
        </p:nvCxnSpPr>
        <p:spPr>
          <a:xfrm>
            <a:off x="3383683" y="4986569"/>
            <a:ext cx="590803" cy="0"/>
          </a:xfrm>
          <a:prstGeom prst="straightConnector1">
            <a:avLst/>
          </a:prstGeom>
          <a:ln w="19050">
            <a:solidFill>
              <a:srgbClr val="102B43"/>
            </a:solidFill>
            <a:tailEnd type="triangle" w="sm" len="sm"/>
          </a:ln>
        </p:spPr>
      </p:cxnSp>
      <p:cxnSp>
        <p:nvCxnSpPr>
          <p:cNvPr id="29" name="Elbow Connector 28"/>
          <p:cNvCxnSpPr>
            <a:cxnSpLocks/>
            <a:stCxn id="5" idx="3"/>
            <a:endCxn id="8" idx="1"/>
          </p:cNvCxnSpPr>
          <p:nvPr/>
        </p:nvCxnSpPr>
        <p:spPr>
          <a:xfrm>
            <a:off x="7229267" y="3310840"/>
            <a:ext cx="827121" cy="725075"/>
          </a:xfrm>
          <a:prstGeom prst="bentConnector3">
            <a:avLst>
              <a:gd name="adj1" fmla="val 50000"/>
            </a:avLst>
          </a:prstGeom>
          <a:ln w="19050">
            <a:solidFill>
              <a:srgbClr val="102B43"/>
            </a:solidFill>
            <a:tailEnd type="triangle" w="sm" len="sm"/>
          </a:ln>
        </p:spPr>
      </p:cxnSp>
      <p:cxnSp>
        <p:nvCxnSpPr>
          <p:cNvPr id="30" name="Elbow Connector 29"/>
          <p:cNvCxnSpPr>
            <a:cxnSpLocks/>
            <a:stCxn id="7" idx="3"/>
            <a:endCxn id="8" idx="1"/>
          </p:cNvCxnSpPr>
          <p:nvPr/>
        </p:nvCxnSpPr>
        <p:spPr>
          <a:xfrm flipV="1">
            <a:off x="7229267" y="4035915"/>
            <a:ext cx="827121" cy="950654"/>
          </a:xfrm>
          <a:prstGeom prst="bentConnector3">
            <a:avLst>
              <a:gd name="adj1" fmla="val 50000"/>
            </a:avLst>
          </a:prstGeom>
          <a:ln w="19050">
            <a:solidFill>
              <a:srgbClr val="102B43"/>
            </a:solidFill>
            <a:tailEnd type="triangle" w="sm" len="sm"/>
          </a:ln>
        </p:spPr>
      </p:cxnSp>
      <p:cxnSp>
        <p:nvCxnSpPr>
          <p:cNvPr id="31" name="Straight Arrow Connector 30"/>
          <p:cNvCxnSpPr>
            <a:cxnSpLocks/>
            <a:stCxn id="8" idx="2"/>
            <a:endCxn id="9" idx="0"/>
          </p:cNvCxnSpPr>
          <p:nvPr/>
        </p:nvCxnSpPr>
        <p:spPr>
          <a:xfrm>
            <a:off x="9936212" y="4363541"/>
            <a:ext cx="0" cy="504867"/>
          </a:xfrm>
          <a:prstGeom prst="straightConnector1">
            <a:avLst/>
          </a:prstGeom>
          <a:ln w="19050">
            <a:solidFill>
              <a:srgbClr val="102B43"/>
            </a:solidFill>
            <a:tailEnd type="triangle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6A57110-1ADE-4F76-9499-2CFF8D54E734}"/>
              </a:ext>
            </a:extLst>
          </p:cNvPr>
          <p:cNvSpPr>
            <a:spLocks noGrp="1"/>
          </p:cNvSpPr>
          <p:nvPr/>
        </p:nvSpPr>
        <p:spPr>
          <a:xfrm>
            <a:off x="300772" y="5695531"/>
            <a:ext cx="11579715" cy="40819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sz="2030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The model uses both what it sees and what the question asks.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1DA2C-0331-0004-5CC2-638669A8BD03}"/>
              </a:ext>
            </a:extLst>
          </p:cNvPr>
          <p:cNvSpPr txBox="1"/>
          <p:nvPr/>
        </p:nvSpPr>
        <p:spPr>
          <a:xfrm>
            <a:off x="1223965" y="4190416"/>
            <a:ext cx="148731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TEXT INPUT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2C2A50-959A-48BE-37D7-F539C8C4EE21}"/>
              </a:ext>
            </a:extLst>
          </p:cNvPr>
          <p:cNvSpPr txBox="1"/>
          <p:nvPr/>
        </p:nvSpPr>
        <p:spPr>
          <a:xfrm>
            <a:off x="4902111" y="4223421"/>
            <a:ext cx="207327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TRANSFORMER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C0952-9C4F-628D-1473-6C0F4DD08AC6}"/>
              </a:ext>
            </a:extLst>
          </p:cNvPr>
          <p:cNvSpPr txBox="1"/>
          <p:nvPr/>
        </p:nvSpPr>
        <p:spPr>
          <a:xfrm>
            <a:off x="5108588" y="2519203"/>
            <a:ext cx="70167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CNN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059157-D695-006E-B6EE-A79306107098}"/>
              </a:ext>
            </a:extLst>
          </p:cNvPr>
          <p:cNvSpPr txBox="1"/>
          <p:nvPr/>
        </p:nvSpPr>
        <p:spPr>
          <a:xfrm>
            <a:off x="955502" y="2548166"/>
            <a:ext cx="176847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IMAGE INPUT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87E148-E2DA-18B9-9A8E-60066527BF9B}"/>
              </a:ext>
            </a:extLst>
          </p:cNvPr>
          <p:cNvSpPr txBox="1"/>
          <p:nvPr/>
        </p:nvSpPr>
        <p:spPr>
          <a:xfrm>
            <a:off x="8759394" y="3310839"/>
            <a:ext cx="251848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MULTIMODAL FUSION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CA23F3-E066-7AB9-437C-F2A0AE0C638B}"/>
              </a:ext>
            </a:extLst>
          </p:cNvPr>
          <p:cNvSpPr txBox="1"/>
          <p:nvPr/>
        </p:nvSpPr>
        <p:spPr>
          <a:xfrm>
            <a:off x="10960331" y="4919135"/>
            <a:ext cx="94164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0">
                <a:solidFill>
                  <a:srgbClr val="102B43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02B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3717750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</TotalTime>
  <Words>4258</Words>
  <PresentationFormat>Widescreen</PresentationFormat>
  <Paragraphs>1026</Paragraphs>
  <Slides>40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 MT</vt:lpstr>
      <vt:lpstr>Google Sans</vt:lpstr>
      <vt:lpstr>Aptos</vt:lpstr>
      <vt:lpstr>Arial</vt:lpstr>
      <vt:lpstr>Calibri</vt:lpstr>
      <vt:lpstr>Cambria</vt:lpstr>
      <vt:lpstr>Cambria Math</vt:lpstr>
      <vt:lpstr>Neue Haas Grotesk Text Pro</vt:lpstr>
      <vt:lpstr>Times New Roman</vt:lpstr>
      <vt:lpstr>Wingdings</vt:lpstr>
      <vt:lpstr>Axis</vt:lpstr>
      <vt:lpstr>Deep Learning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whole CNN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2026-08-07T00:00:10Z</dcterms:created>
  <dcterms:modified xsi:type="dcterms:W3CDTF">2026-09-25T12:18:41Z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2026-08-08T00:00:00Z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ICV">
    <vt:lpwstr>76f13155a68e4614945af027822aadd8_23</vt:lpwstr>
  </property>
</Properties>
</file>